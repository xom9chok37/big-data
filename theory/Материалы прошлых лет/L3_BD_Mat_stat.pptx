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vnd.openxmlformats-officedocument.vmlDrawing" Extension="vml"/>
  <Default ContentType="application/x-fontdata" Extension="fntdata"/>
  <Default ContentType="image/gif" Extension="gif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oleObject" PartName="/ppt/embeddings/oleObject3.bin"/>
  <Override ContentType="application/vnd.openxmlformats-officedocument.oleObject" PartName="/ppt/embeddings/oleObject4.bin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8.xml"/>
  <Override ContentType="application/vnd.openxmlformats-officedocument.drawingml.chart+xml" PartName="/ppt/charts/chart9.xml"/>
  <Override ContentType="application/vnd.openxmlformats-officedocument.drawingml.chart+xml" PartName="/ppt/charts/chart2.xml"/>
  <Override ContentType="application/vnd.openxmlformats-officedocument.drawingml.chart+xml" PartName="/ppt/charts/chart7.xml"/>
  <Override ContentType="application/vnd.openxmlformats-officedocument.drawingml.chart+xml" PartName="/ppt/charts/chart5.xml"/>
  <Override ContentType="application/vnd.openxmlformats-officedocument.drawingml.chart+xml" PartName="/ppt/charts/chart4.xml"/>
  <Override ContentType="application/vnd.openxmlformats-officedocument.drawingml.chart+xml" PartName="/ppt/charts/chart6.xml"/>
  <Override ContentType="application/vnd.openxmlformats-officedocument.drawingml.chart+xml" PartName="/ppt/charts/chart11.xml"/>
  <Override ContentType="application/vnd.openxmlformats-officedocument.drawingml.chart+xml" PartName="/ppt/charts/chart1.xml"/>
  <Override ContentType="application/vnd.openxmlformats-officedocument.drawingml.chart+xml" PartName="/ppt/charts/chart10.xml"/>
  <Override ContentType="application/vnd.openxmlformats-officedocument.drawingml.chart+xml" PartName="/ppt/charts/chart12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</p:sldIdLst>
  <p:sldSz cy="7126275" cx="10277475"/>
  <p:notesSz cx="6858000" cy="9144000"/>
  <p:embeddedFontLst>
    <p:embeddedFont>
      <p:font typeface="Garamond"/>
      <p:regular r:id="rId94"/>
      <p:bold r:id="rId95"/>
      <p:italic r:id="rId96"/>
      <p:boldItalic r:id="rId9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45">
          <p15:clr>
            <a:srgbClr val="A4A3A4"/>
          </p15:clr>
        </p15:guide>
        <p15:guide id="2" pos="3237">
          <p15:clr>
            <a:srgbClr val="A4A3A4"/>
          </p15:clr>
        </p15:guide>
      </p15:sldGuideLst>
    </p:ext>
    <p:ext uri="GoogleSlidesCustomDataVersion2">
      <go:slidesCustomData xmlns:go="http://customooxmlschemas.google.com/" r:id="rId98" roundtripDataSignature="AMtx7mgtPSB+elBE1esl+Swx6wxt2MZf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B91766-9E8F-4537-9BFA-EBA28B162279}">
  <a:tblStyle styleId="{51B91766-9E8F-4537-9BFA-EBA28B16227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48C47A9-D9E9-427E-BDEA-8C7E547C74B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AF5"/>
          </a:solidFill>
        </a:fill>
      </a:tcStyle>
    </a:wholeTbl>
    <a:band1H>
      <a:tcTxStyle/>
      <a:tcStyle>
        <a:fill>
          <a:solidFill>
            <a:srgbClr val="CFD2EB"/>
          </a:solidFill>
        </a:fill>
      </a:tcStyle>
    </a:band1H>
    <a:band2H>
      <a:tcTxStyle/>
    </a:band2H>
    <a:band1V>
      <a:tcTxStyle/>
      <a:tcStyle>
        <a:fill>
          <a:solidFill>
            <a:srgbClr val="CFD2EB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45" orient="horz"/>
        <p:guide pos="323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font" Target="fonts/Garamond-bold.fntdata"/><Relationship Id="rId94" Type="http://schemas.openxmlformats.org/officeDocument/2006/relationships/font" Target="fonts/Garamond-regular.fntdata"/><Relationship Id="rId97" Type="http://schemas.openxmlformats.org/officeDocument/2006/relationships/font" Target="fonts/Garamond-boldItalic.fntdata"/><Relationship Id="rId96" Type="http://schemas.openxmlformats.org/officeDocument/2006/relationships/font" Target="fonts/Garamond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8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1806656101426306E-2"/>
          <c:y val="5.3738317757009345E-2"/>
          <c:w val="0.92393026941362921"/>
          <c:h val="0.7850467289719625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9999FF"/>
            </a:solidFill>
            <a:ln w="4494">
              <a:solidFill>
                <a:srgbClr val="000000"/>
              </a:solidFill>
              <a:prstDash val="solid"/>
            </a:ln>
          </c:spPr>
          <c:invertIfNegative val="0"/>
          <c:cat>
            <c:strRef>
              <c:f>Лист1!$A$1:$A$5</c:f>
              <c:strCache>
                <c:ptCount val="5"/>
                <c:pt idx="0">
                  <c:v>Демократы</c:v>
                </c:pt>
                <c:pt idx="1">
                  <c:v>Коммунисты</c:v>
                </c:pt>
                <c:pt idx="2">
                  <c:v>Либералы</c:v>
                </c:pt>
                <c:pt idx="3">
                  <c:v>Любители пива</c:v>
                </c:pt>
                <c:pt idx="4">
                  <c:v>Зеленые</c:v>
                </c:pt>
              </c:strCache>
            </c:strRef>
          </c:cat>
          <c:val>
            <c:numRef>
              <c:f>Лист1!$B$1:$B$5</c:f>
              <c:numCache>
                <c:formatCode>General</c:formatCode>
                <c:ptCount val="5"/>
                <c:pt idx="0">
                  <c:v>14</c:v>
                </c:pt>
                <c:pt idx="1">
                  <c:v>23</c:v>
                </c:pt>
                <c:pt idx="2">
                  <c:v>23</c:v>
                </c:pt>
                <c:pt idx="3">
                  <c:v>8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73-4037-9530-2D4C0A3A76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95376952"/>
        <c:axId val="695369504"/>
      </c:barChart>
      <c:catAx>
        <c:axId val="6953769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124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425" b="1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695369504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695369504"/>
        <c:scaling>
          <c:orientation val="minMax"/>
        </c:scaling>
        <c:delete val="0"/>
        <c:axPos val="l"/>
        <c:majorGridlines>
          <c:spPr>
            <a:ln w="1124">
              <a:solidFill>
                <a:srgbClr val="00000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1124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363" b="0" i="0" u="none" strike="noStrike" baseline="0">
                <a:solidFill>
                  <a:srgbClr val="000000"/>
                </a:solidFill>
                <a:latin typeface="Arial Cyr"/>
                <a:ea typeface="Arial Cyr"/>
                <a:cs typeface="Arial Cyr"/>
              </a:defRPr>
            </a:pPr>
            <a:endParaRPr lang="ru-RU"/>
          </a:p>
        </c:txPr>
        <c:crossAx val="695376952"/>
        <c:crosses val="autoZero"/>
        <c:crossBetween val="between"/>
      </c:valAx>
      <c:spPr>
        <a:solidFill>
          <a:srgbClr val="FFFF99"/>
        </a:solidFill>
        <a:ln w="4494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solidFill>
      <a:srgbClr val="FFFFFF"/>
    </a:solidFill>
    <a:ln w="1124">
      <a:solidFill>
        <a:srgbClr val="000000"/>
      </a:solidFill>
      <a:prstDash val="solid"/>
    </a:ln>
  </c:spPr>
  <c:txPr>
    <a:bodyPr/>
    <a:lstStyle/>
    <a:p>
      <a:pPr>
        <a:defRPr sz="363" b="0" i="0" u="none" strike="noStrike" baseline="0">
          <a:solidFill>
            <a:srgbClr val="000000"/>
          </a:solidFill>
          <a:latin typeface="Arial Cyr"/>
          <a:ea typeface="Arial Cyr"/>
          <a:cs typeface="Arial Cyr"/>
        </a:defRPr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966601178781925"/>
          <c:y val="8.6956521739130432E-2"/>
          <c:w val="0.8526522593320236"/>
          <c:h val="0.6403162055335968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9999FF"/>
            </a:solidFill>
            <a:ln w="13177">
              <a:solidFill>
                <a:srgbClr val="000000"/>
              </a:solidFill>
              <a:prstDash val="solid"/>
            </a:ln>
          </c:spPr>
          <c:invertIfNegative val="0"/>
          <c:cat>
            <c:strRef>
              <c:f>Лист1!$A$1:$A$10</c:f>
              <c:strCache>
                <c:ptCount val="10"/>
                <c:pt idx="0">
                  <c:v>45-49</c:v>
                </c:pt>
                <c:pt idx="1">
                  <c:v>50-54</c:v>
                </c:pt>
                <c:pt idx="2">
                  <c:v>55-59</c:v>
                </c:pt>
                <c:pt idx="3">
                  <c:v>60-64</c:v>
                </c:pt>
                <c:pt idx="4">
                  <c:v>65-69</c:v>
                </c:pt>
                <c:pt idx="5">
                  <c:v>70-74</c:v>
                </c:pt>
                <c:pt idx="6">
                  <c:v>75-79</c:v>
                </c:pt>
                <c:pt idx="7">
                  <c:v>80-84</c:v>
                </c:pt>
                <c:pt idx="8">
                  <c:v>85-89</c:v>
                </c:pt>
                <c:pt idx="9">
                  <c:v>90-94</c:v>
                </c:pt>
              </c:strCache>
            </c:strRef>
          </c:cat>
          <c:val>
            <c:numRef>
              <c:f>Лист1!$C$1:$C$10</c:f>
              <c:numCache>
                <c:formatCode>General</c:formatCode>
                <c:ptCount val="10"/>
                <c:pt idx="0">
                  <c:v>2</c:v>
                </c:pt>
                <c:pt idx="1">
                  <c:v>5</c:v>
                </c:pt>
                <c:pt idx="2">
                  <c:v>5</c:v>
                </c:pt>
                <c:pt idx="3">
                  <c:v>10</c:v>
                </c:pt>
                <c:pt idx="4">
                  <c:v>14</c:v>
                </c:pt>
                <c:pt idx="5">
                  <c:v>20</c:v>
                </c:pt>
                <c:pt idx="6">
                  <c:v>11</c:v>
                </c:pt>
                <c:pt idx="7">
                  <c:v>6</c:v>
                </c:pt>
                <c:pt idx="8">
                  <c:v>3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A1-45FB-91FE-5E2DE3459D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670592160"/>
        <c:axId val="670590592"/>
      </c:barChart>
      <c:catAx>
        <c:axId val="67059216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67" b="1" i="0" u="none" strike="noStrike" baseline="0">
                    <a:solidFill>
                      <a:srgbClr val="000000"/>
                    </a:solidFill>
                    <a:latin typeface="Garamond"/>
                    <a:ea typeface="Garamond"/>
                    <a:cs typeface="Garamond"/>
                  </a:defRPr>
                </a:pPr>
                <a:r>
                  <a:rPr lang="ru-RU"/>
                  <a:t>Вес, кг</a:t>
                </a:r>
              </a:p>
            </c:rich>
          </c:tx>
          <c:layout>
            <c:manualLayout>
              <c:xMode val="edge"/>
              <c:yMode val="edge"/>
              <c:x val="0.50491159135559927"/>
              <c:y val="0.8458498023715415"/>
            </c:manualLayout>
          </c:layout>
          <c:overlay val="0"/>
          <c:spPr>
            <a:noFill/>
            <a:ln w="26354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294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986" b="0" i="0" u="none" strike="noStrike" baseline="0">
                <a:solidFill>
                  <a:srgbClr val="000000"/>
                </a:solidFill>
                <a:latin typeface="Arial Cyr"/>
                <a:ea typeface="Arial Cyr"/>
                <a:cs typeface="Arial Cyr"/>
              </a:defRPr>
            </a:pPr>
            <a:endParaRPr lang="ru-RU"/>
          </a:p>
        </c:txPr>
        <c:crossAx val="670590592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67059059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67" b="1" i="0" u="none" strike="noStrike" baseline="0">
                    <a:solidFill>
                      <a:srgbClr val="000000"/>
                    </a:solidFill>
                    <a:latin typeface="Garamond"/>
                    <a:ea typeface="Garamond"/>
                    <a:cs typeface="Garamond"/>
                  </a:defRPr>
                </a:pPr>
                <a:r>
                  <a:rPr lang="ru-RU"/>
                  <a:t>Частота, человек</a:t>
                </a:r>
              </a:p>
            </c:rich>
          </c:tx>
          <c:layout>
            <c:manualLayout>
              <c:xMode val="edge"/>
              <c:yMode val="edge"/>
              <c:x val="2.1611001964636542E-2"/>
              <c:y val="0.16600790513833993"/>
            </c:manualLayout>
          </c:layout>
          <c:overlay val="0"/>
          <c:spPr>
            <a:noFill/>
            <a:ln w="26354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294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986" b="0" i="0" u="none" strike="noStrike" baseline="0">
                <a:solidFill>
                  <a:srgbClr val="000000"/>
                </a:solidFill>
                <a:latin typeface="Arial Cyr"/>
                <a:ea typeface="Arial Cyr"/>
                <a:cs typeface="Arial Cyr"/>
              </a:defRPr>
            </a:pPr>
            <a:endParaRPr lang="ru-RU"/>
          </a:p>
        </c:txPr>
        <c:crossAx val="670592160"/>
        <c:crosses val="autoZero"/>
        <c:crossBetween val="between"/>
      </c:valAx>
      <c:spPr>
        <a:solidFill>
          <a:srgbClr val="C0C0C0"/>
        </a:solidFill>
        <a:ln w="26354">
          <a:noFill/>
        </a:ln>
      </c:spPr>
    </c:plotArea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986" b="0" i="0" u="none" strike="noStrike" baseline="0">
          <a:solidFill>
            <a:srgbClr val="000000"/>
          </a:solidFill>
          <a:latin typeface="Arial Cyr"/>
          <a:ea typeface="Arial Cyr"/>
          <a:cs typeface="Arial Cyr"/>
        </a:defRPr>
      </a:pPr>
      <a:endParaRPr lang="ru-RU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539440203562342"/>
          <c:y val="8.8353413654618476E-2"/>
          <c:w val="0.54452926208651398"/>
          <c:h val="0.7510040160642570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демократы</c:v>
                </c:pt>
              </c:strCache>
            </c:strRef>
          </c:tx>
          <c:spPr>
            <a:solidFill>
              <a:schemeClr val="accent1"/>
            </a:solidFill>
            <a:ln w="15070">
              <a:solidFill>
                <a:schemeClr val="tx1"/>
              </a:solidFill>
              <a:prstDash val="solid"/>
            </a:ln>
          </c:spPr>
          <c:invertIfNegative val="0"/>
          <c:dLbls>
            <c:spPr>
              <a:noFill/>
              <a:ln w="3014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187" b="1" i="0" u="none" strike="noStrike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Sheet1!$B$1:$B$1</c:f>
              <c:strCache>
                <c:ptCount val="1"/>
                <c:pt idx="0">
                  <c:v>политические предпочтения</c:v>
                </c:pt>
              </c:strCache>
            </c:strRef>
          </c:cat>
          <c:val>
            <c:numRef>
              <c:f>Sheet1!$B$2:$B$2</c:f>
              <c:numCache>
                <c:formatCode>0.0%</c:formatCode>
                <c:ptCount val="1"/>
                <c:pt idx="0">
                  <c:v>0.42799999999999999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F6-47D7-A896-4EA4C6E09242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коммунисты</c:v>
                </c:pt>
              </c:strCache>
            </c:strRef>
          </c:tx>
          <c:spPr>
            <a:solidFill>
              <a:schemeClr val="accent2"/>
            </a:solidFill>
            <a:ln w="15070">
              <a:solidFill>
                <a:schemeClr val="tx1"/>
              </a:solidFill>
              <a:prstDash val="solid"/>
            </a:ln>
          </c:spPr>
          <c:invertIfNegative val="0"/>
          <c:dLbls>
            <c:spPr>
              <a:noFill/>
              <a:ln w="3014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187" b="1" i="0" u="none" strike="noStrike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Sheet1!$B$1:$B$1</c:f>
              <c:strCache>
                <c:ptCount val="1"/>
                <c:pt idx="0">
                  <c:v>политические предпочтения</c:v>
                </c:pt>
              </c:strCache>
            </c:strRef>
          </c:cat>
          <c:val>
            <c:numRef>
              <c:f>Sheet1!$B$3:$B$3</c:f>
              <c:numCache>
                <c:formatCode>0.0%</c:formatCode>
                <c:ptCount val="1"/>
                <c:pt idx="0">
                  <c:v>0.39100000000000001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F6-47D7-A896-4EA4C6E09242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либералы</c:v>
                </c:pt>
              </c:strCache>
            </c:strRef>
          </c:tx>
          <c:spPr>
            <a:solidFill>
              <a:schemeClr val="hlink"/>
            </a:solidFill>
            <a:ln w="15070">
              <a:solidFill>
                <a:schemeClr val="tx1"/>
              </a:solidFill>
              <a:prstDash val="solid"/>
            </a:ln>
          </c:spPr>
          <c:invertIfNegative val="0"/>
          <c:dLbls>
            <c:spPr>
              <a:noFill/>
              <a:ln w="3014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187" b="1" i="0" u="none" strike="noStrike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Sheet1!$B$1:$B$1</c:f>
              <c:strCache>
                <c:ptCount val="1"/>
                <c:pt idx="0">
                  <c:v>политические предпочтения</c:v>
                </c:pt>
              </c:strCache>
            </c:strRef>
          </c:cat>
          <c:val>
            <c:numRef>
              <c:f>Sheet1!$B$4:$B$4</c:f>
              <c:numCache>
                <c:formatCode>0.0%</c:formatCode>
                <c:ptCount val="1"/>
                <c:pt idx="0">
                  <c:v>0.18099999999999999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CF6-47D7-A896-4EA4C6E092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70598040"/>
        <c:axId val="670597256"/>
      </c:barChart>
      <c:catAx>
        <c:axId val="6705980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768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187" b="1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670597256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670597256"/>
        <c:scaling>
          <c:orientation val="minMax"/>
        </c:scaling>
        <c:delete val="0"/>
        <c:axPos val="l"/>
        <c:majorGridlines>
          <c:spPr>
            <a:ln w="3768">
              <a:solidFill>
                <a:schemeClr val="tx1"/>
              </a:solidFill>
              <a:prstDash val="solid"/>
            </a:ln>
          </c:spPr>
        </c:majorGridlines>
        <c:numFmt formatCode="0.0%" sourceLinked="1"/>
        <c:majorTickMark val="out"/>
        <c:minorTickMark val="none"/>
        <c:tickLblPos val="nextTo"/>
        <c:spPr>
          <a:ln w="3768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187" b="1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670598040"/>
        <c:crosses val="autoZero"/>
        <c:crossBetween val="between"/>
      </c:valAx>
      <c:spPr>
        <a:solidFill>
          <a:srgbClr val="C0C0C0"/>
        </a:solidFill>
        <a:ln w="15070">
          <a:solidFill>
            <a:srgbClr val="808080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73536895674300251"/>
          <c:y val="0.33333333333333331"/>
          <c:w val="0.2544529262086514"/>
          <c:h val="0.25702811244979917"/>
        </c:manualLayout>
      </c:layout>
      <c:overlay val="0"/>
      <c:spPr>
        <a:noFill/>
        <a:ln w="3768">
          <a:solidFill>
            <a:schemeClr val="tx1"/>
          </a:solidFill>
          <a:prstDash val="solid"/>
        </a:ln>
      </c:spPr>
      <c:txPr>
        <a:bodyPr/>
        <a:lstStyle/>
        <a:p>
          <a:pPr>
            <a:defRPr sz="1092" b="1" i="0" u="none" strike="noStrike" baseline="0">
              <a:solidFill>
                <a:schemeClr val="tx1"/>
              </a:solidFill>
              <a:latin typeface="Arial"/>
              <a:ea typeface="Arial"/>
              <a:cs typeface="Arial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187" b="1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ru-RU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195928753180662"/>
          <c:y val="8.8353413654618476E-2"/>
          <c:w val="0.59796437659033075"/>
          <c:h val="0.7510040160642570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демократы</c:v>
                </c:pt>
              </c:strCache>
            </c:strRef>
          </c:tx>
          <c:spPr>
            <a:solidFill>
              <a:schemeClr val="accent1"/>
            </a:solidFill>
            <a:ln w="16545">
              <a:solidFill>
                <a:schemeClr val="tx1"/>
              </a:solidFill>
              <a:prstDash val="solid"/>
            </a:ln>
          </c:spPr>
          <c:invertIfNegative val="0"/>
          <c:dLbls>
            <c:spPr>
              <a:noFill/>
              <a:ln w="33089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303" b="1" i="0" u="none" strike="noStrike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Sheet1!$B$1:$B$1</c:f>
              <c:strCache>
                <c:ptCount val="1"/>
                <c:pt idx="0">
                  <c:v>политические предпочтения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13-4C0E-878A-D8A6A3CACE1D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коммунисты</c:v>
                </c:pt>
              </c:strCache>
            </c:strRef>
          </c:tx>
          <c:spPr>
            <a:solidFill>
              <a:schemeClr val="accent2"/>
            </a:solidFill>
            <a:ln w="16545">
              <a:solidFill>
                <a:schemeClr val="tx1"/>
              </a:solidFill>
              <a:prstDash val="solid"/>
            </a:ln>
          </c:spPr>
          <c:invertIfNegative val="0"/>
          <c:dLbls>
            <c:spPr>
              <a:noFill/>
              <a:ln w="33089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303" b="1" i="0" u="none" strike="noStrike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Sheet1!$B$1:$B$1</c:f>
              <c:strCache>
                <c:ptCount val="1"/>
                <c:pt idx="0">
                  <c:v>политические предпочтения</c:v>
                </c:pt>
              </c:strCache>
            </c:strRef>
          </c:cat>
          <c:val>
            <c:numRef>
              <c:f>Sheet1!$B$3:$B$3</c:f>
              <c:numCache>
                <c:formatCode>General</c:formatCode>
                <c:ptCount val="1"/>
                <c:pt idx="0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13-4C0E-878A-D8A6A3CACE1D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либералы</c:v>
                </c:pt>
              </c:strCache>
            </c:strRef>
          </c:tx>
          <c:spPr>
            <a:solidFill>
              <a:schemeClr val="hlink"/>
            </a:solidFill>
            <a:ln w="16545">
              <a:solidFill>
                <a:schemeClr val="tx1"/>
              </a:solidFill>
              <a:prstDash val="solid"/>
            </a:ln>
          </c:spPr>
          <c:invertIfNegative val="0"/>
          <c:dLbls>
            <c:spPr>
              <a:noFill/>
              <a:ln w="33089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303" b="1" i="0" u="none" strike="noStrike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Sheet1!$B$1:$B$1</c:f>
              <c:strCache>
                <c:ptCount val="1"/>
                <c:pt idx="0">
                  <c:v>политические предпочтения</c:v>
                </c:pt>
              </c:strCache>
            </c:strRef>
          </c:cat>
          <c:val>
            <c:numRef>
              <c:f>Sheet1!$B$4:$B$4</c:f>
              <c:numCache>
                <c:formatCode>General</c:formatCode>
                <c:ptCount val="1"/>
                <c:pt idx="0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E13-4C0E-878A-D8A6A3CACE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70589808"/>
        <c:axId val="670594904"/>
      </c:barChart>
      <c:catAx>
        <c:axId val="6705898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4136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303" b="1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670594904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670594904"/>
        <c:scaling>
          <c:orientation val="minMax"/>
        </c:scaling>
        <c:delete val="0"/>
        <c:axPos val="l"/>
        <c:majorGridlines>
          <c:spPr>
            <a:ln w="4136">
              <a:solidFill>
                <a:schemeClr val="tx1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4136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303" b="1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670589808"/>
        <c:crosses val="autoZero"/>
        <c:crossBetween val="between"/>
      </c:valAx>
      <c:spPr>
        <a:solidFill>
          <a:srgbClr val="C0C0C0"/>
        </a:solidFill>
        <a:ln w="16545">
          <a:solidFill>
            <a:srgbClr val="808080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73536895674300251"/>
          <c:y val="0.33333333333333331"/>
          <c:w val="0.2544529262086514"/>
          <c:h val="0.25702811244979917"/>
        </c:manualLayout>
      </c:layout>
      <c:overlay val="0"/>
      <c:spPr>
        <a:noFill/>
        <a:ln w="4136">
          <a:solidFill>
            <a:schemeClr val="tx1"/>
          </a:solidFill>
          <a:prstDash val="solid"/>
        </a:ln>
      </c:spPr>
      <c:txPr>
        <a:bodyPr/>
        <a:lstStyle/>
        <a:p>
          <a:pPr>
            <a:defRPr sz="1199" b="1" i="0" u="none" strike="noStrike" baseline="0">
              <a:solidFill>
                <a:schemeClr val="tx1"/>
              </a:solidFill>
              <a:latin typeface="Arial"/>
              <a:ea typeface="Arial"/>
              <a:cs typeface="Arial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303" b="1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ru-RU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75826972010178"/>
          <c:y val="8.8353413654618476E-2"/>
          <c:w val="0.82951653944020354"/>
          <c:h val="0.7510040160642570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политические предпочтения</c:v>
                </c:pt>
              </c:strCache>
            </c:strRef>
          </c:tx>
          <c:spPr>
            <a:solidFill>
              <a:schemeClr val="accent1"/>
            </a:solidFill>
            <a:ln w="14339">
              <a:solidFill>
                <a:schemeClr val="tx1"/>
              </a:solidFill>
              <a:prstDash val="solid"/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демократы</c:v>
                </c:pt>
                <c:pt idx="1">
                  <c:v>коммунисты</c:v>
                </c:pt>
                <c:pt idx="2">
                  <c:v>либералы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0.42799999999999999</c:v>
                </c:pt>
                <c:pt idx="1">
                  <c:v>0.39100000000000001</c:v>
                </c:pt>
                <c:pt idx="2">
                  <c:v>0.18099999999999999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DE-426A-9307-2DD0BCD56E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70598824"/>
        <c:axId val="670599608"/>
      </c:barChart>
      <c:catAx>
        <c:axId val="6705988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585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129" b="1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670599608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670599608"/>
        <c:scaling>
          <c:orientation val="minMax"/>
        </c:scaling>
        <c:delete val="0"/>
        <c:axPos val="l"/>
        <c:majorGridlines>
          <c:spPr>
            <a:ln w="3585">
              <a:solidFill>
                <a:schemeClr val="tx1"/>
              </a:solidFill>
              <a:prstDash val="solid"/>
            </a:ln>
          </c:spPr>
        </c:majorGridlines>
        <c:numFmt formatCode="0.0%" sourceLinked="1"/>
        <c:majorTickMark val="out"/>
        <c:minorTickMark val="none"/>
        <c:tickLblPos val="nextTo"/>
        <c:spPr>
          <a:ln w="3585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129" b="1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670598824"/>
        <c:crosses val="autoZero"/>
        <c:crossBetween val="between"/>
      </c:valAx>
      <c:spPr>
        <a:solidFill>
          <a:srgbClr val="C0C0C0"/>
        </a:solidFill>
        <a:ln w="14339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129" b="1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ru-RU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4147582697201013E-2"/>
          <c:y val="8.8353413654618476E-2"/>
          <c:w val="0.88295165394402031"/>
          <c:h val="0.7510040160642570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политические предпочтения</c:v>
                </c:pt>
              </c:strCache>
            </c:strRef>
          </c:tx>
          <c:spPr>
            <a:solidFill>
              <a:schemeClr val="accent1"/>
            </a:solidFill>
            <a:ln w="13924">
              <a:solidFill>
                <a:schemeClr val="tx1"/>
              </a:solidFill>
              <a:prstDash val="solid"/>
            </a:ln>
          </c:spPr>
          <c:invertIfNegative val="0"/>
          <c:dLbls>
            <c:spPr>
              <a:noFill/>
              <a:ln w="27848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96" b="1" i="0" u="none" strike="noStrike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демократы</c:v>
                </c:pt>
                <c:pt idx="1">
                  <c:v>коммунисты</c:v>
                </c:pt>
                <c:pt idx="2">
                  <c:v>либералы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41</c:v>
                </c:pt>
                <c:pt idx="2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E2-4348-AED8-3E9129EA6F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70601960"/>
        <c:axId val="670604312"/>
      </c:barChart>
      <c:catAx>
        <c:axId val="6706019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481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096" b="1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670604312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670604312"/>
        <c:scaling>
          <c:orientation val="minMax"/>
        </c:scaling>
        <c:delete val="0"/>
        <c:axPos val="l"/>
        <c:majorGridlines>
          <c:spPr>
            <a:ln w="3481">
              <a:solidFill>
                <a:schemeClr val="tx1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481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096" b="1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670601960"/>
        <c:crosses val="autoZero"/>
        <c:crossBetween val="between"/>
      </c:valAx>
      <c:spPr>
        <a:solidFill>
          <a:srgbClr val="C0C0C0"/>
        </a:solidFill>
        <a:ln w="13924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96" b="1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ru-RU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5631067961165"/>
          <c:y val="9.9009900990099015E-2"/>
          <c:w val="0.8679611650485437"/>
          <c:h val="0.6963696369636963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ln w="14357">
              <a:solidFill>
                <a:schemeClr val="tx1"/>
              </a:solidFill>
              <a:prstDash val="solid"/>
            </a:ln>
          </c:spPr>
          <c:invertIfNegative val="0"/>
          <c:dLbls>
            <c:spPr>
              <a:noFill/>
              <a:ln w="28714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922" b="1" i="0" u="none" strike="noStrike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неуд.</c:v>
                </c:pt>
                <c:pt idx="1">
                  <c:v>удовл.</c:v>
                </c:pt>
                <c:pt idx="2">
                  <c:v>хорошо</c:v>
                </c:pt>
                <c:pt idx="3">
                  <c:v>отлично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20</c:v>
                </c:pt>
                <c:pt idx="2">
                  <c:v>41</c:v>
                </c:pt>
                <c:pt idx="3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1C-44A9-A9B4-763EA5904A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61468632"/>
        <c:axId val="661474120"/>
      </c:barChart>
      <c:catAx>
        <c:axId val="6614686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589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922" b="1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66147412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661474120"/>
        <c:scaling>
          <c:orientation val="minMax"/>
        </c:scaling>
        <c:delete val="0"/>
        <c:axPos val="l"/>
        <c:majorGridlines>
          <c:spPr>
            <a:ln w="3589">
              <a:solidFill>
                <a:schemeClr val="tx1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589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922" b="1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661468632"/>
        <c:crosses val="autoZero"/>
        <c:crossBetween val="between"/>
      </c:valAx>
      <c:spPr>
        <a:solidFill>
          <a:srgbClr val="C0C0C0"/>
        </a:solidFill>
        <a:ln w="14357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922" b="1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ru-RU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5371024734982339E-2"/>
          <c:y val="5.4320987654320987E-2"/>
          <c:w val="0.91872791519434627"/>
          <c:h val="0.7876543209876543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9999FF"/>
            </a:solidFill>
            <a:ln w="12788">
              <a:solidFill>
                <a:srgbClr val="000000"/>
              </a:solidFill>
              <a:prstDash val="solid"/>
            </a:ln>
          </c:spPr>
          <c:invertIfNegative val="0"/>
          <c:cat>
            <c:numRef>
              <c:f>Лист1!$A$2:$A$17</c:f>
              <c:numCache>
                <c:formatCode>General</c:formatCode>
                <c:ptCount val="16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14</c:v>
                </c:pt>
                <c:pt idx="7">
                  <c:v>16</c:v>
                </c:pt>
                <c:pt idx="8">
                  <c:v>18</c:v>
                </c:pt>
                <c:pt idx="9">
                  <c:v>20</c:v>
                </c:pt>
                <c:pt idx="10">
                  <c:v>22</c:v>
                </c:pt>
                <c:pt idx="11">
                  <c:v>24</c:v>
                </c:pt>
                <c:pt idx="12">
                  <c:v>26</c:v>
                </c:pt>
                <c:pt idx="13">
                  <c:v>28</c:v>
                </c:pt>
                <c:pt idx="14">
                  <c:v>30</c:v>
                </c:pt>
                <c:pt idx="15">
                  <c:v>32</c:v>
                </c:pt>
              </c:numCache>
            </c:numRef>
          </c:cat>
          <c:val>
            <c:numRef>
              <c:f>Лист1!$B$2:$B$17</c:f>
              <c:numCache>
                <c:formatCode>General</c:formatCode>
                <c:ptCount val="16"/>
                <c:pt idx="0">
                  <c:v>5</c:v>
                </c:pt>
                <c:pt idx="1">
                  <c:v>18</c:v>
                </c:pt>
                <c:pt idx="2">
                  <c:v>22</c:v>
                </c:pt>
                <c:pt idx="3">
                  <c:v>15</c:v>
                </c:pt>
                <c:pt idx="4">
                  <c:v>8</c:v>
                </c:pt>
                <c:pt idx="7">
                  <c:v>5</c:v>
                </c:pt>
                <c:pt idx="8">
                  <c:v>7</c:v>
                </c:pt>
                <c:pt idx="9">
                  <c:v>10</c:v>
                </c:pt>
                <c:pt idx="10">
                  <c:v>16</c:v>
                </c:pt>
                <c:pt idx="11">
                  <c:v>14</c:v>
                </c:pt>
                <c:pt idx="12">
                  <c:v>14</c:v>
                </c:pt>
                <c:pt idx="13">
                  <c:v>7</c:v>
                </c:pt>
                <c:pt idx="14">
                  <c:v>3</c:v>
                </c:pt>
                <c:pt idx="1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53-41D3-97F1-E1A60D8B48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661475296"/>
        <c:axId val="661476080"/>
      </c:barChart>
      <c:catAx>
        <c:axId val="66147529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82" b="1" i="0" u="none" strike="noStrike" baseline="0">
                    <a:solidFill>
                      <a:srgbClr val="000000"/>
                    </a:solidFill>
                    <a:latin typeface="Arial Cyr"/>
                    <a:ea typeface="Arial Cyr"/>
                    <a:cs typeface="Arial Cyr"/>
                  </a:defRPr>
                </a:pPr>
                <a:r>
                  <a:rPr lang="ru-RU"/>
                  <a:t>Дни</a:t>
                </a:r>
              </a:p>
            </c:rich>
          </c:tx>
          <c:layout>
            <c:manualLayout>
              <c:xMode val="edge"/>
              <c:yMode val="edge"/>
              <c:x val="0.49823321554770317"/>
              <c:y val="0.91604938271604941"/>
            </c:manualLayout>
          </c:layout>
          <c:overlay val="0"/>
          <c:spPr>
            <a:noFill/>
            <a:ln w="25576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97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982" b="0" i="0" u="none" strike="noStrike" baseline="0">
                <a:solidFill>
                  <a:srgbClr val="000000"/>
                </a:solidFill>
                <a:latin typeface="Arial Cyr"/>
                <a:ea typeface="Arial Cyr"/>
                <a:cs typeface="Arial Cyr"/>
              </a:defRPr>
            </a:pPr>
            <a:endParaRPr lang="ru-RU"/>
          </a:p>
        </c:txPr>
        <c:crossAx val="66147608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661476080"/>
        <c:scaling>
          <c:orientation val="minMax"/>
        </c:scaling>
        <c:delete val="0"/>
        <c:axPos val="l"/>
        <c:majorGridlines>
          <c:spPr>
            <a:ln w="3197">
              <a:solidFill>
                <a:srgbClr val="00000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97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982" b="0" i="0" u="none" strike="noStrike" baseline="0">
                <a:solidFill>
                  <a:srgbClr val="000000"/>
                </a:solidFill>
                <a:latin typeface="Arial Cyr"/>
                <a:ea typeface="Arial Cyr"/>
                <a:cs typeface="Arial Cyr"/>
              </a:defRPr>
            </a:pPr>
            <a:endParaRPr lang="ru-RU"/>
          </a:p>
        </c:txPr>
        <c:crossAx val="661475296"/>
        <c:crosses val="autoZero"/>
        <c:crossBetween val="between"/>
      </c:valAx>
      <c:spPr>
        <a:solidFill>
          <a:srgbClr val="C0C0C0"/>
        </a:solidFill>
        <a:ln w="12788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solidFill>
      <a:srgbClr val="FFFFFF"/>
    </a:solidFill>
    <a:ln w="3197">
      <a:solidFill>
        <a:srgbClr val="000000"/>
      </a:solidFill>
      <a:prstDash val="solid"/>
    </a:ln>
  </c:spPr>
  <c:txPr>
    <a:bodyPr/>
    <a:lstStyle/>
    <a:p>
      <a:pPr>
        <a:defRPr sz="982" b="0" i="0" u="none" strike="noStrike" baseline="0">
          <a:solidFill>
            <a:srgbClr val="000000"/>
          </a:solidFill>
          <a:latin typeface="Arial Cyr"/>
          <a:ea typeface="Arial Cyr"/>
          <a:cs typeface="Arial Cyr"/>
        </a:defRPr>
      </a:pPr>
      <a:endParaRPr lang="ru-RU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7395264116575593E-2"/>
          <c:y val="5.5415617128463476E-2"/>
          <c:w val="0.91621129326047357"/>
          <c:h val="0.78337531486146095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9999FF"/>
            </a:solidFill>
            <a:ln w="12129">
              <a:solidFill>
                <a:srgbClr val="000000"/>
              </a:solidFill>
              <a:prstDash val="solid"/>
            </a:ln>
          </c:spPr>
          <c:invertIfNegative val="0"/>
          <c:cat>
            <c:numRef>
              <c:f>'Лист1 (2)'!$A$2:$A$17</c:f>
              <c:numCache>
                <c:formatCode>General</c:formatCode>
                <c:ptCount val="16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14</c:v>
                </c:pt>
                <c:pt idx="7">
                  <c:v>16</c:v>
                </c:pt>
                <c:pt idx="8">
                  <c:v>18</c:v>
                </c:pt>
                <c:pt idx="9">
                  <c:v>20</c:v>
                </c:pt>
                <c:pt idx="10">
                  <c:v>22</c:v>
                </c:pt>
                <c:pt idx="11">
                  <c:v>24</c:v>
                </c:pt>
                <c:pt idx="12">
                  <c:v>26</c:v>
                </c:pt>
                <c:pt idx="13">
                  <c:v>28</c:v>
                </c:pt>
                <c:pt idx="14">
                  <c:v>30</c:v>
                </c:pt>
                <c:pt idx="15">
                  <c:v>32</c:v>
                </c:pt>
              </c:numCache>
            </c:numRef>
          </c:cat>
          <c:val>
            <c:numRef>
              <c:f>'Лист1 (2)'!$B$2:$B$17</c:f>
              <c:numCache>
                <c:formatCode>General</c:formatCode>
                <c:ptCount val="16"/>
                <c:pt idx="0">
                  <c:v>5</c:v>
                </c:pt>
                <c:pt idx="1">
                  <c:v>12</c:v>
                </c:pt>
                <c:pt idx="2">
                  <c:v>22</c:v>
                </c:pt>
                <c:pt idx="3">
                  <c:v>20</c:v>
                </c:pt>
                <c:pt idx="4">
                  <c:v>8</c:v>
                </c:pt>
                <c:pt idx="5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3</c:v>
                </c:pt>
                <c:pt idx="1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AD-4EE1-824F-C08FB64FED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661476864"/>
        <c:axId val="661478824"/>
      </c:barChart>
      <c:catAx>
        <c:axId val="66147686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7" b="1" i="0" u="none" strike="noStrike" baseline="0">
                    <a:solidFill>
                      <a:srgbClr val="000000"/>
                    </a:solidFill>
                    <a:latin typeface="Arial Cyr"/>
                    <a:ea typeface="Arial Cyr"/>
                    <a:cs typeface="Arial Cyr"/>
                  </a:defRPr>
                </a:pPr>
                <a:r>
                  <a:rPr lang="ru-RU"/>
                  <a:t>Минуты</a:t>
                </a:r>
              </a:p>
            </c:rich>
          </c:tx>
          <c:layout>
            <c:manualLayout>
              <c:xMode val="edge"/>
              <c:yMode val="edge"/>
              <c:x val="0.47358834244080145"/>
              <c:y val="0.91435768261964734"/>
            </c:manualLayout>
          </c:layout>
          <c:overlay val="0"/>
          <c:spPr>
            <a:noFill/>
            <a:ln w="24259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032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907" b="0" i="0" u="none" strike="noStrike" baseline="0">
                <a:solidFill>
                  <a:srgbClr val="000000"/>
                </a:solidFill>
                <a:latin typeface="Arial Cyr"/>
                <a:ea typeface="Arial Cyr"/>
                <a:cs typeface="Arial Cyr"/>
              </a:defRPr>
            </a:pPr>
            <a:endParaRPr lang="ru-RU"/>
          </a:p>
        </c:txPr>
        <c:crossAx val="661478824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661478824"/>
        <c:scaling>
          <c:orientation val="minMax"/>
        </c:scaling>
        <c:delete val="0"/>
        <c:axPos val="l"/>
        <c:majorGridlines>
          <c:spPr>
            <a:ln w="3032">
              <a:solidFill>
                <a:srgbClr val="00000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032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907" b="0" i="0" u="none" strike="noStrike" baseline="0">
                <a:solidFill>
                  <a:srgbClr val="000000"/>
                </a:solidFill>
                <a:latin typeface="Arial Cyr"/>
                <a:ea typeface="Arial Cyr"/>
                <a:cs typeface="Arial Cyr"/>
              </a:defRPr>
            </a:pPr>
            <a:endParaRPr lang="ru-RU"/>
          </a:p>
        </c:txPr>
        <c:crossAx val="661476864"/>
        <c:crosses val="autoZero"/>
        <c:crossBetween val="between"/>
      </c:valAx>
      <c:spPr>
        <a:solidFill>
          <a:srgbClr val="C0C0C0"/>
        </a:solidFill>
        <a:ln w="12129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solidFill>
      <a:srgbClr val="FFFFFF"/>
    </a:solidFill>
    <a:ln w="3032">
      <a:solidFill>
        <a:srgbClr val="000000"/>
      </a:solidFill>
      <a:prstDash val="solid"/>
    </a:ln>
  </c:spPr>
  <c:txPr>
    <a:bodyPr/>
    <a:lstStyle/>
    <a:p>
      <a:pPr>
        <a:defRPr sz="907" b="0" i="0" u="none" strike="noStrike" baseline="0">
          <a:solidFill>
            <a:srgbClr val="000000"/>
          </a:solidFill>
          <a:latin typeface="Arial Cyr"/>
          <a:ea typeface="Arial Cyr"/>
          <a:cs typeface="Arial Cyr"/>
        </a:defRPr>
      </a:pPr>
      <a:endParaRPr lang="ru-RU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16969390466556"/>
          <c:y val="0.10840382534873105"/>
          <c:w val="0.83693516699410608"/>
          <c:h val="0.63070539419087135"/>
        </c:manualLayout>
      </c:layout>
      <c:areaChart>
        <c:grouping val="stacked"/>
        <c:varyColors val="0"/>
        <c:ser>
          <c:idx val="1"/>
          <c:order val="0"/>
          <c:spPr>
            <a:solidFill>
              <a:srgbClr val="969696"/>
            </a:solidFill>
            <a:ln w="14588">
              <a:solidFill>
                <a:srgbClr val="000000"/>
              </a:solidFill>
              <a:prstDash val="solid"/>
            </a:ln>
          </c:spPr>
          <c:cat>
            <c:numRef>
              <c:f>Лист1!$B$1:$B$10</c:f>
              <c:numCache>
                <c:formatCode>General</c:formatCode>
                <c:ptCount val="10"/>
                <c:pt idx="0">
                  <c:v>45</c:v>
                </c:pt>
                <c:pt idx="1">
                  <c:v>50</c:v>
                </c:pt>
                <c:pt idx="2">
                  <c:v>55</c:v>
                </c:pt>
                <c:pt idx="3">
                  <c:v>60</c:v>
                </c:pt>
                <c:pt idx="4">
                  <c:v>65</c:v>
                </c:pt>
                <c:pt idx="5">
                  <c:v>70</c:v>
                </c:pt>
                <c:pt idx="6">
                  <c:v>75</c:v>
                </c:pt>
                <c:pt idx="7">
                  <c:v>80</c:v>
                </c:pt>
                <c:pt idx="8">
                  <c:v>85</c:v>
                </c:pt>
                <c:pt idx="9">
                  <c:v>90</c:v>
                </c:pt>
              </c:numCache>
            </c:numRef>
          </c:cat>
          <c:val>
            <c:numRef>
              <c:f>Лист1!$D$1:$D$10</c:f>
              <c:numCache>
                <c:formatCode>General</c:formatCode>
                <c:ptCount val="10"/>
                <c:pt idx="0">
                  <c:v>2</c:v>
                </c:pt>
                <c:pt idx="1">
                  <c:v>7</c:v>
                </c:pt>
                <c:pt idx="2">
                  <c:v>12</c:v>
                </c:pt>
                <c:pt idx="3">
                  <c:v>22</c:v>
                </c:pt>
                <c:pt idx="4">
                  <c:v>36</c:v>
                </c:pt>
                <c:pt idx="5">
                  <c:v>56</c:v>
                </c:pt>
                <c:pt idx="6">
                  <c:v>67</c:v>
                </c:pt>
                <c:pt idx="7">
                  <c:v>73</c:v>
                </c:pt>
                <c:pt idx="8">
                  <c:v>76</c:v>
                </c:pt>
                <c:pt idx="9">
                  <c:v>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7F-4098-B400-6D6147CE84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18155624"/>
        <c:axId val="518159544"/>
      </c:areaChart>
      <c:catAx>
        <c:axId val="51815562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35" b="1" i="0" u="none" strike="noStrike" baseline="0">
                    <a:solidFill>
                      <a:srgbClr val="000000"/>
                    </a:solidFill>
                    <a:latin typeface="Garamond"/>
                    <a:ea typeface="Garamond"/>
                    <a:cs typeface="Garamond"/>
                  </a:defRPr>
                </a:pPr>
                <a:r>
                  <a:rPr lang="ru-RU"/>
                  <a:t>Вес, кг</a:t>
                </a:r>
              </a:p>
            </c:rich>
          </c:tx>
          <c:layout>
            <c:manualLayout>
              <c:xMode val="edge"/>
              <c:yMode val="edge"/>
              <c:x val="0.49705304518664045"/>
              <c:y val="0.84232365145228216"/>
            </c:manualLayout>
          </c:layout>
          <c:overlay val="0"/>
          <c:spPr>
            <a:noFill/>
            <a:ln w="29176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647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34" b="0" i="0" u="none" strike="noStrike" baseline="0">
                <a:solidFill>
                  <a:srgbClr val="000000"/>
                </a:solidFill>
                <a:latin typeface="Arial Cyr"/>
                <a:ea typeface="Arial Cyr"/>
                <a:cs typeface="Arial Cyr"/>
              </a:defRPr>
            </a:pPr>
            <a:endParaRPr lang="ru-RU"/>
          </a:p>
        </c:txPr>
        <c:crossAx val="518159544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51815954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235" b="1" i="0" u="none" strike="noStrike" baseline="0">
                    <a:solidFill>
                      <a:srgbClr val="000000"/>
                    </a:solidFill>
                    <a:latin typeface="Garamond"/>
                    <a:ea typeface="Garamond"/>
                    <a:cs typeface="Garamond"/>
                  </a:defRPr>
                </a:pPr>
                <a:r>
                  <a:rPr lang="ru-RU"/>
                  <a:t>Частота, человек</a:t>
                </a:r>
              </a:p>
            </c:rich>
          </c:tx>
          <c:layout>
            <c:manualLayout>
              <c:xMode val="edge"/>
              <c:yMode val="edge"/>
              <c:x val="2.1611001964636542E-2"/>
              <c:y val="0.17012448132780084"/>
            </c:manualLayout>
          </c:layout>
          <c:overlay val="0"/>
          <c:spPr>
            <a:noFill/>
            <a:ln w="29176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647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34" b="0" i="0" u="none" strike="noStrike" baseline="0">
                <a:solidFill>
                  <a:srgbClr val="000000"/>
                </a:solidFill>
                <a:latin typeface="Arial Cyr"/>
                <a:ea typeface="Arial Cyr"/>
                <a:cs typeface="Arial Cyr"/>
              </a:defRPr>
            </a:pPr>
            <a:endParaRPr lang="ru-RU"/>
          </a:p>
        </c:txPr>
        <c:crossAx val="518155624"/>
        <c:crosses val="autoZero"/>
        <c:crossBetween val="midCat"/>
      </c:valAx>
      <c:spPr>
        <a:solidFill>
          <a:srgbClr val="C0C0C0"/>
        </a:solidFill>
        <a:ln w="29176">
          <a:noFill/>
        </a:ln>
      </c:spPr>
    </c:plotArea>
    <c:plotVisOnly val="1"/>
    <c:dispBlanksAs val="zero"/>
    <c:showDLblsOverMax val="0"/>
  </c:chart>
  <c:spPr>
    <a:solidFill>
      <a:srgbClr val="FFFFFF"/>
    </a:solidFill>
    <a:ln>
      <a:noFill/>
    </a:ln>
  </c:spPr>
  <c:txPr>
    <a:bodyPr/>
    <a:lstStyle/>
    <a:p>
      <a:pPr>
        <a:defRPr sz="1034" b="0" i="0" u="none" strike="noStrike" baseline="0">
          <a:solidFill>
            <a:srgbClr val="000000"/>
          </a:solidFill>
          <a:latin typeface="Arial Cyr"/>
          <a:ea typeface="Arial Cyr"/>
          <a:cs typeface="Arial Cyr"/>
        </a:defRPr>
      </a:pPr>
      <a:endParaRPr lang="ru-RU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40"/>
      <c:rotY val="16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5.8565153733528552E-2"/>
          <c:y val="0.16371681415929204"/>
          <c:w val="0.59736456808199123"/>
          <c:h val="0.67699115044247793"/>
        </c:manualLayout>
      </c:layout>
      <c:pie3DChart>
        <c:varyColors val="1"/>
        <c:ser>
          <c:idx val="0"/>
          <c:order val="0"/>
          <c:tx>
            <c:strRef>
              <c:f>Sheet1!$A$2</c:f>
              <c:strCache>
                <c:ptCount val="1"/>
              </c:strCache>
            </c:strRef>
          </c:tx>
          <c:spPr>
            <a:solidFill>
              <a:schemeClr val="accent1"/>
            </a:solidFill>
            <a:ln w="8482">
              <a:solidFill>
                <a:schemeClr val="tx1"/>
              </a:solidFill>
              <a:prstDash val="solid"/>
            </a:ln>
          </c:spPr>
          <c:explosion val="25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62-41AB-BE1C-0C9F53F3D16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8482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1B62-41AB-BE1C-0C9F53F3D162}"/>
              </c:ext>
            </c:extLst>
          </c:dPt>
          <c:dPt>
            <c:idx val="2"/>
            <c:bubble3D val="0"/>
            <c:spPr>
              <a:solidFill>
                <a:schemeClr val="hlink"/>
              </a:solidFill>
              <a:ln w="8482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1B62-41AB-BE1C-0C9F53F3D162}"/>
              </c:ext>
            </c:extLst>
          </c:dPt>
          <c:cat>
            <c:strRef>
              <c:f>Sheet1!$B$1:$D$1</c:f>
              <c:strCache>
                <c:ptCount val="3"/>
                <c:pt idx="0">
                  <c:v>Демократы</c:v>
                </c:pt>
                <c:pt idx="1">
                  <c:v>Коммунисты</c:v>
                </c:pt>
                <c:pt idx="2">
                  <c:v>Либералы</c:v>
                </c:pt>
              </c:strCache>
            </c:strRef>
          </c:cat>
          <c:val>
            <c:numRef>
              <c:f>Sheet1!$B$2:$D$2</c:f>
              <c:numCache>
                <c:formatCode>General</c:formatCode>
                <c:ptCount val="3"/>
                <c:pt idx="0">
                  <c:v>45</c:v>
                </c:pt>
                <c:pt idx="1">
                  <c:v>43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B62-41AB-BE1C-0C9F53F3D162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</c:strCache>
            </c:strRef>
          </c:tx>
          <c:spPr>
            <a:solidFill>
              <a:schemeClr val="accent2"/>
            </a:solidFill>
            <a:ln w="8482">
              <a:solidFill>
                <a:schemeClr val="tx1"/>
              </a:solidFill>
              <a:prstDash val="solid"/>
            </a:ln>
          </c:spPr>
          <c:explosion val="25"/>
          <c:dPt>
            <c:idx val="0"/>
            <c:bubble3D val="0"/>
            <c:spPr>
              <a:solidFill>
                <a:schemeClr val="accent1"/>
              </a:solidFill>
              <a:ln w="8482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1B62-41AB-BE1C-0C9F53F3D162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8-1B62-41AB-BE1C-0C9F53F3D162}"/>
              </c:ext>
            </c:extLst>
          </c:dPt>
          <c:dPt>
            <c:idx val="2"/>
            <c:bubble3D val="0"/>
            <c:spPr>
              <a:solidFill>
                <a:schemeClr val="hlink"/>
              </a:solidFill>
              <a:ln w="8482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A-1B62-41AB-BE1C-0C9F53F3D162}"/>
              </c:ext>
            </c:extLst>
          </c:dPt>
          <c:cat>
            <c:strRef>
              <c:f>Sheet1!$B$1:$D$1</c:f>
              <c:strCache>
                <c:ptCount val="3"/>
                <c:pt idx="0">
                  <c:v>Демократы</c:v>
                </c:pt>
                <c:pt idx="1">
                  <c:v>Коммунисты</c:v>
                </c:pt>
                <c:pt idx="2">
                  <c:v>Либералы</c:v>
                </c:pt>
              </c:strCache>
            </c:strRef>
          </c:cat>
          <c:val>
            <c:numRef>
              <c:f>Sheet1!$B$3:$D$3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B-1B62-41AB-BE1C-0C9F53F3D162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</c:strCache>
            </c:strRef>
          </c:tx>
          <c:spPr>
            <a:solidFill>
              <a:schemeClr val="hlink"/>
            </a:solidFill>
            <a:ln w="8482">
              <a:solidFill>
                <a:schemeClr val="tx1"/>
              </a:solidFill>
              <a:prstDash val="solid"/>
            </a:ln>
          </c:spPr>
          <c:explosion val="25"/>
          <c:dPt>
            <c:idx val="0"/>
            <c:bubble3D val="0"/>
            <c:spPr>
              <a:solidFill>
                <a:schemeClr val="accent1"/>
              </a:solidFill>
              <a:ln w="8482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D-1B62-41AB-BE1C-0C9F53F3D16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8482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F-1B62-41AB-BE1C-0C9F53F3D162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10-1B62-41AB-BE1C-0C9F53F3D162}"/>
              </c:ext>
            </c:extLst>
          </c:dPt>
          <c:cat>
            <c:strRef>
              <c:f>Sheet1!$B$1:$D$1</c:f>
              <c:strCache>
                <c:ptCount val="3"/>
                <c:pt idx="0">
                  <c:v>Демократы</c:v>
                </c:pt>
                <c:pt idx="1">
                  <c:v>Коммунисты</c:v>
                </c:pt>
                <c:pt idx="2">
                  <c:v>Либералы</c:v>
                </c:pt>
              </c:strCache>
            </c:strRef>
          </c:cat>
          <c:val>
            <c:numRef>
              <c:f>Sheet1!$B$4:$D$4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11-1B62-41AB-BE1C-0C9F53F3D1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 w="8482">
          <a:solidFill>
            <a:schemeClr val="tx1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71303074670571009"/>
          <c:y val="0.38274336283185839"/>
          <c:w val="0.28111273792093705"/>
          <c:h val="0.23451327433628319"/>
        </c:manualLayout>
      </c:layout>
      <c:overlay val="0"/>
      <c:spPr>
        <a:noFill/>
        <a:ln w="2120">
          <a:solidFill>
            <a:schemeClr val="tx1"/>
          </a:solidFill>
          <a:prstDash val="solid"/>
        </a:ln>
      </c:spPr>
      <c:txPr>
        <a:bodyPr/>
        <a:lstStyle/>
        <a:p>
          <a:pPr>
            <a:defRPr sz="1105" b="1" i="0" u="none" strike="noStrike" baseline="0">
              <a:solidFill>
                <a:schemeClr val="tx1"/>
              </a:solidFill>
              <a:latin typeface="Arial"/>
              <a:ea typeface="Arial"/>
              <a:cs typeface="Arial"/>
            </a:defRPr>
          </a:pPr>
          <a:endParaRPr lang="ru-RU"/>
        </a:p>
      </c:txPr>
    </c:legend>
    <c:plotVisOnly val="1"/>
    <c:dispBlanksAs val="zero"/>
    <c:showDLblsOverMax val="0"/>
  </c:chart>
  <c:spPr>
    <a:noFill/>
    <a:ln>
      <a:noFill/>
    </a:ln>
  </c:spPr>
  <c:txPr>
    <a:bodyPr/>
    <a:lstStyle/>
    <a:p>
      <a:pPr>
        <a:defRPr sz="1202" b="1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ru-RU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0527086383601759E-2"/>
          <c:y val="8.4070796460176997E-2"/>
          <c:w val="0.55344070278184476"/>
          <c:h val="0.83628318584070793"/>
        </c:manualLayout>
      </c:layout>
      <c:doughnutChart>
        <c:varyColors val="1"/>
        <c:ser>
          <c:idx val="0"/>
          <c:order val="0"/>
          <c:tx>
            <c:strRef>
              <c:f>Sheet1!$A$2</c:f>
              <c:strCache>
                <c:ptCount val="1"/>
              </c:strCache>
            </c:strRef>
          </c:tx>
          <c:spPr>
            <a:solidFill>
              <a:schemeClr val="accent1"/>
            </a:solidFill>
            <a:ln w="8206">
              <a:solidFill>
                <a:schemeClr val="tx1"/>
              </a:solidFill>
              <a:prstDash val="solid"/>
            </a:ln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5EBB-4AEE-BBDE-696AD01AC3D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8206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5EBB-4AEE-BBDE-696AD01AC3D5}"/>
              </c:ext>
            </c:extLst>
          </c:dPt>
          <c:dPt>
            <c:idx val="2"/>
            <c:bubble3D val="0"/>
            <c:spPr>
              <a:solidFill>
                <a:schemeClr val="hlink"/>
              </a:solidFill>
              <a:ln w="8206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5EBB-4AEE-BBDE-696AD01AC3D5}"/>
              </c:ext>
            </c:extLst>
          </c:dPt>
          <c:cat>
            <c:strRef>
              <c:f>Sheet1!$B$1:$D$1</c:f>
              <c:strCache>
                <c:ptCount val="3"/>
                <c:pt idx="0">
                  <c:v>Демократы</c:v>
                </c:pt>
                <c:pt idx="1">
                  <c:v>Коммунисты</c:v>
                </c:pt>
                <c:pt idx="2">
                  <c:v>Либералы</c:v>
                </c:pt>
              </c:strCache>
            </c:strRef>
          </c:cat>
          <c:val>
            <c:numRef>
              <c:f>Sheet1!$B$2:$D$2</c:f>
              <c:numCache>
                <c:formatCode>General</c:formatCode>
                <c:ptCount val="3"/>
                <c:pt idx="0">
                  <c:v>45</c:v>
                </c:pt>
                <c:pt idx="1">
                  <c:v>43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EBB-4AEE-BBDE-696AD01AC3D5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</c:strCache>
            </c:strRef>
          </c:tx>
          <c:spPr>
            <a:solidFill>
              <a:schemeClr val="accent2"/>
            </a:solidFill>
            <a:ln w="8206">
              <a:solidFill>
                <a:schemeClr val="tx1"/>
              </a:solidFill>
              <a:prstDash val="solid"/>
            </a:ln>
          </c:spPr>
          <c:dPt>
            <c:idx val="0"/>
            <c:bubble3D val="0"/>
            <c:spPr>
              <a:solidFill>
                <a:schemeClr val="accent1"/>
              </a:solidFill>
              <a:ln w="8206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5EBB-4AEE-BBDE-696AD01AC3D5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8-5EBB-4AEE-BBDE-696AD01AC3D5}"/>
              </c:ext>
            </c:extLst>
          </c:dPt>
          <c:dPt>
            <c:idx val="2"/>
            <c:bubble3D val="0"/>
            <c:spPr>
              <a:solidFill>
                <a:schemeClr val="hlink"/>
              </a:solidFill>
              <a:ln w="8206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A-5EBB-4AEE-BBDE-696AD01AC3D5}"/>
              </c:ext>
            </c:extLst>
          </c:dPt>
          <c:cat>
            <c:strRef>
              <c:f>Sheet1!$B$1:$D$1</c:f>
              <c:strCache>
                <c:ptCount val="3"/>
                <c:pt idx="0">
                  <c:v>Демократы</c:v>
                </c:pt>
                <c:pt idx="1">
                  <c:v>Коммунисты</c:v>
                </c:pt>
                <c:pt idx="2">
                  <c:v>Либералы</c:v>
                </c:pt>
              </c:strCache>
            </c:strRef>
          </c:cat>
          <c:val>
            <c:numRef>
              <c:f>Sheet1!$B$3:$D$3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B-5EBB-4AEE-BBDE-696AD01AC3D5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</c:strCache>
            </c:strRef>
          </c:tx>
          <c:spPr>
            <a:solidFill>
              <a:schemeClr val="hlink"/>
            </a:solidFill>
            <a:ln w="8206">
              <a:solidFill>
                <a:schemeClr val="tx1"/>
              </a:solidFill>
              <a:prstDash val="solid"/>
            </a:ln>
          </c:spPr>
          <c:dPt>
            <c:idx val="0"/>
            <c:bubble3D val="0"/>
            <c:spPr>
              <a:solidFill>
                <a:schemeClr val="accent1"/>
              </a:solidFill>
              <a:ln w="8206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D-5EBB-4AEE-BBDE-696AD01AC3D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8206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F-5EBB-4AEE-BBDE-696AD01AC3D5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10-5EBB-4AEE-BBDE-696AD01AC3D5}"/>
              </c:ext>
            </c:extLst>
          </c:dPt>
          <c:cat>
            <c:strRef>
              <c:f>Sheet1!$B$1:$D$1</c:f>
              <c:strCache>
                <c:ptCount val="3"/>
                <c:pt idx="0">
                  <c:v>Демократы</c:v>
                </c:pt>
                <c:pt idx="1">
                  <c:v>Коммунисты</c:v>
                </c:pt>
                <c:pt idx="2">
                  <c:v>Либералы</c:v>
                </c:pt>
              </c:strCache>
            </c:strRef>
          </c:cat>
          <c:val>
            <c:numRef>
              <c:f>Sheet1!$B$4:$D$4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11-5EBB-4AEE-BBDE-696AD01AC3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60"/>
        <c:holeSize val="50"/>
      </c:doughnutChart>
      <c:spPr>
        <a:noFill/>
        <a:ln w="8206">
          <a:solidFill>
            <a:schemeClr val="tx1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71303074670571009"/>
          <c:y val="0.38274336283185839"/>
          <c:w val="0.28111273792093705"/>
          <c:h val="0.23451327433628319"/>
        </c:manualLayout>
      </c:layout>
      <c:overlay val="0"/>
      <c:spPr>
        <a:noFill/>
        <a:ln w="2051">
          <a:solidFill>
            <a:schemeClr val="tx1"/>
          </a:solidFill>
          <a:prstDash val="solid"/>
        </a:ln>
      </c:spPr>
      <c:txPr>
        <a:bodyPr/>
        <a:lstStyle/>
        <a:p>
          <a:pPr>
            <a:defRPr sz="1069" b="1" i="0" u="none" strike="noStrike" baseline="0">
              <a:solidFill>
                <a:schemeClr val="tx1"/>
              </a:solidFill>
              <a:latin typeface="Arial"/>
              <a:ea typeface="Arial"/>
              <a:cs typeface="Arial"/>
            </a:defRPr>
          </a:pPr>
          <a:endParaRPr lang="ru-RU"/>
        </a:p>
      </c:txPr>
    </c:legend>
    <c:plotVisOnly val="1"/>
    <c:dispBlanksAs val="zero"/>
    <c:showDLblsOverMax val="0"/>
  </c:chart>
  <c:spPr>
    <a:noFill/>
    <a:ln>
      <a:noFill/>
    </a:ln>
  </c:spPr>
  <c:txPr>
    <a:bodyPr/>
    <a:lstStyle/>
    <a:p>
      <a:pPr>
        <a:defRPr sz="1163" b="1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ru-RU"/>
    </a:p>
  </c:txPr>
  <c:externalData r:id="rId1">
    <c:autoUpdate val="0"/>
  </c:externalData>
</c:chartSpace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35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45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43.png"/></Relationships>
</file>

<file path=ppt/drawings/_rels/vmlDrawing4.vml.rels><?xml version="1.0" encoding="UTF-8" standalone="yes"?><Relationships xmlns="http://schemas.openxmlformats.org/package/2006/relationships"><Relationship Id="rId1" Type="http://schemas.openxmlformats.org/officeDocument/2006/relationships/image" Target="../media/image40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В последнее время технологии больших данных развиваются высокими темпами. Возникает множество высокотехнологичных компаний, предоставляющих новые инструменты по анализу данных. В то же время растёт мировой спрос на специалистов, способных работать с большими объёмами данных, ставить задачи в этой области, понимать сложность и потенциальную стоимость таких работ. Предполагая нарастающий интерес к этой сфере в России, актуальным и адекватным решением будет систематизация опыта работы с технологиями и задачами анализа больших данных. Анализ образовательного рынка в области больших данных показывает нам, что онлайн-образование в сфере аналитики становится всё более популярным и массовым. Существует несколько курсов на английском языке, в т.ч. курсы Data Science and Big Data Analytics от EMC, ряд курсов на платформах Coursera и Udacity. Однако на русском языке подобные курсы пока отсутствуют. Настоящий курс призван ликвидировать данный пробел. Он представляет собой образовательный инструмент для введения в эту, без сомнения вдохновляющую и перспективную, область. Авторы курса предлагают слушателям окунуться в мир методов и технологий анализа больших данных на простых примерах.</a:t>
            </a:r>
            <a:endParaRPr/>
          </a:p>
        </p:txBody>
      </p:sp>
      <p:sp>
        <p:nvSpPr>
          <p:cNvPr id="98" name="Google Shape;98;p1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955675" y="685800"/>
            <a:ext cx="49466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117" name="Google Shape;117;p3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0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1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2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" name="Google Shape;2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3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4:notes"/>
          <p:cNvSpPr/>
          <p:nvPr>
            <p:ph idx="2" type="sldImg"/>
          </p:nvPr>
        </p:nvSpPr>
        <p:spPr>
          <a:xfrm>
            <a:off x="955675" y="685800"/>
            <a:ext cx="49466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latin typeface="Droid Sans Mono"/>
                <a:ea typeface="Droid Sans Mono"/>
                <a:cs typeface="Droid Sans Mono"/>
                <a:sym typeface="Droid Sans Mono"/>
              </a:rPr>
              <a:t>В последнее время технологии больших данных развиваются высокими темпами. Возникает множество высокотехнологичных компаний, предоставляющих новые инструменты по анализу данных. В то же время растёт мировой спрос на специалистов, способных работать с большими объёмами данных, ставить задачи в этой области, понимать сложность и потенциальную стоимость </a:t>
            </a:r>
            <a:r>
              <a:rPr lang="ru-RU" sz="1000">
                <a:latin typeface="Droid Sans Mono"/>
                <a:ea typeface="Droid Sans Mono"/>
                <a:cs typeface="Droid Sans Mono"/>
                <a:sym typeface="Droid Sans Mono"/>
              </a:rPr>
              <a:t>таких работ. Предполагая нарастающий интерес к этой сфере в России, сотрудники образовательных и бизнес-организаций Новосибирского научного центра решили систематизировать опыт работы с технологиями и задачами анализа больших данных. Анализ образовательного рынка в области </a:t>
            </a:r>
            <a:r>
              <a:rPr lang="ru-RU" sz="900">
                <a:latin typeface="Droid Sans Mono"/>
                <a:ea typeface="Droid Sans Mono"/>
                <a:cs typeface="Droid Sans Mono"/>
                <a:sym typeface="Droid Sans Mono"/>
              </a:rPr>
              <a:t>больших данных показывает нам, что онлайн-образование в сфере аналитики становится всё более популярным и массовым. Существует несколько курсов на английском языке, в т.ч. курсы Data Science and Big Data Analytics от EMC, ряд курсов на платформах Coursera и Udacity. Однако на русском языке подобные курсы пока отсутствуют. Настоящий курс призван ликвидировать данный пробел. Он представляет собой образовательный инструмент для введения в эту, без сомнения вдохновляющую и перспективную, область. Авторы курса предлагают слушателям окунуться в мир методов и технологий анализа больших данных на простых примерах.</a:t>
            </a:r>
            <a:endParaRPr/>
          </a:p>
        </p:txBody>
      </p:sp>
      <p:sp>
        <p:nvSpPr>
          <p:cNvPr id="307" name="Google Shape;307;p14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5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6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6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7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4" name="Google Shape;34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8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9:notes"/>
          <p:cNvSpPr/>
          <p:nvPr>
            <p:ph idx="2" type="sldImg"/>
          </p:nvPr>
        </p:nvSpPr>
        <p:spPr>
          <a:xfrm>
            <a:off x="955675" y="685800"/>
            <a:ext cx="49466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369" name="Google Shape;369;p19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0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1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2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1" name="Google Shape;41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3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3" name="Google Shape;42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4:notes"/>
          <p:cNvSpPr/>
          <p:nvPr>
            <p:ph idx="2" type="sldImg"/>
          </p:nvPr>
        </p:nvSpPr>
        <p:spPr>
          <a:xfrm>
            <a:off x="955675" y="685800"/>
            <a:ext cx="49466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5" name="Google Shape;43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436" name="Google Shape;436;p24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5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3" name="Google Shape;44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6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7" name="Google Shape;45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7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2" name="Google Shape;47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8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6" name="Google Shape;48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9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8" name="Google Shape;49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0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30:notes"/>
          <p:cNvSpPr/>
          <p:nvPr>
            <p:ph idx="2" type="sldImg"/>
          </p:nvPr>
        </p:nvSpPr>
        <p:spPr>
          <a:xfrm>
            <a:off x="955675" y="685800"/>
            <a:ext cx="49466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0" name="Google Shape;51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latin typeface="Droid Sans Mono"/>
                <a:ea typeface="Droid Sans Mono"/>
                <a:cs typeface="Droid Sans Mono"/>
                <a:sym typeface="Droid Sans Mono"/>
              </a:rPr>
              <a:t>В последнее время технологии больших данных развиваются высокими темпами. Возникает множество высокотехнологичных компаний, предоставляющих новые инструменты по анализу данных. В то же время растёт мировой спрос на специалистов, способных работать с большими объёмами данных, ставить задачи в этой области, понимать сложность и потенциальную стоимость </a:t>
            </a:r>
            <a:r>
              <a:rPr lang="ru-RU" sz="1000">
                <a:latin typeface="Droid Sans Mono"/>
                <a:ea typeface="Droid Sans Mono"/>
                <a:cs typeface="Droid Sans Mono"/>
                <a:sym typeface="Droid Sans Mono"/>
              </a:rPr>
              <a:t>таких работ. Предполагая нарастающий интерес к этой сфере в России, сотрудники образовательных и бизнес-организаций Новосибирского научного центра решили систематизировать опыт работы с технологиями и задачами анализа больших данных. Анализ образовательного рынка в области </a:t>
            </a:r>
            <a:r>
              <a:rPr lang="ru-RU" sz="900">
                <a:latin typeface="Droid Sans Mono"/>
                <a:ea typeface="Droid Sans Mono"/>
                <a:cs typeface="Droid Sans Mono"/>
                <a:sym typeface="Droid Sans Mono"/>
              </a:rPr>
              <a:t>больших данных показывает нам, что онлайн-образование в сфере аналитики становится всё более популярным и массовым. Существует несколько курсов на английском языке, в т.ч. курсы Data Science and Big Data Analytics от EMC, ряд курсов на платформах Coursera и Udacity. Однако на русском языке подобные курсы пока отсутствуют. Настоящий курс призван ликвидировать данный пробел. Он представляет собой образовательный инструмент для введения в эту, без сомнения вдохновляющую и перспективную, область. Авторы курса предлагают слушателям окунуться в мир методов и технологий анализа больших данных на простых примерах.</a:t>
            </a:r>
            <a:endParaRPr/>
          </a:p>
        </p:txBody>
      </p:sp>
      <p:sp>
        <p:nvSpPr>
          <p:cNvPr id="511" name="Google Shape;511;p30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1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8" name="Google Shape;51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2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32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1" name="Google Shape;53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3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33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0" name="Google Shape;55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34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5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8" name="Google Shape;57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6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37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38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39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6" name="Google Shape;64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0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40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8" name="Google Shape;65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41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42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43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44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44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9" name="Google Shape;739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45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46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47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8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48:notes"/>
          <p:cNvSpPr/>
          <p:nvPr>
            <p:ph idx="2" type="sldImg"/>
          </p:nvPr>
        </p:nvSpPr>
        <p:spPr>
          <a:xfrm>
            <a:off x="955675" y="685800"/>
            <a:ext cx="49466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2" name="Google Shape;792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latin typeface="Droid Sans Mono"/>
                <a:ea typeface="Droid Sans Mono"/>
                <a:cs typeface="Droid Sans Mono"/>
                <a:sym typeface="Droid Sans Mono"/>
              </a:rPr>
              <a:t>В</a:t>
            </a:r>
            <a:endParaRPr/>
          </a:p>
        </p:txBody>
      </p:sp>
      <p:sp>
        <p:nvSpPr>
          <p:cNvPr id="793" name="Google Shape;793;p48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49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50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51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52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53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54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55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56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57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58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59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60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61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62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63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64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65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65:notes"/>
          <p:cNvSpPr/>
          <p:nvPr>
            <p:ph idx="2" type="sldImg"/>
          </p:nvPr>
        </p:nvSpPr>
        <p:spPr>
          <a:xfrm>
            <a:off x="955675" y="685800"/>
            <a:ext cx="49466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3" name="Google Shape;1053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1054" name="Google Shape;1054;p65:notes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66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67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68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69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70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71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72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73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74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75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76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77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78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79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80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81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82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83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84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85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86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87:notes"/>
          <p:cNvSpPr/>
          <p:nvPr>
            <p:ph idx="2" type="sldImg"/>
          </p:nvPr>
        </p:nvSpPr>
        <p:spPr>
          <a:xfrm>
            <a:off x="957263" y="685800"/>
            <a:ext cx="49434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hyperlink" Target="http://presentation-creation.ru/" TargetMode="Externa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9"/>
          <p:cNvSpPr txBox="1"/>
          <p:nvPr>
            <p:ph type="ctrTitle"/>
          </p:nvPr>
        </p:nvSpPr>
        <p:spPr>
          <a:xfrm>
            <a:off x="0" y="1093920"/>
            <a:ext cx="5300605" cy="15275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9"/>
          <p:cNvSpPr txBox="1"/>
          <p:nvPr>
            <p:ph idx="1" type="subTitle"/>
          </p:nvPr>
        </p:nvSpPr>
        <p:spPr>
          <a:xfrm>
            <a:off x="13416" y="3114194"/>
            <a:ext cx="5206256" cy="1821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65"/>
              </a:spcBef>
              <a:spcAft>
                <a:spcPts val="0"/>
              </a:spcAft>
              <a:buClr>
                <a:srgbClr val="888888"/>
              </a:buClr>
              <a:buSzPts val="3325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82"/>
              </a:spcBef>
              <a:spcAft>
                <a:spcPts val="0"/>
              </a:spcAft>
              <a:buClr>
                <a:srgbClr val="888888"/>
              </a:buClr>
              <a:buSzPts val="2909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99"/>
              </a:spcBef>
              <a:spcAft>
                <a:spcPts val="0"/>
              </a:spcAft>
              <a:buClr>
                <a:srgbClr val="888888"/>
              </a:buClr>
              <a:buSzPts val="2494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16"/>
              </a:spcBef>
              <a:spcAft>
                <a:spcPts val="0"/>
              </a:spcAft>
              <a:buClr>
                <a:srgbClr val="888888"/>
              </a:buClr>
              <a:buSzPts val="2078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16"/>
              </a:spcBef>
              <a:spcAft>
                <a:spcPts val="0"/>
              </a:spcAft>
              <a:buClr>
                <a:srgbClr val="888888"/>
              </a:buClr>
              <a:buSzPts val="2078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16"/>
              </a:spcBef>
              <a:spcAft>
                <a:spcPts val="0"/>
              </a:spcAft>
              <a:buClr>
                <a:srgbClr val="888888"/>
              </a:buClr>
              <a:buSzPts val="2078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16"/>
              </a:spcBef>
              <a:spcAft>
                <a:spcPts val="0"/>
              </a:spcAft>
              <a:buClr>
                <a:srgbClr val="888888"/>
              </a:buClr>
              <a:buSzPts val="2078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16"/>
              </a:spcBef>
              <a:spcAft>
                <a:spcPts val="0"/>
              </a:spcAft>
              <a:buClr>
                <a:srgbClr val="888888"/>
              </a:buClr>
              <a:buSzPts val="2078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16"/>
              </a:spcBef>
              <a:spcAft>
                <a:spcPts val="0"/>
              </a:spcAft>
              <a:buClr>
                <a:srgbClr val="888888"/>
              </a:buClr>
              <a:buSzPts val="2078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9"/>
          <p:cNvSpPr txBox="1"/>
          <p:nvPr>
            <p:ph idx="10" type="dt"/>
          </p:nvPr>
        </p:nvSpPr>
        <p:spPr>
          <a:xfrm>
            <a:off x="51387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9"/>
          <p:cNvSpPr txBox="1"/>
          <p:nvPr>
            <p:ph idx="11" type="ftr"/>
          </p:nvPr>
        </p:nvSpPr>
        <p:spPr>
          <a:xfrm>
            <a:off x="3511471" y="6605014"/>
            <a:ext cx="3254534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9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1" name="Google Shape;21;p89"/>
          <p:cNvSpPr/>
          <p:nvPr/>
        </p:nvSpPr>
        <p:spPr>
          <a:xfrm>
            <a:off x="6814156" y="6742507"/>
            <a:ext cx="3322576" cy="380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7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http://presentation-creation.ru/</a:t>
            </a:r>
            <a:endParaRPr b="0" i="0" sz="3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0"/>
          <p:cNvSpPr txBox="1"/>
          <p:nvPr>
            <p:ph idx="10" type="dt"/>
          </p:nvPr>
        </p:nvSpPr>
        <p:spPr>
          <a:xfrm>
            <a:off x="51387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0"/>
          <p:cNvSpPr txBox="1"/>
          <p:nvPr>
            <p:ph idx="11" type="ftr"/>
          </p:nvPr>
        </p:nvSpPr>
        <p:spPr>
          <a:xfrm>
            <a:off x="3511471" y="6605014"/>
            <a:ext cx="3254534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0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1"/>
          <p:cNvSpPr txBox="1"/>
          <p:nvPr>
            <p:ph type="title"/>
          </p:nvPr>
        </p:nvSpPr>
        <p:spPr>
          <a:xfrm>
            <a:off x="513874" y="285382"/>
            <a:ext cx="9249728" cy="11877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1"/>
          <p:cNvSpPr txBox="1"/>
          <p:nvPr>
            <p:ph idx="1" type="body"/>
          </p:nvPr>
        </p:nvSpPr>
        <p:spPr>
          <a:xfrm>
            <a:off x="513874" y="1662801"/>
            <a:ext cx="9249728" cy="47030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91"/>
          <p:cNvSpPr txBox="1"/>
          <p:nvPr>
            <p:ph idx="10" type="dt"/>
          </p:nvPr>
        </p:nvSpPr>
        <p:spPr>
          <a:xfrm>
            <a:off x="51387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1"/>
          <p:cNvSpPr txBox="1"/>
          <p:nvPr>
            <p:ph idx="11" type="ftr"/>
          </p:nvPr>
        </p:nvSpPr>
        <p:spPr>
          <a:xfrm>
            <a:off x="3511471" y="6605014"/>
            <a:ext cx="3254534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1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2"/>
          <p:cNvSpPr txBox="1"/>
          <p:nvPr>
            <p:ph type="title"/>
          </p:nvPr>
        </p:nvSpPr>
        <p:spPr>
          <a:xfrm>
            <a:off x="513874" y="285382"/>
            <a:ext cx="9249728" cy="11877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2"/>
          <p:cNvSpPr txBox="1"/>
          <p:nvPr>
            <p:ph idx="1" type="body"/>
          </p:nvPr>
        </p:nvSpPr>
        <p:spPr>
          <a:xfrm>
            <a:off x="513874" y="1662801"/>
            <a:ext cx="4539218" cy="47030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3321" lvl="0" marL="457200" algn="l">
              <a:spcBef>
                <a:spcPts val="582"/>
              </a:spcBef>
              <a:spcAft>
                <a:spcPts val="0"/>
              </a:spcAft>
              <a:buClr>
                <a:schemeClr val="dk1"/>
              </a:buClr>
              <a:buSzPts val="2909"/>
              <a:buChar char="•"/>
              <a:defRPr sz="2909"/>
            </a:lvl1pPr>
            <a:lvl2pPr indent="-386969" lvl="1" marL="914400" algn="l"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494"/>
              <a:buChar char="–"/>
              <a:defRPr sz="2494"/>
            </a:lvl2pPr>
            <a:lvl3pPr indent="-360553" lvl="2" marL="1371600" algn="l">
              <a:spcBef>
                <a:spcPts val="416"/>
              </a:spcBef>
              <a:spcAft>
                <a:spcPts val="0"/>
              </a:spcAft>
              <a:buClr>
                <a:schemeClr val="dk1"/>
              </a:buClr>
              <a:buSzPts val="2078"/>
              <a:buChar char="•"/>
              <a:defRPr sz="2078"/>
            </a:lvl3pPr>
            <a:lvl4pPr indent="-347344" lvl="3" marL="1828800" algn="l"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870"/>
              <a:buChar char="–"/>
              <a:defRPr sz="1870"/>
            </a:lvl4pPr>
            <a:lvl5pPr indent="-347345" lvl="4" marL="2286000" algn="l"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870"/>
              <a:buChar char="»"/>
              <a:defRPr sz="1870"/>
            </a:lvl5pPr>
            <a:lvl6pPr indent="-347345" lvl="5" marL="2743200" algn="l"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870"/>
              <a:buChar char="•"/>
              <a:defRPr sz="1870"/>
            </a:lvl6pPr>
            <a:lvl7pPr indent="-347345" lvl="6" marL="3200400" algn="l"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870"/>
              <a:buChar char="•"/>
              <a:defRPr sz="1870"/>
            </a:lvl7pPr>
            <a:lvl8pPr indent="-347345" lvl="7" marL="3657600" algn="l"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870"/>
              <a:buChar char="•"/>
              <a:defRPr sz="1870"/>
            </a:lvl8pPr>
            <a:lvl9pPr indent="-347345" lvl="8" marL="4114800" algn="l"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870"/>
              <a:buChar char="•"/>
              <a:defRPr sz="1870"/>
            </a:lvl9pPr>
          </a:lstStyle>
          <a:p/>
        </p:txBody>
      </p:sp>
      <p:sp>
        <p:nvSpPr>
          <p:cNvPr id="35" name="Google Shape;35;p92"/>
          <p:cNvSpPr txBox="1"/>
          <p:nvPr>
            <p:ph idx="2" type="body"/>
          </p:nvPr>
        </p:nvSpPr>
        <p:spPr>
          <a:xfrm>
            <a:off x="5224383" y="1662801"/>
            <a:ext cx="4539218" cy="47030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3321" lvl="0" marL="457200" algn="l">
              <a:spcBef>
                <a:spcPts val="582"/>
              </a:spcBef>
              <a:spcAft>
                <a:spcPts val="0"/>
              </a:spcAft>
              <a:buClr>
                <a:schemeClr val="dk1"/>
              </a:buClr>
              <a:buSzPts val="2909"/>
              <a:buChar char="•"/>
              <a:defRPr sz="2909"/>
            </a:lvl1pPr>
            <a:lvl2pPr indent="-386969" lvl="1" marL="914400" algn="l"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494"/>
              <a:buChar char="–"/>
              <a:defRPr sz="2494"/>
            </a:lvl2pPr>
            <a:lvl3pPr indent="-360553" lvl="2" marL="1371600" algn="l">
              <a:spcBef>
                <a:spcPts val="416"/>
              </a:spcBef>
              <a:spcAft>
                <a:spcPts val="0"/>
              </a:spcAft>
              <a:buClr>
                <a:schemeClr val="dk1"/>
              </a:buClr>
              <a:buSzPts val="2078"/>
              <a:buChar char="•"/>
              <a:defRPr sz="2078"/>
            </a:lvl3pPr>
            <a:lvl4pPr indent="-347344" lvl="3" marL="1828800" algn="l"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870"/>
              <a:buChar char="–"/>
              <a:defRPr sz="1870"/>
            </a:lvl4pPr>
            <a:lvl5pPr indent="-347345" lvl="4" marL="2286000" algn="l"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870"/>
              <a:buChar char="»"/>
              <a:defRPr sz="1870"/>
            </a:lvl5pPr>
            <a:lvl6pPr indent="-347345" lvl="5" marL="2743200" algn="l"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870"/>
              <a:buChar char="•"/>
              <a:defRPr sz="1870"/>
            </a:lvl6pPr>
            <a:lvl7pPr indent="-347345" lvl="6" marL="3200400" algn="l"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870"/>
              <a:buChar char="•"/>
              <a:defRPr sz="1870"/>
            </a:lvl7pPr>
            <a:lvl8pPr indent="-347345" lvl="7" marL="3657600" algn="l"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870"/>
              <a:buChar char="•"/>
              <a:defRPr sz="1870"/>
            </a:lvl8pPr>
            <a:lvl9pPr indent="-347345" lvl="8" marL="4114800" algn="l"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870"/>
              <a:buChar char="•"/>
              <a:defRPr sz="1870"/>
            </a:lvl9pPr>
          </a:lstStyle>
          <a:p/>
        </p:txBody>
      </p:sp>
      <p:sp>
        <p:nvSpPr>
          <p:cNvPr id="36" name="Google Shape;36;p92"/>
          <p:cNvSpPr txBox="1"/>
          <p:nvPr>
            <p:ph idx="10" type="dt"/>
          </p:nvPr>
        </p:nvSpPr>
        <p:spPr>
          <a:xfrm>
            <a:off x="51387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2"/>
          <p:cNvSpPr txBox="1"/>
          <p:nvPr>
            <p:ph idx="11" type="ftr"/>
          </p:nvPr>
        </p:nvSpPr>
        <p:spPr>
          <a:xfrm>
            <a:off x="3511471" y="6605014"/>
            <a:ext cx="3254534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2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, текст и два объекта" type="txAndTwoObj">
  <p:cSld name="TEXT_AND_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3"/>
          <p:cNvSpPr txBox="1"/>
          <p:nvPr>
            <p:ph type="title"/>
          </p:nvPr>
        </p:nvSpPr>
        <p:spPr>
          <a:xfrm>
            <a:off x="706438" y="379413"/>
            <a:ext cx="8864600" cy="1377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3"/>
          <p:cNvSpPr txBox="1"/>
          <p:nvPr>
            <p:ph idx="1" type="body"/>
          </p:nvPr>
        </p:nvSpPr>
        <p:spPr>
          <a:xfrm>
            <a:off x="706438" y="1897063"/>
            <a:ext cx="4356100" cy="45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3"/>
          <p:cNvSpPr txBox="1"/>
          <p:nvPr>
            <p:ph idx="2" type="body"/>
          </p:nvPr>
        </p:nvSpPr>
        <p:spPr>
          <a:xfrm>
            <a:off x="5214938" y="1897063"/>
            <a:ext cx="4356100" cy="21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93"/>
          <p:cNvSpPr txBox="1"/>
          <p:nvPr>
            <p:ph idx="3" type="body"/>
          </p:nvPr>
        </p:nvSpPr>
        <p:spPr>
          <a:xfrm>
            <a:off x="5214938" y="4233863"/>
            <a:ext cx="4356100" cy="21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, текст и объект" type="txAndObj">
  <p:cSld name="TEXT_AND_OBJEC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4"/>
          <p:cNvSpPr txBox="1"/>
          <p:nvPr>
            <p:ph type="title"/>
          </p:nvPr>
        </p:nvSpPr>
        <p:spPr>
          <a:xfrm>
            <a:off x="706438" y="379413"/>
            <a:ext cx="8864600" cy="1377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4"/>
          <p:cNvSpPr txBox="1"/>
          <p:nvPr>
            <p:ph idx="1" type="body"/>
          </p:nvPr>
        </p:nvSpPr>
        <p:spPr>
          <a:xfrm>
            <a:off x="706438" y="1897063"/>
            <a:ext cx="4356100" cy="45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94"/>
          <p:cNvSpPr txBox="1"/>
          <p:nvPr>
            <p:ph idx="2" type="body"/>
          </p:nvPr>
        </p:nvSpPr>
        <p:spPr>
          <a:xfrm>
            <a:off x="5214938" y="1897063"/>
            <a:ext cx="4356100" cy="45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5"/>
          <p:cNvSpPr txBox="1"/>
          <p:nvPr>
            <p:ph type="title"/>
          </p:nvPr>
        </p:nvSpPr>
        <p:spPr>
          <a:xfrm>
            <a:off x="811850" y="4579300"/>
            <a:ext cx="8735854" cy="1415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56"/>
              <a:buFont typeface="Calibri"/>
              <a:buNone/>
              <a:defRPr b="1" sz="4156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95"/>
          <p:cNvSpPr txBox="1"/>
          <p:nvPr>
            <p:ph idx="1" type="body"/>
          </p:nvPr>
        </p:nvSpPr>
        <p:spPr>
          <a:xfrm>
            <a:off x="811850" y="3020425"/>
            <a:ext cx="8735854" cy="1558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16"/>
              </a:spcBef>
              <a:spcAft>
                <a:spcPts val="0"/>
              </a:spcAft>
              <a:buClr>
                <a:srgbClr val="888888"/>
              </a:buClr>
              <a:buSzPts val="2078"/>
              <a:buNone/>
              <a:defRPr sz="2078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74"/>
              </a:spcBef>
              <a:spcAft>
                <a:spcPts val="0"/>
              </a:spcAft>
              <a:buClr>
                <a:srgbClr val="888888"/>
              </a:buClr>
              <a:buSzPts val="1870"/>
              <a:buNone/>
              <a:defRPr sz="187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33"/>
              </a:spcBef>
              <a:spcAft>
                <a:spcPts val="0"/>
              </a:spcAft>
              <a:buClr>
                <a:srgbClr val="888888"/>
              </a:buClr>
              <a:buSzPts val="1663"/>
              <a:buNone/>
              <a:defRPr sz="1662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91"/>
              </a:spcBef>
              <a:spcAft>
                <a:spcPts val="0"/>
              </a:spcAft>
              <a:buClr>
                <a:srgbClr val="888888"/>
              </a:buClr>
              <a:buSzPts val="1455"/>
              <a:buNone/>
              <a:defRPr sz="1455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91"/>
              </a:spcBef>
              <a:spcAft>
                <a:spcPts val="0"/>
              </a:spcAft>
              <a:buClr>
                <a:srgbClr val="888888"/>
              </a:buClr>
              <a:buSzPts val="1455"/>
              <a:buNone/>
              <a:defRPr sz="1455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91"/>
              </a:spcBef>
              <a:spcAft>
                <a:spcPts val="0"/>
              </a:spcAft>
              <a:buClr>
                <a:srgbClr val="888888"/>
              </a:buClr>
              <a:buSzPts val="1455"/>
              <a:buNone/>
              <a:defRPr sz="1455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91"/>
              </a:spcBef>
              <a:spcAft>
                <a:spcPts val="0"/>
              </a:spcAft>
              <a:buClr>
                <a:srgbClr val="888888"/>
              </a:buClr>
              <a:buSzPts val="1455"/>
              <a:buNone/>
              <a:defRPr sz="1455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91"/>
              </a:spcBef>
              <a:spcAft>
                <a:spcPts val="0"/>
              </a:spcAft>
              <a:buClr>
                <a:srgbClr val="888888"/>
              </a:buClr>
              <a:buSzPts val="1455"/>
              <a:buNone/>
              <a:defRPr sz="1455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91"/>
              </a:spcBef>
              <a:spcAft>
                <a:spcPts val="0"/>
              </a:spcAft>
              <a:buClr>
                <a:srgbClr val="888888"/>
              </a:buClr>
              <a:buSzPts val="1455"/>
              <a:buNone/>
              <a:defRPr sz="1455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1" name="Google Shape;51;p95"/>
          <p:cNvSpPr txBox="1"/>
          <p:nvPr>
            <p:ph idx="10" type="dt"/>
          </p:nvPr>
        </p:nvSpPr>
        <p:spPr>
          <a:xfrm>
            <a:off x="51387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5"/>
          <p:cNvSpPr txBox="1"/>
          <p:nvPr>
            <p:ph idx="11" type="ftr"/>
          </p:nvPr>
        </p:nvSpPr>
        <p:spPr>
          <a:xfrm>
            <a:off x="3511471" y="6605014"/>
            <a:ext cx="3254534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5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6"/>
          <p:cNvSpPr txBox="1"/>
          <p:nvPr>
            <p:ph type="title"/>
          </p:nvPr>
        </p:nvSpPr>
        <p:spPr>
          <a:xfrm>
            <a:off x="513874" y="285382"/>
            <a:ext cx="9249728" cy="11877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72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6"/>
          <p:cNvSpPr txBox="1"/>
          <p:nvPr>
            <p:ph idx="1" type="body"/>
          </p:nvPr>
        </p:nvSpPr>
        <p:spPr>
          <a:xfrm>
            <a:off x="513874" y="1595167"/>
            <a:ext cx="4541003" cy="6647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494"/>
              <a:buNone/>
              <a:defRPr b="1" sz="2494"/>
            </a:lvl1pPr>
            <a:lvl2pPr indent="-228600" lvl="1" marL="914400" algn="l">
              <a:spcBef>
                <a:spcPts val="416"/>
              </a:spcBef>
              <a:spcAft>
                <a:spcPts val="0"/>
              </a:spcAft>
              <a:buClr>
                <a:schemeClr val="dk1"/>
              </a:buClr>
              <a:buSzPts val="2078"/>
              <a:buNone/>
              <a:defRPr b="1" sz="2078"/>
            </a:lvl2pPr>
            <a:lvl3pPr indent="-228600" lvl="2" marL="1371600" algn="l"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870"/>
              <a:buNone/>
              <a:defRPr b="1" sz="1870"/>
            </a:lvl3pPr>
            <a:lvl4pPr indent="-228600" lvl="3" marL="182880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3"/>
              <a:buNone/>
              <a:defRPr b="1" sz="1662"/>
            </a:lvl4pPr>
            <a:lvl5pPr indent="-228600" lvl="4" marL="228600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3"/>
              <a:buNone/>
              <a:defRPr b="1" sz="1662"/>
            </a:lvl5pPr>
            <a:lvl6pPr indent="-228600" lvl="5" marL="274320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3"/>
              <a:buNone/>
              <a:defRPr b="1" sz="1662"/>
            </a:lvl6pPr>
            <a:lvl7pPr indent="-228600" lvl="6" marL="320040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3"/>
              <a:buNone/>
              <a:defRPr b="1" sz="1662"/>
            </a:lvl7pPr>
            <a:lvl8pPr indent="-228600" lvl="7" marL="365760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3"/>
              <a:buNone/>
              <a:defRPr b="1" sz="1662"/>
            </a:lvl8pPr>
            <a:lvl9pPr indent="-228600" lvl="8" marL="411480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3"/>
              <a:buNone/>
              <a:defRPr b="1" sz="1662"/>
            </a:lvl9pPr>
          </a:lstStyle>
          <a:p/>
        </p:txBody>
      </p:sp>
      <p:sp>
        <p:nvSpPr>
          <p:cNvPr id="57" name="Google Shape;57;p96"/>
          <p:cNvSpPr txBox="1"/>
          <p:nvPr>
            <p:ph idx="2" type="body"/>
          </p:nvPr>
        </p:nvSpPr>
        <p:spPr>
          <a:xfrm>
            <a:off x="513874" y="2259957"/>
            <a:ext cx="4541003" cy="4105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6969" lvl="0" marL="457200" algn="l"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494"/>
              <a:buChar char="•"/>
              <a:defRPr sz="2494"/>
            </a:lvl1pPr>
            <a:lvl2pPr indent="-360553" lvl="1" marL="914400" algn="l">
              <a:spcBef>
                <a:spcPts val="416"/>
              </a:spcBef>
              <a:spcAft>
                <a:spcPts val="0"/>
              </a:spcAft>
              <a:buClr>
                <a:schemeClr val="dk1"/>
              </a:buClr>
              <a:buSzPts val="2078"/>
              <a:buChar char="–"/>
              <a:defRPr sz="2078"/>
            </a:lvl2pPr>
            <a:lvl3pPr indent="-347344" lvl="2" marL="1371600" algn="l"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870"/>
              <a:buChar char="•"/>
              <a:defRPr sz="1870"/>
            </a:lvl3pPr>
            <a:lvl4pPr indent="-334200" lvl="3" marL="182880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3"/>
              <a:buChar char="–"/>
              <a:defRPr sz="1662"/>
            </a:lvl4pPr>
            <a:lvl5pPr indent="-334200" lvl="4" marL="228600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3"/>
              <a:buChar char="»"/>
              <a:defRPr sz="1662"/>
            </a:lvl5pPr>
            <a:lvl6pPr indent="-334200" lvl="5" marL="274320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3"/>
              <a:buChar char="•"/>
              <a:defRPr sz="1662"/>
            </a:lvl6pPr>
            <a:lvl7pPr indent="-334200" lvl="6" marL="320040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3"/>
              <a:buChar char="•"/>
              <a:defRPr sz="1662"/>
            </a:lvl7pPr>
            <a:lvl8pPr indent="-334200" lvl="7" marL="365760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3"/>
              <a:buChar char="•"/>
              <a:defRPr sz="1662"/>
            </a:lvl8pPr>
            <a:lvl9pPr indent="-334200" lvl="8" marL="411480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3"/>
              <a:buChar char="•"/>
              <a:defRPr sz="1662"/>
            </a:lvl9pPr>
          </a:lstStyle>
          <a:p/>
        </p:txBody>
      </p:sp>
      <p:sp>
        <p:nvSpPr>
          <p:cNvPr id="58" name="Google Shape;58;p96"/>
          <p:cNvSpPr txBox="1"/>
          <p:nvPr>
            <p:ph idx="3" type="body"/>
          </p:nvPr>
        </p:nvSpPr>
        <p:spPr>
          <a:xfrm>
            <a:off x="5220815" y="1595167"/>
            <a:ext cx="4542787" cy="6647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494"/>
              <a:buNone/>
              <a:defRPr b="1" sz="2494"/>
            </a:lvl1pPr>
            <a:lvl2pPr indent="-228600" lvl="1" marL="914400" algn="l">
              <a:spcBef>
                <a:spcPts val="416"/>
              </a:spcBef>
              <a:spcAft>
                <a:spcPts val="0"/>
              </a:spcAft>
              <a:buClr>
                <a:schemeClr val="dk1"/>
              </a:buClr>
              <a:buSzPts val="2078"/>
              <a:buNone/>
              <a:defRPr b="1" sz="2078"/>
            </a:lvl2pPr>
            <a:lvl3pPr indent="-228600" lvl="2" marL="1371600" algn="l"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870"/>
              <a:buNone/>
              <a:defRPr b="1" sz="1870"/>
            </a:lvl3pPr>
            <a:lvl4pPr indent="-228600" lvl="3" marL="182880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3"/>
              <a:buNone/>
              <a:defRPr b="1" sz="1662"/>
            </a:lvl4pPr>
            <a:lvl5pPr indent="-228600" lvl="4" marL="228600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3"/>
              <a:buNone/>
              <a:defRPr b="1" sz="1662"/>
            </a:lvl5pPr>
            <a:lvl6pPr indent="-228600" lvl="5" marL="274320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3"/>
              <a:buNone/>
              <a:defRPr b="1" sz="1662"/>
            </a:lvl6pPr>
            <a:lvl7pPr indent="-228600" lvl="6" marL="320040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3"/>
              <a:buNone/>
              <a:defRPr b="1" sz="1662"/>
            </a:lvl7pPr>
            <a:lvl8pPr indent="-228600" lvl="7" marL="365760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3"/>
              <a:buNone/>
              <a:defRPr b="1" sz="1662"/>
            </a:lvl8pPr>
            <a:lvl9pPr indent="-228600" lvl="8" marL="411480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3"/>
              <a:buNone/>
              <a:defRPr b="1" sz="1662"/>
            </a:lvl9pPr>
          </a:lstStyle>
          <a:p/>
        </p:txBody>
      </p:sp>
      <p:sp>
        <p:nvSpPr>
          <p:cNvPr id="59" name="Google Shape;59;p96"/>
          <p:cNvSpPr txBox="1"/>
          <p:nvPr>
            <p:ph idx="4" type="body"/>
          </p:nvPr>
        </p:nvSpPr>
        <p:spPr>
          <a:xfrm>
            <a:off x="5220815" y="2259957"/>
            <a:ext cx="4542787" cy="4105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6969" lvl="0" marL="457200" algn="l"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494"/>
              <a:buChar char="•"/>
              <a:defRPr sz="2494"/>
            </a:lvl1pPr>
            <a:lvl2pPr indent="-360553" lvl="1" marL="914400" algn="l">
              <a:spcBef>
                <a:spcPts val="416"/>
              </a:spcBef>
              <a:spcAft>
                <a:spcPts val="0"/>
              </a:spcAft>
              <a:buClr>
                <a:schemeClr val="dk1"/>
              </a:buClr>
              <a:buSzPts val="2078"/>
              <a:buChar char="–"/>
              <a:defRPr sz="2078"/>
            </a:lvl2pPr>
            <a:lvl3pPr indent="-347344" lvl="2" marL="1371600" algn="l"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870"/>
              <a:buChar char="•"/>
              <a:defRPr sz="1870"/>
            </a:lvl3pPr>
            <a:lvl4pPr indent="-334200" lvl="3" marL="182880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3"/>
              <a:buChar char="–"/>
              <a:defRPr sz="1662"/>
            </a:lvl4pPr>
            <a:lvl5pPr indent="-334200" lvl="4" marL="228600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3"/>
              <a:buChar char="»"/>
              <a:defRPr sz="1662"/>
            </a:lvl5pPr>
            <a:lvl6pPr indent="-334200" lvl="5" marL="274320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3"/>
              <a:buChar char="•"/>
              <a:defRPr sz="1662"/>
            </a:lvl6pPr>
            <a:lvl7pPr indent="-334200" lvl="6" marL="320040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3"/>
              <a:buChar char="•"/>
              <a:defRPr sz="1662"/>
            </a:lvl7pPr>
            <a:lvl8pPr indent="-334200" lvl="7" marL="365760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3"/>
              <a:buChar char="•"/>
              <a:defRPr sz="1662"/>
            </a:lvl8pPr>
            <a:lvl9pPr indent="-334200" lvl="8" marL="411480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3"/>
              <a:buChar char="•"/>
              <a:defRPr sz="1662"/>
            </a:lvl9pPr>
          </a:lstStyle>
          <a:p/>
        </p:txBody>
      </p:sp>
      <p:sp>
        <p:nvSpPr>
          <p:cNvPr id="60" name="Google Shape;60;p96"/>
          <p:cNvSpPr txBox="1"/>
          <p:nvPr>
            <p:ph idx="10" type="dt"/>
          </p:nvPr>
        </p:nvSpPr>
        <p:spPr>
          <a:xfrm>
            <a:off x="51387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6"/>
          <p:cNvSpPr txBox="1"/>
          <p:nvPr>
            <p:ph idx="11" type="ftr"/>
          </p:nvPr>
        </p:nvSpPr>
        <p:spPr>
          <a:xfrm>
            <a:off x="3511471" y="6605014"/>
            <a:ext cx="3254534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6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7"/>
          <p:cNvSpPr txBox="1"/>
          <p:nvPr>
            <p:ph type="title"/>
          </p:nvPr>
        </p:nvSpPr>
        <p:spPr>
          <a:xfrm>
            <a:off x="513874" y="285382"/>
            <a:ext cx="9249728" cy="11877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7"/>
          <p:cNvSpPr txBox="1"/>
          <p:nvPr>
            <p:ph idx="10" type="dt"/>
          </p:nvPr>
        </p:nvSpPr>
        <p:spPr>
          <a:xfrm>
            <a:off x="51387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7"/>
          <p:cNvSpPr txBox="1"/>
          <p:nvPr>
            <p:ph idx="11" type="ftr"/>
          </p:nvPr>
        </p:nvSpPr>
        <p:spPr>
          <a:xfrm>
            <a:off x="3511471" y="6605014"/>
            <a:ext cx="3254534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7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8"/>
          <p:cNvSpPr txBox="1"/>
          <p:nvPr>
            <p:ph type="title"/>
          </p:nvPr>
        </p:nvSpPr>
        <p:spPr>
          <a:xfrm>
            <a:off x="513875" y="283732"/>
            <a:ext cx="3381218" cy="12075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78"/>
              <a:buFont typeface="Calibri"/>
              <a:buNone/>
              <a:defRPr b="1" sz="207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8"/>
          <p:cNvSpPr txBox="1"/>
          <p:nvPr>
            <p:ph idx="1" type="body"/>
          </p:nvPr>
        </p:nvSpPr>
        <p:spPr>
          <a:xfrm>
            <a:off x="4018207" y="283733"/>
            <a:ext cx="5745394" cy="6082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9737" lvl="0" marL="457200" algn="l"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325"/>
              <a:buChar char="•"/>
              <a:defRPr sz="3325"/>
            </a:lvl1pPr>
            <a:lvl2pPr indent="-413321" lvl="1" marL="914400" algn="l">
              <a:spcBef>
                <a:spcPts val="582"/>
              </a:spcBef>
              <a:spcAft>
                <a:spcPts val="0"/>
              </a:spcAft>
              <a:buClr>
                <a:schemeClr val="dk1"/>
              </a:buClr>
              <a:buSzPts val="2909"/>
              <a:buChar char="–"/>
              <a:defRPr sz="2909"/>
            </a:lvl2pPr>
            <a:lvl3pPr indent="-386969" lvl="2" marL="1371600" algn="l"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494"/>
              <a:buChar char="•"/>
              <a:defRPr sz="2494"/>
            </a:lvl3pPr>
            <a:lvl4pPr indent="-360553" lvl="3" marL="1828800" algn="l">
              <a:spcBef>
                <a:spcPts val="416"/>
              </a:spcBef>
              <a:spcAft>
                <a:spcPts val="0"/>
              </a:spcAft>
              <a:buClr>
                <a:schemeClr val="dk1"/>
              </a:buClr>
              <a:buSzPts val="2078"/>
              <a:buChar char="–"/>
              <a:defRPr sz="2078"/>
            </a:lvl4pPr>
            <a:lvl5pPr indent="-360553" lvl="4" marL="2286000" algn="l">
              <a:spcBef>
                <a:spcPts val="416"/>
              </a:spcBef>
              <a:spcAft>
                <a:spcPts val="0"/>
              </a:spcAft>
              <a:buClr>
                <a:schemeClr val="dk1"/>
              </a:buClr>
              <a:buSzPts val="2078"/>
              <a:buChar char="»"/>
              <a:defRPr sz="2078"/>
            </a:lvl5pPr>
            <a:lvl6pPr indent="-360553" lvl="5" marL="2743200" algn="l">
              <a:spcBef>
                <a:spcPts val="416"/>
              </a:spcBef>
              <a:spcAft>
                <a:spcPts val="0"/>
              </a:spcAft>
              <a:buClr>
                <a:schemeClr val="dk1"/>
              </a:buClr>
              <a:buSzPts val="2078"/>
              <a:buChar char="•"/>
              <a:defRPr sz="2078"/>
            </a:lvl6pPr>
            <a:lvl7pPr indent="-360553" lvl="6" marL="3200400" algn="l">
              <a:spcBef>
                <a:spcPts val="416"/>
              </a:spcBef>
              <a:spcAft>
                <a:spcPts val="0"/>
              </a:spcAft>
              <a:buClr>
                <a:schemeClr val="dk1"/>
              </a:buClr>
              <a:buSzPts val="2078"/>
              <a:buChar char="•"/>
              <a:defRPr sz="2078"/>
            </a:lvl7pPr>
            <a:lvl8pPr indent="-360553" lvl="7" marL="3657600" algn="l">
              <a:spcBef>
                <a:spcPts val="416"/>
              </a:spcBef>
              <a:spcAft>
                <a:spcPts val="0"/>
              </a:spcAft>
              <a:buClr>
                <a:schemeClr val="dk1"/>
              </a:buClr>
              <a:buSzPts val="2078"/>
              <a:buChar char="•"/>
              <a:defRPr sz="2078"/>
            </a:lvl8pPr>
            <a:lvl9pPr indent="-360553" lvl="8" marL="4114800" algn="l">
              <a:spcBef>
                <a:spcPts val="416"/>
              </a:spcBef>
              <a:spcAft>
                <a:spcPts val="0"/>
              </a:spcAft>
              <a:buClr>
                <a:schemeClr val="dk1"/>
              </a:buClr>
              <a:buSzPts val="2078"/>
              <a:buChar char="•"/>
              <a:defRPr sz="2078"/>
            </a:lvl9pPr>
          </a:lstStyle>
          <a:p/>
        </p:txBody>
      </p:sp>
      <p:sp>
        <p:nvSpPr>
          <p:cNvPr id="71" name="Google Shape;71;p98"/>
          <p:cNvSpPr txBox="1"/>
          <p:nvPr>
            <p:ph idx="2" type="body"/>
          </p:nvPr>
        </p:nvSpPr>
        <p:spPr>
          <a:xfrm>
            <a:off x="513875" y="1491242"/>
            <a:ext cx="3381218" cy="48745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455"/>
              <a:buNone/>
              <a:defRPr sz="1455"/>
            </a:lvl1pPr>
            <a:lvl2pPr indent="-228600" lvl="1" marL="914400" algn="l">
              <a:spcBef>
                <a:spcPts val="249"/>
              </a:spcBef>
              <a:spcAft>
                <a:spcPts val="0"/>
              </a:spcAft>
              <a:buClr>
                <a:schemeClr val="dk1"/>
              </a:buClr>
              <a:buSzPts val="1247"/>
              <a:buNone/>
              <a:defRPr sz="1247"/>
            </a:lvl2pPr>
            <a:lvl3pPr indent="-228600" lvl="2" marL="137160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39"/>
              <a:buNone/>
              <a:defRPr sz="1039"/>
            </a:lvl3pPr>
            <a:lvl4pPr indent="-228600" lvl="3" marL="182880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  <a:defRPr sz="935"/>
            </a:lvl4pPr>
            <a:lvl5pPr indent="-228600" lvl="4" marL="228600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  <a:defRPr sz="935"/>
            </a:lvl5pPr>
            <a:lvl6pPr indent="-228600" lvl="5" marL="274320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  <a:defRPr sz="935"/>
            </a:lvl6pPr>
            <a:lvl7pPr indent="-228600" lvl="6" marL="320040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  <a:defRPr sz="935"/>
            </a:lvl7pPr>
            <a:lvl8pPr indent="-228600" lvl="7" marL="365760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  <a:defRPr sz="935"/>
            </a:lvl8pPr>
            <a:lvl9pPr indent="-228600" lvl="8" marL="411480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  <a:defRPr sz="935"/>
            </a:lvl9pPr>
          </a:lstStyle>
          <a:p/>
        </p:txBody>
      </p:sp>
      <p:sp>
        <p:nvSpPr>
          <p:cNvPr id="72" name="Google Shape;72;p98"/>
          <p:cNvSpPr txBox="1"/>
          <p:nvPr>
            <p:ph idx="10" type="dt"/>
          </p:nvPr>
        </p:nvSpPr>
        <p:spPr>
          <a:xfrm>
            <a:off x="51387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8"/>
          <p:cNvSpPr txBox="1"/>
          <p:nvPr>
            <p:ph idx="11" type="ftr"/>
          </p:nvPr>
        </p:nvSpPr>
        <p:spPr>
          <a:xfrm>
            <a:off x="3511471" y="6605014"/>
            <a:ext cx="3254534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8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9"/>
          <p:cNvSpPr txBox="1"/>
          <p:nvPr>
            <p:ph type="title"/>
          </p:nvPr>
        </p:nvSpPr>
        <p:spPr>
          <a:xfrm>
            <a:off x="2014457" y="4988402"/>
            <a:ext cx="6166485" cy="5889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78"/>
              <a:buFont typeface="Calibri"/>
              <a:buNone/>
              <a:defRPr b="1" sz="207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9"/>
          <p:cNvSpPr/>
          <p:nvPr>
            <p:ph idx="2" type="pic"/>
          </p:nvPr>
        </p:nvSpPr>
        <p:spPr>
          <a:xfrm>
            <a:off x="2014457" y="636747"/>
            <a:ext cx="6166485" cy="4275773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99"/>
          <p:cNvSpPr txBox="1"/>
          <p:nvPr>
            <p:ph idx="1" type="body"/>
          </p:nvPr>
        </p:nvSpPr>
        <p:spPr>
          <a:xfrm>
            <a:off x="2014457" y="5577310"/>
            <a:ext cx="6166485" cy="8363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455"/>
              <a:buNone/>
              <a:defRPr sz="1455"/>
            </a:lvl1pPr>
            <a:lvl2pPr indent="-228600" lvl="1" marL="914400" algn="l">
              <a:spcBef>
                <a:spcPts val="249"/>
              </a:spcBef>
              <a:spcAft>
                <a:spcPts val="0"/>
              </a:spcAft>
              <a:buClr>
                <a:schemeClr val="dk1"/>
              </a:buClr>
              <a:buSzPts val="1247"/>
              <a:buNone/>
              <a:defRPr sz="1247"/>
            </a:lvl2pPr>
            <a:lvl3pPr indent="-228600" lvl="2" marL="137160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39"/>
              <a:buNone/>
              <a:defRPr sz="1039"/>
            </a:lvl3pPr>
            <a:lvl4pPr indent="-228600" lvl="3" marL="182880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  <a:defRPr sz="935"/>
            </a:lvl4pPr>
            <a:lvl5pPr indent="-228600" lvl="4" marL="228600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  <a:defRPr sz="935"/>
            </a:lvl5pPr>
            <a:lvl6pPr indent="-228600" lvl="5" marL="274320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  <a:defRPr sz="935"/>
            </a:lvl6pPr>
            <a:lvl7pPr indent="-228600" lvl="6" marL="320040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  <a:defRPr sz="935"/>
            </a:lvl7pPr>
            <a:lvl8pPr indent="-228600" lvl="7" marL="365760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  <a:defRPr sz="935"/>
            </a:lvl8pPr>
            <a:lvl9pPr indent="-228600" lvl="8" marL="411480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5"/>
              <a:buNone/>
              <a:defRPr sz="935"/>
            </a:lvl9pPr>
          </a:lstStyle>
          <a:p/>
        </p:txBody>
      </p:sp>
      <p:sp>
        <p:nvSpPr>
          <p:cNvPr id="79" name="Google Shape;79;p99"/>
          <p:cNvSpPr txBox="1"/>
          <p:nvPr>
            <p:ph idx="10" type="dt"/>
          </p:nvPr>
        </p:nvSpPr>
        <p:spPr>
          <a:xfrm>
            <a:off x="51387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9"/>
          <p:cNvSpPr txBox="1"/>
          <p:nvPr>
            <p:ph idx="11" type="ftr"/>
          </p:nvPr>
        </p:nvSpPr>
        <p:spPr>
          <a:xfrm>
            <a:off x="3511471" y="6605014"/>
            <a:ext cx="3254534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9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0"/>
          <p:cNvSpPr txBox="1"/>
          <p:nvPr>
            <p:ph type="title"/>
          </p:nvPr>
        </p:nvSpPr>
        <p:spPr>
          <a:xfrm>
            <a:off x="513874" y="285382"/>
            <a:ext cx="9249728" cy="11877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00"/>
          <p:cNvSpPr txBox="1"/>
          <p:nvPr>
            <p:ph idx="1" type="body"/>
          </p:nvPr>
        </p:nvSpPr>
        <p:spPr>
          <a:xfrm rot="5400000">
            <a:off x="2787228" y="-610553"/>
            <a:ext cx="4703021" cy="924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00"/>
          <p:cNvSpPr txBox="1"/>
          <p:nvPr>
            <p:ph idx="10" type="dt"/>
          </p:nvPr>
        </p:nvSpPr>
        <p:spPr>
          <a:xfrm>
            <a:off x="51387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00"/>
          <p:cNvSpPr txBox="1"/>
          <p:nvPr>
            <p:ph idx="11" type="ftr"/>
          </p:nvPr>
        </p:nvSpPr>
        <p:spPr>
          <a:xfrm>
            <a:off x="3511471" y="6605014"/>
            <a:ext cx="3254534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0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1"/>
          <p:cNvSpPr txBox="1"/>
          <p:nvPr>
            <p:ph type="title"/>
          </p:nvPr>
        </p:nvSpPr>
        <p:spPr>
          <a:xfrm rot="5400000">
            <a:off x="5567166" y="2169387"/>
            <a:ext cx="6080439" cy="2312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1"/>
          <p:cNvSpPr txBox="1"/>
          <p:nvPr>
            <p:ph idx="1" type="body"/>
          </p:nvPr>
        </p:nvSpPr>
        <p:spPr>
          <a:xfrm rot="5400000">
            <a:off x="856656" y="-57399"/>
            <a:ext cx="6080439" cy="6766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1"/>
          <p:cNvSpPr txBox="1"/>
          <p:nvPr>
            <p:ph idx="10" type="dt"/>
          </p:nvPr>
        </p:nvSpPr>
        <p:spPr>
          <a:xfrm>
            <a:off x="51387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1"/>
          <p:cNvSpPr txBox="1"/>
          <p:nvPr>
            <p:ph idx="11" type="ftr"/>
          </p:nvPr>
        </p:nvSpPr>
        <p:spPr>
          <a:xfrm>
            <a:off x="3511471" y="6605014"/>
            <a:ext cx="3254534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01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8"/>
          <p:cNvSpPr txBox="1"/>
          <p:nvPr>
            <p:ph type="title"/>
          </p:nvPr>
        </p:nvSpPr>
        <p:spPr>
          <a:xfrm>
            <a:off x="513874" y="285382"/>
            <a:ext cx="9249728" cy="11877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72"/>
              <a:buFont typeface="Calibri"/>
              <a:buNone/>
              <a:defRPr b="0" i="0" sz="457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8"/>
          <p:cNvSpPr txBox="1"/>
          <p:nvPr>
            <p:ph idx="1" type="body"/>
          </p:nvPr>
        </p:nvSpPr>
        <p:spPr>
          <a:xfrm>
            <a:off x="513874" y="1662801"/>
            <a:ext cx="9249728" cy="47030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9737" lvl="0" marL="457200" marR="0" rtl="0" algn="l"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3325"/>
              <a:buFont typeface="Arial"/>
              <a:buChar char="•"/>
              <a:defRPr b="0" i="0" sz="33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13321" lvl="1" marL="914400" marR="0" rtl="0" algn="l">
              <a:spcBef>
                <a:spcPts val="582"/>
              </a:spcBef>
              <a:spcAft>
                <a:spcPts val="0"/>
              </a:spcAft>
              <a:buClr>
                <a:schemeClr val="dk1"/>
              </a:buClr>
              <a:buSzPts val="2909"/>
              <a:buFont typeface="Arial"/>
              <a:buChar char="–"/>
              <a:defRPr b="0" i="0" sz="29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6969" lvl="2" marL="1371600" marR="0" rtl="0" algn="l"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494"/>
              <a:buFont typeface="Arial"/>
              <a:buChar char="•"/>
              <a:defRPr b="0" i="0" sz="249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0553" lvl="3" marL="1828800" marR="0" rtl="0" algn="l">
              <a:spcBef>
                <a:spcPts val="416"/>
              </a:spcBef>
              <a:spcAft>
                <a:spcPts val="0"/>
              </a:spcAft>
              <a:buClr>
                <a:schemeClr val="dk1"/>
              </a:buClr>
              <a:buSzPts val="2078"/>
              <a:buFont typeface="Arial"/>
              <a:buChar char="–"/>
              <a:defRPr b="0" i="0" sz="207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0553" lvl="4" marL="2286000" marR="0" rtl="0" algn="l">
              <a:spcBef>
                <a:spcPts val="416"/>
              </a:spcBef>
              <a:spcAft>
                <a:spcPts val="0"/>
              </a:spcAft>
              <a:buClr>
                <a:schemeClr val="dk1"/>
              </a:buClr>
              <a:buSzPts val="2078"/>
              <a:buFont typeface="Arial"/>
              <a:buChar char="»"/>
              <a:defRPr b="0" i="0" sz="207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0553" lvl="5" marL="2743200" marR="0" rtl="0" algn="l">
              <a:spcBef>
                <a:spcPts val="416"/>
              </a:spcBef>
              <a:spcAft>
                <a:spcPts val="0"/>
              </a:spcAft>
              <a:buClr>
                <a:schemeClr val="dk1"/>
              </a:buClr>
              <a:buSzPts val="2078"/>
              <a:buFont typeface="Arial"/>
              <a:buChar char="•"/>
              <a:defRPr b="0" i="0" sz="207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0553" lvl="6" marL="3200400" marR="0" rtl="0" algn="l">
              <a:spcBef>
                <a:spcPts val="416"/>
              </a:spcBef>
              <a:spcAft>
                <a:spcPts val="0"/>
              </a:spcAft>
              <a:buClr>
                <a:schemeClr val="dk1"/>
              </a:buClr>
              <a:buSzPts val="2078"/>
              <a:buFont typeface="Arial"/>
              <a:buChar char="•"/>
              <a:defRPr b="0" i="0" sz="207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0553" lvl="7" marL="3657600" marR="0" rtl="0" algn="l">
              <a:spcBef>
                <a:spcPts val="416"/>
              </a:spcBef>
              <a:spcAft>
                <a:spcPts val="0"/>
              </a:spcAft>
              <a:buClr>
                <a:schemeClr val="dk1"/>
              </a:buClr>
              <a:buSzPts val="2078"/>
              <a:buFont typeface="Arial"/>
              <a:buChar char="•"/>
              <a:defRPr b="0" i="0" sz="207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0553" lvl="8" marL="4114800" marR="0" rtl="0" algn="l">
              <a:spcBef>
                <a:spcPts val="416"/>
              </a:spcBef>
              <a:spcAft>
                <a:spcPts val="0"/>
              </a:spcAft>
              <a:buClr>
                <a:schemeClr val="dk1"/>
              </a:buClr>
              <a:buSzPts val="2078"/>
              <a:buFont typeface="Arial"/>
              <a:buChar char="•"/>
              <a:defRPr b="0" i="0" sz="207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8"/>
          <p:cNvSpPr txBox="1"/>
          <p:nvPr>
            <p:ph idx="10" type="dt"/>
          </p:nvPr>
        </p:nvSpPr>
        <p:spPr>
          <a:xfrm>
            <a:off x="51387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47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88"/>
          <p:cNvSpPr txBox="1"/>
          <p:nvPr>
            <p:ph idx="11" type="ftr"/>
          </p:nvPr>
        </p:nvSpPr>
        <p:spPr>
          <a:xfrm>
            <a:off x="3511471" y="6605014"/>
            <a:ext cx="3254534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47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88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47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47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47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47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47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47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47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47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47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chart" Target="../charts/chart1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5" Type="http://schemas.openxmlformats.org/officeDocument/2006/relationships/image" Target="../media/image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1.gif"/><Relationship Id="rId4" Type="http://schemas.openxmlformats.org/officeDocument/2006/relationships/image" Target="../media/image4.gif"/><Relationship Id="rId5" Type="http://schemas.openxmlformats.org/officeDocument/2006/relationships/image" Target="../media/image14.gif"/><Relationship Id="rId6" Type="http://schemas.openxmlformats.org/officeDocument/2006/relationships/image" Target="../media/image17.gif"/><Relationship Id="rId7" Type="http://schemas.openxmlformats.org/officeDocument/2006/relationships/image" Target="../media/image11.gif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5.gif"/><Relationship Id="rId4" Type="http://schemas.openxmlformats.org/officeDocument/2006/relationships/image" Target="../media/image24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8.png"/><Relationship Id="rId8" Type="http://schemas.openxmlformats.org/officeDocument/2006/relationships/image" Target="../media/image2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chart" Target="../charts/chart2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9.png"/><Relationship Id="rId4" Type="http://schemas.openxmlformats.org/officeDocument/2006/relationships/image" Target="../media/image26.png"/><Relationship Id="rId5" Type="http://schemas.openxmlformats.org/officeDocument/2006/relationships/image" Target="../media/image3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6.png"/><Relationship Id="rId4" Type="http://schemas.openxmlformats.org/officeDocument/2006/relationships/image" Target="../media/image32.png"/><Relationship Id="rId5" Type="http://schemas.openxmlformats.org/officeDocument/2006/relationships/image" Target="../media/image3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Relationship Id="rId3" Type="http://schemas.openxmlformats.org/officeDocument/2006/relationships/chart" Target="../charts/chart7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vmlDrawing" Target="../drawings/vmlDrawing1.vml"/><Relationship Id="rId4" Type="http://schemas.openxmlformats.org/officeDocument/2006/relationships/image" Target="../media/image33.png"/><Relationship Id="rId5" Type="http://schemas.openxmlformats.org/officeDocument/2006/relationships/oleObject" Target="../embeddings/oleObject1.bin"/><Relationship Id="rId6" Type="http://schemas.openxmlformats.org/officeDocument/2006/relationships/oleObject" Target="../embeddings/oleObject1.bin"/><Relationship Id="rId7" Type="http://schemas.openxmlformats.org/officeDocument/2006/relationships/image" Target="../media/image35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oleObject2.bin"/><Relationship Id="rId6" Type="http://schemas.openxmlformats.org/officeDocument/2006/relationships/image" Target="../media/image45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chart" Target="../charts/chart8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chart" Target="../charts/chart9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3.bin"/><Relationship Id="rId5" Type="http://schemas.openxmlformats.org/officeDocument/2006/relationships/oleObject" Target="../embeddings/oleObject3.bin"/><Relationship Id="rId6" Type="http://schemas.openxmlformats.org/officeDocument/2006/relationships/image" Target="../media/image4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vmlDrawing" Target="../drawings/vmlDrawing4.vml"/><Relationship Id="rId4" Type="http://schemas.openxmlformats.org/officeDocument/2006/relationships/oleObject" Target="../embeddings/oleObject4.bin"/><Relationship Id="rId5" Type="http://schemas.openxmlformats.org/officeDocument/2006/relationships/oleObject" Target="../embeddings/oleObject4.bin"/><Relationship Id="rId6" Type="http://schemas.openxmlformats.org/officeDocument/2006/relationships/image" Target="../media/image40.png"/><Relationship Id="rId7" Type="http://schemas.openxmlformats.org/officeDocument/2006/relationships/image" Target="../media/image33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chart" Target="../charts/chart10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4.png"/><Relationship Id="rId4" Type="http://schemas.openxmlformats.org/officeDocument/2006/relationships/image" Target="../media/image37.png"/><Relationship Id="rId5" Type="http://schemas.openxmlformats.org/officeDocument/2006/relationships/image" Target="../media/image52.png"/><Relationship Id="rId6" Type="http://schemas.openxmlformats.org/officeDocument/2006/relationships/image" Target="../media/image44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4.png"/><Relationship Id="rId4" Type="http://schemas.openxmlformats.org/officeDocument/2006/relationships/image" Target="../media/image37.png"/><Relationship Id="rId5" Type="http://schemas.openxmlformats.org/officeDocument/2006/relationships/image" Target="../media/image46.png"/><Relationship Id="rId6" Type="http://schemas.openxmlformats.org/officeDocument/2006/relationships/image" Target="../media/image49.png"/><Relationship Id="rId7" Type="http://schemas.openxmlformats.org/officeDocument/2006/relationships/image" Target="../media/image47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6.png"/><Relationship Id="rId4" Type="http://schemas.openxmlformats.org/officeDocument/2006/relationships/image" Target="../media/image39.png"/><Relationship Id="rId5" Type="http://schemas.openxmlformats.org/officeDocument/2006/relationships/image" Target="../media/image47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59.png"/><Relationship Id="rId4" Type="http://schemas.openxmlformats.org/officeDocument/2006/relationships/image" Target="../media/image36.png"/><Relationship Id="rId5" Type="http://schemas.openxmlformats.org/officeDocument/2006/relationships/image" Target="../media/image39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42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55.png"/><Relationship Id="rId4" Type="http://schemas.openxmlformats.org/officeDocument/2006/relationships/image" Target="../media/image38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51.png"/><Relationship Id="rId4" Type="http://schemas.openxmlformats.org/officeDocument/2006/relationships/image" Target="../media/image56.png"/><Relationship Id="rId5" Type="http://schemas.openxmlformats.org/officeDocument/2006/relationships/image" Target="../media/image53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54.png"/><Relationship Id="rId4" Type="http://schemas.openxmlformats.org/officeDocument/2006/relationships/image" Target="../media/image57.png"/><Relationship Id="rId5" Type="http://schemas.openxmlformats.org/officeDocument/2006/relationships/image" Target="../media/image48.png"/><Relationship Id="rId6" Type="http://schemas.openxmlformats.org/officeDocument/2006/relationships/image" Target="../media/image61.png"/><Relationship Id="rId7" Type="http://schemas.openxmlformats.org/officeDocument/2006/relationships/image" Target="../media/image50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4.png"/><Relationship Id="rId4" Type="http://schemas.openxmlformats.org/officeDocument/2006/relationships/image" Target="../media/image58.png"/><Relationship Id="rId5" Type="http://schemas.openxmlformats.org/officeDocument/2006/relationships/image" Target="../media/image63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60.jpg"/><Relationship Id="rId4" Type="http://schemas.openxmlformats.org/officeDocument/2006/relationships/image" Target="../media/image67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64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75.png"/><Relationship Id="rId4" Type="http://schemas.openxmlformats.org/officeDocument/2006/relationships/image" Target="../media/image71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2.png"/><Relationship Id="rId4" Type="http://schemas.openxmlformats.org/officeDocument/2006/relationships/image" Target="../media/image68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6.png"/><Relationship Id="rId4" Type="http://schemas.openxmlformats.org/officeDocument/2006/relationships/image" Target="../media/image70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0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66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74.png"/><Relationship Id="rId4" Type="http://schemas.openxmlformats.org/officeDocument/2006/relationships/image" Target="../media/image65.png"/><Relationship Id="rId5" Type="http://schemas.openxmlformats.org/officeDocument/2006/relationships/image" Target="../media/image73.jpg"/><Relationship Id="rId6" Type="http://schemas.openxmlformats.org/officeDocument/2006/relationships/image" Target="../media/image69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>
            <p:ph type="ctrTitle"/>
          </p:nvPr>
        </p:nvSpPr>
        <p:spPr>
          <a:xfrm>
            <a:off x="0" y="1093788"/>
            <a:ext cx="5300663" cy="152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700" lIns="99425" spcFirstLastPara="1" rIns="99425" wrap="square" tIns="49700">
            <a:normAutofit fontScale="90000"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6600"/>
              <a:t>Курс</a:t>
            </a:r>
            <a:br>
              <a:rPr lang="ru-RU" sz="6600"/>
            </a:br>
            <a:r>
              <a:rPr lang="ru-RU" sz="6000"/>
              <a:t>Обработка больших данных</a:t>
            </a:r>
            <a:endParaRPr/>
          </a:p>
        </p:txBody>
      </p:sp>
      <p:sp>
        <p:nvSpPr>
          <p:cNvPr id="101" name="Google Shape;101;p1"/>
          <p:cNvSpPr txBox="1"/>
          <p:nvPr>
            <p:ph idx="1" type="subTitle"/>
          </p:nvPr>
        </p:nvSpPr>
        <p:spPr>
          <a:xfrm>
            <a:off x="101600" y="2771775"/>
            <a:ext cx="5207000" cy="1820863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600"/>
              <a:buFont typeface="Calibri"/>
              <a:buNone/>
            </a:pPr>
            <a:r>
              <a:rPr lang="ru-RU" sz="3600"/>
              <a:t>Лекция 3 </a:t>
            </a:r>
            <a:endParaRPr sz="3600"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ED8137"/>
              </a:buClr>
              <a:buSzPts val="3200"/>
              <a:buNone/>
            </a:pPr>
            <a:r>
              <a:rPr b="1" lang="ru-RU" sz="3200">
                <a:solidFill>
                  <a:srgbClr val="ED8137"/>
                </a:solidFill>
              </a:rPr>
              <a:t>Аналитика больших данных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ED8137"/>
              </a:buClr>
              <a:buSzPts val="3200"/>
              <a:buNone/>
            </a:pPr>
            <a:r>
              <a:rPr b="1" lang="ru-RU" sz="3200">
                <a:solidFill>
                  <a:srgbClr val="ED8137"/>
                </a:solidFill>
              </a:rPr>
              <a:t>Математическая статистика</a:t>
            </a:r>
            <a:endParaRPr b="1" sz="3200">
              <a:solidFill>
                <a:srgbClr val="ED8137"/>
              </a:solidFill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0" y="4562153"/>
            <a:ext cx="5137150" cy="768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Приходько Татьяна Александровна</a:t>
            </a:r>
            <a:endParaRPr b="0" i="1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доцент кафедры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Вычислительных технологий КубГУ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387350" y="1490663"/>
            <a:ext cx="9431338" cy="51689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>
            <p:ph idx="4294967295" type="title"/>
          </p:nvPr>
        </p:nvSpPr>
        <p:spPr>
          <a:xfrm>
            <a:off x="1028700" y="466725"/>
            <a:ext cx="7998469" cy="884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9700" lIns="99425" spcFirstLastPara="1" rIns="99425" wrap="square" tIns="49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4400"/>
              <a:t>Содержание</a:t>
            </a:r>
            <a:endParaRPr/>
          </a:p>
        </p:txBody>
      </p:sp>
      <p:sp>
        <p:nvSpPr>
          <p:cNvPr id="110" name="Google Shape;110;p2"/>
          <p:cNvSpPr txBox="1"/>
          <p:nvPr>
            <p:ph idx="4294967295" type="body"/>
          </p:nvPr>
        </p:nvSpPr>
        <p:spPr>
          <a:xfrm>
            <a:off x="788988" y="1680519"/>
            <a:ext cx="9245600" cy="403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ru-RU" sz="2800"/>
              <a:t>Основные понятия статистики и дескриптивный анализ</a:t>
            </a:r>
            <a:endParaRPr/>
          </a:p>
          <a:p>
            <a:pPr indent="-356307" lvl="0" marL="356307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1" sz="2800"/>
          </a:p>
          <a:p>
            <a:pPr indent="-457200" lvl="1" marL="954088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lang="ru-RU" sz="2100"/>
              <a:t>Шкалы измерений.</a:t>
            </a:r>
            <a:endParaRPr/>
          </a:p>
          <a:p>
            <a:pPr indent="-457200" lvl="1" marL="954088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lang="ru-RU" sz="2100"/>
              <a:t>Генеральная совокупность и выборка.</a:t>
            </a:r>
            <a:endParaRPr/>
          </a:p>
          <a:p>
            <a:pPr indent="-457200" lvl="1" marL="954088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lang="ru-RU" sz="2100"/>
              <a:t>Нормальное распределение. Уровень статистической достоверности.</a:t>
            </a:r>
            <a:endParaRPr/>
          </a:p>
          <a:p>
            <a:pPr indent="-457200" lvl="1" marL="954088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lang="ru-RU" sz="2100"/>
              <a:t>Свойства описательных статистик (</a:t>
            </a:r>
            <a:r>
              <a:rPr b="1" lang="ru-RU" sz="2100">
                <a:solidFill>
                  <a:srgbClr val="FF0000"/>
                </a:solidFill>
              </a:rPr>
              <a:t>Дескриптивный анализ</a:t>
            </a:r>
            <a:r>
              <a:rPr lang="ru-RU" sz="2100"/>
              <a:t>)</a:t>
            </a:r>
            <a:endParaRPr/>
          </a:p>
          <a:p>
            <a:pPr indent="-457200" lvl="1" marL="954088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lang="ru-RU" sz="2100"/>
              <a:t>Визуальное представление данных</a:t>
            </a:r>
            <a:endParaRPr sz="3400"/>
          </a:p>
          <a:p>
            <a:pPr indent="-457200" lvl="1" marL="954088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lang="ru-RU" sz="2100"/>
              <a:t>Меры изменчивости</a:t>
            </a:r>
            <a:endParaRPr sz="7300"/>
          </a:p>
        </p:txBody>
      </p:sp>
      <p:sp>
        <p:nvSpPr>
          <p:cNvPr id="111" name="Google Shape;111;p2"/>
          <p:cNvSpPr txBox="1"/>
          <p:nvPr/>
        </p:nvSpPr>
        <p:spPr>
          <a:xfrm>
            <a:off x="2709863" y="0"/>
            <a:ext cx="5100637" cy="407988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Обработка больших данных. </a:t>
            </a:r>
            <a:r>
              <a:rPr b="1" i="0" lang="ru-RU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Л3</a:t>
            </a:r>
            <a:endParaRPr b="1" i="0" sz="2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2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/>
          <p:nvPr>
            <p:ph idx="4294967295" type="ctrTitle"/>
          </p:nvPr>
        </p:nvSpPr>
        <p:spPr>
          <a:xfrm>
            <a:off x="1754361" y="2483024"/>
            <a:ext cx="7335664" cy="1073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800"/>
              <a:buFont typeface="Calibri"/>
              <a:buNone/>
            </a:pPr>
            <a:r>
              <a:rPr b="1" i="0" lang="ru-RU" sz="48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Шкалы измерений</a:t>
            </a:r>
            <a:endParaRPr b="1" i="0" sz="4800" u="none" cap="none" strike="noStrik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890588" y="395288"/>
            <a:ext cx="8351837" cy="881062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/>
          <p:nvPr>
            <p:ph type="title"/>
          </p:nvPr>
        </p:nvSpPr>
        <p:spPr>
          <a:xfrm>
            <a:off x="890588" y="503238"/>
            <a:ext cx="8177212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4000"/>
              <a:t>Шкалы измерений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387350" y="1474912"/>
            <a:ext cx="9431338" cy="51689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3939535" y="0"/>
            <a:ext cx="254793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000" u="none" cap="none" strike="noStrike">
                <a:solidFill>
                  <a:srgbClr val="C6CAE4"/>
                </a:solidFill>
                <a:latin typeface="Courier New"/>
                <a:ea typeface="Courier New"/>
                <a:cs typeface="Courier New"/>
                <a:sym typeface="Courier New"/>
              </a:rPr>
              <a:t>Шкалы измерений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4249738" y="1978968"/>
            <a:ext cx="213789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Переменные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6409397" y="2845243"/>
            <a:ext cx="232974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Количественные</a:t>
            </a:r>
            <a:r>
              <a:rPr b="0" i="0" lang="ru-RU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3003551" y="3190135"/>
            <a:ext cx="3025775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Ранговые (порядковые)</a:t>
            </a:r>
            <a:endParaRPr b="0" i="1" sz="2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ordinal</a:t>
            </a:r>
            <a:endParaRPr b="0" i="0" sz="2000" u="none" cap="none" strike="noStrike">
              <a:solidFill>
                <a:srgbClr val="0033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качественные, но могут быть упорядочены; размер интервалов на шкале неодинаковый</a:t>
            </a: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596349" y="2799975"/>
            <a:ext cx="196073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Качественные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nominal</a:t>
            </a:r>
            <a:endParaRPr b="0" i="0" sz="2000" u="none" cap="none" strike="noStrike">
              <a:solidFill>
                <a:srgbClr val="00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5599553" y="5440114"/>
            <a:ext cx="172707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Дискретные</a:t>
            </a:r>
            <a:endParaRPr b="0" i="1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discrete</a:t>
            </a:r>
            <a:endParaRPr b="0" i="0" sz="2000" u="none" cap="none" strike="noStrike">
              <a:solidFill>
                <a:srgbClr val="00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7580177" y="5435352"/>
            <a:ext cx="187904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Непрерывные</a:t>
            </a:r>
            <a:endParaRPr b="0" i="1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continuous</a:t>
            </a:r>
            <a:endParaRPr b="0" i="0" sz="2000" u="none" cap="none" strike="noStrike">
              <a:solidFill>
                <a:srgbClr val="00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4"/>
          <p:cNvCxnSpPr/>
          <p:nvPr/>
        </p:nvCxnSpPr>
        <p:spPr>
          <a:xfrm>
            <a:off x="5915110" y="2368464"/>
            <a:ext cx="1743907" cy="438116"/>
          </a:xfrm>
          <a:prstGeom prst="straightConnector1">
            <a:avLst/>
          </a:prstGeom>
          <a:noFill/>
          <a:ln cap="flat" cmpd="sng" w="19050">
            <a:solidFill>
              <a:srgbClr val="92D05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8" name="Google Shape;138;p4"/>
          <p:cNvCxnSpPr/>
          <p:nvPr/>
        </p:nvCxnSpPr>
        <p:spPr>
          <a:xfrm flipH="1">
            <a:off x="4481680" y="2420864"/>
            <a:ext cx="444417" cy="784168"/>
          </a:xfrm>
          <a:prstGeom prst="straightConnector1">
            <a:avLst/>
          </a:prstGeom>
          <a:noFill/>
          <a:ln cap="flat" cmpd="sng" w="19050">
            <a:solidFill>
              <a:srgbClr val="92D05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9" name="Google Shape;139;p4"/>
          <p:cNvCxnSpPr/>
          <p:nvPr/>
        </p:nvCxnSpPr>
        <p:spPr>
          <a:xfrm flipH="1">
            <a:off x="2520951" y="2420864"/>
            <a:ext cx="1704975" cy="422275"/>
          </a:xfrm>
          <a:prstGeom prst="straightConnector1">
            <a:avLst/>
          </a:prstGeom>
          <a:noFill/>
          <a:ln cap="flat" cmpd="sng" w="19050">
            <a:solidFill>
              <a:srgbClr val="92D05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0" name="Google Shape;140;p4"/>
          <p:cNvCxnSpPr/>
          <p:nvPr/>
        </p:nvCxnSpPr>
        <p:spPr>
          <a:xfrm>
            <a:off x="7999415" y="3203104"/>
            <a:ext cx="457200" cy="364512"/>
          </a:xfrm>
          <a:prstGeom prst="straightConnector1">
            <a:avLst/>
          </a:prstGeom>
          <a:noFill/>
          <a:ln cap="flat" cmpd="sng" w="19050">
            <a:solidFill>
              <a:srgbClr val="92D05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1" name="Google Shape;141;p4"/>
          <p:cNvCxnSpPr/>
          <p:nvPr/>
        </p:nvCxnSpPr>
        <p:spPr>
          <a:xfrm flipH="1">
            <a:off x="6692954" y="3176318"/>
            <a:ext cx="503237" cy="503237"/>
          </a:xfrm>
          <a:prstGeom prst="straightConnector1">
            <a:avLst/>
          </a:prstGeom>
          <a:noFill/>
          <a:ln cap="flat" cmpd="sng" w="19050">
            <a:solidFill>
              <a:srgbClr val="92D05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2" name="Google Shape;142;p4"/>
          <p:cNvSpPr txBox="1"/>
          <p:nvPr/>
        </p:nvSpPr>
        <p:spPr>
          <a:xfrm>
            <a:off x="5711827" y="3681731"/>
            <a:ext cx="188595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шкала отношений</a:t>
            </a: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ru-RU" sz="1800" u="none" cap="none" strike="noStrik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ratio scale</a:t>
            </a:r>
            <a:endParaRPr b="0" i="0" sz="1800" u="none" cap="none" strike="noStrike">
              <a:solidFill>
                <a:srgbClr val="00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7519989" y="3563144"/>
            <a:ext cx="222408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интервальная шкала</a:t>
            </a:r>
            <a:endParaRPr b="0" i="1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interval scale</a:t>
            </a:r>
            <a:endParaRPr b="0" i="0" sz="1800" u="none" cap="none" strike="noStrike">
              <a:solidFill>
                <a:srgbClr val="0033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(в.т.ч круговые шкалы)</a:t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 rot="-5400000">
            <a:off x="7601852" y="3255043"/>
            <a:ext cx="397137" cy="3317596"/>
          </a:xfrm>
          <a:prstGeom prst="leftBrace">
            <a:avLst>
              <a:gd fmla="val 65554" name="adj1"/>
              <a:gd fmla="val 50833" name="adj2"/>
            </a:avLst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6217872" y="4715255"/>
            <a:ext cx="3165093" cy="14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791432" y="3497065"/>
            <a:ext cx="1972406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(их нельзя   выстроить в последова-тельность, т.к они обозначают категрии)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" name="Google Shape;147;p4"/>
          <p:cNvCxnSpPr/>
          <p:nvPr/>
        </p:nvCxnSpPr>
        <p:spPr>
          <a:xfrm rot="10800000">
            <a:off x="791432" y="6247532"/>
            <a:ext cx="4681537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8" name="Google Shape;148;p4"/>
          <p:cNvSpPr txBox="1"/>
          <p:nvPr/>
        </p:nvSpPr>
        <p:spPr>
          <a:xfrm>
            <a:off x="977774" y="6288903"/>
            <a:ext cx="38672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Потеря информации и точности</a:t>
            </a:r>
            <a:endParaRPr/>
          </a:p>
        </p:txBody>
      </p:sp>
      <p:cxnSp>
        <p:nvCxnSpPr>
          <p:cNvPr id="149" name="Google Shape;149;p4"/>
          <p:cNvCxnSpPr/>
          <p:nvPr/>
        </p:nvCxnSpPr>
        <p:spPr>
          <a:xfrm>
            <a:off x="8456614" y="5019658"/>
            <a:ext cx="282523" cy="413290"/>
          </a:xfrm>
          <a:prstGeom prst="straightConnector1">
            <a:avLst/>
          </a:prstGeom>
          <a:noFill/>
          <a:ln cap="flat" cmpd="sng" w="19050">
            <a:solidFill>
              <a:srgbClr val="92D05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0" name="Google Shape;150;p4"/>
          <p:cNvCxnSpPr/>
          <p:nvPr/>
        </p:nvCxnSpPr>
        <p:spPr>
          <a:xfrm flipH="1">
            <a:off x="6794919" y="5019657"/>
            <a:ext cx="211633" cy="418053"/>
          </a:xfrm>
          <a:prstGeom prst="straightConnector1">
            <a:avLst/>
          </a:prstGeom>
          <a:noFill/>
          <a:ln cap="flat" cmpd="sng" w="19050">
            <a:solidFill>
              <a:srgbClr val="92D05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1" name="Google Shape;151;p4"/>
          <p:cNvSpPr/>
          <p:nvPr/>
        </p:nvSpPr>
        <p:spPr>
          <a:xfrm>
            <a:off x="585068" y="1522410"/>
            <a:ext cx="898692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Переменная</a:t>
            </a: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характеристика окружающего мира, которую мы измеряем</a:t>
            </a:r>
            <a:endParaRPr/>
          </a:p>
        </p:txBody>
      </p:sp>
      <p:sp>
        <p:nvSpPr>
          <p:cNvPr id="152" name="Google Shape;152;p4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890588" y="395288"/>
            <a:ext cx="8351837" cy="1223962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387350" y="1776413"/>
            <a:ext cx="9431338" cy="5002212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 txBox="1"/>
          <p:nvPr>
            <p:ph idx="4294967295" type="title"/>
          </p:nvPr>
        </p:nvSpPr>
        <p:spPr>
          <a:xfrm>
            <a:off x="2042393" y="517525"/>
            <a:ext cx="6172920" cy="9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700" lIns="99425" spcFirstLastPara="1" rIns="99425" wrap="square" tIns="49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 sz="4000">
                <a:solidFill>
                  <a:schemeClr val="dk1"/>
                </a:solidFill>
              </a:rPr>
              <a:t>Примеры </a:t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3733800" y="0"/>
            <a:ext cx="249299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C6CAE4"/>
                </a:solidFill>
                <a:latin typeface="Courier New"/>
                <a:ea typeface="Courier New"/>
                <a:cs typeface="Courier New"/>
                <a:sym typeface="Courier New"/>
              </a:rPr>
              <a:t>Шкалы измерений</a:t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3262313" y="2636838"/>
            <a:ext cx="16002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4" name="Google Shape;164;p5"/>
          <p:cNvGraphicFramePr/>
          <p:nvPr/>
        </p:nvGraphicFramePr>
        <p:xfrm>
          <a:off x="1250950" y="298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{51B91766-9E8F-4537-9BFA-EBA28B162279}</a:tableStyleId>
              </a:tblPr>
              <a:tblGrid>
                <a:gridCol w="2305050"/>
                <a:gridCol w="1295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Garamond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КАТЕГОРИИ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b="1" i="1" lang="ru-RU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</a:tr>
              <a:tr h="455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Garamond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Демократы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</a:tr>
              <a:tr h="455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Garamond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Коммунисты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43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</a:tr>
              <a:tr h="493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Garamond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Либералы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</a:tr>
              <a:tr h="455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Garamond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Всего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105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</a:tr>
            </a:tbl>
          </a:graphicData>
        </a:graphic>
      </p:graphicFrame>
      <p:sp>
        <p:nvSpPr>
          <p:cNvPr id="165" name="Google Shape;165;p5"/>
          <p:cNvSpPr/>
          <p:nvPr/>
        </p:nvSpPr>
        <p:spPr>
          <a:xfrm>
            <a:off x="3548063" y="2336800"/>
            <a:ext cx="6858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6" name="Google Shape;166;p5"/>
          <p:cNvGraphicFramePr/>
          <p:nvPr/>
        </p:nvGraphicFramePr>
        <p:xfrm>
          <a:off x="5524500" y="298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{51B91766-9E8F-4537-9BFA-EBA28B162279}</a:tableStyleId>
              </a:tblPr>
              <a:tblGrid>
                <a:gridCol w="2638425"/>
                <a:gridCol w="936625"/>
              </a:tblGrid>
              <a:tr h="193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Garamond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КАТЕГОРИИ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b="1" i="1" lang="ru-RU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Garamond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Очень понравился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Garamond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Понравился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Garamond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Фильм средний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Garamond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Не понравился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Garamond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Очень плохой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Garamond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Всего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</a:tr>
            </a:tbl>
          </a:graphicData>
        </a:graphic>
      </p:graphicFrame>
      <p:sp>
        <p:nvSpPr>
          <p:cNvPr id="167" name="Google Shape;167;p5"/>
          <p:cNvSpPr txBox="1"/>
          <p:nvPr/>
        </p:nvSpPr>
        <p:spPr>
          <a:xfrm>
            <a:off x="1106488" y="2070100"/>
            <a:ext cx="4037012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Номинальная шкала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2000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Политические предпочтения</a:t>
            </a:r>
            <a:endParaRPr/>
          </a:p>
        </p:txBody>
      </p:sp>
      <p:sp>
        <p:nvSpPr>
          <p:cNvPr id="168" name="Google Shape;168;p5"/>
          <p:cNvSpPr txBox="1"/>
          <p:nvPr/>
        </p:nvSpPr>
        <p:spPr>
          <a:xfrm>
            <a:off x="5570538" y="1979613"/>
            <a:ext cx="3240087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Порядковая шкала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2000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Отношение к фильму</a:t>
            </a:r>
            <a:endParaRPr/>
          </a:p>
        </p:txBody>
      </p:sp>
      <p:sp>
        <p:nvSpPr>
          <p:cNvPr id="169" name="Google Shape;169;p5"/>
          <p:cNvSpPr txBox="1"/>
          <p:nvPr/>
        </p:nvSpPr>
        <p:spPr>
          <a:xfrm>
            <a:off x="1106488" y="6046788"/>
            <a:ext cx="37179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Качественная классификация</a:t>
            </a:r>
            <a:endParaRPr/>
          </a:p>
        </p:txBody>
      </p:sp>
      <p:sp>
        <p:nvSpPr>
          <p:cNvPr id="170" name="Google Shape;170;p5"/>
          <p:cNvSpPr txBox="1"/>
          <p:nvPr/>
        </p:nvSpPr>
        <p:spPr>
          <a:xfrm>
            <a:off x="5588000" y="6083300"/>
            <a:ext cx="32908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Ранжирование по степени</a:t>
            </a:r>
            <a:endParaRPr/>
          </a:p>
        </p:txBody>
      </p:sp>
      <p:sp>
        <p:nvSpPr>
          <p:cNvPr id="171" name="Google Shape;171;p5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890588" y="395288"/>
            <a:ext cx="8351837" cy="952328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387350" y="1536700"/>
            <a:ext cx="9431338" cy="5241925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 txBox="1"/>
          <p:nvPr>
            <p:ph idx="4294967295" type="title"/>
          </p:nvPr>
        </p:nvSpPr>
        <p:spPr>
          <a:xfrm>
            <a:off x="2124062" y="402346"/>
            <a:ext cx="5884888" cy="9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700" lIns="99425" spcFirstLastPara="1" rIns="99425" wrap="square" tIns="49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 sz="4000">
                <a:solidFill>
                  <a:schemeClr val="dk1"/>
                </a:solidFill>
              </a:rPr>
              <a:t>Примеры</a:t>
            </a:r>
            <a:r>
              <a:rPr b="1" lang="ru-RU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3733800" y="0"/>
            <a:ext cx="254793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C6CAE4"/>
                </a:solidFill>
                <a:latin typeface="Courier New"/>
                <a:ea typeface="Courier New"/>
                <a:cs typeface="Courier New"/>
                <a:sym typeface="Courier New"/>
              </a:rPr>
              <a:t>Шкалы измерений</a:t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3262313" y="2636838"/>
            <a:ext cx="16002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3" name="Google Shape;183;p6"/>
          <p:cNvGraphicFramePr/>
          <p:nvPr/>
        </p:nvGraphicFramePr>
        <p:xfrm>
          <a:off x="5471446" y="3252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{51B91766-9E8F-4537-9BFA-EBA28B162279}</a:tableStyleId>
              </a:tblPr>
              <a:tblGrid>
                <a:gridCol w="2305050"/>
                <a:gridCol w="1295400"/>
              </a:tblGrid>
              <a:tr h="344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Garamond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КАТЕГОРИИ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b="1" i="1" lang="ru-RU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t, С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</a:tr>
              <a:tr h="455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Garamond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Прохладно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10-15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</a:tr>
              <a:tr h="455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Garamond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Комфортно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15-22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</a:tr>
              <a:tr h="493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Garamond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Жарко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23-28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</a:tr>
            </a:tbl>
          </a:graphicData>
        </a:graphic>
      </p:graphicFrame>
      <p:sp>
        <p:nvSpPr>
          <p:cNvPr id="184" name="Google Shape;184;p6"/>
          <p:cNvSpPr/>
          <p:nvPr/>
        </p:nvSpPr>
        <p:spPr>
          <a:xfrm>
            <a:off x="3548063" y="2336800"/>
            <a:ext cx="6858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5" name="Google Shape;185;p6"/>
          <p:cNvGraphicFramePr/>
          <p:nvPr/>
        </p:nvGraphicFramePr>
        <p:xfrm>
          <a:off x="1092894" y="3252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{51B91766-9E8F-4537-9BFA-EBA28B162279}</a:tableStyleId>
              </a:tblPr>
              <a:tblGrid>
                <a:gridCol w="2638425"/>
                <a:gridCol w="936625"/>
              </a:tblGrid>
              <a:tr h="193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Garamond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КАТЕГОРИИ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b="1" i="1" lang="ru-RU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Garamond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Иванов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Garamond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Петренко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23,3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Garamond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Федотов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Garamond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Сидорова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</a:t>
                      </a:r>
                      <a:endParaRPr b="1" i="0" sz="2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ECE"/>
                    </a:solidFill>
                  </a:tcPr>
                </a:tc>
              </a:tr>
            </a:tbl>
          </a:graphicData>
        </a:graphic>
      </p:graphicFrame>
      <p:sp>
        <p:nvSpPr>
          <p:cNvPr id="186" name="Google Shape;186;p6"/>
          <p:cNvSpPr txBox="1"/>
          <p:nvPr/>
        </p:nvSpPr>
        <p:spPr>
          <a:xfrm>
            <a:off x="5393190" y="1732843"/>
            <a:ext cx="381635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Интервальная шкала (непрерывная)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2000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Уровень комфортности температур</a:t>
            </a:r>
            <a:endParaRPr/>
          </a:p>
        </p:txBody>
      </p:sp>
      <p:sp>
        <p:nvSpPr>
          <p:cNvPr id="187" name="Google Shape;187;p6"/>
          <p:cNvSpPr txBox="1"/>
          <p:nvPr/>
        </p:nvSpPr>
        <p:spPr>
          <a:xfrm>
            <a:off x="1250950" y="1732843"/>
            <a:ext cx="388778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Относительная шкала (дискретная)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2000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Таймер забега – время финиша</a:t>
            </a:r>
            <a:endParaRPr/>
          </a:p>
        </p:txBody>
      </p:sp>
      <p:sp>
        <p:nvSpPr>
          <p:cNvPr id="188" name="Google Shape;188;p6"/>
          <p:cNvSpPr txBox="1"/>
          <p:nvPr/>
        </p:nvSpPr>
        <p:spPr>
          <a:xfrm>
            <a:off x="5504924" y="5810190"/>
            <a:ext cx="359515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Разности между значениями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2021419" y="5810190"/>
            <a:ext cx="18494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Точка отсчета</a:t>
            </a:r>
            <a:endParaRPr/>
          </a:p>
        </p:txBody>
      </p:sp>
      <p:sp>
        <p:nvSpPr>
          <p:cNvPr id="190" name="Google Shape;190;p6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890588" y="395288"/>
            <a:ext cx="8351837" cy="881062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 txBox="1"/>
          <p:nvPr>
            <p:ph idx="4294967295" type="title"/>
          </p:nvPr>
        </p:nvSpPr>
        <p:spPr>
          <a:xfrm>
            <a:off x="2474441" y="503238"/>
            <a:ext cx="5702772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9700" lIns="99425" spcFirstLastPara="1" rIns="99425" wrap="square" tIns="49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4000"/>
              <a:t>Шкалы измерений</a:t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387350" y="1490663"/>
            <a:ext cx="9431338" cy="51689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3698577" y="-5258"/>
            <a:ext cx="254793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C6CAE4"/>
                </a:solidFill>
                <a:latin typeface="Courier New"/>
                <a:ea typeface="Courier New"/>
                <a:cs typeface="Courier New"/>
                <a:sym typeface="Courier New"/>
              </a:rPr>
              <a:t>Шкалы измерений</a:t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771525" y="1762125"/>
            <a:ext cx="8759825" cy="439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063" lvl="0" marL="3730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Номинальная	Содержит только категории, данные не 				могут  упорядочиваться 		</a:t>
            </a:r>
            <a:endParaRPr/>
          </a:p>
          <a:p>
            <a:pPr indent="-373063" lvl="0" marL="373063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Порядковая		Содержит категории, которые могут 				упорядочиваться,  разности не имеют 				смысла	</a:t>
            </a:r>
            <a:endParaRPr/>
          </a:p>
          <a:p>
            <a:pPr indent="-239713" lvl="0" marL="373063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3063" lvl="0" marL="373063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Интервальная	Разности между значениями могут быть 			вычислены, но отсутствует точка отсчета 	</a:t>
            </a:r>
            <a:endParaRPr/>
          </a:p>
          <a:p>
            <a:pPr indent="-373063" lvl="0" marL="373063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Относительная	Имеется точка отсчета, возможны 				отношения между значениями	</a:t>
            </a:r>
            <a:endParaRPr/>
          </a:p>
          <a:p>
            <a:pPr indent="-239713" lvl="0" marL="373063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3063" lvl="0" marL="373063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3B56BE"/>
              </a:buClr>
              <a:buSzPts val="2100"/>
              <a:buFont typeface="Arial"/>
              <a:buChar char="•"/>
            </a:pPr>
            <a:r>
              <a:rPr lang="ru-RU" sz="2100">
                <a:solidFill>
                  <a:srgbClr val="3B56BE"/>
                </a:solidFill>
                <a:latin typeface="Arial"/>
                <a:ea typeface="Arial"/>
                <a:cs typeface="Arial"/>
                <a:sym typeface="Arial"/>
              </a:rPr>
              <a:t>Дихотомическая	Содержит всего две категории</a:t>
            </a: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sp>
        <p:nvSpPr>
          <p:cNvPr id="202" name="Google Shape;202;p7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890588" y="395288"/>
            <a:ext cx="8351837" cy="1223962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23069" y="1619250"/>
            <a:ext cx="9431338" cy="48831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 txBox="1"/>
          <p:nvPr>
            <p:ph idx="4294967295" type="title"/>
          </p:nvPr>
        </p:nvSpPr>
        <p:spPr>
          <a:xfrm>
            <a:off x="2428875" y="400050"/>
            <a:ext cx="5157787" cy="9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700" lIns="99425" spcFirstLastPara="1" rIns="99425" wrap="square" tIns="49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 sz="4000"/>
              <a:t>Шкалы измерений</a:t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3733800" y="0"/>
            <a:ext cx="254793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C6CAE4"/>
                </a:solidFill>
                <a:latin typeface="Courier New"/>
                <a:ea typeface="Courier New"/>
                <a:cs typeface="Courier New"/>
                <a:sym typeface="Courier New"/>
              </a:rPr>
              <a:t>Шкалы измерений</a:t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565944" y="3117850"/>
            <a:ext cx="9145588" cy="3167062"/>
          </a:xfrm>
          <a:prstGeom prst="rect">
            <a:avLst/>
          </a:prstGeom>
          <a:gradFill>
            <a:gsLst>
              <a:gs pos="0">
                <a:srgbClr val="99CCFF"/>
              </a:gs>
              <a:gs pos="100000">
                <a:srgbClr val="666699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697F9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4" name="Google Shape;214;p8"/>
          <p:cNvGrpSpPr/>
          <p:nvPr/>
        </p:nvGrpSpPr>
        <p:grpSpPr>
          <a:xfrm>
            <a:off x="2476743" y="1626133"/>
            <a:ext cx="5189051" cy="2151830"/>
            <a:chOff x="1906036" y="1203"/>
            <a:chExt cx="5189051" cy="2151830"/>
          </a:xfrm>
        </p:grpSpPr>
        <p:sp>
          <p:nvSpPr>
            <p:cNvPr id="215" name="Google Shape;215;p8"/>
            <p:cNvSpPr/>
            <p:nvPr/>
          </p:nvSpPr>
          <p:spPr>
            <a:xfrm>
              <a:off x="5856664" y="1357305"/>
              <a:ext cx="678051" cy="235356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465DB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16" name="Google Shape;216;p8"/>
            <p:cNvSpPr/>
            <p:nvPr/>
          </p:nvSpPr>
          <p:spPr>
            <a:xfrm>
              <a:off x="5178613" y="1357305"/>
              <a:ext cx="678051" cy="235356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25400">
              <a:solidFill>
                <a:srgbClr val="465DB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17" name="Google Shape;217;p8"/>
            <p:cNvSpPr/>
            <p:nvPr/>
          </p:nvSpPr>
          <p:spPr>
            <a:xfrm>
              <a:off x="4565299" y="561576"/>
              <a:ext cx="1291365" cy="235356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3A509E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18" name="Google Shape;218;p8"/>
            <p:cNvSpPr/>
            <p:nvPr/>
          </p:nvSpPr>
          <p:spPr>
            <a:xfrm>
              <a:off x="3144460" y="1357305"/>
              <a:ext cx="678051" cy="235356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465DB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19" name="Google Shape;219;p8"/>
            <p:cNvSpPr/>
            <p:nvPr/>
          </p:nvSpPr>
          <p:spPr>
            <a:xfrm>
              <a:off x="2466409" y="1357305"/>
              <a:ext cx="678051" cy="235356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25400">
              <a:solidFill>
                <a:srgbClr val="465DB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20" name="Google Shape;220;p8"/>
            <p:cNvSpPr/>
            <p:nvPr/>
          </p:nvSpPr>
          <p:spPr>
            <a:xfrm>
              <a:off x="3144460" y="561576"/>
              <a:ext cx="1420839" cy="235356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25400">
              <a:solidFill>
                <a:srgbClr val="3A509E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21" name="Google Shape;221;p8"/>
            <p:cNvSpPr/>
            <p:nvPr/>
          </p:nvSpPr>
          <p:spPr>
            <a:xfrm>
              <a:off x="4004926" y="1203"/>
              <a:ext cx="1120745" cy="560372"/>
            </a:xfrm>
            <a:prstGeom prst="rect">
              <a:avLst/>
            </a:prstGeom>
            <a:solidFill>
              <a:srgbClr val="4C66C7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8"/>
            <p:cNvSpPr txBox="1"/>
            <p:nvPr/>
          </p:nvSpPr>
          <p:spPr>
            <a:xfrm>
              <a:off x="4004926" y="1203"/>
              <a:ext cx="1120745" cy="560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rPr b="1" i="0" lang="ru-RU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Данные</a:t>
              </a:r>
              <a:endParaRPr/>
            </a:p>
          </p:txBody>
        </p:sp>
        <p:sp>
          <p:nvSpPr>
            <p:cNvPr id="223" name="Google Shape;223;p8"/>
            <p:cNvSpPr/>
            <p:nvPr/>
          </p:nvSpPr>
          <p:spPr>
            <a:xfrm>
              <a:off x="2335780" y="796932"/>
              <a:ext cx="1617359" cy="560372"/>
            </a:xfrm>
            <a:prstGeom prst="rect">
              <a:avLst/>
            </a:prstGeom>
            <a:solidFill>
              <a:srgbClr val="4C66C7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8"/>
            <p:cNvSpPr txBox="1"/>
            <p:nvPr/>
          </p:nvSpPr>
          <p:spPr>
            <a:xfrm>
              <a:off x="2335780" y="796932"/>
              <a:ext cx="1617359" cy="560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rPr b="1" i="0" lang="ru-RU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Категории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rPr b="1" i="0" lang="ru-RU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(качественные данные)</a:t>
              </a:r>
              <a:endParaRPr/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1906036" y="1592661"/>
              <a:ext cx="1120745" cy="560372"/>
            </a:xfrm>
            <a:prstGeom prst="rect">
              <a:avLst/>
            </a:prstGeom>
            <a:solidFill>
              <a:srgbClr val="4C66C7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8"/>
            <p:cNvSpPr txBox="1"/>
            <p:nvPr/>
          </p:nvSpPr>
          <p:spPr>
            <a:xfrm>
              <a:off x="1906036" y="1592661"/>
              <a:ext cx="1120745" cy="560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rPr b="1" i="0" lang="ru-RU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Номинальные</a:t>
              </a:r>
              <a:endParaRPr/>
            </a:p>
          </p:txBody>
        </p:sp>
        <p:sp>
          <p:nvSpPr>
            <p:cNvPr id="227" name="Google Shape;227;p8"/>
            <p:cNvSpPr/>
            <p:nvPr/>
          </p:nvSpPr>
          <p:spPr>
            <a:xfrm>
              <a:off x="3262138" y="1592661"/>
              <a:ext cx="1120745" cy="560372"/>
            </a:xfrm>
            <a:prstGeom prst="rect">
              <a:avLst/>
            </a:prstGeom>
            <a:solidFill>
              <a:srgbClr val="4C66C7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8"/>
            <p:cNvSpPr txBox="1"/>
            <p:nvPr/>
          </p:nvSpPr>
          <p:spPr>
            <a:xfrm>
              <a:off x="3262138" y="1592661"/>
              <a:ext cx="1120745" cy="560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rPr b="1" i="0" lang="ru-RU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Порядковые</a:t>
              </a:r>
              <a:endParaRPr/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4918510" y="796932"/>
              <a:ext cx="1876307" cy="560372"/>
            </a:xfrm>
            <a:prstGeom prst="rect">
              <a:avLst/>
            </a:prstGeom>
            <a:solidFill>
              <a:srgbClr val="4C66C7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8"/>
            <p:cNvSpPr txBox="1"/>
            <p:nvPr/>
          </p:nvSpPr>
          <p:spPr>
            <a:xfrm>
              <a:off x="4918510" y="796932"/>
              <a:ext cx="1876307" cy="560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rPr b="1" i="0" lang="ru-RU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Числа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rPr b="1" i="0" lang="ru-RU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(количественные данные) </a:t>
              </a:r>
              <a:endParaRPr/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4618240" y="1592661"/>
              <a:ext cx="1120745" cy="560372"/>
            </a:xfrm>
            <a:prstGeom prst="rect">
              <a:avLst/>
            </a:prstGeom>
            <a:solidFill>
              <a:srgbClr val="4C66C7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8"/>
            <p:cNvSpPr txBox="1"/>
            <p:nvPr/>
          </p:nvSpPr>
          <p:spPr>
            <a:xfrm>
              <a:off x="4618240" y="1592661"/>
              <a:ext cx="1120745" cy="560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rPr b="1" i="0" lang="ru-RU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Дискретные</a:t>
              </a:r>
              <a:endParaRPr/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5974342" y="1592661"/>
              <a:ext cx="1120745" cy="560372"/>
            </a:xfrm>
            <a:prstGeom prst="rect">
              <a:avLst/>
            </a:prstGeom>
            <a:solidFill>
              <a:srgbClr val="4C66C7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8"/>
            <p:cNvSpPr txBox="1"/>
            <p:nvPr/>
          </p:nvSpPr>
          <p:spPr>
            <a:xfrm>
              <a:off x="5974342" y="1592661"/>
              <a:ext cx="1120745" cy="560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rPr b="1" i="0" lang="ru-RU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Непрерывные</a:t>
              </a:r>
              <a:endParaRPr/>
            </a:p>
          </p:txBody>
        </p:sp>
      </p:grpSp>
      <p:sp>
        <p:nvSpPr>
          <p:cNvPr id="235" name="Google Shape;235;p8"/>
          <p:cNvSpPr txBox="1"/>
          <p:nvPr/>
        </p:nvSpPr>
        <p:spPr>
          <a:xfrm>
            <a:off x="716757" y="5278437"/>
            <a:ext cx="16303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Номинальная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шкала</a:t>
            </a:r>
            <a:endParaRPr/>
          </a:p>
        </p:txBody>
      </p:sp>
      <p:sp>
        <p:nvSpPr>
          <p:cNvPr id="236" name="Google Shape;236;p8"/>
          <p:cNvSpPr txBox="1"/>
          <p:nvPr/>
        </p:nvSpPr>
        <p:spPr>
          <a:xfrm>
            <a:off x="3093244" y="5278437"/>
            <a:ext cx="1465263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Порядковая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шкала</a:t>
            </a:r>
            <a:endParaRPr/>
          </a:p>
        </p:txBody>
      </p:sp>
      <p:sp>
        <p:nvSpPr>
          <p:cNvPr id="237" name="Google Shape;237;p8"/>
          <p:cNvSpPr txBox="1"/>
          <p:nvPr/>
        </p:nvSpPr>
        <p:spPr>
          <a:xfrm>
            <a:off x="5461794" y="5278437"/>
            <a:ext cx="16922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Интервальная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шкала</a:t>
            </a:r>
            <a:endParaRPr/>
          </a:p>
        </p:txBody>
      </p:sp>
      <p:sp>
        <p:nvSpPr>
          <p:cNvPr id="238" name="Google Shape;238;p8"/>
          <p:cNvSpPr txBox="1"/>
          <p:nvPr/>
        </p:nvSpPr>
        <p:spPr>
          <a:xfrm>
            <a:off x="7766844" y="5278437"/>
            <a:ext cx="1804988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Относительная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шкала</a:t>
            </a:r>
            <a:endParaRPr/>
          </a:p>
        </p:txBody>
      </p:sp>
      <p:sp>
        <p:nvSpPr>
          <p:cNvPr id="239" name="Google Shape;239;p8"/>
          <p:cNvSpPr txBox="1"/>
          <p:nvPr/>
        </p:nvSpPr>
        <p:spPr>
          <a:xfrm>
            <a:off x="2653507" y="4414837"/>
            <a:ext cx="5160962" cy="457200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07763">
              <a:schemeClr val="lt2">
                <a:alpha val="49803"/>
              </a:scheme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Какие шкалы для каких данных?</a:t>
            </a:r>
            <a:endParaRPr/>
          </a:p>
        </p:txBody>
      </p:sp>
      <p:cxnSp>
        <p:nvCxnSpPr>
          <p:cNvPr id="240" name="Google Shape;240;p8"/>
          <p:cNvCxnSpPr/>
          <p:nvPr/>
        </p:nvCxnSpPr>
        <p:spPr>
          <a:xfrm>
            <a:off x="781844" y="4197350"/>
            <a:ext cx="8569325" cy="0"/>
          </a:xfrm>
          <a:prstGeom prst="straightConnector1">
            <a:avLst/>
          </a:prstGeom>
          <a:noFill/>
          <a:ln cap="flat" cmpd="sng" w="38100">
            <a:solidFill>
              <a:srgbClr val="FF5050"/>
            </a:solidFill>
            <a:prstDash val="solid"/>
            <a:round/>
            <a:headEnd len="med" w="med" type="none"/>
            <a:tailEnd len="lg" w="lg" type="stealth"/>
          </a:ln>
        </p:spPr>
      </p:cxnSp>
      <p:sp>
        <p:nvSpPr>
          <p:cNvPr id="241" name="Google Shape;241;p8"/>
          <p:cNvSpPr txBox="1"/>
          <p:nvPr/>
        </p:nvSpPr>
        <p:spPr>
          <a:xfrm>
            <a:off x="4383880" y="3832837"/>
            <a:ext cx="13652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мощность</a:t>
            </a:r>
            <a:endParaRPr/>
          </a:p>
        </p:txBody>
      </p:sp>
      <p:sp>
        <p:nvSpPr>
          <p:cNvPr id="242" name="Google Shape;242;p8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890588" y="395288"/>
            <a:ext cx="8351837" cy="1223962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387350" y="1776413"/>
            <a:ext cx="9431338" cy="4954587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9"/>
          <p:cNvSpPr txBox="1"/>
          <p:nvPr>
            <p:ph type="title"/>
          </p:nvPr>
        </p:nvSpPr>
        <p:spPr>
          <a:xfrm>
            <a:off x="1111399" y="586581"/>
            <a:ext cx="7792740" cy="846137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 sz="4000">
                <a:solidFill>
                  <a:schemeClr val="dk1"/>
                </a:solidFill>
              </a:rPr>
              <a:t>Мощности шкал</a:t>
            </a:r>
            <a:endParaRPr sz="4000"/>
          </a:p>
        </p:txBody>
      </p:sp>
      <p:sp>
        <p:nvSpPr>
          <p:cNvPr id="252" name="Google Shape;252;p9"/>
          <p:cNvSpPr txBox="1"/>
          <p:nvPr>
            <p:ph idx="1" type="body"/>
          </p:nvPr>
        </p:nvSpPr>
        <p:spPr>
          <a:xfrm>
            <a:off x="514350" y="2122488"/>
            <a:ext cx="9248775" cy="4249737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-356307" lvl="0" marL="35630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Шкалы по мере возрастания мощности располагаются следующим образом: </a:t>
            </a:r>
            <a:endParaRPr/>
          </a:p>
          <a:p>
            <a:pPr indent="-356307" lvl="0" marL="35630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номинальная, порядковая, интервальная, относительная. </a:t>
            </a:r>
            <a:endParaRPr/>
          </a:p>
          <a:p>
            <a:pPr indent="-356307" lvl="0" marL="35630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Таким образом, неметрические шкалы заведомо менее мощные - </a:t>
            </a:r>
            <a:r>
              <a:rPr b="1" lang="ru-RU" sz="2400"/>
              <a:t>они отражают меньше информации о различии объектов (испытуемых) по измеренному свойству</a:t>
            </a:r>
            <a:r>
              <a:rPr lang="ru-RU" sz="2400"/>
              <a:t>, и, напротив, метрические шкалы более мощные, они лучше дифференцируют испытуемых. </a:t>
            </a:r>
            <a:endParaRPr/>
          </a:p>
          <a:p>
            <a:pPr indent="-356307" lvl="0" marL="35630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Поэтому, </a:t>
            </a:r>
            <a:r>
              <a:rPr b="1" lang="ru-RU" sz="2400"/>
              <a:t>если у исследователя есть возможность выбора, следует применить более мощную шкалу</a:t>
            </a:r>
            <a:r>
              <a:rPr lang="ru-RU" sz="2400"/>
              <a:t>.</a:t>
            </a:r>
            <a:endParaRPr sz="2800"/>
          </a:p>
        </p:txBody>
      </p:sp>
      <p:sp>
        <p:nvSpPr>
          <p:cNvPr id="253" name="Google Shape;253;p9"/>
          <p:cNvSpPr/>
          <p:nvPr/>
        </p:nvSpPr>
        <p:spPr>
          <a:xfrm>
            <a:off x="3733800" y="0"/>
            <a:ext cx="254793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C6CAE4"/>
                </a:solidFill>
                <a:latin typeface="Courier New"/>
                <a:ea typeface="Courier New"/>
                <a:cs typeface="Courier New"/>
                <a:sym typeface="Courier New"/>
              </a:rPr>
              <a:t>Шкалы измерений</a:t>
            </a:r>
            <a:endParaRPr/>
          </a:p>
        </p:txBody>
      </p:sp>
      <p:sp>
        <p:nvSpPr>
          <p:cNvPr id="254" name="Google Shape;254;p9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890588" y="395288"/>
            <a:ext cx="8351837" cy="1223962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387350" y="2122488"/>
            <a:ext cx="9431338" cy="4537075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0"/>
          <p:cNvSpPr txBox="1"/>
          <p:nvPr>
            <p:ph type="title"/>
          </p:nvPr>
        </p:nvSpPr>
        <p:spPr>
          <a:xfrm>
            <a:off x="991387" y="562769"/>
            <a:ext cx="8224788" cy="68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4000">
                <a:solidFill>
                  <a:schemeClr val="dk1"/>
                </a:solidFill>
              </a:rPr>
              <a:t>Номинальные</a:t>
            </a:r>
            <a:r>
              <a:rPr b="1" lang="ru-RU">
                <a:solidFill>
                  <a:schemeClr val="dk1"/>
                </a:solidFill>
              </a:rPr>
              <a:t> </a:t>
            </a:r>
            <a:r>
              <a:rPr lang="ru-RU" sz="4000">
                <a:solidFill>
                  <a:schemeClr val="dk1"/>
                </a:solidFill>
              </a:rPr>
              <a:t>переменные</a:t>
            </a:r>
            <a:endParaRPr/>
          </a:p>
        </p:txBody>
      </p:sp>
      <p:sp>
        <p:nvSpPr>
          <p:cNvPr id="264" name="Google Shape;264;p10"/>
          <p:cNvSpPr txBox="1"/>
          <p:nvPr>
            <p:ph idx="1" type="body"/>
          </p:nvPr>
        </p:nvSpPr>
        <p:spPr>
          <a:xfrm>
            <a:off x="514350" y="2171700"/>
            <a:ext cx="9248775" cy="4249738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ru-RU" sz="2400"/>
              <a:t>Используются только для качественной классификации:</a:t>
            </a:r>
            <a:endParaRPr/>
          </a:p>
          <a:p>
            <a:pPr indent="-3563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данные переменные могут быть измерены только в терминах принадлежности к некоторым существенно различным классам </a:t>
            </a:r>
            <a:r>
              <a:rPr lang="ru-RU" sz="2400">
                <a:solidFill>
                  <a:srgbClr val="202F6A"/>
                </a:solidFill>
              </a:rPr>
              <a:t>(например: пол, вид, цвет)</a:t>
            </a:r>
            <a:r>
              <a:rPr lang="ru-RU" sz="2400"/>
              <a:t>, при этом вы не сможете определить количество или упорядочить эти классы. </a:t>
            </a:r>
            <a:endParaRPr/>
          </a:p>
          <a:p>
            <a:pPr indent="-3563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Часто номинальные переменные называются категориальными.</a:t>
            </a:r>
            <a:endParaRPr/>
          </a:p>
          <a:p>
            <a:pPr indent="-356307" lvl="0" marL="356307" rtl="0" algn="l">
              <a:spcBef>
                <a:spcPts val="480"/>
              </a:spcBef>
              <a:spcAft>
                <a:spcPts val="0"/>
              </a:spcAft>
              <a:buClr>
                <a:srgbClr val="202F6A"/>
              </a:buClr>
              <a:buSzPts val="2400"/>
              <a:buChar char="•"/>
            </a:pPr>
            <a:r>
              <a:rPr lang="ru-RU" sz="2400">
                <a:solidFill>
                  <a:srgbClr val="202F6A"/>
                </a:solidFill>
              </a:rPr>
              <a:t>ПРИМЕРОМ номинальных переменных являются фирма-производитель, тип товара, признак (болен - здоров) и т. д.</a:t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3733800" y="0"/>
            <a:ext cx="254793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C6CAE4"/>
                </a:solidFill>
                <a:latin typeface="Courier New"/>
                <a:ea typeface="Courier New"/>
                <a:cs typeface="Courier New"/>
                <a:sym typeface="Courier New"/>
              </a:rPr>
              <a:t>Шкалы измерений</a:t>
            </a:r>
            <a:endParaRPr/>
          </a:p>
        </p:txBody>
      </p:sp>
      <p:sp>
        <p:nvSpPr>
          <p:cNvPr id="266" name="Google Shape;266;p10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890588" y="395288"/>
            <a:ext cx="8351837" cy="1223962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387350" y="1776413"/>
            <a:ext cx="9431338" cy="5002212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1"/>
          <p:cNvSpPr txBox="1"/>
          <p:nvPr>
            <p:ph type="title"/>
          </p:nvPr>
        </p:nvSpPr>
        <p:spPr>
          <a:xfrm>
            <a:off x="1250305" y="559998"/>
            <a:ext cx="7672338" cy="696912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4000">
                <a:solidFill>
                  <a:schemeClr val="dk1"/>
                </a:solidFill>
              </a:rPr>
              <a:t>Порядковые переменные</a:t>
            </a:r>
            <a:endParaRPr/>
          </a:p>
        </p:txBody>
      </p:sp>
      <p:sp>
        <p:nvSpPr>
          <p:cNvPr id="276" name="Google Shape;276;p11"/>
          <p:cNvSpPr txBox="1"/>
          <p:nvPr>
            <p:ph idx="1" type="body"/>
          </p:nvPr>
        </p:nvSpPr>
        <p:spPr>
          <a:xfrm>
            <a:off x="495300" y="1847850"/>
            <a:ext cx="9248775" cy="4703763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ru-RU" sz="2400"/>
              <a:t>Позволяют ранжировать (упорядочить) объекты, если указано:</a:t>
            </a:r>
            <a:endParaRPr/>
          </a:p>
          <a:p>
            <a:pPr indent="-356307" lvl="0" marL="356307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ru-RU" sz="2000"/>
              <a:t>какие из них в большей или меньшей степени обладают качеством, выраженным данной переменной. Однако они не позволяют определить «на сколько больше» или «на сколько меньше» данного качества содержится в переменной. </a:t>
            </a:r>
            <a:endParaRPr/>
          </a:p>
          <a:p>
            <a:pPr indent="-356307" lvl="0" marL="356307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ru-RU" sz="2000"/>
              <a:t>Порядковые переменные иногда также называют ординальными.</a:t>
            </a:r>
            <a:endParaRPr/>
          </a:p>
          <a:p>
            <a:pPr indent="-356307" lvl="0" marL="356307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ru-RU" sz="2000"/>
              <a:t>ПРИМЕР 1 </a:t>
            </a:r>
            <a:r>
              <a:rPr lang="ru-RU" sz="2000"/>
              <a:t>- социоэкономический статус семьи. Мы понимаем, что верхний средний уровень выше среднего уровня, однако сказать, что разница между ними равна, допустим, 18%, мы не можем. Само расположение шкал в порядке возрастания их информативности – номинальная, порядковая, интервальная - является хорошим примером порядковой переменной.</a:t>
            </a:r>
            <a:endParaRPr/>
          </a:p>
          <a:p>
            <a:pPr indent="-356307" lvl="0" marL="356307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ru-RU" sz="2000"/>
              <a:t>ПРИМЕР 2 </a:t>
            </a:r>
            <a:r>
              <a:rPr lang="ru-RU" sz="2000"/>
              <a:t>- интенсивность использования определенного цвета в картине художника.</a:t>
            </a:r>
            <a:endParaRPr sz="2400"/>
          </a:p>
        </p:txBody>
      </p:sp>
      <p:sp>
        <p:nvSpPr>
          <p:cNvPr id="277" name="Google Shape;277;p11"/>
          <p:cNvSpPr/>
          <p:nvPr/>
        </p:nvSpPr>
        <p:spPr>
          <a:xfrm>
            <a:off x="3733800" y="0"/>
            <a:ext cx="254793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C6CAE4"/>
                </a:solidFill>
                <a:latin typeface="Courier New"/>
                <a:ea typeface="Courier New"/>
                <a:cs typeface="Courier New"/>
                <a:sym typeface="Courier New"/>
              </a:rPr>
              <a:t>Шкалы измерений</a:t>
            </a:r>
            <a:endParaRPr/>
          </a:p>
        </p:txBody>
      </p:sp>
      <p:sp>
        <p:nvSpPr>
          <p:cNvPr id="278" name="Google Shape;278;p11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890588" y="395288"/>
            <a:ext cx="8351837" cy="1223962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387350" y="1776413"/>
            <a:ext cx="9431338" cy="48831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2"/>
          <p:cNvSpPr txBox="1"/>
          <p:nvPr>
            <p:ph type="title"/>
          </p:nvPr>
        </p:nvSpPr>
        <p:spPr>
          <a:xfrm>
            <a:off x="1178297" y="557213"/>
            <a:ext cx="7416824" cy="846136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 sz="4000">
                <a:solidFill>
                  <a:schemeClr val="dk1"/>
                </a:solidFill>
              </a:rPr>
              <a:t>Интервальные переменные</a:t>
            </a:r>
            <a:endParaRPr/>
          </a:p>
        </p:txBody>
      </p:sp>
      <p:sp>
        <p:nvSpPr>
          <p:cNvPr id="288" name="Google Shape;288;p12"/>
          <p:cNvSpPr txBox="1"/>
          <p:nvPr>
            <p:ph idx="1" type="body"/>
          </p:nvPr>
        </p:nvSpPr>
        <p:spPr>
          <a:xfrm>
            <a:off x="514350" y="1847850"/>
            <a:ext cx="9448800" cy="5027613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ru-RU" sz="2400"/>
              <a:t>Позволяют не только упорядочивать объекты измерения, но и</a:t>
            </a:r>
            <a:endParaRPr/>
          </a:p>
          <a:p>
            <a:pPr indent="-3563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численно выражать и сравнивать различия между ними. Такого рода переменные часто возникают в естественных науках, при снятии показателей с физических приборов, в медицине и т. д. (время дня, дата)</a:t>
            </a:r>
            <a:endParaRPr/>
          </a:p>
          <a:p>
            <a:pPr indent="-3563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i="1" lang="ru-RU" sz="2400"/>
              <a:t>ПРИМЕР</a:t>
            </a:r>
            <a:r>
              <a:rPr lang="ru-RU" sz="2400"/>
              <a:t> - температура, измеренная в градусах Фаренгейта или Цельсия, образует интервальную шкалу. Вы можете не только сказать, что температура 40 градусов выше, чем температура 30 градусов, но и то, что увеличение температуры с 20 до 40 градусов вдвое больше увеличения температуры от 30 до 40 градусов.</a:t>
            </a:r>
            <a:endParaRPr sz="2800"/>
          </a:p>
        </p:txBody>
      </p:sp>
      <p:sp>
        <p:nvSpPr>
          <p:cNvPr id="289" name="Google Shape;289;p12"/>
          <p:cNvSpPr/>
          <p:nvPr/>
        </p:nvSpPr>
        <p:spPr>
          <a:xfrm>
            <a:off x="3733800" y="0"/>
            <a:ext cx="254793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C6CAE4"/>
                </a:solidFill>
                <a:latin typeface="Courier New"/>
                <a:ea typeface="Courier New"/>
                <a:cs typeface="Courier New"/>
                <a:sym typeface="Courier New"/>
              </a:rPr>
              <a:t>Шкалы измерений</a:t>
            </a:r>
            <a:endParaRPr/>
          </a:p>
        </p:txBody>
      </p:sp>
      <p:sp>
        <p:nvSpPr>
          <p:cNvPr id="290" name="Google Shape;290;p12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890588" y="395288"/>
            <a:ext cx="8351837" cy="1223962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387350" y="2122488"/>
            <a:ext cx="9431338" cy="4537075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3"/>
          <p:cNvSpPr txBox="1"/>
          <p:nvPr>
            <p:ph type="title"/>
          </p:nvPr>
        </p:nvSpPr>
        <p:spPr>
          <a:xfrm>
            <a:off x="890588" y="537902"/>
            <a:ext cx="8440812" cy="930275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 sz="4000">
                <a:solidFill>
                  <a:schemeClr val="dk1"/>
                </a:solidFill>
              </a:rPr>
              <a:t>Относительные переменные</a:t>
            </a:r>
            <a:endParaRPr sz="4000"/>
          </a:p>
        </p:txBody>
      </p:sp>
      <p:sp>
        <p:nvSpPr>
          <p:cNvPr id="300" name="Google Shape;300;p13"/>
          <p:cNvSpPr txBox="1"/>
          <p:nvPr>
            <p:ph idx="1" type="body"/>
          </p:nvPr>
        </p:nvSpPr>
        <p:spPr>
          <a:xfrm>
            <a:off x="537170" y="1792291"/>
            <a:ext cx="9248775" cy="4703763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ru-RU" sz="2400"/>
              <a:t>Очень похожи на интервальные переменные. Их характерной чертой является </a:t>
            </a:r>
            <a:endParaRPr/>
          </a:p>
          <a:p>
            <a:pPr indent="-3563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наличие определенной точки абсолютного нуля, таким образом, для этих переменных являются обоснованными утверждения типа: X в два раза больше, чем Y.</a:t>
            </a:r>
            <a:endParaRPr/>
          </a:p>
          <a:p>
            <a:pPr indent="-3563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ru-RU" sz="2000"/>
              <a:t>ПРИМЕР</a:t>
            </a:r>
            <a:r>
              <a:rPr lang="ru-RU" sz="2000"/>
              <a:t> - температура по Кельвину образует шкалу отношения, и вы можете не только утверждать, что температура 200 градусов выше, чем 100 градусов, но и то, что она вдвое выше. Однако в большинстве статистических процедур не делается тонкого различия между свойствами интервальных шкал и шкал отношения</a:t>
            </a:r>
            <a:r>
              <a:rPr lang="ru-RU" sz="2400"/>
              <a:t>.</a:t>
            </a:r>
            <a:endParaRPr/>
          </a:p>
          <a:p>
            <a:pPr indent="-356307" lvl="0" marL="356307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i="1" lang="ru-RU" sz="2000"/>
              <a:t>Примеры: </a:t>
            </a:r>
            <a:r>
              <a:rPr lang="ru-RU" sz="2000"/>
              <a:t>масса тела, размер выводка, объём.</a:t>
            </a:r>
            <a:endParaRPr/>
          </a:p>
        </p:txBody>
      </p:sp>
      <p:sp>
        <p:nvSpPr>
          <p:cNvPr id="301" name="Google Shape;301;p13"/>
          <p:cNvSpPr/>
          <p:nvPr/>
        </p:nvSpPr>
        <p:spPr>
          <a:xfrm>
            <a:off x="3733800" y="0"/>
            <a:ext cx="254793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C6CAE4"/>
                </a:solidFill>
                <a:latin typeface="Courier New"/>
                <a:ea typeface="Courier New"/>
                <a:cs typeface="Courier New"/>
                <a:sym typeface="Courier New"/>
              </a:rPr>
              <a:t>Шкалы измерений</a:t>
            </a:r>
            <a:endParaRPr/>
          </a:p>
        </p:txBody>
      </p:sp>
      <p:sp>
        <p:nvSpPr>
          <p:cNvPr id="302" name="Google Shape;302;p13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4"/>
          <p:cNvSpPr txBox="1"/>
          <p:nvPr>
            <p:ph idx="4294967295" type="ctrTitle"/>
          </p:nvPr>
        </p:nvSpPr>
        <p:spPr>
          <a:xfrm>
            <a:off x="1178297" y="1690936"/>
            <a:ext cx="7911728" cy="25937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572"/>
              <a:buFont typeface="Calibri"/>
              <a:buNone/>
            </a:pPr>
            <a:r>
              <a:rPr b="1" i="0" lang="ru-RU" sz="4572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Генеральная совокупность </a:t>
            </a:r>
            <a:br>
              <a:rPr b="1" i="0" lang="ru-RU" sz="4572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ru-RU" sz="4572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и выборка </a:t>
            </a:r>
            <a:br>
              <a:rPr b="0" i="0" lang="ru-RU" sz="4572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4572" u="none" cap="none" strike="noStrik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5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890588" y="395288"/>
            <a:ext cx="8351837" cy="1223962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387350" y="1704975"/>
            <a:ext cx="9431338" cy="4954588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5"/>
          <p:cNvSpPr txBox="1"/>
          <p:nvPr>
            <p:ph type="title"/>
          </p:nvPr>
        </p:nvSpPr>
        <p:spPr>
          <a:xfrm>
            <a:off x="1138238" y="501650"/>
            <a:ext cx="7929562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3600">
                <a:solidFill>
                  <a:schemeClr val="dk1"/>
                </a:solidFill>
              </a:rPr>
              <a:t>Основные понятия статистики и дескриптивный анализ</a:t>
            </a:r>
            <a:endParaRPr/>
          </a:p>
        </p:txBody>
      </p:sp>
      <p:sp>
        <p:nvSpPr>
          <p:cNvPr id="320" name="Google Shape;320;p15"/>
          <p:cNvSpPr txBox="1"/>
          <p:nvPr>
            <p:ph idx="1" type="body"/>
          </p:nvPr>
        </p:nvSpPr>
        <p:spPr>
          <a:xfrm>
            <a:off x="514350" y="1924050"/>
            <a:ext cx="9248700" cy="50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ru-RU" sz="2200"/>
              <a:t>Генеральная совокупность - </a:t>
            </a:r>
            <a:r>
              <a:rPr lang="ru-RU" sz="2200"/>
              <a:t>это все множество объектов, в отношении которого формулируется исследовательская гипотеза (это хотя и не бесконечное по численности, но, как правило, недоступное для сплошного исследования множество потенциальных испытуемых).</a:t>
            </a:r>
            <a:endParaRPr/>
          </a:p>
          <a:p>
            <a:pPr indent="-356307" lvl="0" marL="356307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ru-RU" sz="2200"/>
              <a:t>Выборка - это ограниченная по численности группа объектов </a:t>
            </a:r>
            <a:r>
              <a:rPr lang="ru-RU" sz="2200"/>
              <a:t>(испытуемых, респондентов), специально отбираемая из генеральной совокупности для изучения ее свойств. Практически все исследования являются выборочными.</a:t>
            </a:r>
            <a:endParaRPr/>
          </a:p>
          <a:p>
            <a:pPr indent="-356307" lvl="0" marL="356307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ru-RU" sz="2200"/>
              <a:t>Репрезентативность выборки </a:t>
            </a:r>
            <a:r>
              <a:rPr lang="ru-RU" sz="2200"/>
              <a:t>- иными словами, ее представительность - это способность выборки представлять изучаемые явления достаточно полно - с точки зрения их изменчивости в генеральной совокупности.</a:t>
            </a:r>
            <a:endParaRPr/>
          </a:p>
          <a:p>
            <a:pPr indent="-216607" lvl="0" marL="356307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  <p:sp>
        <p:nvSpPr>
          <p:cNvPr id="321" name="Google Shape;321;p15"/>
          <p:cNvSpPr/>
          <p:nvPr/>
        </p:nvSpPr>
        <p:spPr>
          <a:xfrm>
            <a:off x="3733800" y="0"/>
            <a:ext cx="3262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C6CAE4"/>
                </a:solidFill>
                <a:latin typeface="Courier New"/>
                <a:ea typeface="Courier New"/>
                <a:cs typeface="Courier New"/>
                <a:sym typeface="Courier New"/>
              </a:rPr>
              <a:t>Дескриптивный анализ</a:t>
            </a:r>
            <a:endParaRPr/>
          </a:p>
        </p:txBody>
      </p:sp>
      <p:sp>
        <p:nvSpPr>
          <p:cNvPr id="322" name="Google Shape;322;p15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6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890588" y="395288"/>
            <a:ext cx="8351837" cy="1223962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458788" y="1704975"/>
            <a:ext cx="9432925" cy="4954588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6"/>
          <p:cNvSpPr txBox="1"/>
          <p:nvPr>
            <p:ph idx="4294967295" type="title"/>
          </p:nvPr>
        </p:nvSpPr>
        <p:spPr>
          <a:xfrm>
            <a:off x="1173957" y="295575"/>
            <a:ext cx="7929562" cy="123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700" lIns="99425" spcFirstLastPara="1" rIns="99425" wrap="square" tIns="49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4000"/>
              <a:t>Генеральная совокупность и выборка</a:t>
            </a:r>
            <a:endParaRPr/>
          </a:p>
        </p:txBody>
      </p:sp>
      <p:sp>
        <p:nvSpPr>
          <p:cNvPr id="332" name="Google Shape;332;p16"/>
          <p:cNvSpPr/>
          <p:nvPr/>
        </p:nvSpPr>
        <p:spPr>
          <a:xfrm>
            <a:off x="3733800" y="0"/>
            <a:ext cx="3262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C6CAE4"/>
                </a:solidFill>
                <a:latin typeface="Courier New"/>
                <a:ea typeface="Courier New"/>
                <a:cs typeface="Courier New"/>
                <a:sym typeface="Courier New"/>
              </a:rPr>
              <a:t>Дескриптивный анализ</a:t>
            </a:r>
            <a:endParaRPr/>
          </a:p>
        </p:txBody>
      </p:sp>
      <p:sp>
        <p:nvSpPr>
          <p:cNvPr id="333" name="Google Shape;333;p16"/>
          <p:cNvSpPr/>
          <p:nvPr/>
        </p:nvSpPr>
        <p:spPr>
          <a:xfrm>
            <a:off x="1044574" y="1439012"/>
            <a:ext cx="8640900" cy="26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063" lvl="0" marL="37306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Параметры </a:t>
            </a:r>
            <a:r>
              <a:rPr i="1"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характеристики генеральной совокупности.</a:t>
            </a:r>
            <a:endParaRPr/>
          </a:p>
          <a:p>
            <a:pPr indent="-373063" lvl="0" marL="373063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Статистики</a:t>
            </a:r>
            <a:r>
              <a:rPr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характеристики выборки.</a:t>
            </a:r>
            <a:endParaRPr/>
          </a:p>
          <a:p>
            <a:pPr indent="-233363" lvl="0" marL="373063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3063" lvl="0" marL="373063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Мы будем использовать статистики для оценки тех параметров генеральной совокупности, которым они соответствуют.</a:t>
            </a:r>
            <a:endParaRPr/>
          </a:p>
        </p:txBody>
      </p:sp>
      <p:grpSp>
        <p:nvGrpSpPr>
          <p:cNvPr id="334" name="Google Shape;334;p16"/>
          <p:cNvGrpSpPr/>
          <p:nvPr/>
        </p:nvGrpSpPr>
        <p:grpSpPr>
          <a:xfrm>
            <a:off x="458788" y="3779168"/>
            <a:ext cx="9317663" cy="2599707"/>
            <a:chOff x="81" y="2498"/>
            <a:chExt cx="5766" cy="1340"/>
          </a:xfrm>
        </p:grpSpPr>
        <p:pic>
          <p:nvPicPr>
            <p:cNvPr id="335" name="Google Shape;335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59" y="2498"/>
              <a:ext cx="2586" cy="13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6" name="Google Shape;336;p16"/>
            <p:cNvSpPr/>
            <p:nvPr/>
          </p:nvSpPr>
          <p:spPr>
            <a:xfrm>
              <a:off x="1124" y="3475"/>
              <a:ext cx="771" cy="363"/>
            </a:xfrm>
            <a:prstGeom prst="rightArrow">
              <a:avLst>
                <a:gd fmla="val 50000" name="adj1"/>
                <a:gd fmla="val 53099" name="adj2"/>
              </a:avLst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rotWithShape="0" algn="ctr" dir="2700000" dist="107763">
                <a:schemeClr val="lt2">
                  <a:alpha val="49803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16"/>
            <p:cNvSpPr txBox="1"/>
            <p:nvPr/>
          </p:nvSpPr>
          <p:spPr>
            <a:xfrm>
              <a:off x="81" y="3566"/>
              <a:ext cx="735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Параметр</a:t>
              </a:r>
              <a:endParaRPr/>
            </a:p>
          </p:txBody>
        </p:sp>
        <p:sp>
          <p:nvSpPr>
            <p:cNvPr id="338" name="Google Shape;338;p16"/>
            <p:cNvSpPr/>
            <p:nvPr/>
          </p:nvSpPr>
          <p:spPr>
            <a:xfrm rot="10800000">
              <a:off x="4209" y="3475"/>
              <a:ext cx="771" cy="363"/>
            </a:xfrm>
            <a:prstGeom prst="rightArrow">
              <a:avLst>
                <a:gd fmla="val 50000" name="adj1"/>
                <a:gd fmla="val 53099" name="adj2"/>
              </a:avLst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rotWithShape="0" algn="ctr" dir="2700000" dist="107763">
                <a:schemeClr val="lt2">
                  <a:alpha val="49803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6"/>
            <p:cNvSpPr txBox="1"/>
            <p:nvPr/>
          </p:nvSpPr>
          <p:spPr>
            <a:xfrm>
              <a:off x="4979" y="3581"/>
              <a:ext cx="86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Статистика </a:t>
              </a:r>
              <a:endParaRPr/>
            </a:p>
          </p:txBody>
        </p:sp>
      </p:grpSp>
      <p:sp>
        <p:nvSpPr>
          <p:cNvPr id="340" name="Google Shape;340;p16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7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890588" y="395288"/>
            <a:ext cx="8351837" cy="1223962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7"/>
          <p:cNvSpPr txBox="1"/>
          <p:nvPr>
            <p:ph type="title"/>
          </p:nvPr>
        </p:nvSpPr>
        <p:spPr>
          <a:xfrm>
            <a:off x="1138238" y="501650"/>
            <a:ext cx="7286625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 sz="3600">
                <a:solidFill>
                  <a:schemeClr val="dk1"/>
                </a:solidFill>
              </a:rPr>
              <a:t>Репрезентативность выборки</a:t>
            </a:r>
            <a:endParaRPr/>
          </a:p>
        </p:txBody>
      </p:sp>
      <p:sp>
        <p:nvSpPr>
          <p:cNvPr id="350" name="Google Shape;350;p17"/>
          <p:cNvSpPr txBox="1"/>
          <p:nvPr>
            <p:ph idx="1" type="body"/>
          </p:nvPr>
        </p:nvSpPr>
        <p:spPr>
          <a:xfrm>
            <a:off x="514350" y="1596015"/>
            <a:ext cx="9248775" cy="5027613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ru-RU" sz="2200"/>
              <a:t>Первый и основной прием - это простой случайный (рандомизированный) отбор. Он предполагает обеспечение таких условий, чтобы каждый член генеральной совокупности имел равные с другими шансы попасть в выборку.</a:t>
            </a:r>
            <a:endParaRPr/>
          </a:p>
          <a:p>
            <a:pPr indent="-356307" lvl="0" marL="356307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ru-RU" sz="2200"/>
              <a:t>Второй способ обеспечения репрезентативности - это отбор по свойствам генеральной совокупности. Он предполагает </a:t>
            </a:r>
            <a:endParaRPr/>
          </a:p>
          <a:p>
            <a:pPr indent="-296923" lvl="1" marL="771999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</a:pPr>
            <a:r>
              <a:rPr lang="ru-RU" sz="1900"/>
              <a:t>предварительное определение тех качеств, которые могут влиять на изменчивость изучаемого свойства (это может быть пол, уровень дохода или образования и т.д.). </a:t>
            </a:r>
            <a:endParaRPr/>
          </a:p>
          <a:p>
            <a:pPr indent="-296923" lvl="1" marL="771999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</a:pPr>
            <a:r>
              <a:rPr lang="ru-RU" sz="1900"/>
              <a:t>Затем определяется процентное соотношение численности различающихся по этим качествам групп в генеральной совокупности и обеспечивается идентичное процентное соотношение соответствующих групп в выборке. </a:t>
            </a:r>
            <a:endParaRPr/>
          </a:p>
          <a:p>
            <a:pPr indent="-296923" lvl="1" marL="771999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</a:pPr>
            <a:r>
              <a:rPr lang="ru-RU" sz="1900"/>
              <a:t>Далее в каждую подгруппу выборки испытуемые подбираются по принципу простого случайного отбора.</a:t>
            </a:r>
            <a:endParaRPr sz="1700"/>
          </a:p>
        </p:txBody>
      </p:sp>
      <p:sp>
        <p:nvSpPr>
          <p:cNvPr id="351" name="Google Shape;351;p17"/>
          <p:cNvSpPr/>
          <p:nvPr/>
        </p:nvSpPr>
        <p:spPr>
          <a:xfrm>
            <a:off x="3733800" y="0"/>
            <a:ext cx="3262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C6CAE4"/>
                </a:solidFill>
                <a:latin typeface="Courier New"/>
                <a:ea typeface="Courier New"/>
                <a:cs typeface="Courier New"/>
                <a:sym typeface="Courier New"/>
              </a:rPr>
              <a:t>Дескриптивный анализ</a:t>
            </a:r>
            <a:endParaRPr/>
          </a:p>
        </p:txBody>
      </p:sp>
      <p:sp>
        <p:nvSpPr>
          <p:cNvPr id="352" name="Google Shape;352;p17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8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890588" y="395288"/>
            <a:ext cx="8351837" cy="1223962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8"/>
          <p:cNvSpPr txBox="1"/>
          <p:nvPr>
            <p:ph type="title"/>
          </p:nvPr>
        </p:nvSpPr>
        <p:spPr>
          <a:xfrm>
            <a:off x="1138238" y="501650"/>
            <a:ext cx="7643812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3600">
                <a:solidFill>
                  <a:schemeClr val="dk1"/>
                </a:solidFill>
              </a:rPr>
              <a:t>Общие рекомендации по численности выборки</a:t>
            </a:r>
            <a:endParaRPr/>
          </a:p>
        </p:txBody>
      </p:sp>
      <p:sp>
        <p:nvSpPr>
          <p:cNvPr id="362" name="Google Shape;362;p18"/>
          <p:cNvSpPr txBox="1"/>
          <p:nvPr>
            <p:ph idx="1" type="body"/>
          </p:nvPr>
        </p:nvSpPr>
        <p:spPr>
          <a:xfrm>
            <a:off x="514350" y="1847850"/>
            <a:ext cx="9248775" cy="5027613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ru-RU" sz="2200"/>
              <a:t>Наибольший объем выборки необходим при разработке диагностической методики - от 200 до 1000-2500 человек.</a:t>
            </a:r>
            <a:endParaRPr/>
          </a:p>
          <a:p>
            <a:pPr indent="-356307" lvl="0" marL="356307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ru-RU" sz="2200"/>
              <a:t>Если необходимо сравнивать 2 выборки, их общая численность должна быть не менее 50 человек; численность сравниваемых выборок должна быть приблизительно одинаковой.</a:t>
            </a:r>
            <a:endParaRPr/>
          </a:p>
          <a:p>
            <a:pPr indent="-356307" lvl="0" marL="356307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ru-RU" sz="2200"/>
              <a:t>Если изучается взаимосвязь между какими-либо свойствами, то объем выборки должен быть не меньше 30-35 человек.</a:t>
            </a:r>
            <a:endParaRPr/>
          </a:p>
          <a:p>
            <a:pPr indent="-356307" lvl="0" marL="356307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ru-RU" sz="2200"/>
              <a:t>Чем больше </a:t>
            </a:r>
            <a:r>
              <a:rPr b="1" i="1" lang="ru-RU" sz="2200"/>
              <a:t>изменчивость</a:t>
            </a:r>
            <a:r>
              <a:rPr lang="ru-RU" sz="2200"/>
              <a:t> изучаемого свойства, тем больше должен быть объем выборки.</a:t>
            </a:r>
            <a:endParaRPr/>
          </a:p>
          <a:p>
            <a:pPr indent="-356307" lvl="0" marL="356307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ru-RU" sz="2200"/>
              <a:t>Поэтому изменчивость можно уменьшить, увеличивая однородность выборки, например, по полу, возрасту и т. д. При этом, естественно, уменьшаются возможности генерализации выводов.</a:t>
            </a:r>
            <a:endParaRPr/>
          </a:p>
        </p:txBody>
      </p:sp>
      <p:sp>
        <p:nvSpPr>
          <p:cNvPr id="363" name="Google Shape;363;p18"/>
          <p:cNvSpPr/>
          <p:nvPr/>
        </p:nvSpPr>
        <p:spPr>
          <a:xfrm>
            <a:off x="3733800" y="0"/>
            <a:ext cx="3262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C6CAE4"/>
                </a:solidFill>
                <a:latin typeface="Courier New"/>
                <a:ea typeface="Courier New"/>
                <a:cs typeface="Courier New"/>
                <a:sym typeface="Courier New"/>
              </a:rPr>
              <a:t>Дескриптивный анализ</a:t>
            </a:r>
            <a:endParaRPr/>
          </a:p>
        </p:txBody>
      </p:sp>
      <p:sp>
        <p:nvSpPr>
          <p:cNvPr id="364" name="Google Shape;364;p18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9"/>
          <p:cNvSpPr txBox="1"/>
          <p:nvPr>
            <p:ph idx="4294967295" type="ctrTitle"/>
          </p:nvPr>
        </p:nvSpPr>
        <p:spPr>
          <a:xfrm>
            <a:off x="1106289" y="1979613"/>
            <a:ext cx="7983736" cy="2305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572"/>
              <a:buFont typeface="Calibri"/>
              <a:buNone/>
            </a:pPr>
            <a:r>
              <a:rPr b="1" i="0" lang="ru-RU" sz="4572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Понятие распределения</a:t>
            </a:r>
            <a:br>
              <a:rPr b="1" i="0" lang="ru-RU" sz="4572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ru-RU" sz="4572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и его характеристики</a:t>
            </a:r>
            <a:br>
              <a:rPr b="0" i="0" lang="ru-RU" sz="4572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4572" u="none" cap="none" strike="noStrik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9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0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0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0"/>
          <p:cNvSpPr/>
          <p:nvPr/>
        </p:nvSpPr>
        <p:spPr>
          <a:xfrm>
            <a:off x="430935" y="1725613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0"/>
          <p:cNvSpPr txBox="1"/>
          <p:nvPr>
            <p:ph type="title"/>
          </p:nvPr>
        </p:nvSpPr>
        <p:spPr>
          <a:xfrm>
            <a:off x="1138238" y="501650"/>
            <a:ext cx="7643812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 sz="3600"/>
              <a:t>Распределение </a:t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382" name="Google Shape;382;p20"/>
          <p:cNvSpPr txBox="1"/>
          <p:nvPr>
            <p:ph idx="1" type="body"/>
          </p:nvPr>
        </p:nvSpPr>
        <p:spPr>
          <a:xfrm>
            <a:off x="3932779" y="4332628"/>
            <a:ext cx="606007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800">
                <a:latin typeface="Arial"/>
                <a:ea typeface="Arial"/>
                <a:cs typeface="Arial"/>
                <a:sym typeface="Arial"/>
              </a:rPr>
              <a:t>Явно выраженная асимметрия: большинство наблюдений находятся в левой части гистограммы.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0"/>
          <p:cNvSpPr/>
          <p:nvPr/>
        </p:nvSpPr>
        <p:spPr>
          <a:xfrm>
            <a:off x="3733800" y="0"/>
            <a:ext cx="3262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C6CAE4"/>
                </a:solidFill>
                <a:latin typeface="Courier New"/>
                <a:ea typeface="Courier New"/>
                <a:cs typeface="Courier New"/>
                <a:sym typeface="Courier New"/>
              </a:rPr>
              <a:t>Дескриптивный анализ</a:t>
            </a:r>
            <a:endParaRPr/>
          </a:p>
        </p:txBody>
      </p:sp>
      <p:sp>
        <p:nvSpPr>
          <p:cNvPr id="384" name="Google Shape;384;p20"/>
          <p:cNvSpPr txBox="1"/>
          <p:nvPr/>
        </p:nvSpPr>
        <p:spPr>
          <a:xfrm>
            <a:off x="3894049" y="1642418"/>
            <a:ext cx="6137537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Как часто значение переменной </a:t>
            </a:r>
            <a:r>
              <a:rPr b="1"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встречается на определенном промежутке?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 рисунке имеем симметричное распределение, т.е. б</a:t>
            </a:r>
            <a:r>
              <a:rPr b="1"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льшая часть наблюдений оказалась в центре (значения от 8 до 12 встречаются около 30 раз).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Чем дальше от центра, тем реже встречаются значения нашего признака.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647" y="1694352"/>
            <a:ext cx="2869080" cy="17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4196" y="4229560"/>
            <a:ext cx="2051982" cy="2063134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0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1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1"/>
          <p:cNvSpPr/>
          <p:nvPr/>
        </p:nvSpPr>
        <p:spPr>
          <a:xfrm>
            <a:off x="1178436" y="421382"/>
            <a:ext cx="7920742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1"/>
          <p:cNvSpPr/>
          <p:nvPr/>
        </p:nvSpPr>
        <p:spPr>
          <a:xfrm>
            <a:off x="603250" y="1911250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1"/>
          <p:cNvSpPr txBox="1"/>
          <p:nvPr>
            <p:ph type="title"/>
          </p:nvPr>
        </p:nvSpPr>
        <p:spPr>
          <a:xfrm>
            <a:off x="1138238" y="501650"/>
            <a:ext cx="7643812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3600"/>
              <a:t>Составные части дескриптивного анализа </a:t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397" name="Google Shape;397;p21"/>
          <p:cNvSpPr txBox="1"/>
          <p:nvPr>
            <p:ph idx="1" type="body"/>
          </p:nvPr>
        </p:nvSpPr>
        <p:spPr>
          <a:xfrm>
            <a:off x="961459" y="4736233"/>
            <a:ext cx="8785790" cy="1868303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i="1" lang="ru-RU" sz="2400"/>
              <a:t>Меры центральной тенденции </a:t>
            </a:r>
            <a:r>
              <a:rPr lang="ru-RU" sz="2400"/>
              <a:t>позволяют определить насколько высокие значения принимает наша переменная.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i="1" lang="ru-RU" sz="2400"/>
              <a:t>Меры изменчивости </a:t>
            </a:r>
            <a:r>
              <a:rPr lang="ru-RU" sz="2400"/>
              <a:t>характеризуют диапазон нашего признака или его </a:t>
            </a:r>
            <a:r>
              <a:rPr b="1" lang="ru-RU" sz="2400"/>
              <a:t>вариативность / размах.</a:t>
            </a:r>
            <a:endParaRPr b="1" sz="2800"/>
          </a:p>
        </p:txBody>
      </p:sp>
      <p:sp>
        <p:nvSpPr>
          <p:cNvPr id="398" name="Google Shape;398;p21"/>
          <p:cNvSpPr/>
          <p:nvPr/>
        </p:nvSpPr>
        <p:spPr>
          <a:xfrm>
            <a:off x="3733800" y="0"/>
            <a:ext cx="3262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C6CAE4"/>
                </a:solidFill>
                <a:latin typeface="Courier New"/>
                <a:ea typeface="Courier New"/>
                <a:cs typeface="Courier New"/>
                <a:sym typeface="Courier New"/>
              </a:rPr>
              <a:t>Дескриптивный анализ</a:t>
            </a:r>
            <a:endParaRPr/>
          </a:p>
        </p:txBody>
      </p:sp>
      <p:grpSp>
        <p:nvGrpSpPr>
          <p:cNvPr id="399" name="Google Shape;399;p21"/>
          <p:cNvGrpSpPr/>
          <p:nvPr/>
        </p:nvGrpSpPr>
        <p:grpSpPr>
          <a:xfrm>
            <a:off x="940255" y="1474912"/>
            <a:ext cx="5276850" cy="3076575"/>
            <a:chOff x="674241" y="1849437"/>
            <a:chExt cx="5276850" cy="3076575"/>
          </a:xfrm>
        </p:grpSpPr>
        <p:pic>
          <p:nvPicPr>
            <p:cNvPr id="400" name="Google Shape;4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74241" y="1849437"/>
              <a:ext cx="5276850" cy="30765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01" name="Google Shape;401;p21"/>
            <p:cNvCxnSpPr/>
            <p:nvPr/>
          </p:nvCxnSpPr>
          <p:spPr>
            <a:xfrm rot="10800000">
              <a:off x="3304629" y="4139513"/>
              <a:ext cx="0" cy="537659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02" name="Google Shape;402;p21"/>
            <p:cNvCxnSpPr/>
            <p:nvPr/>
          </p:nvCxnSpPr>
          <p:spPr>
            <a:xfrm>
              <a:off x="1250305" y="4787280"/>
              <a:ext cx="4114651" cy="0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rgbClr val="0B769C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03" name="Google Shape;403;p21"/>
            <p:cNvCxnSpPr/>
            <p:nvPr/>
          </p:nvCxnSpPr>
          <p:spPr>
            <a:xfrm>
              <a:off x="3122513" y="3387724"/>
              <a:ext cx="2376264" cy="0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rgbClr val="0B769C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04" name="Google Shape;404;p21"/>
            <p:cNvCxnSpPr/>
            <p:nvPr/>
          </p:nvCxnSpPr>
          <p:spPr>
            <a:xfrm rot="10800000">
              <a:off x="4293691" y="2050976"/>
              <a:ext cx="0" cy="1219334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405" name="Google Shape;405;p21"/>
          <p:cNvSpPr txBox="1"/>
          <p:nvPr/>
        </p:nvSpPr>
        <p:spPr>
          <a:xfrm>
            <a:off x="6650905" y="1676451"/>
            <a:ext cx="25915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Меры центральной тенденции</a:t>
            </a:r>
            <a:endParaRPr b="1" i="1"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1"/>
          <p:cNvSpPr txBox="1"/>
          <p:nvPr/>
        </p:nvSpPr>
        <p:spPr>
          <a:xfrm>
            <a:off x="6677661" y="3218823"/>
            <a:ext cx="25915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1800">
                <a:solidFill>
                  <a:srgbClr val="11B2EB"/>
                </a:solidFill>
                <a:latin typeface="Arial"/>
                <a:ea typeface="Arial"/>
                <a:cs typeface="Arial"/>
                <a:sym typeface="Arial"/>
              </a:rPr>
              <a:t>Меры изменчивости</a:t>
            </a:r>
            <a:endParaRPr b="1" i="1" sz="1800">
              <a:solidFill>
                <a:srgbClr val="11B2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1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2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2"/>
          <p:cNvSpPr/>
          <p:nvPr/>
        </p:nvSpPr>
        <p:spPr>
          <a:xfrm>
            <a:off x="1178436" y="421382"/>
            <a:ext cx="7920742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2"/>
          <p:cNvSpPr/>
          <p:nvPr/>
        </p:nvSpPr>
        <p:spPr>
          <a:xfrm>
            <a:off x="603250" y="4761194"/>
            <a:ext cx="9431338" cy="2223705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2"/>
          <p:cNvSpPr txBox="1"/>
          <p:nvPr>
            <p:ph type="title"/>
          </p:nvPr>
        </p:nvSpPr>
        <p:spPr>
          <a:xfrm>
            <a:off x="1138238" y="501650"/>
            <a:ext cx="7643812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3600"/>
              <a:t>Виды распределений случайной величины</a:t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417" name="Google Shape;417;p22"/>
          <p:cNvSpPr/>
          <p:nvPr/>
        </p:nvSpPr>
        <p:spPr>
          <a:xfrm>
            <a:off x="3733800" y="0"/>
            <a:ext cx="3262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C6CAE4"/>
                </a:solidFill>
                <a:latin typeface="Courier New"/>
                <a:ea typeface="Courier New"/>
                <a:cs typeface="Courier New"/>
                <a:sym typeface="Courier New"/>
              </a:rPr>
              <a:t>Дескриптивный анализ</a:t>
            </a:r>
            <a:endParaRPr/>
          </a:p>
        </p:txBody>
      </p:sp>
      <p:sp>
        <p:nvSpPr>
          <p:cNvPr id="418" name="Google Shape;418;p22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419" name="Google Shape;41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9370" y="1672812"/>
            <a:ext cx="7969940" cy="369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3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3"/>
          <p:cNvSpPr/>
          <p:nvPr/>
        </p:nvSpPr>
        <p:spPr>
          <a:xfrm>
            <a:off x="1178436" y="421382"/>
            <a:ext cx="7920742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3"/>
          <p:cNvSpPr/>
          <p:nvPr/>
        </p:nvSpPr>
        <p:spPr>
          <a:xfrm>
            <a:off x="603250" y="4761194"/>
            <a:ext cx="9431338" cy="2223705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3"/>
          <p:cNvSpPr txBox="1"/>
          <p:nvPr>
            <p:ph type="title"/>
          </p:nvPr>
        </p:nvSpPr>
        <p:spPr>
          <a:xfrm>
            <a:off x="1138238" y="501650"/>
            <a:ext cx="7643812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3600"/>
              <a:t>Виды распределений случайной величины</a:t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429" name="Google Shape;429;p23"/>
          <p:cNvSpPr/>
          <p:nvPr/>
        </p:nvSpPr>
        <p:spPr>
          <a:xfrm>
            <a:off x="3733800" y="0"/>
            <a:ext cx="3262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C6CAE4"/>
                </a:solidFill>
                <a:latin typeface="Courier New"/>
                <a:ea typeface="Courier New"/>
                <a:cs typeface="Courier New"/>
                <a:sym typeface="Courier New"/>
              </a:rPr>
              <a:t>Дескриптивный анализ</a:t>
            </a:r>
            <a:endParaRPr/>
          </a:p>
        </p:txBody>
      </p:sp>
      <p:sp>
        <p:nvSpPr>
          <p:cNvPr id="430" name="Google Shape;430;p23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431" name="Google Shape;4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2139" y="1549803"/>
            <a:ext cx="7488832" cy="5317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4"/>
          <p:cNvSpPr txBox="1"/>
          <p:nvPr>
            <p:ph idx="4294967295" type="ctrTitle"/>
          </p:nvPr>
        </p:nvSpPr>
        <p:spPr>
          <a:xfrm>
            <a:off x="890265" y="1690935"/>
            <a:ext cx="8199760" cy="18722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572"/>
              <a:buFont typeface="Calibri"/>
              <a:buNone/>
            </a:pPr>
            <a:r>
              <a:rPr b="1" i="0" lang="ru-RU" sz="4572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Нормальное распределение</a:t>
            </a:r>
            <a:br>
              <a:rPr b="0" i="0" lang="ru-RU" sz="4572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4572" u="none" cap="none" strike="noStrik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4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5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5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5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5"/>
          <p:cNvSpPr txBox="1"/>
          <p:nvPr>
            <p:ph type="title"/>
          </p:nvPr>
        </p:nvSpPr>
        <p:spPr>
          <a:xfrm>
            <a:off x="1138238" y="501650"/>
            <a:ext cx="7643812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 sz="3600"/>
              <a:t>Нормальное распределение </a:t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449" name="Google Shape;449;p25"/>
          <p:cNvSpPr txBox="1"/>
          <p:nvPr>
            <p:ph idx="1" type="body"/>
          </p:nvPr>
        </p:nvSpPr>
        <p:spPr>
          <a:xfrm>
            <a:off x="442118" y="1114872"/>
            <a:ext cx="9248775" cy="5390703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Каждому биологическому и психологическому свойству соответствует свое распределение в генеральной совокупности. Чаще всего оно нормальное и характеризуется своими параметрами – средним и сигмой. </a:t>
            </a:r>
            <a:endParaRPr/>
          </a:p>
          <a:p>
            <a:pPr indent="-296923" lvl="1" marL="771999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ru-RU" sz="2000"/>
              <a:t>Среднее значение (</a:t>
            </a:r>
            <a:r>
              <a:rPr b="1" lang="ru-RU" sz="2000"/>
              <a:t>mean</a:t>
            </a:r>
            <a:r>
              <a:rPr lang="ru-RU" sz="2000"/>
              <a:t>) задает положение кривой на числовой оси, </a:t>
            </a:r>
            <a:endParaRPr/>
          </a:p>
          <a:p>
            <a:pPr indent="-296923" lvl="1" marL="771999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ru-RU" sz="2000"/>
              <a:t>сигма –задает ширину этой кривой и выступает как масштаб измерения.</a:t>
            </a:r>
            <a:endParaRPr sz="1800"/>
          </a:p>
        </p:txBody>
      </p:sp>
      <p:sp>
        <p:nvSpPr>
          <p:cNvPr id="450" name="Google Shape;450;p25"/>
          <p:cNvSpPr/>
          <p:nvPr/>
        </p:nvSpPr>
        <p:spPr>
          <a:xfrm>
            <a:off x="3733800" y="0"/>
            <a:ext cx="3262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C6CAE4"/>
                </a:solidFill>
                <a:latin typeface="Courier New"/>
                <a:ea typeface="Courier New"/>
                <a:cs typeface="Courier New"/>
                <a:sym typeface="Courier New"/>
              </a:rPr>
              <a:t>Дескриптивный анализ</a:t>
            </a:r>
            <a:endParaRPr/>
          </a:p>
        </p:txBody>
      </p:sp>
      <p:pic>
        <p:nvPicPr>
          <p:cNvPr id="451" name="Google Shape;45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0588" y="3673401"/>
            <a:ext cx="4310062" cy="2986087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5"/>
          <p:cNvSpPr txBox="1"/>
          <p:nvPr/>
        </p:nvSpPr>
        <p:spPr>
          <a:xfrm>
            <a:off x="5605463" y="3744838"/>
            <a:ext cx="4071937" cy="258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Данные, соответствующие нормальному распределению обрабатываются с помощью </a:t>
            </a:r>
            <a:r>
              <a:rPr b="1"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параметрических методов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а те данные, которые не соответствуют нормальному распределению обрабатываются с помощью </a:t>
            </a:r>
            <a:r>
              <a:rPr b="1"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непараметрических методов статистики.</a:t>
            </a:r>
            <a:endParaRPr/>
          </a:p>
        </p:txBody>
      </p:sp>
      <p:sp>
        <p:nvSpPr>
          <p:cNvPr id="453" name="Google Shape;453;p25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6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6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6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6"/>
          <p:cNvSpPr txBox="1"/>
          <p:nvPr>
            <p:ph type="title"/>
          </p:nvPr>
        </p:nvSpPr>
        <p:spPr>
          <a:xfrm>
            <a:off x="1138238" y="501650"/>
            <a:ext cx="7643812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 sz="3600"/>
              <a:t>Нормальное распределение </a:t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463" name="Google Shape;463;p26"/>
          <p:cNvSpPr txBox="1"/>
          <p:nvPr>
            <p:ph idx="1" type="body"/>
          </p:nvPr>
        </p:nvSpPr>
        <p:spPr>
          <a:xfrm>
            <a:off x="4844572" y="4079612"/>
            <a:ext cx="4951046" cy="1787788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Autofit/>
          </a:bodyPr>
          <a:lstStyle/>
          <a:p>
            <a:pPr indent="-296923" lvl="1" marL="771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</a:pPr>
            <a:r>
              <a:rPr b="1" i="1" lang="ru-RU" sz="3200"/>
              <a:t>μ</a:t>
            </a:r>
            <a:r>
              <a:rPr lang="ru-RU" sz="2000"/>
              <a:t>  − Среднее значение (</a:t>
            </a:r>
            <a:r>
              <a:rPr b="1" lang="ru-RU" sz="2000"/>
              <a:t>mean</a:t>
            </a:r>
            <a:r>
              <a:rPr lang="ru-RU" sz="2000"/>
              <a:t>) задает положение кривой на числовой оси, </a:t>
            </a:r>
            <a:endParaRPr/>
          </a:p>
          <a:p>
            <a:pPr indent="-296923" lvl="1" marL="771999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</a:pPr>
            <a:r>
              <a:rPr lang="ru-RU" sz="3200"/>
              <a:t>σ</a:t>
            </a:r>
            <a:r>
              <a:rPr lang="ru-RU" sz="2000"/>
              <a:t>  − сигма –задает ширину этой кривой и выступает как масштаб измерения.</a:t>
            </a:r>
            <a:endParaRPr/>
          </a:p>
          <a:p>
            <a:pPr indent="0" lvl="1" marL="496888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464" name="Google Shape;464;p26"/>
          <p:cNvSpPr/>
          <p:nvPr/>
        </p:nvSpPr>
        <p:spPr>
          <a:xfrm>
            <a:off x="3733800" y="0"/>
            <a:ext cx="3262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C6CAE4"/>
                </a:solidFill>
                <a:latin typeface="Courier New"/>
                <a:ea typeface="Courier New"/>
                <a:cs typeface="Courier New"/>
                <a:sym typeface="Courier New"/>
              </a:rPr>
              <a:t>Дескриптивный анализ</a:t>
            </a:r>
            <a:endParaRPr/>
          </a:p>
        </p:txBody>
      </p:sp>
      <p:pic>
        <p:nvPicPr>
          <p:cNvPr id="465" name="Google Shape;46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140" y="2799831"/>
            <a:ext cx="2971003" cy="1025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8238" y="4098205"/>
            <a:ext cx="3240360" cy="202522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6"/>
          <p:cNvSpPr/>
          <p:nvPr/>
        </p:nvSpPr>
        <p:spPr>
          <a:xfrm>
            <a:off x="818642" y="1360488"/>
            <a:ext cx="8640192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Норма́льное распределе́ние</a:t>
            </a:r>
            <a:r>
              <a:rPr lang="ru-RU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также называемое  </a:t>
            </a:r>
            <a:r>
              <a:rPr b="1" lang="ru-RU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распределением Гаусса</a:t>
            </a:r>
            <a:r>
              <a:rPr lang="ru-RU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 или </a:t>
            </a:r>
            <a:r>
              <a:rPr b="1" lang="ru-RU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Гаусса — Лапласа</a:t>
            </a:r>
            <a:r>
              <a:rPr lang="ru-RU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 — распределение вероятностей, которое в одномерном случае задаётся функцией плотности вероятности, совпадающей с функцией Гаусса:</a:t>
            </a:r>
            <a:endParaRPr/>
          </a:p>
        </p:txBody>
      </p:sp>
      <p:sp>
        <p:nvSpPr>
          <p:cNvPr id="468" name="Google Shape;468;p26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7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7"/>
          <p:cNvSpPr/>
          <p:nvPr/>
        </p:nvSpPr>
        <p:spPr>
          <a:xfrm>
            <a:off x="890588" y="395288"/>
            <a:ext cx="8351837" cy="935037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7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7"/>
          <p:cNvSpPr txBox="1"/>
          <p:nvPr>
            <p:ph type="title"/>
          </p:nvPr>
        </p:nvSpPr>
        <p:spPr>
          <a:xfrm>
            <a:off x="1138238" y="501650"/>
            <a:ext cx="7643812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 sz="3600"/>
              <a:t>Нормальное распределение </a:t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478" name="Google Shape;478;p27"/>
          <p:cNvSpPr txBox="1"/>
          <p:nvPr>
            <p:ph idx="1" type="body"/>
          </p:nvPr>
        </p:nvSpPr>
        <p:spPr>
          <a:xfrm>
            <a:off x="712788" y="1431925"/>
            <a:ext cx="9248775" cy="5027613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/>
              <a:t>Все многообразие нормальных распределений может быть сведено к одной кривой, если применить </a:t>
            </a:r>
            <a:r>
              <a:rPr b="1" i="1" lang="ru-RU" sz="2000"/>
              <a:t>z</a:t>
            </a:r>
            <a:r>
              <a:rPr lang="ru-RU" sz="2000"/>
              <a:t>-преобразование  </a:t>
            </a:r>
            <a:r>
              <a:rPr b="1" lang="ru-RU" sz="2400"/>
              <a:t>(x-μ)/σ </a:t>
            </a:r>
            <a:r>
              <a:rPr lang="ru-RU" sz="2000"/>
              <a:t>(с тем, чтобы приблизить их к нормальному распределению) ко всем возможным измерениям свойств. Тогда каждое свойство будет иметь среднее 0 и сигму 1 – это называется </a:t>
            </a:r>
            <a:r>
              <a:rPr b="1" i="1" lang="ru-RU" sz="2000"/>
              <a:t>единичным нормальным распределением, которое используется как эталон.</a:t>
            </a:r>
            <a:endParaRPr sz="2000"/>
          </a:p>
        </p:txBody>
      </p:sp>
      <p:sp>
        <p:nvSpPr>
          <p:cNvPr id="479" name="Google Shape;479;p27"/>
          <p:cNvSpPr/>
          <p:nvPr/>
        </p:nvSpPr>
        <p:spPr>
          <a:xfrm>
            <a:off x="3733800" y="0"/>
            <a:ext cx="3262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C6CAE4"/>
                </a:solidFill>
                <a:latin typeface="Courier New"/>
                <a:ea typeface="Courier New"/>
                <a:cs typeface="Courier New"/>
                <a:sym typeface="Courier New"/>
              </a:rPr>
              <a:t>Дескриптивный анализ</a:t>
            </a:r>
            <a:endParaRPr/>
          </a:p>
        </p:txBody>
      </p:sp>
      <p:pic>
        <p:nvPicPr>
          <p:cNvPr id="480" name="Google Shape;48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788" y="3779167"/>
            <a:ext cx="3704186" cy="2566668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27"/>
          <p:cNvSpPr txBox="1"/>
          <p:nvPr/>
        </p:nvSpPr>
        <p:spPr>
          <a:xfrm>
            <a:off x="4498975" y="3206514"/>
            <a:ext cx="5572125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Площадь под кривой интерпретируется как вероятность или относительная частота.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Полезно знать, что если распределение является нормальным, то: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90% всех случаев располагается в диапазоне значений </a:t>
            </a:r>
            <a:r>
              <a:rPr b="1" i="1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μ</a:t>
            </a: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(среднее) ± 1,64 </a:t>
            </a:r>
            <a:r>
              <a:rPr b="1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(сигма);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95% всех случаев располагается в диапазоне значений </a:t>
            </a:r>
            <a:r>
              <a:rPr b="1" i="1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μ</a:t>
            </a: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(среднее) ± 1,96 </a:t>
            </a:r>
            <a:r>
              <a:rPr b="1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(сигма);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99% всех случаев располагается в диапазоне значений </a:t>
            </a:r>
            <a:r>
              <a:rPr b="1" i="1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μ</a:t>
            </a: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(среднее) ± 2,58</a:t>
            </a: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(сигма).</a:t>
            </a:r>
            <a:endParaRPr/>
          </a:p>
        </p:txBody>
      </p:sp>
      <p:sp>
        <p:nvSpPr>
          <p:cNvPr id="482" name="Google Shape;482;p27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8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8"/>
          <p:cNvSpPr/>
          <p:nvPr/>
        </p:nvSpPr>
        <p:spPr>
          <a:xfrm>
            <a:off x="890588" y="395288"/>
            <a:ext cx="8351837" cy="1223962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8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8"/>
          <p:cNvSpPr txBox="1"/>
          <p:nvPr>
            <p:ph type="title"/>
          </p:nvPr>
        </p:nvSpPr>
        <p:spPr>
          <a:xfrm>
            <a:off x="1138238" y="501650"/>
            <a:ext cx="7643812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3600"/>
              <a:t>Уровень статистической достоверности</a:t>
            </a:r>
            <a:endParaRPr/>
          </a:p>
        </p:txBody>
      </p:sp>
      <p:sp>
        <p:nvSpPr>
          <p:cNvPr id="492" name="Google Shape;492;p28"/>
          <p:cNvSpPr txBox="1"/>
          <p:nvPr>
            <p:ph idx="1" type="body"/>
          </p:nvPr>
        </p:nvSpPr>
        <p:spPr>
          <a:xfrm>
            <a:off x="333375" y="1608137"/>
            <a:ext cx="9610725" cy="4716463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ru-RU" sz="2200"/>
              <a:t>Статистическая значимость или р-уровень значимости - основной результат проверки статистической гипотезы.</a:t>
            </a:r>
            <a:endParaRPr/>
          </a:p>
          <a:p>
            <a:pPr indent="-356307" lvl="0" marL="356307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ru-RU" sz="2200"/>
              <a:t>Предположим, при сравнении двух выборочных средних было получено значение уровня статистической значимости </a:t>
            </a:r>
            <a:r>
              <a:rPr b="1" i="1" lang="ru-RU" sz="2200"/>
              <a:t>р=0,05</a:t>
            </a:r>
            <a:r>
              <a:rPr lang="ru-RU" sz="2200"/>
              <a:t>. Это значит, что проверка статистической гипотезы о равенстве средних в генеральной совокупности показала, что если она верна, то вероятность случайного появления обнаруженных различий составляет не более </a:t>
            </a:r>
            <a:r>
              <a:rPr b="1" i="1" lang="ru-RU" sz="2200"/>
              <a:t>5%.</a:t>
            </a:r>
            <a:endParaRPr/>
          </a:p>
          <a:p>
            <a:pPr indent="-356307" lvl="0" marL="356307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i="1" lang="ru-RU" sz="2200"/>
              <a:t>Уровень значимости</a:t>
            </a:r>
            <a:r>
              <a:rPr i="1" lang="ru-RU" sz="2200"/>
              <a:t> – это вероятность ошибочного отклонения (отвержения) гипотезы, в то время как она на самом деле верна. Речь идёт об отклонении нулевой гипотезы </a:t>
            </a:r>
            <a:r>
              <a:rPr b="1" i="1" lang="ru-RU" sz="2200"/>
              <a:t>Н</a:t>
            </a:r>
            <a:r>
              <a:rPr b="1" baseline="-25000" i="1" lang="ru-RU" sz="2200"/>
              <a:t>о</a:t>
            </a:r>
            <a:r>
              <a:rPr i="1" lang="ru-RU" sz="2200"/>
              <a:t>.</a:t>
            </a:r>
            <a:endParaRPr sz="2200"/>
          </a:p>
          <a:p>
            <a:pPr indent="-356307" lvl="0" marL="356307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i="1" lang="ru-RU" sz="2200"/>
              <a:t>Уровень значимости</a:t>
            </a:r>
            <a:r>
              <a:rPr i="1" lang="ru-RU" sz="2200"/>
              <a:t> – это допустимая ошибка в нашем утверждении, в нашем выводе. </a:t>
            </a:r>
            <a:endParaRPr sz="2200"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  <p:sp>
        <p:nvSpPr>
          <p:cNvPr id="493" name="Google Shape;493;p28"/>
          <p:cNvSpPr/>
          <p:nvPr/>
        </p:nvSpPr>
        <p:spPr>
          <a:xfrm>
            <a:off x="3733800" y="0"/>
            <a:ext cx="3262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C6CAE4"/>
                </a:solidFill>
                <a:latin typeface="Courier New"/>
                <a:ea typeface="Courier New"/>
                <a:cs typeface="Courier New"/>
                <a:sym typeface="Courier New"/>
              </a:rPr>
              <a:t>Дескриптивный анализ</a:t>
            </a:r>
            <a:endParaRPr/>
          </a:p>
        </p:txBody>
      </p:sp>
      <p:sp>
        <p:nvSpPr>
          <p:cNvPr id="494" name="Google Shape;494;p28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9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9"/>
          <p:cNvSpPr/>
          <p:nvPr/>
        </p:nvSpPr>
        <p:spPr>
          <a:xfrm>
            <a:off x="890588" y="395288"/>
            <a:ext cx="8351837" cy="1223962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9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9"/>
          <p:cNvSpPr txBox="1"/>
          <p:nvPr>
            <p:ph type="title"/>
          </p:nvPr>
        </p:nvSpPr>
        <p:spPr>
          <a:xfrm>
            <a:off x="1138238" y="501650"/>
            <a:ext cx="7643812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3600"/>
              <a:t>Уровень статистической достоверности</a:t>
            </a:r>
            <a:endParaRPr/>
          </a:p>
        </p:txBody>
      </p:sp>
      <p:sp>
        <p:nvSpPr>
          <p:cNvPr id="504" name="Google Shape;504;p29"/>
          <p:cNvSpPr txBox="1"/>
          <p:nvPr>
            <p:ph idx="1" type="body"/>
          </p:nvPr>
        </p:nvSpPr>
        <p:spPr>
          <a:xfrm>
            <a:off x="504973" y="1504950"/>
            <a:ext cx="9339263" cy="4716463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i="1" lang="ru-RU" sz="2200"/>
              <a:t>В отношении научной гипотезы уровень статистической значимости </a:t>
            </a:r>
            <a:r>
              <a:rPr lang="ru-RU" sz="2200"/>
              <a:t>– это </a:t>
            </a:r>
            <a:r>
              <a:rPr b="1" i="1" lang="ru-RU" sz="2200"/>
              <a:t>количественный показатель </a:t>
            </a:r>
            <a:r>
              <a:rPr b="1" i="1" lang="ru-RU" sz="2200">
                <a:solidFill>
                  <a:srgbClr val="FF5050"/>
                </a:solidFill>
              </a:rPr>
              <a:t>степени недоверия</a:t>
            </a:r>
            <a:r>
              <a:rPr b="1" i="1" lang="ru-RU" sz="2200"/>
              <a:t> к выводу о наличии связи</a:t>
            </a:r>
            <a:r>
              <a:rPr lang="ru-RU" sz="2200"/>
              <a:t>, вычисленный по результатам выборочной, эмпирической проверки этой гипотезы. Чем меньше значение </a:t>
            </a:r>
            <a:r>
              <a:rPr b="1" i="1" lang="ru-RU" sz="2200"/>
              <a:t>р-уровня</a:t>
            </a:r>
            <a:r>
              <a:rPr lang="ru-RU" sz="2200"/>
              <a:t>, тем выше статистическая значимость результата исследования, подтверждающего научную гипотезу.</a:t>
            </a:r>
            <a:endParaRPr/>
          </a:p>
          <a:p>
            <a:pPr indent="-356307" lvl="0" marL="356307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/>
          </a:p>
          <a:p>
            <a:pPr indent="-356307" lvl="0" marL="356307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ru-RU" sz="2200"/>
              <a:t>Уровень значимости при прочих равных условиях выше (значение </a:t>
            </a:r>
            <a:r>
              <a:rPr b="1" i="1" lang="ru-RU" sz="2200"/>
              <a:t>р-уровня</a:t>
            </a:r>
            <a:r>
              <a:rPr lang="ru-RU" sz="2200"/>
              <a:t> меньше), если:</a:t>
            </a:r>
            <a:endParaRPr/>
          </a:p>
          <a:p>
            <a:pPr indent="-296923" lvl="1" marL="771999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ru-RU" sz="2200"/>
              <a:t>величина связи (различия) больше;</a:t>
            </a:r>
            <a:endParaRPr/>
          </a:p>
          <a:p>
            <a:pPr indent="-296923" lvl="1" marL="771999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ru-RU" sz="2200"/>
              <a:t>изменчивость признака (признаков) меньше;</a:t>
            </a:r>
            <a:endParaRPr/>
          </a:p>
          <a:p>
            <a:pPr indent="-296923" lvl="1" marL="771999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ru-RU" sz="2200"/>
              <a:t>объем выборки (выборок) больше.</a:t>
            </a:r>
            <a:endParaRPr/>
          </a:p>
        </p:txBody>
      </p:sp>
      <p:sp>
        <p:nvSpPr>
          <p:cNvPr id="505" name="Google Shape;505;p29"/>
          <p:cNvSpPr/>
          <p:nvPr/>
        </p:nvSpPr>
        <p:spPr>
          <a:xfrm>
            <a:off x="3733800" y="0"/>
            <a:ext cx="3262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C6CAE4"/>
                </a:solidFill>
                <a:latin typeface="Courier New"/>
                <a:ea typeface="Courier New"/>
                <a:cs typeface="Courier New"/>
                <a:sym typeface="Courier New"/>
              </a:rPr>
              <a:t>Дескриптивный анализ</a:t>
            </a:r>
            <a:endParaRPr/>
          </a:p>
        </p:txBody>
      </p:sp>
      <p:sp>
        <p:nvSpPr>
          <p:cNvPr id="506" name="Google Shape;506;p29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0"/>
          <p:cNvSpPr txBox="1"/>
          <p:nvPr>
            <p:ph idx="4294967295" type="ctrTitle"/>
          </p:nvPr>
        </p:nvSpPr>
        <p:spPr>
          <a:xfrm>
            <a:off x="314201" y="1330896"/>
            <a:ext cx="9090025" cy="2520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572"/>
              <a:buFont typeface="Calibri"/>
              <a:buNone/>
            </a:pPr>
            <a:r>
              <a:rPr b="1" i="0" lang="ru-RU" sz="4572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Свойства описательных статистик </a:t>
            </a:r>
            <a:br>
              <a:rPr b="1" i="0" lang="ru-RU" sz="4572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ru-RU" sz="4572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(Дескриптивный анализ) </a:t>
            </a:r>
            <a:br>
              <a:rPr b="1" i="0" lang="ru-RU" sz="4572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4572" u="none" cap="none" strike="noStrik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0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1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31"/>
          <p:cNvSpPr/>
          <p:nvPr/>
        </p:nvSpPr>
        <p:spPr>
          <a:xfrm>
            <a:off x="890588" y="395288"/>
            <a:ext cx="8351837" cy="1223962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31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31"/>
          <p:cNvSpPr txBox="1"/>
          <p:nvPr>
            <p:ph type="title"/>
          </p:nvPr>
        </p:nvSpPr>
        <p:spPr>
          <a:xfrm>
            <a:off x="1244600" y="473075"/>
            <a:ext cx="7643812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 sz="3600"/>
              <a:t>Свойства описательных статистик</a:t>
            </a:r>
            <a:endParaRPr/>
          </a:p>
        </p:txBody>
      </p:sp>
      <p:sp>
        <p:nvSpPr>
          <p:cNvPr id="524" name="Google Shape;524;p31"/>
          <p:cNvSpPr txBox="1"/>
          <p:nvPr>
            <p:ph idx="1" type="body"/>
          </p:nvPr>
        </p:nvSpPr>
        <p:spPr>
          <a:xfrm>
            <a:off x="1138238" y="2050976"/>
            <a:ext cx="8569325" cy="3671888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sz="2800"/>
              <a:t>Мера центральной тенденции - это число, характеризующее выборку по </a:t>
            </a:r>
            <a:r>
              <a:rPr b="1" lang="ru-RU" sz="2800">
                <a:solidFill>
                  <a:srgbClr val="FF5050"/>
                </a:solidFill>
              </a:rPr>
              <a:t>уровню выраженности  измеренного признака</a:t>
            </a:r>
            <a:r>
              <a:rPr lang="ru-RU" sz="2800"/>
              <a:t>.</a:t>
            </a:r>
            <a:endParaRPr/>
          </a:p>
          <a:p>
            <a:pPr indent="-356307" lvl="0" marL="356307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sz="3200"/>
          </a:p>
          <a:p>
            <a:pPr indent="-356307" lvl="0" marL="356307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sz="3200"/>
          </a:p>
        </p:txBody>
      </p:sp>
      <p:sp>
        <p:nvSpPr>
          <p:cNvPr id="525" name="Google Shape;525;p31"/>
          <p:cNvSpPr/>
          <p:nvPr/>
        </p:nvSpPr>
        <p:spPr>
          <a:xfrm>
            <a:off x="3733800" y="0"/>
            <a:ext cx="3262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C6CAE4"/>
                </a:solidFill>
                <a:latin typeface="Courier New"/>
                <a:ea typeface="Courier New"/>
                <a:cs typeface="Courier New"/>
                <a:sym typeface="Courier New"/>
              </a:rPr>
              <a:t>Дескриптивный анализ</a:t>
            </a:r>
            <a:endParaRPr/>
          </a:p>
        </p:txBody>
      </p:sp>
      <p:sp>
        <p:nvSpPr>
          <p:cNvPr id="526" name="Google Shape;526;p31"/>
          <p:cNvSpPr/>
          <p:nvPr/>
        </p:nvSpPr>
        <p:spPr>
          <a:xfrm>
            <a:off x="1274762" y="4241800"/>
            <a:ext cx="8296275" cy="588962"/>
          </a:xfrm>
          <a:prstGeom prst="rect">
            <a:avLst/>
          </a:prstGeom>
          <a:noFill/>
          <a:ln cap="flat" cmpd="sng" w="9525">
            <a:solidFill>
              <a:srgbClr val="FF5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мода, медиана, выборочное среднее</a:t>
            </a:r>
            <a:endParaRPr/>
          </a:p>
        </p:txBody>
      </p:sp>
      <p:sp>
        <p:nvSpPr>
          <p:cNvPr id="527" name="Google Shape;527;p31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2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32"/>
          <p:cNvSpPr/>
          <p:nvPr/>
        </p:nvSpPr>
        <p:spPr>
          <a:xfrm>
            <a:off x="890588" y="395288"/>
            <a:ext cx="8351837" cy="1223962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2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2"/>
          <p:cNvSpPr txBox="1"/>
          <p:nvPr>
            <p:ph idx="4294967295" type="title"/>
          </p:nvPr>
        </p:nvSpPr>
        <p:spPr>
          <a:xfrm>
            <a:off x="1543049" y="271463"/>
            <a:ext cx="7643813" cy="9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700" lIns="99425" spcFirstLastPara="1" rIns="99425" wrap="square" tIns="49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 sz="3600"/>
              <a:t>Свойства описательных статистик</a:t>
            </a:r>
            <a:endParaRPr/>
          </a:p>
        </p:txBody>
      </p:sp>
      <p:sp>
        <p:nvSpPr>
          <p:cNvPr id="537" name="Google Shape;537;p32"/>
          <p:cNvSpPr txBox="1"/>
          <p:nvPr>
            <p:ph idx="4294967295" type="body"/>
          </p:nvPr>
        </p:nvSpPr>
        <p:spPr>
          <a:xfrm>
            <a:off x="479426" y="1233822"/>
            <a:ext cx="9339262" cy="5027613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ru-RU" sz="2400"/>
              <a:t>Мода - это такое значение из множества измерений, которое встречается наиболее часто. </a:t>
            </a:r>
            <a:r>
              <a:rPr lang="ru-RU" sz="2400"/>
              <a:t>Моде, или модальному интервалу признака, соответствует наибольший подъем (вершина) графика распределения частот. </a:t>
            </a:r>
            <a:endParaRPr/>
          </a:p>
          <a:p>
            <a:pPr indent="-296923" lvl="1" marL="771999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ru-RU" sz="2000"/>
              <a:t>Если график распределения частот имеет одну вершину, то такое распределение называется </a:t>
            </a:r>
            <a:r>
              <a:rPr b="1" i="1" lang="ru-RU" sz="2000"/>
              <a:t>унимодальным</a:t>
            </a:r>
            <a:r>
              <a:rPr lang="ru-RU" sz="2000"/>
              <a:t>. </a:t>
            </a:r>
            <a:endParaRPr/>
          </a:p>
          <a:p>
            <a:pPr indent="-296923" lvl="1" marL="771999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ru-RU" sz="2000"/>
              <a:t>Когда все значения встречаются одинаково часто, принято считать, что </a:t>
            </a:r>
            <a:r>
              <a:rPr b="1" i="1" lang="ru-RU" sz="2000"/>
              <a:t>такое распределение не имеет моды</a:t>
            </a:r>
            <a:r>
              <a:rPr lang="ru-RU" sz="2000"/>
              <a:t>.</a:t>
            </a:r>
            <a:endParaRPr/>
          </a:p>
          <a:p>
            <a:pPr indent="-296923" lvl="1" marL="771999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ru-RU" sz="2000"/>
              <a:t>Если распределение имеет несколько мод, то говорят, что оно </a:t>
            </a:r>
            <a:r>
              <a:rPr b="1" i="1" lang="ru-RU" sz="2000"/>
              <a:t>мультимодально</a:t>
            </a:r>
            <a:r>
              <a:rPr lang="ru-RU" sz="2000"/>
              <a:t>  (имеет два или более «пика»). Может служить признаком наличия двух и более различных мнений.</a:t>
            </a:r>
            <a:endParaRPr/>
          </a:p>
        </p:txBody>
      </p:sp>
      <p:sp>
        <p:nvSpPr>
          <p:cNvPr id="538" name="Google Shape;538;p32"/>
          <p:cNvSpPr/>
          <p:nvPr/>
        </p:nvSpPr>
        <p:spPr>
          <a:xfrm>
            <a:off x="3733800" y="0"/>
            <a:ext cx="3262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C6CAE4"/>
                </a:solidFill>
                <a:latin typeface="Courier New"/>
                <a:ea typeface="Courier New"/>
                <a:cs typeface="Courier New"/>
                <a:sym typeface="Courier New"/>
              </a:rPr>
              <a:t>Дескриптивный анализ</a:t>
            </a:r>
            <a:endParaRPr/>
          </a:p>
        </p:txBody>
      </p:sp>
      <p:grpSp>
        <p:nvGrpSpPr>
          <p:cNvPr id="539" name="Google Shape;539;p32"/>
          <p:cNvGrpSpPr/>
          <p:nvPr/>
        </p:nvGrpSpPr>
        <p:grpSpPr>
          <a:xfrm>
            <a:off x="6283275" y="5341938"/>
            <a:ext cx="2665412" cy="1152525"/>
            <a:chOff x="2830" y="2790"/>
            <a:chExt cx="2494" cy="1178"/>
          </a:xfrm>
        </p:grpSpPr>
        <p:sp>
          <p:nvSpPr>
            <p:cNvPr id="540" name="Google Shape;540;p32"/>
            <p:cNvSpPr/>
            <p:nvPr/>
          </p:nvSpPr>
          <p:spPr>
            <a:xfrm>
              <a:off x="3160" y="2963"/>
              <a:ext cx="1741" cy="957"/>
            </a:xfrm>
            <a:custGeom>
              <a:rect b="b" l="l" r="r" t="t"/>
              <a:pathLst>
                <a:path extrusionOk="0" h="921" w="1678">
                  <a:moveTo>
                    <a:pt x="0" y="921"/>
                  </a:moveTo>
                  <a:cubicBezTo>
                    <a:pt x="113" y="520"/>
                    <a:pt x="227" y="120"/>
                    <a:pt x="363" y="60"/>
                  </a:cubicBezTo>
                  <a:cubicBezTo>
                    <a:pt x="499" y="0"/>
                    <a:pt x="681" y="559"/>
                    <a:pt x="817" y="559"/>
                  </a:cubicBezTo>
                  <a:cubicBezTo>
                    <a:pt x="953" y="559"/>
                    <a:pt x="1035" y="0"/>
                    <a:pt x="1179" y="60"/>
                  </a:cubicBezTo>
                  <a:cubicBezTo>
                    <a:pt x="1323" y="120"/>
                    <a:pt x="1595" y="777"/>
                    <a:pt x="1678" y="921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1" name="Google Shape;541;p32"/>
            <p:cNvCxnSpPr/>
            <p:nvPr/>
          </p:nvCxnSpPr>
          <p:spPr>
            <a:xfrm>
              <a:off x="2830" y="3968"/>
              <a:ext cx="249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42" name="Google Shape;542;p32"/>
            <p:cNvCxnSpPr/>
            <p:nvPr/>
          </p:nvCxnSpPr>
          <p:spPr>
            <a:xfrm rot="10800000">
              <a:off x="2830" y="2790"/>
              <a:ext cx="0" cy="1178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43" name="Google Shape;543;p32"/>
            <p:cNvCxnSpPr/>
            <p:nvPr/>
          </p:nvCxnSpPr>
          <p:spPr>
            <a:xfrm>
              <a:off x="3537" y="3025"/>
              <a:ext cx="0" cy="943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44" name="Google Shape;544;p32"/>
            <p:cNvCxnSpPr/>
            <p:nvPr/>
          </p:nvCxnSpPr>
          <p:spPr>
            <a:xfrm>
              <a:off x="4336" y="3025"/>
              <a:ext cx="0" cy="943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545" name="Google Shape;545;p32"/>
          <p:cNvGraphicFramePr/>
          <p:nvPr/>
        </p:nvGraphicFramePr>
        <p:xfrm>
          <a:off x="1947863" y="5341938"/>
          <a:ext cx="3425825" cy="1374775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46" name="Google Shape;546;p32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3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33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33"/>
          <p:cNvSpPr/>
          <p:nvPr/>
        </p:nvSpPr>
        <p:spPr>
          <a:xfrm>
            <a:off x="890588" y="395288"/>
            <a:ext cx="8351837" cy="792162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33"/>
          <p:cNvSpPr txBox="1"/>
          <p:nvPr>
            <p:ph idx="4294967295" type="title"/>
          </p:nvPr>
        </p:nvSpPr>
        <p:spPr>
          <a:xfrm>
            <a:off x="2864643" y="532607"/>
            <a:ext cx="5000625" cy="78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700" lIns="99425" spcFirstLastPara="1" rIns="99425" wrap="square" tIns="49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 sz="3600">
                <a:solidFill>
                  <a:schemeClr val="dk1"/>
                </a:solidFill>
              </a:rPr>
              <a:t>МОДА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556" name="Google Shape;556;p33"/>
          <p:cNvSpPr/>
          <p:nvPr/>
        </p:nvSpPr>
        <p:spPr>
          <a:xfrm>
            <a:off x="3733800" y="0"/>
            <a:ext cx="3262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C6CAE4"/>
                </a:solidFill>
                <a:latin typeface="Courier New"/>
                <a:ea typeface="Courier New"/>
                <a:cs typeface="Courier New"/>
                <a:sym typeface="Courier New"/>
              </a:rPr>
              <a:t>Дескриптивный анализ</a:t>
            </a:r>
            <a:endParaRPr/>
          </a:p>
        </p:txBody>
      </p:sp>
      <p:sp>
        <p:nvSpPr>
          <p:cNvPr id="557" name="Google Shape;557;p33"/>
          <p:cNvSpPr/>
          <p:nvPr/>
        </p:nvSpPr>
        <p:spPr>
          <a:xfrm>
            <a:off x="4948238" y="4572000"/>
            <a:ext cx="4438650" cy="430213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33"/>
          <p:cNvSpPr/>
          <p:nvPr/>
        </p:nvSpPr>
        <p:spPr>
          <a:xfrm>
            <a:off x="771525" y="2411413"/>
            <a:ext cx="6192838" cy="72072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3"/>
          <p:cNvSpPr/>
          <p:nvPr/>
        </p:nvSpPr>
        <p:spPr>
          <a:xfrm>
            <a:off x="619187" y="1872455"/>
            <a:ext cx="8894637" cy="4752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ru-RU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Выборка: 	</a:t>
            </a:r>
            <a:endParaRPr/>
          </a:p>
          <a:p>
            <a:pPr indent="-227013" lvl="0" marL="373063" marR="0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ru-RU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5   4   1   2   4   3   1   2   4   8   3   6   4   1   		</a:t>
            </a:r>
            <a:endParaRPr/>
          </a:p>
          <a:p>
            <a:pPr indent="-227013" lvl="0" marL="373063" marR="0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ru-RU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1	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ru-RU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2	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ru-RU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3	2	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ru-RU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4	4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ru-RU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5	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ru-RU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6	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ru-RU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8	1</a:t>
            </a:r>
            <a:endParaRPr/>
          </a:p>
          <a:p>
            <a:pPr indent="-227013" lvl="0" marL="373063" marR="0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3"/>
          <p:cNvSpPr/>
          <p:nvPr/>
        </p:nvSpPr>
        <p:spPr>
          <a:xfrm>
            <a:off x="7875588" y="4667250"/>
            <a:ext cx="95091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Мода=4</a:t>
            </a:r>
            <a:endParaRPr/>
          </a:p>
        </p:txBody>
      </p:sp>
      <p:sp>
        <p:nvSpPr>
          <p:cNvPr id="561" name="Google Shape;561;p33"/>
          <p:cNvSpPr/>
          <p:nvPr/>
        </p:nvSpPr>
        <p:spPr>
          <a:xfrm rot="5400000">
            <a:off x="2643188" y="3276600"/>
            <a:ext cx="1944688" cy="1944687"/>
          </a:xfrm>
          <a:custGeom>
            <a:rect b="b" l="l" r="r" t="t"/>
            <a:pathLst>
              <a:path extrusionOk="0" h="21600" w="21600">
                <a:moveTo>
                  <a:pt x="16813" y="0"/>
                </a:moveTo>
                <a:lnTo>
                  <a:pt x="12025" y="7200"/>
                </a:lnTo>
                <a:lnTo>
                  <a:pt x="15111" y="7200"/>
                </a:lnTo>
                <a:lnTo>
                  <a:pt x="15111" y="17630"/>
                </a:lnTo>
                <a:lnTo>
                  <a:pt x="0" y="1763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close/>
              </a:path>
            </a:pathLst>
          </a:cu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33"/>
          <p:cNvSpPr/>
          <p:nvPr/>
        </p:nvSpPr>
        <p:spPr>
          <a:xfrm>
            <a:off x="4156075" y="6326188"/>
            <a:ext cx="4727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Наиболее часто встречающееся значение</a:t>
            </a:r>
            <a:endParaRPr/>
          </a:p>
        </p:txBody>
      </p:sp>
      <p:sp>
        <p:nvSpPr>
          <p:cNvPr id="563" name="Google Shape;563;p33"/>
          <p:cNvSpPr/>
          <p:nvPr/>
        </p:nvSpPr>
        <p:spPr>
          <a:xfrm>
            <a:off x="5930825" y="3110668"/>
            <a:ext cx="145655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Встречается</a:t>
            </a:r>
            <a:endParaRPr b="1" sz="1600">
              <a:solidFill>
                <a:srgbClr val="FF5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33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4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34"/>
          <p:cNvSpPr/>
          <p:nvPr/>
        </p:nvSpPr>
        <p:spPr>
          <a:xfrm>
            <a:off x="890588" y="395288"/>
            <a:ext cx="8351837" cy="792162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34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4"/>
          <p:cNvSpPr txBox="1"/>
          <p:nvPr>
            <p:ph type="title"/>
          </p:nvPr>
        </p:nvSpPr>
        <p:spPr>
          <a:xfrm>
            <a:off x="514350" y="285750"/>
            <a:ext cx="9248775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4400"/>
              <a:t>Свойства моды</a:t>
            </a:r>
            <a:endParaRPr/>
          </a:p>
        </p:txBody>
      </p:sp>
      <p:sp>
        <p:nvSpPr>
          <p:cNvPr id="573" name="Google Shape;573;p34"/>
          <p:cNvSpPr txBox="1"/>
          <p:nvPr>
            <p:ph idx="1" type="body"/>
          </p:nvPr>
        </p:nvSpPr>
        <p:spPr>
          <a:xfrm>
            <a:off x="569913" y="1704975"/>
            <a:ext cx="9248775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Наличие одного или двух крайних значений, сильно отличающихся от остальных, не влияет на значение моды.</a:t>
            </a:r>
            <a:endParaRPr/>
          </a:p>
          <a:p>
            <a:pPr indent="-2039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563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Мода совпадает с точкой наибольшей плотности данных.</a:t>
            </a:r>
            <a:endParaRPr/>
          </a:p>
          <a:p>
            <a:pPr indent="-2039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563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Мода может иметь несколько значений.</a:t>
            </a:r>
            <a:endParaRPr/>
          </a:p>
          <a:p>
            <a:pPr indent="-2039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563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Мода может существовать для всех типов данных. Единственная мера, которая работает в номинальной шкале!</a:t>
            </a:r>
            <a:endParaRPr/>
          </a:p>
        </p:txBody>
      </p:sp>
      <p:sp>
        <p:nvSpPr>
          <p:cNvPr id="574" name="Google Shape;574;p34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5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35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5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5"/>
          <p:cNvSpPr txBox="1"/>
          <p:nvPr>
            <p:ph type="title"/>
          </p:nvPr>
        </p:nvSpPr>
        <p:spPr>
          <a:xfrm>
            <a:off x="1261571" y="480720"/>
            <a:ext cx="7643812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 sz="4000">
                <a:solidFill>
                  <a:schemeClr val="dk1"/>
                </a:solidFill>
              </a:rPr>
              <a:t>Медиана</a:t>
            </a:r>
            <a:endParaRPr sz="4000"/>
          </a:p>
        </p:txBody>
      </p:sp>
      <p:sp>
        <p:nvSpPr>
          <p:cNvPr id="584" name="Google Shape;584;p35"/>
          <p:cNvSpPr txBox="1"/>
          <p:nvPr>
            <p:ph idx="1" type="body"/>
          </p:nvPr>
        </p:nvSpPr>
        <p:spPr>
          <a:xfrm>
            <a:off x="479425" y="1203692"/>
            <a:ext cx="9339263" cy="2395172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ru-RU" sz="2000"/>
              <a:t>Медиана - делит упорядоченное (ранжированное) множество данных пополам</a:t>
            </a:r>
            <a:r>
              <a:rPr lang="ru-RU" sz="2000"/>
              <a:t>, </a:t>
            </a:r>
            <a:endParaRPr/>
          </a:p>
          <a:p>
            <a:pPr indent="-356307" lvl="0" marL="356307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ru-RU" sz="2000"/>
              <a:t>таким образом, первым шагом при определении медианы является упорядочивание (ранжирование) всех значений по возрастанию или убыванию. </a:t>
            </a:r>
            <a:endParaRPr/>
          </a:p>
          <a:p>
            <a:pPr indent="-356307" lvl="0" marL="356307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ru-RU" sz="2000"/>
              <a:t>Далее медиана определяется следующим образом:</a:t>
            </a:r>
            <a:endParaRPr/>
          </a:p>
          <a:p>
            <a:pPr indent="-356307" lvl="0" marL="356307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lang="ru-RU" sz="2200"/>
              <a:t>Для набора из n значений, если n нечетно, средний элемент имеет номер:</a:t>
            </a:r>
            <a:endParaRPr sz="2200"/>
          </a:p>
          <a:p>
            <a:pPr indent="-216607" lvl="0" marL="356307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  <p:sp>
        <p:nvSpPr>
          <p:cNvPr id="585" name="Google Shape;585;p35"/>
          <p:cNvSpPr/>
          <p:nvPr/>
        </p:nvSpPr>
        <p:spPr>
          <a:xfrm>
            <a:off x="3733800" y="0"/>
            <a:ext cx="3262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Дескриптивный анализ</a:t>
            </a:r>
            <a:endParaRPr/>
          </a:p>
        </p:txBody>
      </p:sp>
      <p:grpSp>
        <p:nvGrpSpPr>
          <p:cNvPr id="586" name="Google Shape;586;p35"/>
          <p:cNvGrpSpPr/>
          <p:nvPr/>
        </p:nvGrpSpPr>
        <p:grpSpPr>
          <a:xfrm>
            <a:off x="1046310" y="3598863"/>
            <a:ext cx="8278813" cy="1020762"/>
            <a:chOff x="385" y="1882"/>
            <a:chExt cx="5775" cy="796"/>
          </a:xfrm>
        </p:grpSpPr>
        <p:grpSp>
          <p:nvGrpSpPr>
            <p:cNvPr id="587" name="Google Shape;587;p35"/>
            <p:cNvGrpSpPr/>
            <p:nvPr/>
          </p:nvGrpSpPr>
          <p:grpSpPr>
            <a:xfrm>
              <a:off x="398" y="1882"/>
              <a:ext cx="5742" cy="662"/>
              <a:chOff x="398" y="1882"/>
              <a:chExt cx="5742" cy="662"/>
            </a:xfrm>
          </p:grpSpPr>
          <p:sp>
            <p:nvSpPr>
              <p:cNvPr id="588" name="Google Shape;588;p35"/>
              <p:cNvSpPr/>
              <p:nvPr/>
            </p:nvSpPr>
            <p:spPr>
              <a:xfrm>
                <a:off x="398" y="2356"/>
                <a:ext cx="2307" cy="188"/>
              </a:xfrm>
              <a:prstGeom prst="rect">
                <a:avLst/>
              </a:prstGeom>
              <a:solidFill>
                <a:srgbClr val="F3D957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35"/>
              <p:cNvSpPr/>
              <p:nvPr/>
            </p:nvSpPr>
            <p:spPr>
              <a:xfrm>
                <a:off x="2798" y="2355"/>
                <a:ext cx="612" cy="188"/>
              </a:xfrm>
              <a:prstGeom prst="rect">
                <a:avLst/>
              </a:prstGeom>
              <a:solidFill>
                <a:srgbClr val="F3D957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7450" lIns="94900" spcFirstLastPara="1" rIns="94900" wrap="square" tIns="4745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500">
                  <a:solidFill>
                    <a:srgbClr val="697F9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35"/>
              <p:cNvSpPr/>
              <p:nvPr/>
            </p:nvSpPr>
            <p:spPr>
              <a:xfrm>
                <a:off x="3503" y="2355"/>
                <a:ext cx="2637" cy="188"/>
              </a:xfrm>
              <a:prstGeom prst="rect">
                <a:avLst/>
              </a:prstGeom>
              <a:solidFill>
                <a:srgbClr val="F3D957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91" name="Google Shape;591;p3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19" y="1882"/>
                <a:ext cx="392" cy="4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92" name="Google Shape;592;p35"/>
            <p:cNvSpPr txBox="1"/>
            <p:nvPr/>
          </p:nvSpPr>
          <p:spPr>
            <a:xfrm>
              <a:off x="385" y="2370"/>
              <a:ext cx="227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450" lIns="94900" spcFirstLastPara="1" rIns="94900" wrap="square" tIns="474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593" name="Google Shape;593;p35"/>
            <p:cNvSpPr txBox="1"/>
            <p:nvPr/>
          </p:nvSpPr>
          <p:spPr>
            <a:xfrm>
              <a:off x="5904" y="2306"/>
              <a:ext cx="256" cy="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450" lIns="94900" spcFirstLastPara="1" rIns="94900" wrap="square" tIns="474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4" name="Google Shape;594;p35"/>
          <p:cNvGrpSpPr/>
          <p:nvPr/>
        </p:nvGrpSpPr>
        <p:grpSpPr>
          <a:xfrm>
            <a:off x="890588" y="5722938"/>
            <a:ext cx="8437562" cy="1035050"/>
            <a:chOff x="398" y="3197"/>
            <a:chExt cx="5757" cy="790"/>
          </a:xfrm>
        </p:grpSpPr>
        <p:sp>
          <p:nvSpPr>
            <p:cNvPr id="595" name="Google Shape;595;p35"/>
            <p:cNvSpPr/>
            <p:nvPr/>
          </p:nvSpPr>
          <p:spPr>
            <a:xfrm>
              <a:off x="398" y="3688"/>
              <a:ext cx="2307" cy="188"/>
            </a:xfrm>
            <a:prstGeom prst="rect">
              <a:avLst/>
            </a:prstGeom>
            <a:solidFill>
              <a:srgbClr val="F3D957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35"/>
            <p:cNvSpPr/>
            <p:nvPr/>
          </p:nvSpPr>
          <p:spPr>
            <a:xfrm>
              <a:off x="2751" y="3687"/>
              <a:ext cx="330" cy="188"/>
            </a:xfrm>
            <a:prstGeom prst="rect">
              <a:avLst/>
            </a:prstGeom>
            <a:solidFill>
              <a:srgbClr val="F3D957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7450" lIns="94900" spcFirstLastPara="1" rIns="94900" wrap="square" tIns="474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rgbClr val="697F9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35"/>
            <p:cNvSpPr/>
            <p:nvPr/>
          </p:nvSpPr>
          <p:spPr>
            <a:xfrm>
              <a:off x="3503" y="3687"/>
              <a:ext cx="2637" cy="188"/>
            </a:xfrm>
            <a:prstGeom prst="rect">
              <a:avLst/>
            </a:prstGeom>
            <a:solidFill>
              <a:srgbClr val="F3D957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98" name="Google Shape;598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15" y="3197"/>
              <a:ext cx="170" cy="4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9" name="Google Shape;599;p35"/>
            <p:cNvSpPr/>
            <p:nvPr/>
          </p:nvSpPr>
          <p:spPr>
            <a:xfrm>
              <a:off x="3127" y="3687"/>
              <a:ext cx="330" cy="188"/>
            </a:xfrm>
            <a:prstGeom prst="rect">
              <a:avLst/>
            </a:prstGeom>
            <a:solidFill>
              <a:srgbClr val="F3D957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7450" lIns="94900" spcFirstLastPara="1" rIns="94900" wrap="square" tIns="474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rgbClr val="697F9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00" name="Google Shape;600;p3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117" y="3197"/>
              <a:ext cx="392" cy="4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35"/>
            <p:cNvSpPr txBox="1"/>
            <p:nvPr/>
          </p:nvSpPr>
          <p:spPr>
            <a:xfrm>
              <a:off x="398" y="3624"/>
              <a:ext cx="250" cy="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450" lIns="94900" spcFirstLastPara="1" rIns="94900" wrap="square" tIns="474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02" name="Google Shape;602;p35"/>
            <p:cNvSpPr txBox="1"/>
            <p:nvPr/>
          </p:nvSpPr>
          <p:spPr>
            <a:xfrm>
              <a:off x="5904" y="3623"/>
              <a:ext cx="251" cy="3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450" lIns="94900" spcFirstLastPara="1" rIns="94900" wrap="square" tIns="474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3" name="Google Shape;603;p35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604" name="Google Shape;604;p35"/>
          <p:cNvSpPr/>
          <p:nvPr/>
        </p:nvSpPr>
        <p:spPr>
          <a:xfrm>
            <a:off x="951380" y="4905324"/>
            <a:ext cx="881222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Если n четно, медиана находится как среднее арифметическое двух соседних серединных элементов: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6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6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6"/>
          <p:cNvSpPr/>
          <p:nvPr/>
        </p:nvSpPr>
        <p:spPr>
          <a:xfrm>
            <a:off x="387350" y="1474788"/>
            <a:ext cx="9431338" cy="5303837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6"/>
          <p:cNvSpPr txBox="1"/>
          <p:nvPr>
            <p:ph idx="1" type="body"/>
          </p:nvPr>
        </p:nvSpPr>
        <p:spPr>
          <a:xfrm>
            <a:off x="514350" y="1446213"/>
            <a:ext cx="9248775" cy="1684337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b="1" lang="ru-RU" sz="2300"/>
              <a:t>Вариационный ряд </a:t>
            </a:r>
            <a:r>
              <a:rPr lang="ru-RU" sz="2300"/>
              <a:t>- упорядоченные данные, расположенные в порядке возрастания значения признака, либо в порядке убывания.</a:t>
            </a:r>
            <a:endParaRPr/>
          </a:p>
          <a:p>
            <a:pPr indent="-356307" lvl="0" marL="356307" rtl="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ru-RU" sz="2300"/>
              <a:t>Назван так, поскольку содержит </a:t>
            </a:r>
            <a:r>
              <a:rPr b="1" lang="ru-RU" sz="2300"/>
              <a:t>варианты </a:t>
            </a:r>
            <a:r>
              <a:rPr lang="ru-RU" sz="2300"/>
              <a:t>значений признака.</a:t>
            </a:r>
            <a:endParaRPr/>
          </a:p>
        </p:txBody>
      </p:sp>
      <p:sp>
        <p:nvSpPr>
          <p:cNvPr id="613" name="Google Shape;613;p36"/>
          <p:cNvSpPr/>
          <p:nvPr/>
        </p:nvSpPr>
        <p:spPr>
          <a:xfrm>
            <a:off x="1138238" y="501650"/>
            <a:ext cx="7643812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Медиана</a:t>
            </a:r>
            <a:endParaRPr sz="3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6"/>
          <p:cNvSpPr/>
          <p:nvPr/>
        </p:nvSpPr>
        <p:spPr>
          <a:xfrm>
            <a:off x="3615530" y="84138"/>
            <a:ext cx="3262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Дескриптивный анализ</a:t>
            </a:r>
            <a:endParaRPr/>
          </a:p>
        </p:txBody>
      </p:sp>
      <p:sp>
        <p:nvSpPr>
          <p:cNvPr id="615" name="Google Shape;615;p36"/>
          <p:cNvSpPr/>
          <p:nvPr/>
        </p:nvSpPr>
        <p:spPr>
          <a:xfrm>
            <a:off x="962025" y="3130550"/>
            <a:ext cx="8569325" cy="1223963"/>
          </a:xfrm>
          <a:prstGeom prst="rect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7450" lIns="94900" spcFirstLastPara="1" rIns="94900" wrap="square" tIns="47450">
            <a:noAutofit/>
          </a:bodyPr>
          <a:lstStyle/>
          <a:p>
            <a:pPr indent="-373063" lvl="0" marL="37306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Набор данных:         		</a:t>
            </a:r>
            <a:r>
              <a:rPr b="1" i="1" lang="ru-RU" sz="2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           </a:t>
            </a:r>
            <a:r>
              <a:rPr b="1" i="1" lang="ru-RU" sz="2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6  1  3  7  1  7  3 7 8</a:t>
            </a:r>
            <a:r>
              <a:rPr b="1" i="1" lang="ru-RU" sz="2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73063" lvl="0" marL="373063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После упорядочения получим </a:t>
            </a:r>
            <a:endParaRPr/>
          </a:p>
          <a:p>
            <a:pPr indent="-373063" lvl="0" marL="373063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вариационный ряд (в порядке возрастания):    </a:t>
            </a:r>
            <a:r>
              <a:rPr b="1" i="1" lang="ru-RU" sz="2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1  1  3  3  6  7  7 7 8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36"/>
          <p:cNvSpPr/>
          <p:nvPr/>
        </p:nvSpPr>
        <p:spPr>
          <a:xfrm>
            <a:off x="962025" y="4427538"/>
            <a:ext cx="8569325" cy="792162"/>
          </a:xfrm>
          <a:prstGeom prst="rect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7450" lIns="94900" spcFirstLastPara="1" rIns="94900" wrap="square" tIns="47450">
            <a:noAutofit/>
          </a:bodyPr>
          <a:lstStyle/>
          <a:p>
            <a:pPr indent="-373063" lvl="0" marL="37306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Ранжированный операционный ряд: </a:t>
            </a:r>
            <a:endParaRPr/>
          </a:p>
          <a:p>
            <a:pPr indent="-373063" lvl="0" marL="373063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Индексы:</a:t>
            </a:r>
            <a:endParaRPr/>
          </a:p>
        </p:txBody>
      </p:sp>
      <p:sp>
        <p:nvSpPr>
          <p:cNvPr id="617" name="Google Shape;617;p36"/>
          <p:cNvSpPr/>
          <p:nvPr/>
        </p:nvSpPr>
        <p:spPr>
          <a:xfrm>
            <a:off x="6146800" y="4498975"/>
            <a:ext cx="324008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381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1   1   3   3   6   7   7   7   8</a:t>
            </a:r>
            <a:endParaRPr/>
          </a:p>
          <a:p>
            <a:pPr indent="-381000" lvl="0" marL="381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1      2     3     4     5     6     7      8     9</a:t>
            </a:r>
            <a:endParaRPr/>
          </a:p>
        </p:txBody>
      </p:sp>
      <p:sp>
        <p:nvSpPr>
          <p:cNvPr id="618" name="Google Shape;618;p36"/>
          <p:cNvSpPr/>
          <p:nvPr/>
        </p:nvSpPr>
        <p:spPr>
          <a:xfrm>
            <a:off x="962025" y="5291138"/>
            <a:ext cx="8569325" cy="406400"/>
          </a:xfrm>
          <a:prstGeom prst="rect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Ранги:    			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</a:t>
            </a:r>
            <a:r>
              <a:rPr b="1"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1.5 1.5  3.5 3.5  5    7    7    7     9</a:t>
            </a:r>
            <a:endParaRPr/>
          </a:p>
        </p:txBody>
      </p:sp>
      <p:sp>
        <p:nvSpPr>
          <p:cNvPr id="619" name="Google Shape;619;p36"/>
          <p:cNvSpPr txBox="1"/>
          <p:nvPr/>
        </p:nvSpPr>
        <p:spPr>
          <a:xfrm>
            <a:off x="962025" y="5795963"/>
            <a:ext cx="8569325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Если несколько соседних элементов равны, при ранжировании им присваивается одинаковый ранг, равный среднему арифметическому первоначальных рангов (индексов).</a:t>
            </a:r>
            <a:endParaRPr/>
          </a:p>
        </p:txBody>
      </p:sp>
      <p:sp>
        <p:nvSpPr>
          <p:cNvPr id="620" name="Google Shape;620;p36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7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7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37"/>
          <p:cNvSpPr/>
          <p:nvPr/>
        </p:nvSpPr>
        <p:spPr>
          <a:xfrm>
            <a:off x="387350" y="1474788"/>
            <a:ext cx="9431338" cy="5303837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37"/>
          <p:cNvSpPr txBox="1"/>
          <p:nvPr>
            <p:ph type="title"/>
          </p:nvPr>
        </p:nvSpPr>
        <p:spPr>
          <a:xfrm>
            <a:off x="1035050" y="395288"/>
            <a:ext cx="82804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 sz="4000"/>
              <a:t>Пример вычисления медианы</a:t>
            </a:r>
            <a:endParaRPr/>
          </a:p>
        </p:txBody>
      </p:sp>
      <p:sp>
        <p:nvSpPr>
          <p:cNvPr id="629" name="Google Shape;629;p37"/>
          <p:cNvSpPr txBox="1"/>
          <p:nvPr>
            <p:ph idx="1" type="body"/>
          </p:nvPr>
        </p:nvSpPr>
        <p:spPr>
          <a:xfrm>
            <a:off x="1250305" y="1762944"/>
            <a:ext cx="7992120" cy="4703021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ru-RU" sz="2100"/>
              <a:t>Для набора данных из семи чисел:</a:t>
            </a:r>
            <a:endParaRPr/>
          </a:p>
          <a:p>
            <a:pPr indent="-356307" lvl="0" marL="356307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lang="ru-RU" sz="2100"/>
              <a:t>          				</a:t>
            </a:r>
            <a:r>
              <a:rPr b="1" lang="ru-RU" sz="2100">
                <a:solidFill>
                  <a:schemeClr val="hlink"/>
                </a:solidFill>
              </a:rPr>
              <a:t>6  1  3  7  1  7  3</a:t>
            </a:r>
            <a:r>
              <a:rPr lang="ru-RU" sz="2100"/>
              <a:t> </a:t>
            </a:r>
            <a:endParaRPr/>
          </a:p>
          <a:p>
            <a:pPr indent="-356307" lvl="0" marL="356307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lang="ru-RU" sz="2100"/>
              <a:t>После упорядочения получим вариационный ряд:</a:t>
            </a:r>
            <a:endParaRPr/>
          </a:p>
          <a:p>
            <a:pPr indent="-356307" lvl="0" marL="356307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lang="ru-RU" sz="2100"/>
              <a:t>            				</a:t>
            </a:r>
            <a:r>
              <a:rPr b="1" lang="ru-RU" sz="2100">
                <a:solidFill>
                  <a:schemeClr val="hlink"/>
                </a:solidFill>
              </a:rPr>
              <a:t>1  1  3  3  6  7  7</a:t>
            </a:r>
            <a:endParaRPr/>
          </a:p>
          <a:p>
            <a:pPr indent="-356307" lvl="0" marL="356307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lang="ru-RU" sz="2100"/>
              <a:t>Медиана есть средний элемент =3. Его номер четвертый.</a:t>
            </a:r>
            <a:endParaRPr/>
          </a:p>
          <a:p>
            <a:pPr indent="-222957" lvl="0" marL="356307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2100"/>
          </a:p>
          <a:p>
            <a:pPr indent="-356307" lvl="0" marL="356307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ru-RU" sz="2100"/>
              <a:t>Если набор данных включает восемь чисел:</a:t>
            </a:r>
            <a:endParaRPr/>
          </a:p>
          <a:p>
            <a:pPr indent="-356307" lvl="0" marL="356307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t/>
            </a:r>
            <a:endParaRPr sz="2100"/>
          </a:p>
          <a:p>
            <a:pPr indent="-356307" lvl="0" marL="356307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lang="ru-RU" sz="2100"/>
              <a:t>     				</a:t>
            </a:r>
            <a:r>
              <a:rPr b="1" lang="ru-RU" sz="2100">
                <a:solidFill>
                  <a:schemeClr val="hlink"/>
                </a:solidFill>
              </a:rPr>
              <a:t>1  1  3  3  6  7  7  9</a:t>
            </a:r>
            <a:endParaRPr/>
          </a:p>
          <a:p>
            <a:pPr indent="-356307" lvl="0" marL="356307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t/>
            </a:r>
            <a:endParaRPr b="1" sz="2100">
              <a:solidFill>
                <a:schemeClr val="hlink"/>
              </a:solidFill>
            </a:endParaRPr>
          </a:p>
          <a:p>
            <a:pPr indent="-356307" lvl="0" marL="356307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ru-RU" sz="2100"/>
              <a:t>Тогда медиана равна (3+6)/2=4,5</a:t>
            </a:r>
            <a:endParaRPr/>
          </a:p>
          <a:p>
            <a:pPr indent="-356307" lvl="0" marL="356307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t/>
            </a:r>
            <a:endParaRPr sz="2100"/>
          </a:p>
        </p:txBody>
      </p:sp>
      <p:sp>
        <p:nvSpPr>
          <p:cNvPr id="630" name="Google Shape;630;p37"/>
          <p:cNvSpPr/>
          <p:nvPr/>
        </p:nvSpPr>
        <p:spPr>
          <a:xfrm>
            <a:off x="5853701" y="2914873"/>
            <a:ext cx="221140" cy="432247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37"/>
          <p:cNvSpPr/>
          <p:nvPr/>
        </p:nvSpPr>
        <p:spPr>
          <a:xfrm>
            <a:off x="4850705" y="4715272"/>
            <a:ext cx="581584" cy="6477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37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8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38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38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38"/>
          <p:cNvSpPr txBox="1"/>
          <p:nvPr>
            <p:ph type="title"/>
          </p:nvPr>
        </p:nvSpPr>
        <p:spPr>
          <a:xfrm>
            <a:off x="513874" y="285382"/>
            <a:ext cx="9249728" cy="1187715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4400"/>
              <a:t>Свойства медианы</a:t>
            </a:r>
            <a:endParaRPr/>
          </a:p>
        </p:txBody>
      </p:sp>
      <p:sp>
        <p:nvSpPr>
          <p:cNvPr id="641" name="Google Shape;641;p38"/>
          <p:cNvSpPr txBox="1"/>
          <p:nvPr>
            <p:ph idx="1" type="body"/>
          </p:nvPr>
        </p:nvSpPr>
        <p:spPr>
          <a:xfrm>
            <a:off x="478631" y="1473097"/>
            <a:ext cx="9248775" cy="4492625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Сильно отличающиеся от остальных данных крайние значения не влияют на величину медианы. </a:t>
            </a:r>
            <a:endParaRPr/>
          </a:p>
          <a:p>
            <a:pPr indent="-2039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563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Значение медианы является единственным для каждого набора данных.</a:t>
            </a:r>
            <a:endParaRPr/>
          </a:p>
          <a:p>
            <a:pPr indent="-2039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563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Медиана может быть определена не из полного набора данных. Достаточно знать их расположение, общее число и несколько значений, расположенных в середине вариационного ряда.</a:t>
            </a:r>
            <a:endParaRPr/>
          </a:p>
          <a:p>
            <a:pPr indent="-2039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563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Медиана может быть определена для числовых и порядковых данных. </a:t>
            </a:r>
            <a:endParaRPr/>
          </a:p>
        </p:txBody>
      </p:sp>
      <p:sp>
        <p:nvSpPr>
          <p:cNvPr id="642" name="Google Shape;642;p38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9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39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39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39"/>
          <p:cNvSpPr txBox="1"/>
          <p:nvPr>
            <p:ph type="title"/>
          </p:nvPr>
        </p:nvSpPr>
        <p:spPr>
          <a:xfrm>
            <a:off x="1138238" y="501650"/>
            <a:ext cx="7643812" cy="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 sz="3600">
                <a:solidFill>
                  <a:schemeClr val="dk1"/>
                </a:solidFill>
              </a:rPr>
              <a:t>Среднее</a:t>
            </a:r>
            <a:endParaRPr sz="3600"/>
          </a:p>
        </p:txBody>
      </p:sp>
      <p:sp>
        <p:nvSpPr>
          <p:cNvPr id="652" name="Google Shape;652;p39"/>
          <p:cNvSpPr txBox="1"/>
          <p:nvPr>
            <p:ph idx="1" type="body"/>
          </p:nvPr>
        </p:nvSpPr>
        <p:spPr>
          <a:xfrm>
            <a:off x="601663" y="2195513"/>
            <a:ext cx="9072562" cy="29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ru-RU" sz="2400"/>
              <a:t>Среднее (выборочное среднее, среднее арифметическое) - определяется как сумма всех </a:t>
            </a:r>
            <a:r>
              <a:rPr lang="ru-RU" sz="2400"/>
              <a:t>значений измеренного признака, деленная на количество суммированных значений.</a:t>
            </a:r>
            <a:endParaRPr/>
          </a:p>
          <a:p>
            <a:pPr indent="-3563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Среднее множества данных предполагает в основном арифметические операции. На величину среднего влияют значения всех результатов.</a:t>
            </a:r>
            <a:endParaRPr/>
          </a:p>
        </p:txBody>
      </p:sp>
      <p:sp>
        <p:nvSpPr>
          <p:cNvPr id="653" name="Google Shape;653;p39"/>
          <p:cNvSpPr/>
          <p:nvPr/>
        </p:nvSpPr>
        <p:spPr>
          <a:xfrm>
            <a:off x="3733800" y="0"/>
            <a:ext cx="3262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Дескриптивный анализ</a:t>
            </a:r>
            <a:endParaRPr/>
          </a:p>
        </p:txBody>
      </p:sp>
      <p:sp>
        <p:nvSpPr>
          <p:cNvPr id="654" name="Google Shape;654;p39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0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40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40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40"/>
          <p:cNvSpPr txBox="1"/>
          <p:nvPr>
            <p:ph idx="4294967295" type="title"/>
          </p:nvPr>
        </p:nvSpPr>
        <p:spPr>
          <a:xfrm>
            <a:off x="2663031" y="442119"/>
            <a:ext cx="4879975" cy="9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700" lIns="99425" spcFirstLastPara="1" rIns="99425" wrap="square" tIns="49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 sz="3600">
                <a:solidFill>
                  <a:schemeClr val="dk1"/>
                </a:solidFill>
              </a:rPr>
              <a:t>Среднее</a:t>
            </a:r>
            <a:endParaRPr sz="3600"/>
          </a:p>
        </p:txBody>
      </p:sp>
      <p:sp>
        <p:nvSpPr>
          <p:cNvPr id="664" name="Google Shape;664;p40"/>
          <p:cNvSpPr txBox="1"/>
          <p:nvPr>
            <p:ph idx="4294967295" type="body"/>
          </p:nvPr>
        </p:nvSpPr>
        <p:spPr>
          <a:xfrm>
            <a:off x="938213" y="1847850"/>
            <a:ext cx="9339262" cy="4716463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rm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ru-RU" sz="2700"/>
              <a:t>Среднее для выборки из семи значений:</a:t>
            </a:r>
            <a:endParaRPr/>
          </a:p>
          <a:p>
            <a:pPr indent="-356307" lvl="0" marL="356307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ru-RU" sz="2700"/>
              <a:t>			           </a:t>
            </a:r>
            <a:endParaRPr/>
          </a:p>
          <a:p>
            <a:pPr indent="-356307" lvl="0" marL="356307" rtl="0" algn="ctr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ru-RU" sz="2700"/>
              <a:t> </a:t>
            </a:r>
            <a:r>
              <a:rPr b="1" i="1" lang="ru-RU" sz="2700">
                <a:solidFill>
                  <a:schemeClr val="hlink"/>
                </a:solidFill>
              </a:rPr>
              <a:t>1  1  3  3  6  7  7 </a:t>
            </a:r>
            <a:endParaRPr b="1" i="1" sz="2400">
              <a:solidFill>
                <a:schemeClr val="hlink"/>
              </a:solidFill>
            </a:endParaRPr>
          </a:p>
        </p:txBody>
      </p:sp>
      <p:sp>
        <p:nvSpPr>
          <p:cNvPr id="665" name="Google Shape;665;p40"/>
          <p:cNvSpPr/>
          <p:nvPr/>
        </p:nvSpPr>
        <p:spPr>
          <a:xfrm>
            <a:off x="3733800" y="0"/>
            <a:ext cx="3262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Дескриптивный анализ</a:t>
            </a:r>
            <a:endParaRPr/>
          </a:p>
        </p:txBody>
      </p:sp>
      <p:pic>
        <p:nvPicPr>
          <p:cNvPr id="666" name="Google Shape;66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125" y="4140076"/>
            <a:ext cx="1227138" cy="939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7" name="Google Shape;667;p40"/>
          <p:cNvGrpSpPr/>
          <p:nvPr/>
        </p:nvGrpSpPr>
        <p:grpSpPr>
          <a:xfrm>
            <a:off x="2474913" y="3563813"/>
            <a:ext cx="5832475" cy="2087563"/>
            <a:chOff x="988" y="2251"/>
            <a:chExt cx="3674" cy="1315"/>
          </a:xfrm>
        </p:grpSpPr>
        <p:sp>
          <p:nvSpPr>
            <p:cNvPr id="668" name="Google Shape;668;p40"/>
            <p:cNvSpPr/>
            <p:nvPr/>
          </p:nvSpPr>
          <p:spPr>
            <a:xfrm>
              <a:off x="988" y="2251"/>
              <a:ext cx="3674" cy="1315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69" name="Google Shape;669;p40"/>
            <p:cNvCxnSpPr/>
            <p:nvPr/>
          </p:nvCxnSpPr>
          <p:spPr>
            <a:xfrm>
              <a:off x="1170" y="2976"/>
              <a:ext cx="3265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70" name="Google Shape;670;p40"/>
            <p:cNvSpPr txBox="1"/>
            <p:nvPr/>
          </p:nvSpPr>
          <p:spPr>
            <a:xfrm>
              <a:off x="1260" y="2959"/>
              <a:ext cx="302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0        1        2        3        4        5       6        7        8</a:t>
              </a:r>
              <a:endParaRPr/>
            </a:p>
          </p:txBody>
        </p:sp>
        <p:sp>
          <p:nvSpPr>
            <p:cNvPr id="671" name="Google Shape;671;p40"/>
            <p:cNvSpPr/>
            <p:nvPr/>
          </p:nvSpPr>
          <p:spPr>
            <a:xfrm>
              <a:off x="1623" y="2659"/>
              <a:ext cx="182" cy="181"/>
            </a:xfrm>
            <a:prstGeom prst="can">
              <a:avLst>
                <a:gd fmla="val 25000" name="adj"/>
              </a:avLst>
            </a:prstGeom>
            <a:solidFill>
              <a:srgbClr val="F3D957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107763">
                <a:schemeClr val="lt2">
                  <a:alpha val="49803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40"/>
            <p:cNvSpPr/>
            <p:nvPr/>
          </p:nvSpPr>
          <p:spPr>
            <a:xfrm>
              <a:off x="1623" y="2433"/>
              <a:ext cx="182" cy="181"/>
            </a:xfrm>
            <a:prstGeom prst="can">
              <a:avLst>
                <a:gd fmla="val 25000" name="adj"/>
              </a:avLst>
            </a:prstGeom>
            <a:solidFill>
              <a:srgbClr val="F3D957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107763">
                <a:schemeClr val="lt2">
                  <a:alpha val="49803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40"/>
            <p:cNvSpPr/>
            <p:nvPr/>
          </p:nvSpPr>
          <p:spPr>
            <a:xfrm>
              <a:off x="2348" y="2659"/>
              <a:ext cx="182" cy="181"/>
            </a:xfrm>
            <a:prstGeom prst="can">
              <a:avLst>
                <a:gd fmla="val 25000" name="adj"/>
              </a:avLst>
            </a:prstGeom>
            <a:solidFill>
              <a:srgbClr val="F3D957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107763">
                <a:schemeClr val="lt2">
                  <a:alpha val="49803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40"/>
            <p:cNvSpPr/>
            <p:nvPr/>
          </p:nvSpPr>
          <p:spPr>
            <a:xfrm>
              <a:off x="2348" y="2433"/>
              <a:ext cx="182" cy="181"/>
            </a:xfrm>
            <a:prstGeom prst="can">
              <a:avLst>
                <a:gd fmla="val 25000" name="adj"/>
              </a:avLst>
            </a:prstGeom>
            <a:solidFill>
              <a:srgbClr val="F3D957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107763">
                <a:schemeClr val="lt2">
                  <a:alpha val="49803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40"/>
            <p:cNvSpPr/>
            <p:nvPr/>
          </p:nvSpPr>
          <p:spPr>
            <a:xfrm>
              <a:off x="3392" y="2659"/>
              <a:ext cx="182" cy="181"/>
            </a:xfrm>
            <a:prstGeom prst="can">
              <a:avLst>
                <a:gd fmla="val 25000" name="adj"/>
              </a:avLst>
            </a:prstGeom>
            <a:solidFill>
              <a:srgbClr val="F3D957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107763">
                <a:schemeClr val="lt2">
                  <a:alpha val="49803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40"/>
            <p:cNvSpPr/>
            <p:nvPr/>
          </p:nvSpPr>
          <p:spPr>
            <a:xfrm>
              <a:off x="3754" y="2659"/>
              <a:ext cx="182" cy="181"/>
            </a:xfrm>
            <a:prstGeom prst="can">
              <a:avLst>
                <a:gd fmla="val 25000" name="adj"/>
              </a:avLst>
            </a:prstGeom>
            <a:solidFill>
              <a:srgbClr val="F3D957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107763">
                <a:schemeClr val="lt2">
                  <a:alpha val="49803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40"/>
            <p:cNvSpPr/>
            <p:nvPr/>
          </p:nvSpPr>
          <p:spPr>
            <a:xfrm>
              <a:off x="3754" y="2433"/>
              <a:ext cx="182" cy="181"/>
            </a:xfrm>
            <a:prstGeom prst="can">
              <a:avLst>
                <a:gd fmla="val 25000" name="adj"/>
              </a:avLst>
            </a:prstGeom>
            <a:solidFill>
              <a:srgbClr val="F3D957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107763">
                <a:schemeClr val="lt2">
                  <a:alpha val="49803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40"/>
            <p:cNvSpPr/>
            <p:nvPr/>
          </p:nvSpPr>
          <p:spPr>
            <a:xfrm>
              <a:off x="2711" y="3158"/>
              <a:ext cx="182" cy="318"/>
            </a:xfrm>
            <a:prstGeom prst="triangle">
              <a:avLst>
                <a:gd fmla="val 50000" name="adj"/>
              </a:avLst>
            </a:prstGeom>
            <a:solidFill>
              <a:srgbClr val="99CC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rotWithShape="0" algn="ctr" dir="2700000" dist="107763">
                <a:schemeClr val="lt2">
                  <a:alpha val="49803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9" name="Google Shape;679;p40"/>
            <p:cNvCxnSpPr/>
            <p:nvPr/>
          </p:nvCxnSpPr>
          <p:spPr>
            <a:xfrm>
              <a:off x="1351" y="2886"/>
              <a:ext cx="0" cy="9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0" name="Google Shape;680;p40"/>
            <p:cNvCxnSpPr/>
            <p:nvPr/>
          </p:nvCxnSpPr>
          <p:spPr>
            <a:xfrm>
              <a:off x="1714" y="2886"/>
              <a:ext cx="0" cy="9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1" name="Google Shape;681;p40"/>
            <p:cNvCxnSpPr/>
            <p:nvPr/>
          </p:nvCxnSpPr>
          <p:spPr>
            <a:xfrm>
              <a:off x="2077" y="2886"/>
              <a:ext cx="0" cy="9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2" name="Google Shape;682;p40"/>
            <p:cNvCxnSpPr/>
            <p:nvPr/>
          </p:nvCxnSpPr>
          <p:spPr>
            <a:xfrm>
              <a:off x="2440" y="2886"/>
              <a:ext cx="0" cy="9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3" name="Google Shape;683;p40"/>
            <p:cNvCxnSpPr/>
            <p:nvPr/>
          </p:nvCxnSpPr>
          <p:spPr>
            <a:xfrm>
              <a:off x="2802" y="2886"/>
              <a:ext cx="0" cy="9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4" name="Google Shape;684;p40"/>
            <p:cNvCxnSpPr/>
            <p:nvPr/>
          </p:nvCxnSpPr>
          <p:spPr>
            <a:xfrm>
              <a:off x="3165" y="2886"/>
              <a:ext cx="0" cy="9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5" name="Google Shape;685;p40"/>
            <p:cNvCxnSpPr/>
            <p:nvPr/>
          </p:nvCxnSpPr>
          <p:spPr>
            <a:xfrm>
              <a:off x="3483" y="2886"/>
              <a:ext cx="0" cy="9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6" name="Google Shape;686;p40"/>
            <p:cNvCxnSpPr/>
            <p:nvPr/>
          </p:nvCxnSpPr>
          <p:spPr>
            <a:xfrm>
              <a:off x="3846" y="2886"/>
              <a:ext cx="0" cy="9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7" name="Google Shape;687;p40"/>
            <p:cNvCxnSpPr/>
            <p:nvPr/>
          </p:nvCxnSpPr>
          <p:spPr>
            <a:xfrm>
              <a:off x="4209" y="2886"/>
              <a:ext cx="0" cy="9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88" name="Google Shape;688;p40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41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41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41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41"/>
          <p:cNvSpPr txBox="1"/>
          <p:nvPr>
            <p:ph type="title"/>
          </p:nvPr>
        </p:nvSpPr>
        <p:spPr>
          <a:xfrm>
            <a:off x="585589" y="405606"/>
            <a:ext cx="8656836" cy="973138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 sz="3600"/>
              <a:t>Среднее - еще не значит «лучшее»</a:t>
            </a:r>
            <a:endParaRPr/>
          </a:p>
        </p:txBody>
      </p:sp>
      <p:sp>
        <p:nvSpPr>
          <p:cNvPr id="697" name="Google Shape;697;p41"/>
          <p:cNvSpPr txBox="1"/>
          <p:nvPr>
            <p:ph idx="1" type="body"/>
          </p:nvPr>
        </p:nvSpPr>
        <p:spPr>
          <a:xfrm>
            <a:off x="478631" y="1515052"/>
            <a:ext cx="9248775" cy="4703763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ru-RU" sz="2400"/>
              <a:t>Пример</a:t>
            </a:r>
            <a:r>
              <a:rPr lang="ru-RU" sz="2400"/>
              <a:t>. В деревне 50 жителей. Среди них 49 человек – крестьяне с месячным доходом в 1 тыс.рублей, а один житель – зажиточный владелец строительной фирмы, с месячным доходом 451 тыс.рублей.</a:t>
            </a:r>
            <a:endParaRPr/>
          </a:p>
          <a:p>
            <a:pPr indent="-2039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563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Среднее равно 10 тыс. рублей. Однако, вряд ли можно утверждать, что это число адекватно представляет доход жителей деревни. </a:t>
            </a:r>
            <a:endParaRPr/>
          </a:p>
          <a:p>
            <a:pPr indent="-2039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563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В этом случае, более разумно взять в качестве меры центральной тенденции моду или медиану (обе равны 1 тыс. рублей). </a:t>
            </a:r>
            <a:endParaRPr/>
          </a:p>
          <a:p>
            <a:pPr indent="-2039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698" name="Google Shape;698;p41"/>
          <p:cNvSpPr/>
          <p:nvPr/>
        </p:nvSpPr>
        <p:spPr>
          <a:xfrm>
            <a:off x="0" y="0"/>
            <a:ext cx="10277475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41"/>
          <p:cNvSpPr/>
          <p:nvPr/>
        </p:nvSpPr>
        <p:spPr>
          <a:xfrm flipH="1" rot="10800000">
            <a:off x="0" y="3263900"/>
            <a:ext cx="10277475" cy="160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1"/>
          <p:cNvSpPr/>
          <p:nvPr/>
        </p:nvSpPr>
        <p:spPr>
          <a:xfrm>
            <a:off x="0" y="0"/>
            <a:ext cx="10277475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41"/>
          <p:cNvSpPr/>
          <p:nvPr/>
        </p:nvSpPr>
        <p:spPr>
          <a:xfrm>
            <a:off x="3733800" y="0"/>
            <a:ext cx="3262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Дескриптивный анализ</a:t>
            </a:r>
            <a:endParaRPr/>
          </a:p>
        </p:txBody>
      </p:sp>
      <p:sp>
        <p:nvSpPr>
          <p:cNvPr id="702" name="Google Shape;702;p41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2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42"/>
          <p:cNvSpPr/>
          <p:nvPr/>
        </p:nvSpPr>
        <p:spPr>
          <a:xfrm>
            <a:off x="702788" y="402431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42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42"/>
          <p:cNvSpPr txBox="1"/>
          <p:nvPr>
            <p:ph type="title"/>
          </p:nvPr>
        </p:nvSpPr>
        <p:spPr>
          <a:xfrm>
            <a:off x="702788" y="414285"/>
            <a:ext cx="8656836" cy="973138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 sz="3600"/>
              <a:t>Свойства среднего</a:t>
            </a:r>
            <a:endParaRPr/>
          </a:p>
        </p:txBody>
      </p:sp>
      <p:sp>
        <p:nvSpPr>
          <p:cNvPr id="711" name="Google Shape;711;p42"/>
          <p:cNvSpPr/>
          <p:nvPr/>
        </p:nvSpPr>
        <p:spPr>
          <a:xfrm>
            <a:off x="3329048" y="39483"/>
            <a:ext cx="36193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Дескриптивный анализ</a:t>
            </a:r>
            <a:endParaRPr/>
          </a:p>
        </p:txBody>
      </p:sp>
      <p:sp>
        <p:nvSpPr>
          <p:cNvPr id="712" name="Google Shape;712;p42"/>
          <p:cNvSpPr/>
          <p:nvPr/>
        </p:nvSpPr>
        <p:spPr>
          <a:xfrm>
            <a:off x="611612" y="1826367"/>
            <a:ext cx="6993904" cy="4185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Сумма отклонений </a:t>
            </a:r>
            <a:r>
              <a:rPr b="0" i="1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вариант</a:t>
            </a: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от средней равна нулю: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Если все значения </a:t>
            </a:r>
            <a:r>
              <a:rPr b="0" i="1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варианты</a:t>
            </a: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увеличиваются или уменьшаются на величину А, то и средняя величина увеличивается или уменьшается на ту же величину А: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Если каждую </a:t>
            </a:r>
            <a:r>
              <a:rPr b="0" i="1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варианту</a:t>
            </a: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увеличить или уменьшить в В раз, то  средняя величина также  увеличится или уменьшатся в то же количество раз: </a:t>
            </a:r>
            <a:r>
              <a:rPr b="0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Сумма произведений </a:t>
            </a:r>
            <a:r>
              <a:rPr b="0" i="1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вариант</a:t>
            </a: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на частоты равна произведению средней величины на сумму частот:</a:t>
            </a:r>
            <a:b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</p:txBody>
      </p:sp>
      <p:pic>
        <p:nvPicPr>
          <p:cNvPr descr="http://life-prog.ru/Statictica/Untitled-7_clip_image086.gif" id="713" name="Google Shape;71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4190" y="1797541"/>
            <a:ext cx="1605358" cy="397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life-prog.ru/Statictica/Untitled-7_clip_image088.gif" id="714" name="Google Shape;71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6709" y="2590218"/>
            <a:ext cx="2619682" cy="698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life-prog.ru/Statictica/Untitled-7_clip_image090.gif" id="715" name="Google Shape;715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64974" y="4113963"/>
            <a:ext cx="1694650" cy="7687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life-prog.ru/Statictica/Untitled-7_clip_image092.gif" id="716" name="Google Shape;716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05516" y="3578156"/>
            <a:ext cx="2096292" cy="3770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life-prog.ru/Statictica/Untitled-7_clip_image094.gif" id="717" name="Google Shape;717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05516" y="5117675"/>
            <a:ext cx="1971154" cy="515816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42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43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43"/>
          <p:cNvSpPr/>
          <p:nvPr/>
        </p:nvSpPr>
        <p:spPr>
          <a:xfrm>
            <a:off x="702788" y="402431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43"/>
          <p:cNvSpPr/>
          <p:nvPr/>
        </p:nvSpPr>
        <p:spPr>
          <a:xfrm>
            <a:off x="387350" y="1678955"/>
            <a:ext cx="9431338" cy="509967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43"/>
          <p:cNvSpPr txBox="1"/>
          <p:nvPr>
            <p:ph type="title"/>
          </p:nvPr>
        </p:nvSpPr>
        <p:spPr>
          <a:xfrm>
            <a:off x="702788" y="414285"/>
            <a:ext cx="8656836" cy="973138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 sz="3600"/>
              <a:t>Свойства среднего</a:t>
            </a:r>
            <a:endParaRPr/>
          </a:p>
        </p:txBody>
      </p:sp>
      <p:sp>
        <p:nvSpPr>
          <p:cNvPr id="727" name="Google Shape;727;p43"/>
          <p:cNvSpPr/>
          <p:nvPr/>
        </p:nvSpPr>
        <p:spPr>
          <a:xfrm>
            <a:off x="3507580" y="30731"/>
            <a:ext cx="3262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Дескриптивный анализ</a:t>
            </a:r>
            <a:endParaRPr/>
          </a:p>
        </p:txBody>
      </p:sp>
      <p:sp>
        <p:nvSpPr>
          <p:cNvPr id="728" name="Google Shape;728;p43"/>
          <p:cNvSpPr/>
          <p:nvPr/>
        </p:nvSpPr>
        <p:spPr>
          <a:xfrm>
            <a:off x="669603" y="1714158"/>
            <a:ext cx="6325329" cy="4801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Средняя арифметическая взвешенная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Если все частоты разделить или умножить на какое-либо число, то средняя арифметическая не изменится: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7. 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Е</a:t>
            </a: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сли во всех интервалах частоты равны друг другу, то средняя арифметическая взвешенная равна простой средней арифметической:</a:t>
            </a:r>
            <a:b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где k – количество групп вариационного ряда.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 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Сумма отклонений отдельных </a:t>
            </a:r>
            <a:r>
              <a:rPr i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вариант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от средней арифметической всегда равняется нулю.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 Сумма квадратов отклонений индивидуальных значений признака от средней арифметической меньше, чем от любого другого числа (А), т.е. есть число минимальное, где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life-prog.ru/Statictica/Untitled-7_clip_image096.gif" id="729" name="Google Shape;72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3931" y="3480318"/>
            <a:ext cx="2083849" cy="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3931" y="1519430"/>
            <a:ext cx="2757334" cy="751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5031" y="2413130"/>
            <a:ext cx="2271910" cy="775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32" name="Google Shape;732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75031" y="4545330"/>
            <a:ext cx="2324227" cy="574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3" name="Google Shape;733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75031" y="5356862"/>
            <a:ext cx="2495461" cy="61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11558" y="6125803"/>
            <a:ext cx="987011" cy="30039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43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4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44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44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44"/>
          <p:cNvSpPr txBox="1"/>
          <p:nvPr>
            <p:ph idx="4294967295" type="body"/>
          </p:nvPr>
        </p:nvSpPr>
        <p:spPr>
          <a:xfrm>
            <a:off x="972344" y="1557336"/>
            <a:ext cx="8304212" cy="4716463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no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Для </a:t>
            </a:r>
            <a:r>
              <a:rPr b="1" i="1" lang="ru-RU" sz="2400"/>
              <a:t>номинальных данных,  </a:t>
            </a:r>
            <a:r>
              <a:rPr lang="ru-RU" sz="2400"/>
              <a:t>единственной подходящей мерой центральной тенденции является </a:t>
            </a:r>
            <a:r>
              <a:rPr b="1" lang="ru-RU" sz="2400"/>
              <a:t>мода</a:t>
            </a:r>
            <a:r>
              <a:rPr lang="ru-RU" sz="2400"/>
              <a:t>, или модальная категория - та градация номинальной переменной, которая встречается наиболее часто.</a:t>
            </a:r>
            <a:endParaRPr/>
          </a:p>
          <a:p>
            <a:pPr indent="-3563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Для </a:t>
            </a:r>
            <a:r>
              <a:rPr b="1" i="1" lang="ru-RU" sz="2400"/>
              <a:t>порядковых и метрических переменных, </a:t>
            </a:r>
            <a:r>
              <a:rPr lang="ru-RU" sz="2400"/>
              <a:t>распределение которых унимодальное и симметричное, </a:t>
            </a:r>
            <a:r>
              <a:rPr b="1" lang="ru-RU" sz="2400"/>
              <a:t>мода, медиана и среднее совпадают</a:t>
            </a:r>
            <a:r>
              <a:rPr lang="ru-RU" sz="2400"/>
              <a:t>. </a:t>
            </a:r>
            <a:endParaRPr/>
          </a:p>
          <a:p>
            <a:pPr indent="-3563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ru-RU" sz="2400"/>
              <a:t>Чем больше отклонение от симметричности, тем больше расхождение между значениями этих мер центральной тенденции.  По этому расхождению можно судить о том, насколько симметрично или асимметрично распределение.</a:t>
            </a:r>
            <a:endParaRPr/>
          </a:p>
        </p:txBody>
      </p:sp>
      <p:sp>
        <p:nvSpPr>
          <p:cNvPr id="745" name="Google Shape;745;p44"/>
          <p:cNvSpPr/>
          <p:nvPr/>
        </p:nvSpPr>
        <p:spPr>
          <a:xfrm>
            <a:off x="3733800" y="0"/>
            <a:ext cx="3262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Дескриптивный анализ</a:t>
            </a:r>
            <a:endParaRPr/>
          </a:p>
        </p:txBody>
      </p:sp>
      <p:sp>
        <p:nvSpPr>
          <p:cNvPr id="746" name="Google Shape;746;p44"/>
          <p:cNvSpPr/>
          <p:nvPr/>
        </p:nvSpPr>
        <p:spPr>
          <a:xfrm>
            <a:off x="1106488" y="285750"/>
            <a:ext cx="78486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Три меры и тип шкалы  </a:t>
            </a:r>
            <a:endParaRPr/>
          </a:p>
        </p:txBody>
      </p:sp>
      <p:sp>
        <p:nvSpPr>
          <p:cNvPr id="747" name="Google Shape;747;p44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45"/>
          <p:cNvSpPr/>
          <p:nvPr/>
        </p:nvSpPr>
        <p:spPr>
          <a:xfrm>
            <a:off x="485775" y="551185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45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45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45"/>
          <p:cNvSpPr txBox="1"/>
          <p:nvPr>
            <p:ph type="title"/>
          </p:nvPr>
        </p:nvSpPr>
        <p:spPr>
          <a:xfrm>
            <a:off x="1106488" y="285750"/>
            <a:ext cx="78486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 sz="4000"/>
              <a:t>Три меры и тип шкалы  </a:t>
            </a:r>
            <a:endParaRPr/>
          </a:p>
        </p:txBody>
      </p:sp>
      <p:sp>
        <p:nvSpPr>
          <p:cNvPr id="756" name="Google Shape;756;p45"/>
          <p:cNvSpPr txBox="1"/>
          <p:nvPr>
            <p:ph idx="1" type="body"/>
          </p:nvPr>
        </p:nvSpPr>
        <p:spPr>
          <a:xfrm>
            <a:off x="1061095" y="1490670"/>
            <a:ext cx="7920112" cy="7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Три меры центральной тенденции накладывают ограничения на тип шкалы,  в которой измеряется переменная. </a:t>
            </a:r>
            <a:endParaRPr/>
          </a:p>
        </p:txBody>
      </p:sp>
      <p:graphicFrame>
        <p:nvGraphicFramePr>
          <p:cNvPr id="757" name="Google Shape;757;p45"/>
          <p:cNvGraphicFramePr/>
          <p:nvPr/>
        </p:nvGraphicFramePr>
        <p:xfrm>
          <a:off x="1106488" y="30135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{51B91766-9E8F-4537-9BFA-EBA28B162279}</a:tableStyleId>
              </a:tblPr>
              <a:tblGrid>
                <a:gridCol w="2278050"/>
                <a:gridCol w="2036775"/>
                <a:gridCol w="1781175"/>
                <a:gridCol w="2120900"/>
              </a:tblGrid>
              <a:tr h="69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b="0" i="0" lang="ru-RU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Типическое значение</a:t>
                      </a:r>
                      <a:endParaRPr/>
                    </a:p>
                  </a:txBody>
                  <a:tcPr marT="47450" marB="47450" marR="94925" marL="94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b="0" i="0" lang="ru-RU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Номинальные данные</a:t>
                      </a:r>
                      <a:endParaRPr/>
                    </a:p>
                  </a:txBody>
                  <a:tcPr marT="47450" marB="47450" marR="94925" marL="94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b="0" i="0" lang="ru-RU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Порядковые данные</a:t>
                      </a:r>
                      <a:endParaRPr/>
                    </a:p>
                  </a:txBody>
                  <a:tcPr marT="47450" marB="47450" marR="94925" marL="94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b="0" i="0" lang="ru-RU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Интервальные данные</a:t>
                      </a:r>
                      <a:endParaRPr/>
                    </a:p>
                  </a:txBody>
                  <a:tcPr marT="47450" marB="47450" marR="94925" marL="94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Мода</a:t>
                      </a:r>
                      <a:endParaRPr/>
                    </a:p>
                  </a:txBody>
                  <a:tcPr marT="47450" marB="47450" marR="94925" marL="94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Calibri"/>
                        <a:buNone/>
                      </a:pPr>
                      <a:r>
                        <a:t/>
                      </a:r>
                      <a:endParaRPr b="0" i="0" sz="2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450" marB="47450" marR="94925" marL="94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Calibri"/>
                        <a:buNone/>
                      </a:pPr>
                      <a:r>
                        <a:t/>
                      </a:r>
                      <a:endParaRPr b="0" i="0" sz="2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450" marB="47450" marR="94925" marL="94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Calibri"/>
                        <a:buNone/>
                      </a:pPr>
                      <a:r>
                        <a:t/>
                      </a:r>
                      <a:endParaRPr b="0" i="0" sz="2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450" marB="47450" marR="94925" marL="94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69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Медиана</a:t>
                      </a:r>
                      <a:endParaRPr/>
                    </a:p>
                  </a:txBody>
                  <a:tcPr marT="47450" marB="47450" marR="94925" marL="94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Calibri"/>
                        <a:buNone/>
                      </a:pPr>
                      <a:r>
                        <a:t/>
                      </a:r>
                      <a:endParaRPr b="0" i="0" sz="2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450" marB="47450" marR="94925" marL="94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Calibri"/>
                        <a:buNone/>
                      </a:pPr>
                      <a:r>
                        <a:t/>
                      </a:r>
                      <a:endParaRPr b="0" i="0" sz="2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450" marB="47450" marR="94925" marL="94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Calibri"/>
                        <a:buNone/>
                      </a:pPr>
                      <a:r>
                        <a:t/>
                      </a:r>
                      <a:endParaRPr b="0" i="0" sz="2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450" marB="47450" marR="94925" marL="94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69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b="1" i="0" lang="ru-RU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Среднее</a:t>
                      </a:r>
                      <a:endParaRPr/>
                    </a:p>
                  </a:txBody>
                  <a:tcPr marT="47450" marB="47450" marR="94925" marL="94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Calibri"/>
                        <a:buNone/>
                      </a:pPr>
                      <a:r>
                        <a:t/>
                      </a:r>
                      <a:endParaRPr b="0" i="0" sz="2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450" marB="47450" marR="94925" marL="94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Calibri"/>
                        <a:buNone/>
                      </a:pPr>
                      <a:r>
                        <a:t/>
                      </a:r>
                      <a:endParaRPr b="0" i="0" sz="2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450" marB="47450" marR="94925" marL="94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Calibri"/>
                        <a:buNone/>
                      </a:pPr>
                      <a:r>
                        <a:t/>
                      </a:r>
                      <a:endParaRPr b="0" i="0" sz="2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450" marB="47450" marR="94925" marL="94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pSp>
        <p:nvGrpSpPr>
          <p:cNvPr id="758" name="Google Shape;758;p45"/>
          <p:cNvGrpSpPr/>
          <p:nvPr/>
        </p:nvGrpSpPr>
        <p:grpSpPr>
          <a:xfrm>
            <a:off x="4058622" y="3853395"/>
            <a:ext cx="3814767" cy="1944689"/>
            <a:chOff x="2530" y="2666"/>
            <a:chExt cx="2403" cy="1225"/>
          </a:xfrm>
        </p:grpSpPr>
        <p:sp>
          <p:nvSpPr>
            <p:cNvPr id="759" name="Google Shape;759;p45"/>
            <p:cNvSpPr/>
            <p:nvPr/>
          </p:nvSpPr>
          <p:spPr>
            <a:xfrm>
              <a:off x="2530" y="2666"/>
              <a:ext cx="283" cy="284"/>
            </a:xfrm>
            <a:prstGeom prst="ellipse">
              <a:avLst/>
            </a:prstGeom>
            <a:solidFill>
              <a:srgbClr val="FF33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45"/>
            <p:cNvSpPr/>
            <p:nvPr/>
          </p:nvSpPr>
          <p:spPr>
            <a:xfrm>
              <a:off x="3564" y="2666"/>
              <a:ext cx="284" cy="284"/>
            </a:xfrm>
            <a:prstGeom prst="ellipse">
              <a:avLst/>
            </a:prstGeom>
            <a:solidFill>
              <a:srgbClr val="FF33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45"/>
            <p:cNvSpPr/>
            <p:nvPr/>
          </p:nvSpPr>
          <p:spPr>
            <a:xfrm>
              <a:off x="4649" y="2666"/>
              <a:ext cx="283" cy="284"/>
            </a:xfrm>
            <a:prstGeom prst="ellipse">
              <a:avLst/>
            </a:prstGeom>
            <a:solidFill>
              <a:srgbClr val="FF33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45"/>
            <p:cNvSpPr/>
            <p:nvPr/>
          </p:nvSpPr>
          <p:spPr>
            <a:xfrm>
              <a:off x="3565" y="3137"/>
              <a:ext cx="284" cy="284"/>
            </a:xfrm>
            <a:prstGeom prst="ellipse">
              <a:avLst/>
            </a:prstGeom>
            <a:solidFill>
              <a:srgbClr val="FF33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45"/>
            <p:cNvSpPr/>
            <p:nvPr/>
          </p:nvSpPr>
          <p:spPr>
            <a:xfrm>
              <a:off x="4650" y="3137"/>
              <a:ext cx="283" cy="284"/>
            </a:xfrm>
            <a:prstGeom prst="ellipse">
              <a:avLst/>
            </a:prstGeom>
            <a:solidFill>
              <a:srgbClr val="FF33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45"/>
            <p:cNvSpPr/>
            <p:nvPr/>
          </p:nvSpPr>
          <p:spPr>
            <a:xfrm>
              <a:off x="4648" y="3608"/>
              <a:ext cx="283" cy="283"/>
            </a:xfrm>
            <a:prstGeom prst="ellipse">
              <a:avLst/>
            </a:prstGeom>
            <a:solidFill>
              <a:srgbClr val="FF33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5" name="Google Shape;765;p45"/>
          <p:cNvSpPr/>
          <p:nvPr/>
        </p:nvSpPr>
        <p:spPr>
          <a:xfrm>
            <a:off x="3733800" y="0"/>
            <a:ext cx="3262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Дескриптивный анализ</a:t>
            </a:r>
            <a:endParaRPr/>
          </a:p>
        </p:txBody>
      </p:sp>
      <p:sp>
        <p:nvSpPr>
          <p:cNvPr id="766" name="Google Shape;766;p45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46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46"/>
          <p:cNvSpPr/>
          <p:nvPr/>
        </p:nvSpPr>
        <p:spPr>
          <a:xfrm>
            <a:off x="890588" y="395288"/>
            <a:ext cx="8351837" cy="1150937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46"/>
          <p:cNvSpPr/>
          <p:nvPr/>
        </p:nvSpPr>
        <p:spPr>
          <a:xfrm>
            <a:off x="387064" y="1097976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46"/>
          <p:cNvSpPr txBox="1"/>
          <p:nvPr>
            <p:ph type="title"/>
          </p:nvPr>
        </p:nvSpPr>
        <p:spPr>
          <a:xfrm>
            <a:off x="1322313" y="285750"/>
            <a:ext cx="7560840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3600"/>
              <a:t>Какое типичное значение наилучшее?</a:t>
            </a:r>
            <a:endParaRPr/>
          </a:p>
        </p:txBody>
      </p:sp>
      <p:sp>
        <p:nvSpPr>
          <p:cNvPr id="775" name="Google Shape;775;p46"/>
          <p:cNvSpPr txBox="1"/>
          <p:nvPr>
            <p:ph idx="1" type="body"/>
          </p:nvPr>
        </p:nvSpPr>
        <p:spPr>
          <a:xfrm>
            <a:off x="674688" y="1979613"/>
            <a:ext cx="925195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-381000" lvl="0" marL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AutoNum type="arabicPeriod"/>
            </a:pPr>
            <a:r>
              <a:rPr lang="ru-RU" sz="2300"/>
              <a:t>«Наилучшее значение» - это такое, которое имеет наибольшую вероятность быть выбранным. 🡪 </a:t>
            </a:r>
            <a:r>
              <a:rPr b="1" lang="ru-RU" sz="2300"/>
              <a:t>Мода</a:t>
            </a:r>
            <a:r>
              <a:rPr lang="ru-RU" sz="2300"/>
              <a:t>.</a:t>
            </a:r>
            <a:endParaRPr sz="2300"/>
          </a:p>
          <a:p>
            <a:pPr indent="-234950" lvl="0" marL="381000" rtl="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</a:pPr>
            <a:r>
              <a:t/>
            </a:r>
            <a:endParaRPr sz="2300"/>
          </a:p>
          <a:p>
            <a:pPr indent="-381000" lvl="0" marL="381000" rtl="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AutoNum type="arabicPeriod"/>
            </a:pPr>
            <a:r>
              <a:rPr lang="ru-RU" sz="2300"/>
              <a:t>«Наилучшее значение» - это такое значение, для которого сумма абсолютных отклонений значений переменной от типического будет наименьшей. 🡪 </a:t>
            </a:r>
            <a:r>
              <a:rPr b="1" lang="ru-RU" sz="2300"/>
              <a:t>Медиана</a:t>
            </a:r>
            <a:r>
              <a:rPr lang="ru-RU" sz="2300"/>
              <a:t>.</a:t>
            </a:r>
            <a:endParaRPr sz="2300"/>
          </a:p>
          <a:p>
            <a:pPr indent="-234950" lvl="0" marL="381000" rtl="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</a:pPr>
            <a:r>
              <a:t/>
            </a:r>
            <a:endParaRPr sz="2300"/>
          </a:p>
          <a:p>
            <a:pPr indent="-381000" lvl="0" marL="381000" rtl="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AutoNum type="arabicPeriod"/>
            </a:pPr>
            <a:r>
              <a:rPr lang="ru-RU" sz="2300"/>
              <a:t>«Наилучшее значение» - это такое значение, для которого сумма квадратов отклонений значений переменной от типического будет наименьшей. 🡪 </a:t>
            </a:r>
            <a:r>
              <a:rPr b="1" lang="ru-RU" sz="2300"/>
              <a:t>Среднее</a:t>
            </a:r>
            <a:r>
              <a:rPr lang="ru-RU" sz="2300"/>
              <a:t>.</a:t>
            </a:r>
            <a:endParaRPr sz="2300"/>
          </a:p>
          <a:p>
            <a:pPr indent="-234950" lvl="0" marL="381000" rtl="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</a:pPr>
            <a:r>
              <a:t/>
            </a:r>
            <a:endParaRPr sz="2300"/>
          </a:p>
        </p:txBody>
      </p:sp>
      <p:sp>
        <p:nvSpPr>
          <p:cNvPr id="776" name="Google Shape;776;p46"/>
          <p:cNvSpPr/>
          <p:nvPr/>
        </p:nvSpPr>
        <p:spPr>
          <a:xfrm>
            <a:off x="3733800" y="0"/>
            <a:ext cx="3262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Дескриптивный анализ</a:t>
            </a:r>
            <a:endParaRPr/>
          </a:p>
        </p:txBody>
      </p:sp>
      <p:sp>
        <p:nvSpPr>
          <p:cNvPr id="777" name="Google Shape;777;p46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47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47"/>
          <p:cNvSpPr/>
          <p:nvPr/>
        </p:nvSpPr>
        <p:spPr>
          <a:xfrm>
            <a:off x="890588" y="395288"/>
            <a:ext cx="8351837" cy="1150937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47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47"/>
          <p:cNvSpPr txBox="1"/>
          <p:nvPr>
            <p:ph type="title"/>
          </p:nvPr>
        </p:nvSpPr>
        <p:spPr>
          <a:xfrm>
            <a:off x="1322313" y="285750"/>
            <a:ext cx="7560840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3600"/>
              <a:t>Какое типическое значение наилучшее?</a:t>
            </a:r>
            <a:endParaRPr/>
          </a:p>
        </p:txBody>
      </p:sp>
      <p:sp>
        <p:nvSpPr>
          <p:cNvPr id="786" name="Google Shape;786;p47"/>
          <p:cNvSpPr txBox="1"/>
          <p:nvPr>
            <p:ph idx="1" type="body"/>
          </p:nvPr>
        </p:nvSpPr>
        <p:spPr>
          <a:xfrm>
            <a:off x="514349" y="2194991"/>
            <a:ext cx="9248775" cy="4398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rgbClr val="669900"/>
              </a:buClr>
              <a:buSzPts val="2400"/>
              <a:buFont typeface="Noto Sans Symbols"/>
              <a:buChar char="✔"/>
            </a:pPr>
            <a:r>
              <a:rPr lang="ru-RU" sz="2400"/>
              <a:t>Если распределение не симметричное, медиана лучше характеризует центр распределения.</a:t>
            </a:r>
            <a:endParaRPr/>
          </a:p>
          <a:p>
            <a:pPr indent="-356307" lvl="0" marL="356307" rtl="0" algn="l">
              <a:spcBef>
                <a:spcPts val="720"/>
              </a:spcBef>
              <a:spcAft>
                <a:spcPts val="0"/>
              </a:spcAft>
              <a:buClr>
                <a:srgbClr val="669900"/>
              </a:buClr>
              <a:buSzPts val="2400"/>
              <a:buFont typeface="Noto Sans Symbols"/>
              <a:buChar char="✔"/>
            </a:pPr>
            <a:r>
              <a:rPr lang="ru-RU" sz="2400"/>
              <a:t> она содержит </a:t>
            </a:r>
            <a:r>
              <a:rPr lang="ru-RU" sz="2400" u="sng"/>
              <a:t>меньше информации</a:t>
            </a:r>
            <a:r>
              <a:rPr lang="ru-RU" sz="2400"/>
              <a:t>, чем среднее (определяется только рангом измерений, а не их значениями)</a:t>
            </a:r>
            <a:endParaRPr/>
          </a:p>
          <a:p>
            <a:pPr indent="-356307" lvl="0" marL="356307" rtl="0" algn="l">
              <a:spcBef>
                <a:spcPts val="720"/>
              </a:spcBef>
              <a:spcAft>
                <a:spcPts val="0"/>
              </a:spcAft>
              <a:buClr>
                <a:srgbClr val="669900"/>
              </a:buClr>
              <a:buSzPts val="2400"/>
              <a:buFont typeface="Noto Sans Symbols"/>
              <a:buChar char="✔"/>
            </a:pPr>
            <a:r>
              <a:rPr lang="ru-RU" sz="2400"/>
              <a:t> но зато она не чувствительна к «выбросам» и может применяться даже в случае, если не для всех элементов измерения точные.</a:t>
            </a:r>
            <a:endParaRPr/>
          </a:p>
          <a:p>
            <a:pPr indent="-2039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787" name="Google Shape;787;p47"/>
          <p:cNvSpPr/>
          <p:nvPr/>
        </p:nvSpPr>
        <p:spPr>
          <a:xfrm>
            <a:off x="3507579" y="0"/>
            <a:ext cx="3262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Дескриптивный анализ</a:t>
            </a:r>
            <a:endParaRPr/>
          </a:p>
        </p:txBody>
      </p:sp>
      <p:sp>
        <p:nvSpPr>
          <p:cNvPr id="788" name="Google Shape;788;p47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48"/>
          <p:cNvSpPr txBox="1"/>
          <p:nvPr>
            <p:ph idx="4294967295" type="ctrTitle"/>
          </p:nvPr>
        </p:nvSpPr>
        <p:spPr>
          <a:xfrm>
            <a:off x="818257" y="1763713"/>
            <a:ext cx="8271768" cy="17994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572"/>
              <a:buFont typeface="Calibri"/>
              <a:buNone/>
            </a:pPr>
            <a:r>
              <a:rPr b="1" i="0" lang="ru-RU" sz="4572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Визуальные представления  данных в матстатистике</a:t>
            </a:r>
            <a:endParaRPr b="1" i="0" sz="4572" u="none" cap="none" strike="noStrik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48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49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49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49"/>
          <p:cNvSpPr/>
          <p:nvPr/>
        </p:nvSpPr>
        <p:spPr>
          <a:xfrm>
            <a:off x="262161" y="1303239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49"/>
          <p:cNvSpPr txBox="1"/>
          <p:nvPr>
            <p:ph type="title"/>
          </p:nvPr>
        </p:nvSpPr>
        <p:spPr>
          <a:xfrm>
            <a:off x="513874" y="285382"/>
            <a:ext cx="9249728" cy="1187715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 sz="4000"/>
              <a:t>Визуальные представления</a:t>
            </a:r>
            <a:endParaRPr/>
          </a:p>
        </p:txBody>
      </p:sp>
      <p:sp>
        <p:nvSpPr>
          <p:cNvPr id="805" name="Google Shape;805;p49"/>
          <p:cNvSpPr txBox="1"/>
          <p:nvPr>
            <p:ph idx="1" type="body"/>
          </p:nvPr>
        </p:nvSpPr>
        <p:spPr>
          <a:xfrm>
            <a:off x="367454" y="1464773"/>
            <a:ext cx="6795610" cy="1512966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 lnSpcReduction="10000"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ru-RU" sz="2400"/>
              <a:t>Графические изображения данных</a:t>
            </a:r>
            <a:r>
              <a:rPr lang="ru-RU" sz="2400"/>
              <a:t> дают визуальное представление об основных свойствах имеющегося набора данных (все названное входит в дескриптивный анализ):</a:t>
            </a:r>
            <a:endParaRPr/>
          </a:p>
          <a:p>
            <a:pPr indent="-2039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806" name="Google Shape;806;p49"/>
          <p:cNvSpPr/>
          <p:nvPr/>
        </p:nvSpPr>
        <p:spPr>
          <a:xfrm>
            <a:off x="0" y="2201863"/>
            <a:ext cx="10277475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49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808" name="Google Shape;80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7795" y="827088"/>
            <a:ext cx="2846793" cy="2657847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49"/>
          <p:cNvSpPr/>
          <p:nvPr/>
        </p:nvSpPr>
        <p:spPr>
          <a:xfrm>
            <a:off x="526871" y="3533736"/>
            <a:ext cx="9176997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Размах значений. </a:t>
            </a:r>
            <a:r>
              <a:rPr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Минимальное и максимальное значения. </a:t>
            </a:r>
            <a:endParaRPr b="1"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Типичные значения. </a:t>
            </a:r>
            <a:r>
              <a:rPr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Какие значения встречаются чаще всего?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Рассеяние.</a:t>
            </a:r>
            <a:r>
              <a:rPr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Какая типичная разница между данными?</a:t>
            </a:r>
            <a:endParaRPr b="1"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Общая конфигурация данных. </a:t>
            </a:r>
            <a:r>
              <a:rPr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Где сосредоточены основные данные? Симметрично ли они расположены вокруг типичного значения? В какую сторону смещены?</a:t>
            </a:r>
            <a:endParaRPr b="1"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Характерные особенности. </a:t>
            </a:r>
            <a:r>
              <a:rPr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Имеются ли выбросы? Есть ли значения, которые пропущены?</a:t>
            </a:r>
            <a:r>
              <a:rPr b="1" lang="ru-RU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50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50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50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50"/>
          <p:cNvSpPr txBox="1"/>
          <p:nvPr>
            <p:ph type="title"/>
          </p:nvPr>
        </p:nvSpPr>
        <p:spPr>
          <a:xfrm>
            <a:off x="1743323" y="510880"/>
            <a:ext cx="6646365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 sz="4000"/>
              <a:t>Гистограммы частот</a:t>
            </a:r>
            <a:endParaRPr/>
          </a:p>
        </p:txBody>
      </p:sp>
      <p:sp>
        <p:nvSpPr>
          <p:cNvPr id="818" name="Google Shape;818;p50"/>
          <p:cNvSpPr txBox="1"/>
          <p:nvPr>
            <p:ph idx="1" type="body"/>
          </p:nvPr>
        </p:nvSpPr>
        <p:spPr>
          <a:xfrm>
            <a:off x="514349" y="1608137"/>
            <a:ext cx="9248775" cy="4458915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Autofit/>
          </a:bodyPr>
          <a:lstStyle/>
          <a:p>
            <a:pPr indent="-356307" lvl="0" marL="35630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ru-RU" sz="2400"/>
              <a:t>Гистограмма частот</a:t>
            </a:r>
            <a:r>
              <a:rPr lang="ru-RU" sz="2400"/>
              <a:t> – графическое представление, которое показывает распределение переменной.</a:t>
            </a:r>
            <a:endParaRPr/>
          </a:p>
          <a:p>
            <a:pPr indent="-203907" lvl="0" marL="356307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03907" lvl="0" marL="356307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03907" lvl="0" marL="356307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03907" lvl="0" marL="356307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03907" lvl="0" marL="356307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03907" lvl="0" marL="356307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03907" lvl="0" marL="356307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56307" lvl="0" marL="356307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ru-RU" sz="2400"/>
              <a:t>Гистограмма относительных частот</a:t>
            </a:r>
            <a:r>
              <a:rPr lang="ru-RU" sz="2400"/>
              <a:t> строится преобразованием частот на оси Y в доли или проценты. </a:t>
            </a:r>
            <a:endParaRPr/>
          </a:p>
        </p:txBody>
      </p:sp>
      <p:sp>
        <p:nvSpPr>
          <p:cNvPr id="819" name="Google Shape;819;p50"/>
          <p:cNvSpPr/>
          <p:nvPr/>
        </p:nvSpPr>
        <p:spPr>
          <a:xfrm>
            <a:off x="-1197950" y="2109713"/>
            <a:ext cx="102774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20" name="Google Shape;820;p50"/>
          <p:cNvGraphicFramePr/>
          <p:nvPr/>
        </p:nvGraphicFramePr>
        <p:xfrm>
          <a:off x="2249488" y="2298702"/>
          <a:ext cx="5027612" cy="2919412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821" name="Google Shape;821;p50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51"/>
          <p:cNvSpPr/>
          <p:nvPr/>
        </p:nvSpPr>
        <p:spPr>
          <a:xfrm>
            <a:off x="803632" y="185978"/>
            <a:ext cx="8351837" cy="65532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51"/>
          <p:cNvSpPr txBox="1"/>
          <p:nvPr/>
        </p:nvSpPr>
        <p:spPr>
          <a:xfrm>
            <a:off x="793681" y="164961"/>
            <a:ext cx="8805159" cy="494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94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Частотное распределение количественной переменной</a:t>
            </a:r>
            <a:endParaRPr sz="2286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j0304933" id="828" name="Google Shape;828;p51"/>
          <p:cNvPicPr preferRelativeResize="0"/>
          <p:nvPr/>
        </p:nvPicPr>
        <p:blipFill rotWithShape="1">
          <a:blip r:embed="rId3">
            <a:alphaModFix/>
          </a:blip>
          <a:srcRect b="0" l="0" r="21516" t="0"/>
          <a:stretch/>
        </p:blipFill>
        <p:spPr>
          <a:xfrm>
            <a:off x="6915361" y="2264907"/>
            <a:ext cx="509727" cy="5971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29" name="Google Shape;829;p51"/>
          <p:cNvPicPr preferRelativeResize="0"/>
          <p:nvPr/>
        </p:nvPicPr>
        <p:blipFill rotWithShape="1">
          <a:blip r:embed="rId4">
            <a:alphaModFix/>
          </a:blip>
          <a:srcRect b="0" l="0" r="21516" t="0"/>
          <a:stretch/>
        </p:blipFill>
        <p:spPr>
          <a:xfrm>
            <a:off x="424170" y="1966328"/>
            <a:ext cx="1730435" cy="2020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30" name="Google Shape;830;p51"/>
          <p:cNvPicPr preferRelativeResize="0"/>
          <p:nvPr/>
        </p:nvPicPr>
        <p:blipFill rotWithShape="1">
          <a:blip r:embed="rId4">
            <a:alphaModFix/>
          </a:blip>
          <a:srcRect b="0" l="0" r="21516" t="0"/>
          <a:stretch/>
        </p:blipFill>
        <p:spPr>
          <a:xfrm flipH="1">
            <a:off x="5943744" y="2190674"/>
            <a:ext cx="641696" cy="748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31" name="Google Shape;831;p51"/>
          <p:cNvPicPr preferRelativeResize="0"/>
          <p:nvPr/>
        </p:nvPicPr>
        <p:blipFill rotWithShape="1">
          <a:blip r:embed="rId5">
            <a:alphaModFix/>
          </a:blip>
          <a:srcRect b="0" l="0" r="21516" t="0"/>
          <a:stretch/>
        </p:blipFill>
        <p:spPr>
          <a:xfrm flipH="1">
            <a:off x="3698633" y="2863712"/>
            <a:ext cx="981514" cy="11481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32" name="Google Shape;832;p51"/>
          <p:cNvPicPr preferRelativeResize="0"/>
          <p:nvPr/>
        </p:nvPicPr>
        <p:blipFill rotWithShape="1">
          <a:blip r:embed="rId5">
            <a:alphaModFix/>
          </a:blip>
          <a:srcRect b="0" l="0" r="21516" t="0"/>
          <a:stretch/>
        </p:blipFill>
        <p:spPr>
          <a:xfrm>
            <a:off x="6862573" y="4211439"/>
            <a:ext cx="895734" cy="10474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33" name="Google Shape;833;p51"/>
          <p:cNvPicPr preferRelativeResize="0"/>
          <p:nvPr/>
        </p:nvPicPr>
        <p:blipFill rotWithShape="1">
          <a:blip r:embed="rId4">
            <a:alphaModFix/>
          </a:blip>
          <a:srcRect b="0" l="0" r="21516" t="0"/>
          <a:stretch/>
        </p:blipFill>
        <p:spPr>
          <a:xfrm>
            <a:off x="3226847" y="1591868"/>
            <a:ext cx="1088738" cy="12718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34" name="Google Shape;834;p51"/>
          <p:cNvPicPr preferRelativeResize="0"/>
          <p:nvPr/>
        </p:nvPicPr>
        <p:blipFill rotWithShape="1">
          <a:blip r:embed="rId4">
            <a:alphaModFix/>
          </a:blip>
          <a:srcRect b="0" l="0" r="21516" t="0"/>
          <a:stretch/>
        </p:blipFill>
        <p:spPr>
          <a:xfrm>
            <a:off x="3922980" y="4660131"/>
            <a:ext cx="833049" cy="9732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35" name="Google Shape;835;p51"/>
          <p:cNvPicPr preferRelativeResize="0"/>
          <p:nvPr/>
        </p:nvPicPr>
        <p:blipFill rotWithShape="1">
          <a:blip r:embed="rId5">
            <a:alphaModFix/>
          </a:blip>
          <a:srcRect b="0" l="0" r="21516" t="0"/>
          <a:stretch/>
        </p:blipFill>
        <p:spPr>
          <a:xfrm flipH="1">
            <a:off x="4820364" y="2639366"/>
            <a:ext cx="1238852" cy="14483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36" name="Google Shape;836;p51"/>
          <p:cNvPicPr preferRelativeResize="0"/>
          <p:nvPr/>
        </p:nvPicPr>
        <p:blipFill rotWithShape="1">
          <a:blip r:embed="rId5">
            <a:alphaModFix/>
          </a:blip>
          <a:srcRect b="0" l="0" r="21516" t="0"/>
          <a:stretch/>
        </p:blipFill>
        <p:spPr>
          <a:xfrm>
            <a:off x="7888627" y="3163940"/>
            <a:ext cx="767065" cy="8973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37" name="Google Shape;837;p51"/>
          <p:cNvPicPr preferRelativeResize="0"/>
          <p:nvPr/>
        </p:nvPicPr>
        <p:blipFill rotWithShape="1">
          <a:blip r:embed="rId4">
            <a:alphaModFix/>
          </a:blip>
          <a:srcRect b="0" l="0" r="21516" t="0"/>
          <a:stretch/>
        </p:blipFill>
        <p:spPr>
          <a:xfrm>
            <a:off x="6316555" y="2863712"/>
            <a:ext cx="960069" cy="1121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38" name="Google Shape;838;p51"/>
          <p:cNvPicPr preferRelativeResize="0"/>
          <p:nvPr/>
        </p:nvPicPr>
        <p:blipFill rotWithShape="1">
          <a:blip r:embed="rId4">
            <a:alphaModFix/>
          </a:blip>
          <a:srcRect b="0" l="0" r="21516" t="0"/>
          <a:stretch/>
        </p:blipFill>
        <p:spPr>
          <a:xfrm flipH="1">
            <a:off x="8263086" y="1217408"/>
            <a:ext cx="833050" cy="9732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39" name="Google Shape;839;p51"/>
          <p:cNvPicPr preferRelativeResize="0"/>
          <p:nvPr/>
        </p:nvPicPr>
        <p:blipFill rotWithShape="1">
          <a:blip r:embed="rId5">
            <a:alphaModFix/>
          </a:blip>
          <a:srcRect b="0" l="0" r="21516" t="0"/>
          <a:stretch/>
        </p:blipFill>
        <p:spPr>
          <a:xfrm flipH="1">
            <a:off x="6017976" y="5333169"/>
            <a:ext cx="981514" cy="11481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40" name="Google Shape;840;p51"/>
          <p:cNvPicPr preferRelativeResize="0"/>
          <p:nvPr/>
        </p:nvPicPr>
        <p:blipFill rotWithShape="1">
          <a:blip r:embed="rId5">
            <a:alphaModFix/>
          </a:blip>
          <a:srcRect b="0" l="0" r="21516" t="0"/>
          <a:stretch/>
        </p:blipFill>
        <p:spPr>
          <a:xfrm>
            <a:off x="4596019" y="1667750"/>
            <a:ext cx="767065" cy="8973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41" name="Google Shape;841;p51"/>
          <p:cNvPicPr preferRelativeResize="0"/>
          <p:nvPr/>
        </p:nvPicPr>
        <p:blipFill rotWithShape="1">
          <a:blip r:embed="rId5">
            <a:alphaModFix/>
          </a:blip>
          <a:srcRect b="0" l="0" r="21516" t="0"/>
          <a:stretch/>
        </p:blipFill>
        <p:spPr>
          <a:xfrm flipH="1">
            <a:off x="8263087" y="4884477"/>
            <a:ext cx="1151423" cy="13460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42" name="Google Shape;842;p51"/>
          <p:cNvPicPr preferRelativeResize="0"/>
          <p:nvPr/>
        </p:nvPicPr>
        <p:blipFill rotWithShape="1">
          <a:blip r:embed="rId4">
            <a:alphaModFix/>
          </a:blip>
          <a:srcRect b="0" l="0" r="21516" t="0"/>
          <a:stretch/>
        </p:blipFill>
        <p:spPr>
          <a:xfrm>
            <a:off x="6017977" y="918830"/>
            <a:ext cx="1090387" cy="1273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43" name="Google Shape;843;p51"/>
          <p:cNvPicPr preferRelativeResize="0"/>
          <p:nvPr/>
        </p:nvPicPr>
        <p:blipFill rotWithShape="1">
          <a:blip r:embed="rId5">
            <a:alphaModFix/>
          </a:blip>
          <a:srcRect b="0" l="0" r="21516" t="0"/>
          <a:stretch/>
        </p:blipFill>
        <p:spPr>
          <a:xfrm flipH="1">
            <a:off x="1379291" y="1068943"/>
            <a:ext cx="981514" cy="11481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44" name="Google Shape;844;p51"/>
          <p:cNvPicPr preferRelativeResize="0"/>
          <p:nvPr/>
        </p:nvPicPr>
        <p:blipFill rotWithShape="1">
          <a:blip r:embed="rId5">
            <a:alphaModFix/>
          </a:blip>
          <a:srcRect b="0" l="0" r="21516" t="0"/>
          <a:stretch/>
        </p:blipFill>
        <p:spPr>
          <a:xfrm>
            <a:off x="9086239" y="768716"/>
            <a:ext cx="767065" cy="8973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45" name="Google Shape;845;p51"/>
          <p:cNvPicPr preferRelativeResize="0"/>
          <p:nvPr/>
        </p:nvPicPr>
        <p:blipFill rotWithShape="1">
          <a:blip r:embed="rId4">
            <a:alphaModFix/>
          </a:blip>
          <a:srcRect b="0" l="0" r="21516" t="0"/>
          <a:stretch/>
        </p:blipFill>
        <p:spPr>
          <a:xfrm>
            <a:off x="780485" y="5183055"/>
            <a:ext cx="960069" cy="1121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46" name="Google Shape;846;p51"/>
          <p:cNvPicPr preferRelativeResize="0"/>
          <p:nvPr/>
        </p:nvPicPr>
        <p:blipFill rotWithShape="1">
          <a:blip r:embed="rId4">
            <a:alphaModFix/>
          </a:blip>
          <a:srcRect b="0" l="0" r="21516" t="0"/>
          <a:stretch/>
        </p:blipFill>
        <p:spPr>
          <a:xfrm>
            <a:off x="7439935" y="1217408"/>
            <a:ext cx="833049" cy="9732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47" name="Google Shape;847;p51"/>
          <p:cNvPicPr preferRelativeResize="0"/>
          <p:nvPr/>
        </p:nvPicPr>
        <p:blipFill rotWithShape="1">
          <a:blip r:embed="rId5">
            <a:alphaModFix/>
          </a:blip>
          <a:srcRect b="0" l="0" r="21516" t="0"/>
          <a:stretch/>
        </p:blipFill>
        <p:spPr>
          <a:xfrm flipH="1">
            <a:off x="3099827" y="5258937"/>
            <a:ext cx="981515" cy="11481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48" name="Google Shape;848;p51"/>
          <p:cNvPicPr preferRelativeResize="0"/>
          <p:nvPr/>
        </p:nvPicPr>
        <p:blipFill rotWithShape="1">
          <a:blip r:embed="rId3">
            <a:alphaModFix/>
          </a:blip>
          <a:srcRect b="0" l="0" r="21516" t="0"/>
          <a:stretch/>
        </p:blipFill>
        <p:spPr>
          <a:xfrm>
            <a:off x="1902215" y="4285671"/>
            <a:ext cx="509728" cy="5971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49" name="Google Shape;849;p51"/>
          <p:cNvPicPr preferRelativeResize="0"/>
          <p:nvPr/>
        </p:nvPicPr>
        <p:blipFill rotWithShape="1">
          <a:blip r:embed="rId4">
            <a:alphaModFix/>
          </a:blip>
          <a:srcRect b="0" l="0" r="21516" t="0"/>
          <a:stretch/>
        </p:blipFill>
        <p:spPr>
          <a:xfrm flipH="1">
            <a:off x="5419170" y="1067295"/>
            <a:ext cx="641696" cy="748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50" name="Google Shape;850;p51"/>
          <p:cNvPicPr preferRelativeResize="0"/>
          <p:nvPr/>
        </p:nvPicPr>
        <p:blipFill rotWithShape="1">
          <a:blip r:embed="rId5">
            <a:alphaModFix/>
          </a:blip>
          <a:srcRect b="0" l="0" r="21516" t="0"/>
          <a:stretch/>
        </p:blipFill>
        <p:spPr>
          <a:xfrm flipH="1">
            <a:off x="3174059" y="3987093"/>
            <a:ext cx="981514" cy="11481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51" name="Google Shape;851;p51"/>
          <p:cNvPicPr preferRelativeResize="0"/>
          <p:nvPr/>
        </p:nvPicPr>
        <p:blipFill rotWithShape="1">
          <a:blip r:embed="rId5">
            <a:alphaModFix/>
          </a:blip>
          <a:srcRect b="0" l="0" r="21516" t="0"/>
          <a:stretch/>
        </p:blipFill>
        <p:spPr>
          <a:xfrm>
            <a:off x="8861893" y="3987093"/>
            <a:ext cx="895734" cy="10474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52" name="Google Shape;852;p51"/>
          <p:cNvPicPr preferRelativeResize="0"/>
          <p:nvPr/>
        </p:nvPicPr>
        <p:blipFill rotWithShape="1">
          <a:blip r:embed="rId4">
            <a:alphaModFix/>
          </a:blip>
          <a:srcRect b="0" l="0" r="21516" t="0"/>
          <a:stretch/>
        </p:blipFill>
        <p:spPr>
          <a:xfrm>
            <a:off x="2350907" y="842948"/>
            <a:ext cx="1088738" cy="12718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53" name="Google Shape;853;p51"/>
          <p:cNvPicPr preferRelativeResize="0"/>
          <p:nvPr/>
        </p:nvPicPr>
        <p:blipFill rotWithShape="1">
          <a:blip r:embed="rId4">
            <a:alphaModFix/>
          </a:blip>
          <a:srcRect b="0" l="0" r="21516" t="0"/>
          <a:stretch/>
        </p:blipFill>
        <p:spPr>
          <a:xfrm>
            <a:off x="2350907" y="3462519"/>
            <a:ext cx="833050" cy="9732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54" name="Google Shape;854;p51"/>
          <p:cNvPicPr preferRelativeResize="0"/>
          <p:nvPr/>
        </p:nvPicPr>
        <p:blipFill rotWithShape="1">
          <a:blip r:embed="rId5">
            <a:alphaModFix/>
          </a:blip>
          <a:srcRect b="0" l="0" r="21516" t="0"/>
          <a:stretch/>
        </p:blipFill>
        <p:spPr>
          <a:xfrm flipH="1">
            <a:off x="4670250" y="5032942"/>
            <a:ext cx="1238853" cy="14483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55" name="Google Shape;855;p51"/>
          <p:cNvPicPr preferRelativeResize="0"/>
          <p:nvPr/>
        </p:nvPicPr>
        <p:blipFill rotWithShape="1">
          <a:blip r:embed="rId5">
            <a:alphaModFix/>
          </a:blip>
          <a:srcRect b="0" l="0" r="21516" t="0"/>
          <a:stretch/>
        </p:blipFill>
        <p:spPr>
          <a:xfrm>
            <a:off x="7814394" y="3987093"/>
            <a:ext cx="767066" cy="8973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56" name="Google Shape;856;p51"/>
          <p:cNvPicPr preferRelativeResize="0"/>
          <p:nvPr/>
        </p:nvPicPr>
        <p:blipFill rotWithShape="1">
          <a:blip r:embed="rId4">
            <a:alphaModFix/>
          </a:blip>
          <a:srcRect b="0" l="0" r="21516" t="0"/>
          <a:stretch/>
        </p:blipFill>
        <p:spPr>
          <a:xfrm>
            <a:off x="4820365" y="3987093"/>
            <a:ext cx="960069" cy="1121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57" name="Google Shape;857;p51"/>
          <p:cNvPicPr preferRelativeResize="0"/>
          <p:nvPr/>
        </p:nvPicPr>
        <p:blipFill rotWithShape="1">
          <a:blip r:embed="rId4">
            <a:alphaModFix/>
          </a:blip>
          <a:srcRect b="0" l="0" r="21516" t="0"/>
          <a:stretch/>
        </p:blipFill>
        <p:spPr>
          <a:xfrm flipH="1">
            <a:off x="8936125" y="2565135"/>
            <a:ext cx="833050" cy="9732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58" name="Google Shape;858;p51"/>
          <p:cNvPicPr preferRelativeResize="0"/>
          <p:nvPr/>
        </p:nvPicPr>
        <p:blipFill rotWithShape="1">
          <a:blip r:embed="rId5">
            <a:alphaModFix/>
          </a:blip>
          <a:srcRect b="0" l="0" r="21516" t="0"/>
          <a:stretch/>
        </p:blipFill>
        <p:spPr>
          <a:xfrm flipH="1">
            <a:off x="6017976" y="3911211"/>
            <a:ext cx="981514" cy="11481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59" name="Google Shape;859;p51"/>
          <p:cNvPicPr preferRelativeResize="0"/>
          <p:nvPr/>
        </p:nvPicPr>
        <p:blipFill rotWithShape="1">
          <a:blip r:embed="rId5">
            <a:alphaModFix/>
          </a:blip>
          <a:srcRect b="0" l="0" r="21516" t="0"/>
          <a:stretch/>
        </p:blipFill>
        <p:spPr>
          <a:xfrm>
            <a:off x="4073093" y="918830"/>
            <a:ext cx="767066" cy="8973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60" name="Google Shape;860;p51"/>
          <p:cNvPicPr preferRelativeResize="0"/>
          <p:nvPr/>
        </p:nvPicPr>
        <p:blipFill rotWithShape="1">
          <a:blip r:embed="rId5">
            <a:alphaModFix/>
          </a:blip>
          <a:srcRect b="0" l="0" r="21516" t="0"/>
          <a:stretch/>
        </p:blipFill>
        <p:spPr>
          <a:xfrm flipH="1">
            <a:off x="7159503" y="5108823"/>
            <a:ext cx="1151423" cy="13460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61" name="Google Shape;861;p51"/>
          <p:cNvPicPr preferRelativeResize="0"/>
          <p:nvPr/>
        </p:nvPicPr>
        <p:blipFill rotWithShape="1">
          <a:blip r:embed="rId5">
            <a:alphaModFix/>
          </a:blip>
          <a:srcRect b="0" l="0" r="21516" t="0"/>
          <a:stretch/>
        </p:blipFill>
        <p:spPr>
          <a:xfrm flipH="1">
            <a:off x="2276675" y="2116442"/>
            <a:ext cx="981514" cy="11481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62" name="Google Shape;862;p51"/>
          <p:cNvPicPr preferRelativeResize="0"/>
          <p:nvPr/>
        </p:nvPicPr>
        <p:blipFill rotWithShape="1">
          <a:blip r:embed="rId5">
            <a:alphaModFix/>
          </a:blip>
          <a:srcRect b="0" l="0" r="21516" t="0"/>
          <a:stretch/>
        </p:blipFill>
        <p:spPr>
          <a:xfrm>
            <a:off x="630372" y="1217408"/>
            <a:ext cx="767065" cy="8973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63" name="Google Shape;863;p51"/>
          <p:cNvPicPr preferRelativeResize="0"/>
          <p:nvPr/>
        </p:nvPicPr>
        <p:blipFill rotWithShape="1">
          <a:blip r:embed="rId4">
            <a:alphaModFix/>
          </a:blip>
          <a:srcRect b="0" l="0" r="21516" t="0"/>
          <a:stretch/>
        </p:blipFill>
        <p:spPr>
          <a:xfrm>
            <a:off x="1978097" y="5108823"/>
            <a:ext cx="960069" cy="1121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64" name="Google Shape;864;p51"/>
          <p:cNvPicPr preferRelativeResize="0"/>
          <p:nvPr/>
        </p:nvPicPr>
        <p:blipFill rotWithShape="1">
          <a:blip r:embed="rId4">
            <a:alphaModFix/>
          </a:blip>
          <a:srcRect b="0" l="0" r="21516" t="0"/>
          <a:stretch/>
        </p:blipFill>
        <p:spPr>
          <a:xfrm>
            <a:off x="7514166" y="2116443"/>
            <a:ext cx="833050" cy="9732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65" name="Google Shape;865;p51"/>
          <p:cNvPicPr preferRelativeResize="0"/>
          <p:nvPr/>
        </p:nvPicPr>
        <p:blipFill rotWithShape="1">
          <a:blip r:embed="rId5">
            <a:alphaModFix/>
          </a:blip>
          <a:srcRect b="0" l="0" r="21516" t="0"/>
          <a:stretch/>
        </p:blipFill>
        <p:spPr>
          <a:xfrm flipH="1">
            <a:off x="704603" y="4061324"/>
            <a:ext cx="981515" cy="1148124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51"/>
          <p:cNvSpPr txBox="1"/>
          <p:nvPr/>
        </p:nvSpPr>
        <p:spPr>
          <a:xfrm>
            <a:off x="3418201" y="6481293"/>
            <a:ext cx="4003641" cy="5611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94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Взвешиваем </a:t>
            </a:r>
            <a:r>
              <a:rPr b="1" i="1" lang="ru-RU" sz="290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ru-RU" sz="2494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кроликов</a:t>
            </a:r>
            <a:endParaRPr/>
          </a:p>
        </p:txBody>
      </p:sp>
      <p:sp>
        <p:nvSpPr>
          <p:cNvPr id="867" name="Google Shape;867;p51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52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52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52"/>
          <p:cNvSpPr/>
          <p:nvPr/>
        </p:nvSpPr>
        <p:spPr>
          <a:xfrm>
            <a:off x="387350" y="1388869"/>
            <a:ext cx="9431338" cy="5389756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52"/>
          <p:cNvSpPr txBox="1"/>
          <p:nvPr/>
        </p:nvSpPr>
        <p:spPr>
          <a:xfrm>
            <a:off x="973939" y="194753"/>
            <a:ext cx="81335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Частотное распределение количественной переменной</a:t>
            </a:r>
            <a:endParaRPr/>
          </a:p>
        </p:txBody>
      </p:sp>
      <p:sp>
        <p:nvSpPr>
          <p:cNvPr id="876" name="Google Shape;876;p52"/>
          <p:cNvSpPr txBox="1"/>
          <p:nvPr/>
        </p:nvSpPr>
        <p:spPr>
          <a:xfrm>
            <a:off x="756565" y="1680072"/>
            <a:ext cx="83799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94"/>
              <a:buFont typeface="Arial"/>
              <a:buAutoNum type="arabicPeriod"/>
            </a:pPr>
            <a:r>
              <a:rPr lang="ru-RU" sz="249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Упорядочим по возрастанию значения переменной (</a:t>
            </a:r>
            <a:r>
              <a:rPr lang="ru-RU" sz="2078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выстроим кроликов от меньшего к большему</a:t>
            </a:r>
            <a:r>
              <a:rPr lang="ru-RU" sz="249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94"/>
              <a:buFont typeface="Arial"/>
              <a:buAutoNum type="arabicPeriod"/>
            </a:pPr>
            <a:r>
              <a:rPr lang="ru-RU" sz="2494">
                <a:solidFill>
                  <a:schemeClr val="dk1"/>
                </a:solidFill>
              </a:rPr>
              <a:t>Разобьем</a:t>
            </a:r>
            <a:r>
              <a:rPr lang="ru-RU" sz="249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их на группы по равным интервалам.</a:t>
            </a:r>
            <a:endParaRPr/>
          </a:p>
        </p:txBody>
      </p:sp>
      <p:pic>
        <p:nvPicPr>
          <p:cNvPr descr="j0304933" id="877" name="Google Shape;877;p52"/>
          <p:cNvPicPr preferRelativeResize="0"/>
          <p:nvPr/>
        </p:nvPicPr>
        <p:blipFill rotWithShape="1">
          <a:blip r:embed="rId3">
            <a:alphaModFix/>
          </a:blip>
          <a:srcRect b="0" l="0" r="21516" t="0"/>
          <a:stretch/>
        </p:blipFill>
        <p:spPr>
          <a:xfrm>
            <a:off x="8131118" y="3787490"/>
            <a:ext cx="1730435" cy="2020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78" name="Google Shape;878;p52"/>
          <p:cNvPicPr preferRelativeResize="0"/>
          <p:nvPr/>
        </p:nvPicPr>
        <p:blipFill rotWithShape="1">
          <a:blip r:embed="rId3">
            <a:alphaModFix/>
          </a:blip>
          <a:srcRect b="0" l="0" r="21516" t="0"/>
          <a:stretch/>
        </p:blipFill>
        <p:spPr>
          <a:xfrm>
            <a:off x="1428780" y="5133567"/>
            <a:ext cx="577361" cy="6746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79" name="Google Shape;879;p52"/>
          <p:cNvPicPr preferRelativeResize="0"/>
          <p:nvPr/>
        </p:nvPicPr>
        <p:blipFill rotWithShape="1">
          <a:blip r:embed="rId4">
            <a:alphaModFix/>
          </a:blip>
          <a:srcRect b="0" l="0" r="21516" t="0"/>
          <a:stretch/>
        </p:blipFill>
        <p:spPr>
          <a:xfrm>
            <a:off x="1922011" y="5135217"/>
            <a:ext cx="577361" cy="673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80" name="Google Shape;880;p52"/>
          <p:cNvPicPr preferRelativeResize="0"/>
          <p:nvPr/>
        </p:nvPicPr>
        <p:blipFill rotWithShape="1">
          <a:blip r:embed="rId3">
            <a:alphaModFix/>
          </a:blip>
          <a:srcRect b="0" l="0" r="21516" t="0"/>
          <a:stretch/>
        </p:blipFill>
        <p:spPr>
          <a:xfrm>
            <a:off x="2563706" y="4985103"/>
            <a:ext cx="704380" cy="8231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81" name="Google Shape;881;p52"/>
          <p:cNvPicPr preferRelativeResize="0"/>
          <p:nvPr/>
        </p:nvPicPr>
        <p:blipFill rotWithShape="1">
          <a:blip r:embed="rId3">
            <a:alphaModFix/>
          </a:blip>
          <a:srcRect b="0" l="0" r="21516" t="0"/>
          <a:stretch/>
        </p:blipFill>
        <p:spPr>
          <a:xfrm>
            <a:off x="3395107" y="4909221"/>
            <a:ext cx="770364" cy="8990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82" name="Google Shape;882;p52"/>
          <p:cNvPicPr preferRelativeResize="0"/>
          <p:nvPr/>
        </p:nvPicPr>
        <p:blipFill rotWithShape="1">
          <a:blip r:embed="rId3">
            <a:alphaModFix/>
          </a:blip>
          <a:srcRect b="0" l="0" r="21516" t="0"/>
          <a:stretch/>
        </p:blipFill>
        <p:spPr>
          <a:xfrm>
            <a:off x="4241353" y="4760757"/>
            <a:ext cx="897384" cy="10474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83" name="Google Shape;883;p52"/>
          <p:cNvPicPr preferRelativeResize="0"/>
          <p:nvPr/>
        </p:nvPicPr>
        <p:blipFill rotWithShape="1">
          <a:blip r:embed="rId3">
            <a:alphaModFix/>
          </a:blip>
          <a:srcRect b="0" l="0" r="21516" t="0"/>
          <a:stretch/>
        </p:blipFill>
        <p:spPr>
          <a:xfrm>
            <a:off x="5160183" y="4610643"/>
            <a:ext cx="1026053" cy="11976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84" name="Google Shape;884;p52"/>
          <p:cNvPicPr preferRelativeResize="0"/>
          <p:nvPr/>
        </p:nvPicPr>
        <p:blipFill rotWithShape="1">
          <a:blip r:embed="rId3">
            <a:alphaModFix/>
          </a:blip>
          <a:srcRect b="0" l="0" r="21516" t="0"/>
          <a:stretch/>
        </p:blipFill>
        <p:spPr>
          <a:xfrm>
            <a:off x="6153243" y="4460528"/>
            <a:ext cx="1154723" cy="13477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85" name="Google Shape;885;p52"/>
          <p:cNvPicPr preferRelativeResize="0"/>
          <p:nvPr/>
        </p:nvPicPr>
        <p:blipFill rotWithShape="1">
          <a:blip r:embed="rId3">
            <a:alphaModFix/>
          </a:blip>
          <a:srcRect b="0" l="0" r="21516" t="0"/>
          <a:stretch/>
        </p:blipFill>
        <p:spPr>
          <a:xfrm>
            <a:off x="7166100" y="4236182"/>
            <a:ext cx="1346077" cy="15720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86" name="Google Shape;886;p52"/>
          <p:cNvPicPr preferRelativeResize="0"/>
          <p:nvPr/>
        </p:nvPicPr>
        <p:blipFill rotWithShape="1">
          <a:blip r:embed="rId5">
            <a:alphaModFix/>
          </a:blip>
          <a:srcRect b="0" l="0" r="21516" t="0"/>
          <a:stretch/>
        </p:blipFill>
        <p:spPr>
          <a:xfrm>
            <a:off x="1022977" y="5283682"/>
            <a:ext cx="448692" cy="5245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304933" id="887" name="Google Shape;887;p52"/>
          <p:cNvPicPr preferRelativeResize="0"/>
          <p:nvPr/>
        </p:nvPicPr>
        <p:blipFill rotWithShape="1">
          <a:blip r:embed="rId3">
            <a:alphaModFix/>
          </a:blip>
          <a:srcRect b="0" l="0" r="21516" t="0"/>
          <a:stretch/>
        </p:blipFill>
        <p:spPr>
          <a:xfrm>
            <a:off x="564387" y="5359563"/>
            <a:ext cx="384357" cy="448692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52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53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53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53"/>
          <p:cNvSpPr/>
          <p:nvPr/>
        </p:nvSpPr>
        <p:spPr>
          <a:xfrm>
            <a:off x="387350" y="1388869"/>
            <a:ext cx="9431338" cy="5389756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6" name="Google Shape;896;p53"/>
          <p:cNvGrpSpPr/>
          <p:nvPr/>
        </p:nvGrpSpPr>
        <p:grpSpPr>
          <a:xfrm>
            <a:off x="3750595" y="2810138"/>
            <a:ext cx="6176942" cy="3879044"/>
            <a:chOff x="995" y="1347"/>
            <a:chExt cx="3745" cy="2351"/>
          </a:xfrm>
        </p:grpSpPr>
        <p:pic>
          <p:nvPicPr>
            <p:cNvPr descr="гистограмма" id="897" name="Google Shape;897;p53"/>
            <p:cNvPicPr preferRelativeResize="0"/>
            <p:nvPr/>
          </p:nvPicPr>
          <p:blipFill rotWithShape="1">
            <a:blip r:embed="rId3">
              <a:alphaModFix/>
            </a:blip>
            <a:srcRect b="5822" l="5206" r="1700" t="21434"/>
            <a:stretch/>
          </p:blipFill>
          <p:spPr>
            <a:xfrm>
              <a:off x="1292" y="1347"/>
              <a:ext cx="3447" cy="21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8" name="Google Shape;898;p53"/>
            <p:cNvSpPr txBox="1"/>
            <p:nvPr/>
          </p:nvSpPr>
          <p:spPr>
            <a:xfrm rot="-5400000">
              <a:off x="190" y="2151"/>
              <a:ext cx="185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078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Масса кролика, кг</a:t>
              </a:r>
              <a:endParaRPr/>
            </a:p>
          </p:txBody>
        </p:sp>
        <p:sp>
          <p:nvSpPr>
            <p:cNvPr id="899" name="Google Shape;899;p53"/>
            <p:cNvSpPr txBox="1"/>
            <p:nvPr/>
          </p:nvSpPr>
          <p:spPr>
            <a:xfrm>
              <a:off x="2665" y="3448"/>
              <a:ext cx="907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078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Частота</a:t>
              </a:r>
              <a:endParaRPr/>
            </a:p>
          </p:txBody>
        </p:sp>
      </p:grpSp>
      <p:sp>
        <p:nvSpPr>
          <p:cNvPr id="900" name="Google Shape;900;p53"/>
          <p:cNvSpPr txBox="1"/>
          <p:nvPr/>
        </p:nvSpPr>
        <p:spPr>
          <a:xfrm>
            <a:off x="793681" y="1726350"/>
            <a:ext cx="8904560" cy="1159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94">
                <a:solidFill>
                  <a:srgbClr val="A50021"/>
                </a:solidFill>
                <a:latin typeface="Arial"/>
                <a:ea typeface="Arial"/>
                <a:cs typeface="Arial"/>
                <a:sym typeface="Arial"/>
              </a:rPr>
              <a:t>Гистограмма </a:t>
            </a:r>
            <a:r>
              <a:rPr lang="ru-RU" sz="2078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графическое представление частотного распределения, разбитого по интервалам, где высота столбика отражает </a:t>
            </a:r>
            <a:r>
              <a:rPr b="1" lang="ru-RU" sz="2078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ЧАСТОТУ</a:t>
            </a:r>
            <a:endParaRPr b="1" sz="249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53"/>
          <p:cNvSpPr txBox="1"/>
          <p:nvPr/>
        </p:nvSpPr>
        <p:spPr>
          <a:xfrm>
            <a:off x="973939" y="194753"/>
            <a:ext cx="813355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Частотное распределение количественной переменной</a:t>
            </a:r>
            <a:endParaRPr/>
          </a:p>
        </p:txBody>
      </p:sp>
      <p:sp>
        <p:nvSpPr>
          <p:cNvPr id="902" name="Google Shape;902;p53"/>
          <p:cNvSpPr txBox="1"/>
          <p:nvPr/>
        </p:nvSpPr>
        <p:spPr>
          <a:xfrm>
            <a:off x="813230" y="1373819"/>
            <a:ext cx="9237245" cy="494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94">
                <a:solidFill>
                  <a:srgbClr val="A50021"/>
                </a:solidFill>
                <a:latin typeface="Arial"/>
                <a:ea typeface="Arial"/>
                <a:cs typeface="Arial"/>
                <a:sym typeface="Arial"/>
              </a:rPr>
              <a:t>Частота</a:t>
            </a:r>
            <a:r>
              <a:rPr lang="ru-RU" sz="2078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то, сколько раз встретилось данное значение переменной</a:t>
            </a:r>
            <a:endParaRPr/>
          </a:p>
        </p:txBody>
      </p:sp>
      <p:sp>
        <p:nvSpPr>
          <p:cNvPr id="903" name="Google Shape;903;p53"/>
          <p:cNvSpPr txBox="1"/>
          <p:nvPr/>
        </p:nvSpPr>
        <p:spPr>
          <a:xfrm>
            <a:off x="994141" y="3097224"/>
            <a:ext cx="2769684" cy="3130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78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Интервалы должны быть:</a:t>
            </a:r>
            <a:endParaRPr/>
          </a:p>
          <a:p>
            <a:pPr indent="-131953" lvl="0" marL="0" marR="0" rtl="0" algn="l">
              <a:spcBef>
                <a:spcPts val="1039"/>
              </a:spcBef>
              <a:spcAft>
                <a:spcPts val="0"/>
              </a:spcAft>
              <a:buClr>
                <a:schemeClr val="dk1"/>
              </a:buClr>
              <a:buSzPts val="2078"/>
              <a:buFont typeface="Arial"/>
              <a:buChar char="•"/>
            </a:pPr>
            <a:r>
              <a:rPr lang="ru-RU" sz="2078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одного размера,</a:t>
            </a:r>
            <a:endParaRPr/>
          </a:p>
          <a:p>
            <a:pPr indent="-131953" lvl="0" marL="0" marR="0" rtl="0" algn="l">
              <a:spcBef>
                <a:spcPts val="1039"/>
              </a:spcBef>
              <a:spcAft>
                <a:spcPts val="0"/>
              </a:spcAft>
              <a:buClr>
                <a:schemeClr val="dk1"/>
              </a:buClr>
              <a:buSzPts val="2078"/>
              <a:buFont typeface="Arial"/>
              <a:buChar char="•"/>
            </a:pPr>
            <a:r>
              <a:rPr lang="ru-RU" sz="2078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 должны иметь общих точек,</a:t>
            </a:r>
            <a:endParaRPr/>
          </a:p>
          <a:p>
            <a:pPr indent="-131953" lvl="0" marL="0" marR="0" rtl="0" algn="l">
              <a:spcBef>
                <a:spcPts val="1039"/>
              </a:spcBef>
              <a:spcAft>
                <a:spcPts val="0"/>
              </a:spcAft>
              <a:buClr>
                <a:schemeClr val="dk1"/>
              </a:buClr>
              <a:buSzPts val="2078"/>
              <a:buFont typeface="Arial"/>
              <a:buChar char="•"/>
            </a:pPr>
            <a:r>
              <a:rPr lang="ru-RU" sz="2078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для биологических данных – </a:t>
            </a:r>
            <a:r>
              <a:rPr lang="ru-RU" sz="2078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10-20</a:t>
            </a:r>
            <a:r>
              <a:rPr lang="ru-RU" sz="2078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интервалов</a:t>
            </a:r>
            <a:endParaRPr sz="207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53"/>
          <p:cNvSpPr txBox="1"/>
          <p:nvPr/>
        </p:nvSpPr>
        <p:spPr>
          <a:xfrm>
            <a:off x="793681" y="6422764"/>
            <a:ext cx="4247036" cy="394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7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Полигон частот (frequency polygon)</a:t>
            </a:r>
            <a:endParaRPr/>
          </a:p>
        </p:txBody>
      </p:sp>
      <p:sp>
        <p:nvSpPr>
          <p:cNvPr id="905" name="Google Shape;905;p53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0" name="Google Shape;910;p54"/>
          <p:cNvGrpSpPr/>
          <p:nvPr/>
        </p:nvGrpSpPr>
        <p:grpSpPr>
          <a:xfrm>
            <a:off x="242888" y="322263"/>
            <a:ext cx="9791700" cy="6553200"/>
            <a:chOff x="153" y="203"/>
            <a:chExt cx="6168" cy="4128"/>
          </a:xfrm>
        </p:grpSpPr>
        <p:sp>
          <p:nvSpPr>
            <p:cNvPr id="911" name="Google Shape;911;p54"/>
            <p:cNvSpPr/>
            <p:nvPr/>
          </p:nvSpPr>
          <p:spPr>
            <a:xfrm>
              <a:off x="153" y="203"/>
              <a:ext cx="6168" cy="4128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49803"/>
              </a:schemeClr>
            </a:solidFill>
            <a:ln>
              <a:noFill/>
            </a:ln>
          </p:spPr>
          <p:txBody>
            <a:bodyPr anchorCtr="0" anchor="ctr" bIns="49700" lIns="99425" spcFirstLastPara="1" rIns="99425" wrap="square" tIns="49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54"/>
            <p:cNvSpPr/>
            <p:nvPr/>
          </p:nvSpPr>
          <p:spPr>
            <a:xfrm>
              <a:off x="561" y="249"/>
              <a:ext cx="5261" cy="544"/>
            </a:xfrm>
            <a:prstGeom prst="roundRect">
              <a:avLst>
                <a:gd fmla="val 16667" name="adj"/>
              </a:avLst>
            </a:prstGeom>
            <a:solidFill>
              <a:srgbClr val="FFFFFF">
                <a:alpha val="78431"/>
              </a:srgbClr>
            </a:solidFill>
            <a:ln>
              <a:noFill/>
            </a:ln>
          </p:spPr>
          <p:txBody>
            <a:bodyPr anchorCtr="0" anchor="ctr" bIns="49700" lIns="99425" spcFirstLastPara="1" rIns="99425" wrap="square" tIns="49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54"/>
            <p:cNvSpPr/>
            <p:nvPr/>
          </p:nvSpPr>
          <p:spPr>
            <a:xfrm>
              <a:off x="244" y="1074"/>
              <a:ext cx="5941" cy="3196"/>
            </a:xfrm>
            <a:prstGeom prst="roundRect">
              <a:avLst>
                <a:gd fmla="val 16667" name="adj"/>
              </a:avLst>
            </a:prstGeom>
            <a:solidFill>
              <a:srgbClr val="FFFFFF">
                <a:alpha val="78431"/>
              </a:srgbClr>
            </a:solidFill>
            <a:ln>
              <a:noFill/>
            </a:ln>
          </p:spPr>
          <p:txBody>
            <a:bodyPr anchorCtr="0" anchor="ctr" bIns="49700" lIns="99425" spcFirstLastPara="1" rIns="99425" wrap="square" tIns="49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4" name="Google Shape;914;p54"/>
          <p:cNvSpPr txBox="1"/>
          <p:nvPr>
            <p:ph type="title"/>
          </p:nvPr>
        </p:nvSpPr>
        <p:spPr>
          <a:xfrm>
            <a:off x="1422674" y="412401"/>
            <a:ext cx="736069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4000"/>
              <a:t>Примеры</a:t>
            </a:r>
            <a:br>
              <a:rPr lang="ru-RU" sz="4000"/>
            </a:br>
            <a:r>
              <a:rPr lang="ru-RU" sz="2700"/>
              <a:t>столбчатые диаграммы</a:t>
            </a:r>
            <a:endParaRPr/>
          </a:p>
        </p:txBody>
      </p:sp>
      <p:sp>
        <p:nvSpPr>
          <p:cNvPr id="915" name="Google Shape;915;p54"/>
          <p:cNvSpPr txBox="1"/>
          <p:nvPr/>
        </p:nvSpPr>
        <p:spPr>
          <a:xfrm>
            <a:off x="2911476" y="1525587"/>
            <a:ext cx="4383088" cy="446088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Политические предпочтения</a:t>
            </a:r>
            <a:endParaRPr/>
          </a:p>
        </p:txBody>
      </p:sp>
      <p:grpSp>
        <p:nvGrpSpPr>
          <p:cNvPr id="916" name="Google Shape;916;p54"/>
          <p:cNvGrpSpPr/>
          <p:nvPr/>
        </p:nvGrpSpPr>
        <p:grpSpPr>
          <a:xfrm>
            <a:off x="5273077" y="2255784"/>
            <a:ext cx="4627173" cy="3717979"/>
            <a:chOff x="3216" y="1058"/>
            <a:chExt cx="2354" cy="1974"/>
          </a:xfrm>
        </p:grpSpPr>
        <p:graphicFrame>
          <p:nvGraphicFramePr>
            <p:cNvPr id="917" name="Google Shape;917;p54"/>
            <p:cNvGraphicFramePr/>
            <p:nvPr/>
          </p:nvGraphicFramePr>
          <p:xfrm>
            <a:off x="3216" y="1058"/>
            <a:ext cx="2354" cy="1490"/>
          </p:xfrm>
          <a:graphic>
            <a:graphicData uri="http://schemas.openxmlformats.org/drawingml/2006/chart">
              <c:chart r:id="rId3"/>
            </a:graphicData>
          </a:graphic>
        </p:graphicFrame>
        <p:sp>
          <p:nvSpPr>
            <p:cNvPr id="918" name="Google Shape;918;p54"/>
            <p:cNvSpPr txBox="1"/>
            <p:nvPr/>
          </p:nvSpPr>
          <p:spPr>
            <a:xfrm>
              <a:off x="3899" y="2795"/>
              <a:ext cx="847" cy="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450" lIns="94900" spcFirstLastPara="1" rIns="94900" wrap="square" tIns="474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3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Проценты</a:t>
              </a:r>
              <a:endParaRPr/>
            </a:p>
          </p:txBody>
        </p:sp>
      </p:grpSp>
      <p:graphicFrame>
        <p:nvGraphicFramePr>
          <p:cNvPr id="919" name="Google Shape;919;p54"/>
          <p:cNvGraphicFramePr/>
          <p:nvPr/>
        </p:nvGraphicFramePr>
        <p:xfrm>
          <a:off x="333375" y="2178050"/>
          <a:ext cx="4899025" cy="311785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920" name="Google Shape;920;p54"/>
          <p:cNvSpPr txBox="1"/>
          <p:nvPr/>
        </p:nvSpPr>
        <p:spPr>
          <a:xfrm>
            <a:off x="1035050" y="5580063"/>
            <a:ext cx="3208338" cy="446087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Абсолютная частота</a:t>
            </a:r>
            <a:endParaRPr/>
          </a:p>
        </p:txBody>
      </p:sp>
      <p:sp>
        <p:nvSpPr>
          <p:cNvPr id="921" name="Google Shape;921;p54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55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55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55"/>
          <p:cNvSpPr txBox="1"/>
          <p:nvPr/>
        </p:nvSpPr>
        <p:spPr>
          <a:xfrm>
            <a:off x="2947193" y="1407032"/>
            <a:ext cx="4383087" cy="446088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Политические предпочтения</a:t>
            </a:r>
            <a:endParaRPr/>
          </a:p>
        </p:txBody>
      </p:sp>
      <p:graphicFrame>
        <p:nvGraphicFramePr>
          <p:cNvPr id="929" name="Google Shape;929;p55"/>
          <p:cNvGraphicFramePr/>
          <p:nvPr/>
        </p:nvGraphicFramePr>
        <p:xfrm>
          <a:off x="5322143" y="2286507"/>
          <a:ext cx="4232275" cy="296545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930" name="Google Shape;930;p55"/>
          <p:cNvSpPr txBox="1"/>
          <p:nvPr/>
        </p:nvSpPr>
        <p:spPr>
          <a:xfrm>
            <a:off x="6776293" y="5288469"/>
            <a:ext cx="1665288" cy="446088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Проценты</a:t>
            </a:r>
            <a:endParaRPr/>
          </a:p>
        </p:txBody>
      </p:sp>
      <p:graphicFrame>
        <p:nvGraphicFramePr>
          <p:cNvPr id="931" name="Google Shape;931;p55"/>
          <p:cNvGraphicFramePr/>
          <p:nvPr/>
        </p:nvGraphicFramePr>
        <p:xfrm>
          <a:off x="889843" y="2254757"/>
          <a:ext cx="4106863" cy="2847975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932" name="Google Shape;932;p55"/>
          <p:cNvSpPr txBox="1"/>
          <p:nvPr/>
        </p:nvSpPr>
        <p:spPr>
          <a:xfrm>
            <a:off x="1262906" y="5288469"/>
            <a:ext cx="3208337" cy="446088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Абсолютная частота</a:t>
            </a:r>
            <a:endParaRPr/>
          </a:p>
        </p:txBody>
      </p:sp>
      <p:sp>
        <p:nvSpPr>
          <p:cNvPr id="933" name="Google Shape;933;p55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34" name="Google Shape;934;p55"/>
          <p:cNvSpPr txBox="1"/>
          <p:nvPr>
            <p:ph type="title"/>
          </p:nvPr>
        </p:nvSpPr>
        <p:spPr>
          <a:xfrm>
            <a:off x="1422674" y="412401"/>
            <a:ext cx="736069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4000"/>
              <a:t>Примеры</a:t>
            </a:r>
            <a:br>
              <a:rPr lang="ru-RU" sz="4000"/>
            </a:br>
            <a:r>
              <a:rPr lang="ru-RU" sz="2700"/>
              <a:t>столбчатые диаграммы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56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56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56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56"/>
          <p:cNvSpPr txBox="1"/>
          <p:nvPr/>
        </p:nvSpPr>
        <p:spPr>
          <a:xfrm>
            <a:off x="3413274" y="1725612"/>
            <a:ext cx="3613150" cy="446088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Отметки по математике</a:t>
            </a:r>
            <a:endParaRPr/>
          </a:p>
        </p:txBody>
      </p:sp>
      <p:graphicFrame>
        <p:nvGraphicFramePr>
          <p:cNvPr id="943" name="Google Shape;943;p56"/>
          <p:cNvGraphicFramePr/>
          <p:nvPr/>
        </p:nvGraphicFramePr>
        <p:xfrm>
          <a:off x="2186409" y="2630487"/>
          <a:ext cx="6411492" cy="37823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944" name="Google Shape;944;p56"/>
          <p:cNvSpPr txBox="1"/>
          <p:nvPr/>
        </p:nvSpPr>
        <p:spPr>
          <a:xfrm>
            <a:off x="3554561" y="2195512"/>
            <a:ext cx="3352800" cy="446088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(абсолютная частота)</a:t>
            </a:r>
            <a:endParaRPr/>
          </a:p>
        </p:txBody>
      </p:sp>
      <p:sp>
        <p:nvSpPr>
          <p:cNvPr id="945" name="Google Shape;945;p56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46" name="Google Shape;946;p56"/>
          <p:cNvSpPr txBox="1"/>
          <p:nvPr>
            <p:ph type="title"/>
          </p:nvPr>
        </p:nvSpPr>
        <p:spPr>
          <a:xfrm>
            <a:off x="1539503" y="395289"/>
            <a:ext cx="736069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4000"/>
              <a:t>Примеры</a:t>
            </a:r>
            <a:br>
              <a:rPr lang="ru-RU" sz="4000"/>
            </a:br>
            <a:r>
              <a:rPr lang="ru-RU" sz="2700"/>
              <a:t>столбчатые диаграммы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57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57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57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57"/>
          <p:cNvSpPr txBox="1"/>
          <p:nvPr>
            <p:ph type="title"/>
          </p:nvPr>
        </p:nvSpPr>
        <p:spPr>
          <a:xfrm>
            <a:off x="1170645" y="538808"/>
            <a:ext cx="7864748" cy="613098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4000"/>
              <a:t>Пример. Тест первокурсников</a:t>
            </a:r>
            <a:endParaRPr/>
          </a:p>
        </p:txBody>
      </p:sp>
      <p:sp>
        <p:nvSpPr>
          <p:cNvPr id="955" name="Google Shape;955;p57"/>
          <p:cNvSpPr txBox="1"/>
          <p:nvPr>
            <p:ph idx="1" type="body"/>
          </p:nvPr>
        </p:nvSpPr>
        <p:spPr>
          <a:xfrm>
            <a:off x="519335" y="1350963"/>
            <a:ext cx="8948738" cy="1050925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 lnSpcReduction="10000"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ru-RU" sz="2300"/>
              <a:t>Первокурсники социологического факультета написали тест по математике. В тесте приняли участие 331 человек. Оценивалось 11 заданий.  </a:t>
            </a:r>
            <a:endParaRPr/>
          </a:p>
          <a:p>
            <a:pPr indent="-210257" lvl="0" marL="356307" rtl="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</a:pPr>
            <a:r>
              <a:t/>
            </a:r>
            <a:endParaRPr sz="2300"/>
          </a:p>
        </p:txBody>
      </p:sp>
      <p:pic>
        <p:nvPicPr>
          <p:cNvPr id="956" name="Google Shape;956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764713" y="2600975"/>
            <a:ext cx="4897576" cy="36798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57" name="Google Shape;957;p57"/>
          <p:cNvGraphicFramePr/>
          <p:nvPr/>
        </p:nvGraphicFramePr>
        <p:xfrm>
          <a:off x="5810250" y="2713038"/>
          <a:ext cx="3652838" cy="3586162"/>
        </p:xfrm>
        <a:graphic>
          <a:graphicData uri="http://schemas.openxmlformats.org/presentationml/2006/ole">
            <mc:AlternateContent>
              <mc:Choice Requires="v">
                <p:oleObj r:id="rId5" imgH="3586162" imgW="3652838" progId="StaticEnhancedMetafile" spid="_x0000_s1">
                  <p:embed/>
                </p:oleObj>
              </mc:Choice>
              <mc:Fallback>
                <p:oleObj r:id="rId6" imgH="3586162" imgW="3652838" progId="StaticEnhancedMetafile">
                  <p:embed/>
                  <p:pic>
                    <p:nvPicPr>
                      <p:cNvPr id="957" name="Google Shape;957;p57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810250" y="2713038"/>
                        <a:ext cx="3652838" cy="3586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8" name="Google Shape;958;p57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58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58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58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58"/>
          <p:cNvSpPr txBox="1"/>
          <p:nvPr>
            <p:ph type="title"/>
          </p:nvPr>
        </p:nvSpPr>
        <p:spPr>
          <a:xfrm>
            <a:off x="513874" y="285382"/>
            <a:ext cx="9249728" cy="1187715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ru-RU"/>
              <a:t>Нормальное распределение</a:t>
            </a:r>
            <a:endParaRPr/>
          </a:p>
        </p:txBody>
      </p:sp>
      <p:sp>
        <p:nvSpPr>
          <p:cNvPr id="967" name="Google Shape;967;p58"/>
          <p:cNvSpPr txBox="1"/>
          <p:nvPr>
            <p:ph idx="1" type="body"/>
          </p:nvPr>
        </p:nvSpPr>
        <p:spPr>
          <a:xfrm>
            <a:off x="721350" y="1671667"/>
            <a:ext cx="4624388" cy="427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Анализ данных наиболее эффективен в случае, когда гистограмма близка к нормальному распределению.</a:t>
            </a:r>
            <a:endParaRPr/>
          </a:p>
          <a:p>
            <a:pPr indent="-2039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563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На гистограмме нарисована линия для нормального распределения с параметрами 4,3 и 2,71.</a:t>
            </a:r>
            <a:endParaRPr/>
          </a:p>
        </p:txBody>
      </p:sp>
      <p:graphicFrame>
        <p:nvGraphicFramePr>
          <p:cNvPr id="968" name="Google Shape;968;p58"/>
          <p:cNvGraphicFramePr/>
          <p:nvPr/>
        </p:nvGraphicFramePr>
        <p:xfrm>
          <a:off x="5329863" y="1455767"/>
          <a:ext cx="4402137" cy="4495800"/>
        </p:xfrm>
        <a:graphic>
          <a:graphicData uri="http://schemas.openxmlformats.org/presentationml/2006/ole">
            <mc:AlternateContent>
              <mc:Choice Requires="v">
                <p:oleObj r:id="rId4" imgH="4495800" imgW="4402137" progId="StaticEnhancedMetafile" spid="_x0000_s1">
                  <p:embed/>
                </p:oleObj>
              </mc:Choice>
              <mc:Fallback>
                <p:oleObj r:id="rId5" imgH="4495800" imgW="4402137" progId="StaticEnhancedMetafile">
                  <p:embed/>
                  <p:pic>
                    <p:nvPicPr>
                      <p:cNvPr id="968" name="Google Shape;968;p5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329863" y="1455767"/>
                        <a:ext cx="4402137" cy="449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9" name="Google Shape;969;p58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59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59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59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59"/>
          <p:cNvSpPr txBox="1"/>
          <p:nvPr>
            <p:ph type="title"/>
          </p:nvPr>
        </p:nvSpPr>
        <p:spPr>
          <a:xfrm>
            <a:off x="1026629" y="417568"/>
            <a:ext cx="8152780" cy="75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 sz="4000"/>
              <a:t>Бимодальное распределение </a:t>
            </a:r>
            <a:endParaRPr/>
          </a:p>
        </p:txBody>
      </p:sp>
      <p:sp>
        <p:nvSpPr>
          <p:cNvPr id="978" name="Google Shape;978;p59"/>
          <p:cNvSpPr txBox="1"/>
          <p:nvPr>
            <p:ph idx="1" type="body"/>
          </p:nvPr>
        </p:nvSpPr>
        <p:spPr>
          <a:xfrm>
            <a:off x="562650" y="1584546"/>
            <a:ext cx="3994150" cy="4703762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ru-RU" sz="2100"/>
              <a:t>Если в гистограмме видны две отдельные группы данных, говорят о </a:t>
            </a:r>
            <a:r>
              <a:rPr b="1" lang="ru-RU" sz="2100"/>
              <a:t>бимодальном распределении данных</a:t>
            </a:r>
            <a:r>
              <a:rPr lang="ru-RU" sz="2100"/>
              <a:t>.</a:t>
            </a:r>
            <a:endParaRPr/>
          </a:p>
          <a:p>
            <a:pPr indent="-222957" lvl="0" marL="356307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2100"/>
          </a:p>
          <a:p>
            <a:pPr indent="-356307" lvl="0" marL="356307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ru-RU" sz="2100"/>
              <a:t>Возможно, следует изменить ход анализа:</a:t>
            </a:r>
            <a:endParaRPr/>
          </a:p>
          <a:p>
            <a:pPr indent="-356307" lvl="0" marL="356307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ru-RU" sz="2100"/>
              <a:t>1 вариант - отказаться от изучения одной из групп</a:t>
            </a:r>
            <a:endParaRPr/>
          </a:p>
          <a:p>
            <a:pPr indent="-356307" lvl="0" marL="356307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ru-RU" sz="2100"/>
              <a:t>2 вариант - изменить подход к сбору и анализу данных</a:t>
            </a:r>
            <a:endParaRPr/>
          </a:p>
        </p:txBody>
      </p:sp>
      <p:graphicFrame>
        <p:nvGraphicFramePr>
          <p:cNvPr id="979" name="Google Shape;979;p59"/>
          <p:cNvGraphicFramePr/>
          <p:nvPr/>
        </p:nvGraphicFramePr>
        <p:xfrm>
          <a:off x="4359950" y="2316383"/>
          <a:ext cx="5422900" cy="3954463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980" name="Google Shape;980;p59"/>
          <p:cNvSpPr/>
          <p:nvPr/>
        </p:nvSpPr>
        <p:spPr>
          <a:xfrm>
            <a:off x="4682213" y="1397221"/>
            <a:ext cx="5026025" cy="7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b="1" lang="ru-RU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Пример.</a:t>
            </a:r>
            <a:r>
              <a:rPr lang="ru-RU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Продолжительность пребывания больных в стационаре</a:t>
            </a:r>
            <a:endParaRPr/>
          </a:p>
        </p:txBody>
      </p:sp>
      <p:sp>
        <p:nvSpPr>
          <p:cNvPr id="981" name="Google Shape;981;p59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60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60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60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60"/>
          <p:cNvSpPr txBox="1"/>
          <p:nvPr>
            <p:ph type="title"/>
          </p:nvPr>
        </p:nvSpPr>
        <p:spPr>
          <a:xfrm>
            <a:off x="513874" y="285382"/>
            <a:ext cx="9249728" cy="1187715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ru-RU"/>
              <a:t>Выбросы</a:t>
            </a:r>
            <a:endParaRPr/>
          </a:p>
        </p:txBody>
      </p:sp>
      <p:sp>
        <p:nvSpPr>
          <p:cNvPr id="990" name="Google Shape;990;p60"/>
          <p:cNvSpPr txBox="1"/>
          <p:nvPr>
            <p:ph idx="1" type="body"/>
          </p:nvPr>
        </p:nvSpPr>
        <p:spPr>
          <a:xfrm>
            <a:off x="478730" y="1331913"/>
            <a:ext cx="4344988" cy="4703762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ru-RU" sz="2100"/>
              <a:t>Сильно отклоняющиеся значения называются </a:t>
            </a:r>
            <a:r>
              <a:rPr b="1" lang="ru-RU" sz="2100"/>
              <a:t>выбросами</a:t>
            </a:r>
            <a:r>
              <a:rPr lang="ru-RU" sz="2100"/>
              <a:t>. </a:t>
            </a:r>
            <a:endParaRPr/>
          </a:p>
          <a:p>
            <a:pPr indent="-222957" lvl="0" marL="356307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2100"/>
          </a:p>
          <a:p>
            <a:pPr indent="-356307" lvl="0" marL="356307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ru-RU" sz="2100"/>
              <a:t>Следует решить, отказаться от выбросов в дальнейшем исследовании или нет. Можно провести два исследования параллельно – с выбросами и без. Если выбросы исключаются, это должно быть аргументировано и детально описано в отчете. </a:t>
            </a:r>
            <a:endParaRPr/>
          </a:p>
        </p:txBody>
      </p:sp>
      <p:graphicFrame>
        <p:nvGraphicFramePr>
          <p:cNvPr id="991" name="Google Shape;991;p60"/>
          <p:cNvGraphicFramePr/>
          <p:nvPr/>
        </p:nvGraphicFramePr>
        <p:xfrm>
          <a:off x="4855468" y="2098675"/>
          <a:ext cx="5129212" cy="3927475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992" name="Google Shape;992;p60"/>
          <p:cNvSpPr/>
          <p:nvPr/>
        </p:nvSpPr>
        <p:spPr>
          <a:xfrm>
            <a:off x="4887218" y="1289050"/>
            <a:ext cx="5040312" cy="7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b="1" lang="ru-RU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Пример.</a:t>
            </a:r>
            <a:r>
              <a:rPr lang="ru-RU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Время обслуживания одного клиента </a:t>
            </a:r>
            <a:endParaRPr/>
          </a:p>
        </p:txBody>
      </p:sp>
      <p:sp>
        <p:nvSpPr>
          <p:cNvPr id="993" name="Google Shape;993;p60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61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61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61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61"/>
          <p:cNvSpPr txBox="1"/>
          <p:nvPr>
            <p:ph type="title"/>
          </p:nvPr>
        </p:nvSpPr>
        <p:spPr>
          <a:xfrm>
            <a:off x="513874" y="285382"/>
            <a:ext cx="9249728" cy="1187715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ru-RU"/>
              <a:t>Полигоны частот</a:t>
            </a:r>
            <a:endParaRPr/>
          </a:p>
        </p:txBody>
      </p:sp>
      <p:sp>
        <p:nvSpPr>
          <p:cNvPr id="1002" name="Google Shape;1002;p61"/>
          <p:cNvSpPr txBox="1"/>
          <p:nvPr>
            <p:ph idx="1" type="body"/>
          </p:nvPr>
        </p:nvSpPr>
        <p:spPr>
          <a:xfrm>
            <a:off x="513873" y="1430140"/>
            <a:ext cx="4984903" cy="4703762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ru-RU" sz="2400"/>
              <a:t>Полигон, </a:t>
            </a:r>
            <a:r>
              <a:rPr lang="ru-RU" sz="2400"/>
              <a:t>в отличие от гистограммы, строится в виде линии, проходящей по точкам, соответствующим серединам интервалов и частотам. </a:t>
            </a:r>
            <a:endParaRPr/>
          </a:p>
          <a:p>
            <a:pPr indent="-2039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563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Зрительное представление о распределении частот, полученное при помощи полигона, довольно сильно отличается от гистограммы даже при одних и тех же данных. </a:t>
            </a:r>
            <a:endParaRPr/>
          </a:p>
        </p:txBody>
      </p:sp>
      <p:sp>
        <p:nvSpPr>
          <p:cNvPr id="1003" name="Google Shape;1003;p61"/>
          <p:cNvSpPr/>
          <p:nvPr/>
        </p:nvSpPr>
        <p:spPr>
          <a:xfrm>
            <a:off x="0" y="2320925"/>
            <a:ext cx="10277475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04" name="Google Shape;1004;p61"/>
          <p:cNvGraphicFramePr/>
          <p:nvPr/>
        </p:nvGraphicFramePr>
        <p:xfrm>
          <a:off x="5058410" y="1250752"/>
          <a:ext cx="4613275" cy="4710112"/>
        </p:xfrm>
        <a:graphic>
          <a:graphicData uri="http://schemas.openxmlformats.org/presentationml/2006/ole">
            <mc:AlternateContent>
              <mc:Choice Requires="v">
                <p:oleObj r:id="rId4" imgH="4710112" imgW="4613275" progId="StaticEnhancedMetafile" spid="_x0000_s1">
                  <p:embed/>
                </p:oleObj>
              </mc:Choice>
              <mc:Fallback>
                <p:oleObj r:id="rId5" imgH="4710112" imgW="4613275" progId="StaticEnhancedMetafile">
                  <p:embed/>
                  <p:pic>
                    <p:nvPicPr>
                      <p:cNvPr id="1004" name="Google Shape;1004;p6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058410" y="1250752"/>
                        <a:ext cx="4613275" cy="471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5" name="Google Shape;1005;p61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62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62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62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62"/>
          <p:cNvSpPr txBox="1"/>
          <p:nvPr>
            <p:ph type="title"/>
          </p:nvPr>
        </p:nvSpPr>
        <p:spPr>
          <a:xfrm>
            <a:off x="513874" y="285382"/>
            <a:ext cx="9249728" cy="1187715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ru-RU"/>
              <a:t>Кумулята</a:t>
            </a:r>
            <a:endParaRPr/>
          </a:p>
        </p:txBody>
      </p:sp>
      <p:sp>
        <p:nvSpPr>
          <p:cNvPr id="1014" name="Google Shape;1014;p62"/>
          <p:cNvSpPr txBox="1"/>
          <p:nvPr>
            <p:ph idx="1" type="body"/>
          </p:nvPr>
        </p:nvSpPr>
        <p:spPr>
          <a:xfrm>
            <a:off x="371628" y="1390818"/>
            <a:ext cx="5616575" cy="93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-356307" lvl="0" marL="35630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b="1" lang="ru-RU" sz="1900"/>
              <a:t>Кумулята</a:t>
            </a:r>
            <a:r>
              <a:rPr lang="ru-RU" sz="1900"/>
              <a:t> позволяет при помощи графика ответить на вопрос, сколько человек имеет, например, 5 и менее решенных задач.</a:t>
            </a:r>
            <a:endParaRPr/>
          </a:p>
          <a:p>
            <a:pPr indent="-235657" lvl="0" marL="356307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sz="1900"/>
          </a:p>
        </p:txBody>
      </p:sp>
      <p:grpSp>
        <p:nvGrpSpPr>
          <p:cNvPr id="1015" name="Google Shape;1015;p62"/>
          <p:cNvGrpSpPr/>
          <p:nvPr/>
        </p:nvGrpSpPr>
        <p:grpSpPr>
          <a:xfrm>
            <a:off x="5546878" y="1938506"/>
            <a:ext cx="4186238" cy="4276725"/>
            <a:chOff x="3684" y="1365"/>
            <a:chExt cx="2637" cy="2694"/>
          </a:xfrm>
        </p:grpSpPr>
        <p:graphicFrame>
          <p:nvGraphicFramePr>
            <p:cNvPr id="1016" name="Google Shape;1016;p62"/>
            <p:cNvGraphicFramePr/>
            <p:nvPr/>
          </p:nvGraphicFramePr>
          <p:xfrm>
            <a:off x="3684" y="1365"/>
            <a:ext cx="2637" cy="2694"/>
          </p:xfrm>
          <a:graphic>
            <a:graphicData uri="http://schemas.openxmlformats.org/presentationml/2006/ole">
              <mc:AlternateContent>
                <mc:Choice Requires="v">
                  <p:oleObj r:id="rId4" imgH="2694" imgW="2637" progId="StaticEnhancedMetafile" spid="_x0000_s1">
                    <p:embed/>
                  </p:oleObj>
                </mc:Choice>
                <mc:Fallback>
                  <p:oleObj r:id="rId5" imgH="2694" imgW="2637" progId="StaticEnhancedMetafile">
                    <p:embed/>
                    <p:pic>
                      <p:nvPicPr>
                        <p:cNvPr id="1016" name="Google Shape;1016;p62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3684" y="1365"/>
                          <a:ext cx="2637" cy="26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017" name="Google Shape;1017;p62"/>
            <p:cNvCxnSpPr/>
            <p:nvPr/>
          </p:nvCxnSpPr>
          <p:spPr>
            <a:xfrm rot="10800000">
              <a:off x="5142" y="2423"/>
              <a:ext cx="0" cy="1273"/>
            </a:xfrm>
            <a:prstGeom prst="straightConnector1">
              <a:avLst/>
            </a:prstGeom>
            <a:noFill/>
            <a:ln cap="flat" cmpd="sng" w="508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18" name="Google Shape;1018;p62"/>
            <p:cNvCxnSpPr/>
            <p:nvPr/>
          </p:nvCxnSpPr>
          <p:spPr>
            <a:xfrm rot="10800000">
              <a:off x="4249" y="2423"/>
              <a:ext cx="893" cy="0"/>
            </a:xfrm>
            <a:prstGeom prst="straightConnector1">
              <a:avLst/>
            </a:prstGeom>
            <a:noFill/>
            <a:ln cap="flat" cmpd="sng" w="508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1019" name="Google Shape;1019;p6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flipH="1" rot="10800000">
            <a:off x="551212" y="2459375"/>
            <a:ext cx="3579424" cy="367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62"/>
          <p:cNvSpPr/>
          <p:nvPr/>
        </p:nvSpPr>
        <p:spPr>
          <a:xfrm>
            <a:off x="2005166" y="3222793"/>
            <a:ext cx="671512" cy="1263650"/>
          </a:xfrm>
          <a:prstGeom prst="ellipse">
            <a:avLst/>
          </a:prstGeom>
          <a:noFill/>
          <a:ln cap="flat" cmpd="sng" w="38100">
            <a:solidFill>
              <a:srgbClr val="FF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62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63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63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63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63"/>
          <p:cNvSpPr txBox="1"/>
          <p:nvPr>
            <p:ph type="title"/>
          </p:nvPr>
        </p:nvSpPr>
        <p:spPr>
          <a:xfrm>
            <a:off x="513874" y="285382"/>
            <a:ext cx="9249728" cy="1187715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ru-RU"/>
              <a:t>Кумулята</a:t>
            </a:r>
            <a:endParaRPr/>
          </a:p>
        </p:txBody>
      </p:sp>
      <p:sp>
        <p:nvSpPr>
          <p:cNvPr id="1030" name="Google Shape;1030;p63"/>
          <p:cNvSpPr txBox="1"/>
          <p:nvPr>
            <p:ph idx="1" type="body"/>
          </p:nvPr>
        </p:nvSpPr>
        <p:spPr>
          <a:xfrm>
            <a:off x="521712" y="1327150"/>
            <a:ext cx="9249728" cy="4703021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Кумулята позволяет при помощи графика ответить на вопрос, сколько человек имеет вес до 64 кг.</a:t>
            </a:r>
            <a:endParaRPr/>
          </a:p>
        </p:txBody>
      </p:sp>
      <p:sp>
        <p:nvSpPr>
          <p:cNvPr id="1031" name="Google Shape;1031;p63"/>
          <p:cNvSpPr/>
          <p:nvPr/>
        </p:nvSpPr>
        <p:spPr>
          <a:xfrm>
            <a:off x="0" y="2320925"/>
            <a:ext cx="10277475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32" name="Google Shape;1032;p63"/>
          <p:cNvGraphicFramePr/>
          <p:nvPr/>
        </p:nvGraphicFramePr>
        <p:xfrm>
          <a:off x="474464" y="2357807"/>
          <a:ext cx="5833150" cy="4451568"/>
        </p:xfrm>
        <a:graphic>
          <a:graphicData uri="http://schemas.openxmlformats.org/drawingml/2006/chart">
            <c:chart r:id="rId3"/>
          </a:graphicData>
        </a:graphic>
      </p:graphicFrame>
      <p:cxnSp>
        <p:nvCxnSpPr>
          <p:cNvPr id="1033" name="Google Shape;1033;p63"/>
          <p:cNvCxnSpPr/>
          <p:nvPr/>
        </p:nvCxnSpPr>
        <p:spPr>
          <a:xfrm rot="10800000">
            <a:off x="2762473" y="5003304"/>
            <a:ext cx="0" cy="6477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4" name="Google Shape;1034;p63"/>
          <p:cNvCxnSpPr/>
          <p:nvPr/>
        </p:nvCxnSpPr>
        <p:spPr>
          <a:xfrm rot="10800000">
            <a:off x="1178297" y="5008265"/>
            <a:ext cx="1584176" cy="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5" name="Google Shape;1035;p63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036" name="Google Shape;1036;p63"/>
          <p:cNvGraphicFramePr/>
          <p:nvPr/>
        </p:nvGraphicFramePr>
        <p:xfrm>
          <a:off x="6695487" y="20878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{548C47A9-D9E9-427E-BDEA-8C7E547C74B1}</a:tableStyleId>
              </a:tblPr>
              <a:tblGrid>
                <a:gridCol w="1384700"/>
                <a:gridCol w="1384700"/>
              </a:tblGrid>
              <a:tr h="341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70" u="none" cap="none" strike="noStrike"/>
                        <a:t>Интервалы</a:t>
                      </a:r>
                      <a:endParaRPr sz="187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70" u="none" cap="none" strike="noStrike"/>
                        <a:t>f</a:t>
                      </a:r>
                      <a:endParaRPr sz="187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70" u="none" cap="none" strike="noStrike"/>
                        <a:t>45-49</a:t>
                      </a:r>
                      <a:endParaRPr sz="187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70" u="none" cap="none" strike="noStrike"/>
                        <a:t>3</a:t>
                      </a:r>
                      <a:endParaRPr sz="187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70" u="none" cap="none" strike="noStrike"/>
                        <a:t>50-52</a:t>
                      </a:r>
                      <a:endParaRPr sz="187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70" u="none" cap="none" strike="noStrike"/>
                        <a:t>5</a:t>
                      </a:r>
                      <a:endParaRPr sz="187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70" u="none" cap="none" strike="noStrike"/>
                        <a:t>54-55</a:t>
                      </a:r>
                      <a:endParaRPr sz="187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70" u="none" cap="none" strike="noStrike"/>
                        <a:t>10</a:t>
                      </a:r>
                      <a:endParaRPr sz="187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70" u="none" cap="none" strike="noStrike"/>
                        <a:t>56-58</a:t>
                      </a:r>
                      <a:endParaRPr sz="187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70" u="none" cap="none" strike="noStrike"/>
                        <a:t>15</a:t>
                      </a:r>
                      <a:endParaRPr sz="187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70" u="none" cap="none" strike="noStrike"/>
                        <a:t>59-62</a:t>
                      </a:r>
                      <a:endParaRPr sz="187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70" u="none" cap="none" strike="noStrike"/>
                        <a:t>20</a:t>
                      </a:r>
                      <a:endParaRPr sz="187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70" u="none" cap="none" strike="noStrike"/>
                        <a:t>63-65</a:t>
                      </a:r>
                      <a:endParaRPr sz="187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70" u="none" cap="none" strike="noStrike"/>
                        <a:t>30</a:t>
                      </a:r>
                      <a:endParaRPr sz="187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70" u="none" cap="none" strike="noStrike"/>
                        <a:t>66-68</a:t>
                      </a:r>
                      <a:endParaRPr sz="187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70" u="none" cap="none" strike="noStrike"/>
                        <a:t>40</a:t>
                      </a:r>
                      <a:endParaRPr sz="187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70" u="none" cap="none" strike="noStrike"/>
                        <a:t>69-70</a:t>
                      </a:r>
                      <a:endParaRPr sz="187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70" u="none" cap="none" strike="noStrike"/>
                        <a:t>50</a:t>
                      </a:r>
                      <a:endParaRPr sz="187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70" u="none" cap="none" strike="noStrike"/>
                        <a:t>70-75</a:t>
                      </a:r>
                      <a:endParaRPr sz="187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70" u="none" cap="none" strike="noStrike"/>
                        <a:t>60</a:t>
                      </a:r>
                      <a:endParaRPr sz="187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70" u="none" cap="none" strike="noStrike"/>
                        <a:t>76-80</a:t>
                      </a:r>
                      <a:endParaRPr sz="187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70" u="none" cap="none" strike="noStrike"/>
                        <a:t>70</a:t>
                      </a:r>
                      <a:endParaRPr sz="187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70" u="none" cap="none" strike="noStrike"/>
                        <a:t>81-90</a:t>
                      </a:r>
                      <a:endParaRPr sz="187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70" u="none" cap="none" strike="noStrike"/>
                        <a:t>77</a:t>
                      </a:r>
                      <a:endParaRPr sz="187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037" name="Google Shape;1037;p63"/>
          <p:cNvSpPr/>
          <p:nvPr/>
        </p:nvSpPr>
        <p:spPr>
          <a:xfrm>
            <a:off x="8458933" y="2477984"/>
            <a:ext cx="671512" cy="108516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64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64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64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64"/>
          <p:cNvSpPr txBox="1"/>
          <p:nvPr>
            <p:ph type="title"/>
          </p:nvPr>
        </p:nvSpPr>
        <p:spPr>
          <a:xfrm>
            <a:off x="513874" y="285382"/>
            <a:ext cx="9249728" cy="1187715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ru-RU"/>
              <a:t>Круговая диаграмма </a:t>
            </a:r>
            <a:endParaRPr/>
          </a:p>
        </p:txBody>
      </p:sp>
      <p:sp>
        <p:nvSpPr>
          <p:cNvPr id="1046" name="Google Shape;1046;p64"/>
          <p:cNvSpPr txBox="1"/>
          <p:nvPr>
            <p:ph idx="1" type="body"/>
          </p:nvPr>
        </p:nvSpPr>
        <p:spPr>
          <a:xfrm>
            <a:off x="840900" y="1285875"/>
            <a:ext cx="8401526" cy="1355725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Autofit/>
          </a:bodyPr>
          <a:lstStyle/>
          <a:p>
            <a:pPr indent="-356307" lvl="0" marL="35630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Круговая диаграмма полезна для представления частот переменной, измеряемой по номинальной шкале.</a:t>
            </a:r>
            <a:endParaRPr/>
          </a:p>
          <a:p>
            <a:pPr indent="-203907" lvl="0" marL="356307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56307" lvl="0" marL="356307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  Объемная			                  Кольцевая</a:t>
            </a:r>
            <a:endParaRPr/>
          </a:p>
        </p:txBody>
      </p:sp>
      <p:graphicFrame>
        <p:nvGraphicFramePr>
          <p:cNvPr id="1047" name="Google Shape;1047;p64"/>
          <p:cNvGraphicFramePr/>
          <p:nvPr/>
        </p:nvGraphicFramePr>
        <p:xfrm>
          <a:off x="883707" y="2811513"/>
          <a:ext cx="4306887" cy="330835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1048" name="Google Shape;1048;p64"/>
          <p:cNvGraphicFramePr/>
          <p:nvPr/>
        </p:nvGraphicFramePr>
        <p:xfrm>
          <a:off x="5589057" y="3079801"/>
          <a:ext cx="4306887" cy="2741612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049" name="Google Shape;1049;p64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65"/>
          <p:cNvSpPr txBox="1"/>
          <p:nvPr>
            <p:ph idx="4294967295" type="ctrTitle"/>
          </p:nvPr>
        </p:nvSpPr>
        <p:spPr>
          <a:xfrm>
            <a:off x="1178297" y="1978968"/>
            <a:ext cx="7551688" cy="1073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Calibri"/>
              <a:buNone/>
            </a:pPr>
            <a:r>
              <a:rPr b="1" i="0" lang="ru-RU" sz="44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Меры изменчивости</a:t>
            </a:r>
            <a:endParaRPr/>
          </a:p>
        </p:txBody>
      </p:sp>
      <p:sp>
        <p:nvSpPr>
          <p:cNvPr id="1057" name="Google Shape;1057;p65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66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66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66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66"/>
          <p:cNvSpPr txBox="1"/>
          <p:nvPr>
            <p:ph type="title"/>
          </p:nvPr>
        </p:nvSpPr>
        <p:spPr>
          <a:xfrm>
            <a:off x="1177925" y="466725"/>
            <a:ext cx="7993063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4000"/>
              <a:t>Меры изменчивости</a:t>
            </a:r>
            <a:endParaRPr/>
          </a:p>
        </p:txBody>
      </p:sp>
      <p:sp>
        <p:nvSpPr>
          <p:cNvPr id="1066" name="Google Shape;1066;p66"/>
          <p:cNvSpPr/>
          <p:nvPr/>
        </p:nvSpPr>
        <p:spPr>
          <a:xfrm>
            <a:off x="0" y="0"/>
            <a:ext cx="10277475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66"/>
          <p:cNvSpPr/>
          <p:nvPr/>
        </p:nvSpPr>
        <p:spPr>
          <a:xfrm>
            <a:off x="0" y="0"/>
            <a:ext cx="10277475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66"/>
          <p:cNvSpPr/>
          <p:nvPr/>
        </p:nvSpPr>
        <p:spPr>
          <a:xfrm>
            <a:off x="1126877" y="1704975"/>
            <a:ext cx="7993062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063" lvl="0" marL="37306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ru-RU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Рассмотрим три вариационных ряда:</a:t>
            </a:r>
            <a:endParaRPr/>
          </a:p>
        </p:txBody>
      </p:sp>
      <p:sp>
        <p:nvSpPr>
          <p:cNvPr id="1069" name="Google Shape;1069;p66"/>
          <p:cNvSpPr/>
          <p:nvPr/>
        </p:nvSpPr>
        <p:spPr>
          <a:xfrm>
            <a:off x="1558677" y="2498926"/>
            <a:ext cx="626427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999	1000	1001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    2000	1000	1000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    </a:t>
            </a:r>
            <a:r>
              <a:rPr lang="ru-RU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	1000	  999</a:t>
            </a:r>
            <a:endParaRPr sz="24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Среднее</a:t>
            </a: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     1000     1000    1000</a:t>
            </a:r>
            <a:endParaRPr/>
          </a:p>
        </p:txBody>
      </p:sp>
      <p:sp>
        <p:nvSpPr>
          <p:cNvPr id="1070" name="Google Shape;1070;p66"/>
          <p:cNvSpPr/>
          <p:nvPr/>
        </p:nvSpPr>
        <p:spPr>
          <a:xfrm>
            <a:off x="837952" y="4586489"/>
            <a:ext cx="849630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 первом случае значения сильнее всего «разбросаны» вокруг среднего: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Наша задача -  выразить </a:t>
            </a:r>
            <a:r>
              <a:rPr b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степень разброса (вариацию)</a:t>
            </a: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одним числом.</a:t>
            </a:r>
            <a:endParaRPr/>
          </a:p>
        </p:txBody>
      </p:sp>
      <p:sp>
        <p:nvSpPr>
          <p:cNvPr id="1071" name="Google Shape;1071;p66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67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67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67"/>
          <p:cNvSpPr/>
          <p:nvPr/>
        </p:nvSpPr>
        <p:spPr>
          <a:xfrm>
            <a:off x="387350" y="1403350"/>
            <a:ext cx="9431338" cy="5375275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Пример</a:t>
            </a: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Для набора данных  27, 8, 3, 12, 10, 26, 6, 19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размах равен R = 27 – 3 = 24.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67"/>
          <p:cNvSpPr txBox="1"/>
          <p:nvPr>
            <p:ph type="title"/>
          </p:nvPr>
        </p:nvSpPr>
        <p:spPr>
          <a:xfrm>
            <a:off x="1393825" y="538163"/>
            <a:ext cx="741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4000"/>
              <a:t>Меры изменчивости</a:t>
            </a:r>
            <a:endParaRPr/>
          </a:p>
        </p:txBody>
      </p:sp>
      <p:pic>
        <p:nvPicPr>
          <p:cNvPr id="1080" name="Google Shape;1080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0238" y="2473325"/>
            <a:ext cx="3473450" cy="804863"/>
          </a:xfrm>
          <a:prstGeom prst="rect">
            <a:avLst/>
          </a:prstGeom>
          <a:noFill/>
          <a:ln cap="flat" cmpd="sng" w="9525">
            <a:solidFill>
              <a:srgbClr val="FF505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081" name="Google Shape;1081;p67"/>
          <p:cNvSpPr/>
          <p:nvPr/>
        </p:nvSpPr>
        <p:spPr>
          <a:xfrm>
            <a:off x="0" y="0"/>
            <a:ext cx="10277475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67"/>
          <p:cNvSpPr/>
          <p:nvPr/>
        </p:nvSpPr>
        <p:spPr>
          <a:xfrm>
            <a:off x="0" y="0"/>
            <a:ext cx="10277475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67"/>
          <p:cNvSpPr/>
          <p:nvPr/>
        </p:nvSpPr>
        <p:spPr>
          <a:xfrm>
            <a:off x="746125" y="1619250"/>
            <a:ext cx="8785225" cy="792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Размах</a:t>
            </a: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разность между наибольшим и наименьшим значениями набора данных :</a:t>
            </a:r>
            <a:r>
              <a:rPr lang="ru-RU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084" name="Google Shape;1084;p67"/>
          <p:cNvSpPr/>
          <p:nvPr/>
        </p:nvSpPr>
        <p:spPr>
          <a:xfrm>
            <a:off x="537511" y="4715144"/>
            <a:ext cx="929005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Квартили (Quartile) - </a:t>
            </a: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значения, которые делят вариационный ряд на  четыре равные части: (Второй квартиль совпадает с медианой)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5" name="Google Shape;1085;p67"/>
          <p:cNvGrpSpPr/>
          <p:nvPr/>
        </p:nvGrpSpPr>
        <p:grpSpPr>
          <a:xfrm>
            <a:off x="638174" y="5690780"/>
            <a:ext cx="9001125" cy="792162"/>
            <a:chOff x="334" y="2063"/>
            <a:chExt cx="5670" cy="499"/>
          </a:xfrm>
        </p:grpSpPr>
        <p:sp>
          <p:nvSpPr>
            <p:cNvPr id="1086" name="Google Shape;1086;p67"/>
            <p:cNvSpPr/>
            <p:nvPr/>
          </p:nvSpPr>
          <p:spPr>
            <a:xfrm>
              <a:off x="334" y="2125"/>
              <a:ext cx="1361" cy="181"/>
            </a:xfrm>
            <a:prstGeom prst="rect">
              <a:avLst/>
            </a:prstGeom>
            <a:solidFill>
              <a:srgbClr val="F3D957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67"/>
            <p:cNvSpPr txBox="1"/>
            <p:nvPr/>
          </p:nvSpPr>
          <p:spPr>
            <a:xfrm>
              <a:off x="334" y="2063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088" name="Google Shape;1088;p67"/>
            <p:cNvSpPr/>
            <p:nvPr/>
          </p:nvSpPr>
          <p:spPr>
            <a:xfrm>
              <a:off x="1740" y="2124"/>
              <a:ext cx="1406" cy="181"/>
            </a:xfrm>
            <a:prstGeom prst="rect">
              <a:avLst/>
            </a:prstGeom>
            <a:solidFill>
              <a:srgbClr val="F3D957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67"/>
            <p:cNvSpPr/>
            <p:nvPr/>
          </p:nvSpPr>
          <p:spPr>
            <a:xfrm>
              <a:off x="3192" y="2125"/>
              <a:ext cx="1406" cy="181"/>
            </a:xfrm>
            <a:prstGeom prst="rect">
              <a:avLst/>
            </a:prstGeom>
            <a:solidFill>
              <a:srgbClr val="F3D957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67"/>
            <p:cNvSpPr/>
            <p:nvPr/>
          </p:nvSpPr>
          <p:spPr>
            <a:xfrm>
              <a:off x="4643" y="2124"/>
              <a:ext cx="1361" cy="181"/>
            </a:xfrm>
            <a:prstGeom prst="rect">
              <a:avLst/>
            </a:prstGeom>
            <a:solidFill>
              <a:srgbClr val="F3D957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67"/>
            <p:cNvSpPr txBox="1"/>
            <p:nvPr/>
          </p:nvSpPr>
          <p:spPr>
            <a:xfrm>
              <a:off x="5781" y="2063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92" name="Google Shape;1092;p6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59" y="2305"/>
              <a:ext cx="217" cy="2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3" name="Google Shape;1093;p6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29" y="2306"/>
              <a:ext cx="231" cy="2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4" name="Google Shape;1094;p6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023" y="2305"/>
              <a:ext cx="231" cy="2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5" name="Google Shape;1095;p67"/>
            <p:cNvSpPr txBox="1"/>
            <p:nvPr/>
          </p:nvSpPr>
          <p:spPr>
            <a:xfrm>
              <a:off x="833" y="2063"/>
              <a:ext cx="501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25%</a:t>
              </a:r>
              <a:endParaRPr/>
            </a:p>
          </p:txBody>
        </p:sp>
        <p:sp>
          <p:nvSpPr>
            <p:cNvPr id="1096" name="Google Shape;1096;p67"/>
            <p:cNvSpPr txBox="1"/>
            <p:nvPr/>
          </p:nvSpPr>
          <p:spPr>
            <a:xfrm>
              <a:off x="2148" y="2079"/>
              <a:ext cx="501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25%</a:t>
              </a:r>
              <a:endParaRPr/>
            </a:p>
          </p:txBody>
        </p:sp>
        <p:sp>
          <p:nvSpPr>
            <p:cNvPr id="1097" name="Google Shape;1097;p67"/>
            <p:cNvSpPr txBox="1"/>
            <p:nvPr/>
          </p:nvSpPr>
          <p:spPr>
            <a:xfrm>
              <a:off x="3689" y="2063"/>
              <a:ext cx="501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25%</a:t>
              </a:r>
              <a:endParaRPr/>
            </a:p>
          </p:txBody>
        </p:sp>
        <p:sp>
          <p:nvSpPr>
            <p:cNvPr id="1098" name="Google Shape;1098;p67"/>
            <p:cNvSpPr txBox="1"/>
            <p:nvPr/>
          </p:nvSpPr>
          <p:spPr>
            <a:xfrm>
              <a:off x="5049" y="2079"/>
              <a:ext cx="501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25%</a:t>
              </a:r>
              <a:endParaRPr/>
            </a:p>
          </p:txBody>
        </p:sp>
      </p:grpSp>
      <p:sp>
        <p:nvSpPr>
          <p:cNvPr id="1099" name="Google Shape;1099;p67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68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68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68"/>
          <p:cNvSpPr/>
          <p:nvPr/>
        </p:nvSpPr>
        <p:spPr>
          <a:xfrm>
            <a:off x="387350" y="1403350"/>
            <a:ext cx="9431338" cy="5375275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68"/>
          <p:cNvSpPr txBox="1"/>
          <p:nvPr>
            <p:ph type="title"/>
          </p:nvPr>
        </p:nvSpPr>
        <p:spPr>
          <a:xfrm>
            <a:off x="1393825" y="538163"/>
            <a:ext cx="741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4000"/>
              <a:t>Меры изменчивости</a:t>
            </a:r>
            <a:endParaRPr/>
          </a:p>
        </p:txBody>
      </p:sp>
      <p:pic>
        <p:nvPicPr>
          <p:cNvPr id="1108" name="Google Shape;1108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4113" y="2214563"/>
            <a:ext cx="2940050" cy="681037"/>
          </a:xfrm>
          <a:prstGeom prst="rect">
            <a:avLst/>
          </a:prstGeom>
          <a:noFill/>
          <a:ln cap="flat" cmpd="sng" w="9525">
            <a:solidFill>
              <a:srgbClr val="FF505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109" name="Google Shape;1109;p68"/>
          <p:cNvSpPr/>
          <p:nvPr/>
        </p:nvSpPr>
        <p:spPr>
          <a:xfrm>
            <a:off x="0" y="0"/>
            <a:ext cx="10277475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68"/>
          <p:cNvSpPr/>
          <p:nvPr/>
        </p:nvSpPr>
        <p:spPr>
          <a:xfrm>
            <a:off x="0" y="0"/>
            <a:ext cx="10277475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68"/>
          <p:cNvSpPr/>
          <p:nvPr/>
        </p:nvSpPr>
        <p:spPr>
          <a:xfrm>
            <a:off x="746125" y="1619250"/>
            <a:ext cx="8785225" cy="792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Размах</a:t>
            </a: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разность между наибольшим и наименьшим значениями набора данных :</a:t>
            </a:r>
            <a:r>
              <a:rPr lang="ru-RU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112" name="Google Shape;1112;p68"/>
          <p:cNvSpPr/>
          <p:nvPr/>
        </p:nvSpPr>
        <p:spPr>
          <a:xfrm>
            <a:off x="528637" y="3043239"/>
            <a:ext cx="9002713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Размах квартилей</a:t>
            </a: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(IQR)  - разница между третьим и первым квартилем и вычисляется по формуле: </a:t>
            </a:r>
            <a:r>
              <a:rPr i="1"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Q3-Q1</a:t>
            </a:r>
            <a:endParaRPr i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Между Q1  и  Q3  расположены 50% всех данных.</a:t>
            </a:r>
            <a:endParaRPr/>
          </a:p>
        </p:txBody>
      </p:sp>
      <p:grpSp>
        <p:nvGrpSpPr>
          <p:cNvPr id="1113" name="Google Shape;1113;p68"/>
          <p:cNvGrpSpPr/>
          <p:nvPr/>
        </p:nvGrpSpPr>
        <p:grpSpPr>
          <a:xfrm>
            <a:off x="528637" y="4107624"/>
            <a:ext cx="9001125" cy="1514475"/>
            <a:chOff x="217" y="2659"/>
            <a:chExt cx="5670" cy="954"/>
          </a:xfrm>
        </p:grpSpPr>
        <p:sp>
          <p:nvSpPr>
            <p:cNvPr id="1114" name="Google Shape;1114;p68"/>
            <p:cNvSpPr/>
            <p:nvPr/>
          </p:nvSpPr>
          <p:spPr>
            <a:xfrm>
              <a:off x="217" y="2721"/>
              <a:ext cx="1361" cy="181"/>
            </a:xfrm>
            <a:prstGeom prst="rect">
              <a:avLst/>
            </a:prstGeom>
            <a:solidFill>
              <a:srgbClr val="F3D957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68"/>
            <p:cNvSpPr txBox="1"/>
            <p:nvPr/>
          </p:nvSpPr>
          <p:spPr>
            <a:xfrm>
              <a:off x="217" y="2659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116" name="Google Shape;1116;p68"/>
            <p:cNvSpPr/>
            <p:nvPr/>
          </p:nvSpPr>
          <p:spPr>
            <a:xfrm>
              <a:off x="1623" y="2720"/>
              <a:ext cx="1406" cy="181"/>
            </a:xfrm>
            <a:prstGeom prst="rect">
              <a:avLst/>
            </a:prstGeom>
            <a:solidFill>
              <a:srgbClr val="F3D957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68"/>
            <p:cNvSpPr/>
            <p:nvPr/>
          </p:nvSpPr>
          <p:spPr>
            <a:xfrm>
              <a:off x="3075" y="2721"/>
              <a:ext cx="1406" cy="181"/>
            </a:xfrm>
            <a:prstGeom prst="rect">
              <a:avLst/>
            </a:prstGeom>
            <a:solidFill>
              <a:srgbClr val="F3D957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68"/>
            <p:cNvSpPr/>
            <p:nvPr/>
          </p:nvSpPr>
          <p:spPr>
            <a:xfrm>
              <a:off x="4526" y="2720"/>
              <a:ext cx="1361" cy="181"/>
            </a:xfrm>
            <a:prstGeom prst="rect">
              <a:avLst/>
            </a:prstGeom>
            <a:solidFill>
              <a:srgbClr val="F3D957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68"/>
            <p:cNvSpPr txBox="1"/>
            <p:nvPr/>
          </p:nvSpPr>
          <p:spPr>
            <a:xfrm>
              <a:off x="5664" y="2659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20" name="Google Shape;1120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42" y="2901"/>
              <a:ext cx="255" cy="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1" name="Google Shape;1121;p6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312" y="2902"/>
              <a:ext cx="271" cy="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2" name="Google Shape;1122;p6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906" y="2901"/>
              <a:ext cx="271" cy="3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3" name="Google Shape;1123;p68"/>
            <p:cNvSpPr txBox="1"/>
            <p:nvPr/>
          </p:nvSpPr>
          <p:spPr>
            <a:xfrm>
              <a:off x="716" y="2659"/>
              <a:ext cx="501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25%</a:t>
              </a:r>
              <a:endParaRPr/>
            </a:p>
          </p:txBody>
        </p:sp>
        <p:sp>
          <p:nvSpPr>
            <p:cNvPr id="1124" name="Google Shape;1124;p68"/>
            <p:cNvSpPr txBox="1"/>
            <p:nvPr/>
          </p:nvSpPr>
          <p:spPr>
            <a:xfrm>
              <a:off x="2031" y="2675"/>
              <a:ext cx="501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25%</a:t>
              </a:r>
              <a:endParaRPr/>
            </a:p>
          </p:txBody>
        </p:sp>
        <p:sp>
          <p:nvSpPr>
            <p:cNvPr id="1125" name="Google Shape;1125;p68"/>
            <p:cNvSpPr txBox="1"/>
            <p:nvPr/>
          </p:nvSpPr>
          <p:spPr>
            <a:xfrm>
              <a:off x="3572" y="2659"/>
              <a:ext cx="501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25%</a:t>
              </a:r>
              <a:endParaRPr/>
            </a:p>
          </p:txBody>
        </p:sp>
        <p:sp>
          <p:nvSpPr>
            <p:cNvPr id="1126" name="Google Shape;1126;p68"/>
            <p:cNvSpPr txBox="1"/>
            <p:nvPr/>
          </p:nvSpPr>
          <p:spPr>
            <a:xfrm>
              <a:off x="4932" y="2675"/>
              <a:ext cx="501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25%</a:t>
              </a:r>
              <a:endParaRPr/>
            </a:p>
          </p:txBody>
        </p:sp>
        <p:cxnSp>
          <p:nvCxnSpPr>
            <p:cNvPr id="1127" name="Google Shape;1127;p68"/>
            <p:cNvCxnSpPr/>
            <p:nvPr/>
          </p:nvCxnSpPr>
          <p:spPr>
            <a:xfrm>
              <a:off x="1623" y="3203"/>
              <a:ext cx="0" cy="317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8" name="Google Shape;1128;p68"/>
            <p:cNvCxnSpPr/>
            <p:nvPr/>
          </p:nvCxnSpPr>
          <p:spPr>
            <a:xfrm>
              <a:off x="4526" y="3203"/>
              <a:ext cx="0" cy="317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9" name="Google Shape;1129;p68"/>
            <p:cNvCxnSpPr/>
            <p:nvPr/>
          </p:nvCxnSpPr>
          <p:spPr>
            <a:xfrm>
              <a:off x="1623" y="3297"/>
              <a:ext cx="2903" cy="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pic>
          <p:nvPicPr>
            <p:cNvPr id="1130" name="Google Shape;1130;p6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02" y="3294"/>
              <a:ext cx="499" cy="3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1" name="Google Shape;1131;p68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69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69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69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69"/>
          <p:cNvSpPr txBox="1"/>
          <p:nvPr>
            <p:ph type="title"/>
          </p:nvPr>
        </p:nvSpPr>
        <p:spPr>
          <a:xfrm>
            <a:off x="1177925" y="466725"/>
            <a:ext cx="7993063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4000"/>
              <a:t>Меры изменчивости</a:t>
            </a:r>
            <a:endParaRPr/>
          </a:p>
        </p:txBody>
      </p:sp>
      <p:sp>
        <p:nvSpPr>
          <p:cNvPr id="1140" name="Google Shape;1140;p69"/>
          <p:cNvSpPr/>
          <p:nvPr/>
        </p:nvSpPr>
        <p:spPr>
          <a:xfrm>
            <a:off x="0" y="0"/>
            <a:ext cx="10277475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69"/>
          <p:cNvSpPr/>
          <p:nvPr/>
        </p:nvSpPr>
        <p:spPr>
          <a:xfrm flipH="1" rot="10800000">
            <a:off x="0" y="3263900"/>
            <a:ext cx="10277475" cy="160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69"/>
          <p:cNvSpPr/>
          <p:nvPr/>
        </p:nvSpPr>
        <p:spPr>
          <a:xfrm>
            <a:off x="0" y="0"/>
            <a:ext cx="10277475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69"/>
          <p:cNvSpPr/>
          <p:nvPr/>
        </p:nvSpPr>
        <p:spPr>
          <a:xfrm>
            <a:off x="1149151" y="1732976"/>
            <a:ext cx="7993062" cy="792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ru-RU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Диаграмма, основанная на пяти важных числах. 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ru-RU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Удобна для анализа данных и часто используется.</a:t>
            </a:r>
            <a:endParaRPr/>
          </a:p>
        </p:txBody>
      </p:sp>
      <p:grpSp>
        <p:nvGrpSpPr>
          <p:cNvPr id="1144" name="Google Shape;1144;p69"/>
          <p:cNvGrpSpPr/>
          <p:nvPr/>
        </p:nvGrpSpPr>
        <p:grpSpPr>
          <a:xfrm>
            <a:off x="786606" y="3159920"/>
            <a:ext cx="8559800" cy="1514475"/>
            <a:chOff x="268" y="1842"/>
            <a:chExt cx="5392" cy="954"/>
          </a:xfrm>
        </p:grpSpPr>
        <p:sp>
          <p:nvSpPr>
            <p:cNvPr id="1145" name="Google Shape;1145;p69"/>
            <p:cNvSpPr/>
            <p:nvPr/>
          </p:nvSpPr>
          <p:spPr>
            <a:xfrm>
              <a:off x="1578" y="1842"/>
              <a:ext cx="2041" cy="635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46" name="Google Shape;1146;p69"/>
            <p:cNvCxnSpPr/>
            <p:nvPr/>
          </p:nvCxnSpPr>
          <p:spPr>
            <a:xfrm>
              <a:off x="625" y="2159"/>
              <a:ext cx="4672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7" name="Google Shape;1147;p69"/>
            <p:cNvCxnSpPr/>
            <p:nvPr/>
          </p:nvCxnSpPr>
          <p:spPr>
            <a:xfrm>
              <a:off x="625" y="2068"/>
              <a:ext cx="0" cy="22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8" name="Google Shape;1148;p69"/>
            <p:cNvCxnSpPr/>
            <p:nvPr/>
          </p:nvCxnSpPr>
          <p:spPr>
            <a:xfrm>
              <a:off x="5297" y="2068"/>
              <a:ext cx="0" cy="22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9" name="Google Shape;1149;p69"/>
            <p:cNvCxnSpPr/>
            <p:nvPr/>
          </p:nvCxnSpPr>
          <p:spPr>
            <a:xfrm>
              <a:off x="2349" y="1842"/>
              <a:ext cx="0" cy="635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50" name="Google Shape;1150;p69"/>
            <p:cNvSpPr txBox="1"/>
            <p:nvPr/>
          </p:nvSpPr>
          <p:spPr>
            <a:xfrm>
              <a:off x="268" y="2568"/>
              <a:ext cx="719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Минимум</a:t>
              </a:r>
              <a:endParaRPr/>
            </a:p>
          </p:txBody>
        </p:sp>
        <p:sp>
          <p:nvSpPr>
            <p:cNvPr id="1151" name="Google Shape;1151;p69"/>
            <p:cNvSpPr txBox="1"/>
            <p:nvPr/>
          </p:nvSpPr>
          <p:spPr>
            <a:xfrm>
              <a:off x="4891" y="2568"/>
              <a:ext cx="769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Максимум</a:t>
              </a:r>
              <a:endParaRPr/>
            </a:p>
          </p:txBody>
        </p:sp>
        <p:sp>
          <p:nvSpPr>
            <p:cNvPr id="1152" name="Google Shape;1152;p69"/>
            <p:cNvSpPr txBox="1"/>
            <p:nvPr/>
          </p:nvSpPr>
          <p:spPr>
            <a:xfrm>
              <a:off x="1992" y="2584"/>
              <a:ext cx="67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Медиана</a:t>
              </a:r>
              <a:endParaRPr/>
            </a:p>
          </p:txBody>
        </p:sp>
        <p:pic>
          <p:nvPicPr>
            <p:cNvPr id="1153" name="Google Shape;1153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10" y="2523"/>
              <a:ext cx="192" cy="2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4" name="Google Shape;1154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06" y="2523"/>
              <a:ext cx="204" cy="22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5" name="Google Shape;1155;p69"/>
          <p:cNvGrpSpPr/>
          <p:nvPr/>
        </p:nvGrpSpPr>
        <p:grpSpPr>
          <a:xfrm>
            <a:off x="2991643" y="5208917"/>
            <a:ext cx="3097213" cy="579437"/>
            <a:chOff x="2012" y="3469"/>
            <a:chExt cx="1951" cy="365"/>
          </a:xfrm>
        </p:grpSpPr>
        <p:cxnSp>
          <p:nvCxnSpPr>
            <p:cNvPr id="1156" name="Google Shape;1156;p69"/>
            <p:cNvCxnSpPr/>
            <p:nvPr/>
          </p:nvCxnSpPr>
          <p:spPr>
            <a:xfrm>
              <a:off x="2012" y="3469"/>
              <a:ext cx="0" cy="317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7" name="Google Shape;1157;p69"/>
            <p:cNvCxnSpPr/>
            <p:nvPr/>
          </p:nvCxnSpPr>
          <p:spPr>
            <a:xfrm>
              <a:off x="3963" y="3469"/>
              <a:ext cx="0" cy="317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8" name="Google Shape;1158;p69"/>
            <p:cNvCxnSpPr/>
            <p:nvPr/>
          </p:nvCxnSpPr>
          <p:spPr>
            <a:xfrm>
              <a:off x="2012" y="3469"/>
              <a:ext cx="1951" cy="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pic>
          <p:nvPicPr>
            <p:cNvPr id="1159" name="Google Shape;1159;p6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693" y="3515"/>
              <a:ext cx="499" cy="3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0" name="Google Shape;1160;p69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70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70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70"/>
          <p:cNvSpPr/>
          <p:nvPr/>
        </p:nvSpPr>
        <p:spPr>
          <a:xfrm>
            <a:off x="387350" y="140454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70"/>
          <p:cNvSpPr txBox="1"/>
          <p:nvPr>
            <p:ph type="title"/>
          </p:nvPr>
        </p:nvSpPr>
        <p:spPr>
          <a:xfrm>
            <a:off x="1177925" y="466725"/>
            <a:ext cx="7993063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4000"/>
              <a:t>Меры изменчивости</a:t>
            </a:r>
            <a:endParaRPr/>
          </a:p>
        </p:txBody>
      </p:sp>
      <p:sp>
        <p:nvSpPr>
          <p:cNvPr id="1169" name="Google Shape;1169;p70"/>
          <p:cNvSpPr/>
          <p:nvPr/>
        </p:nvSpPr>
        <p:spPr>
          <a:xfrm>
            <a:off x="0" y="0"/>
            <a:ext cx="10277475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70"/>
          <p:cNvSpPr/>
          <p:nvPr/>
        </p:nvSpPr>
        <p:spPr>
          <a:xfrm flipH="1" rot="10800000">
            <a:off x="0" y="3263900"/>
            <a:ext cx="10277475" cy="160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70"/>
          <p:cNvSpPr/>
          <p:nvPr/>
        </p:nvSpPr>
        <p:spPr>
          <a:xfrm>
            <a:off x="0" y="0"/>
            <a:ext cx="10277475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70"/>
          <p:cNvSpPr txBox="1"/>
          <p:nvPr/>
        </p:nvSpPr>
        <p:spPr>
          <a:xfrm>
            <a:off x="4352924" y="1431927"/>
            <a:ext cx="1571625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boxplot()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3" name="Google Shape;1173;p70"/>
          <p:cNvGrpSpPr/>
          <p:nvPr/>
        </p:nvGrpSpPr>
        <p:grpSpPr>
          <a:xfrm>
            <a:off x="1330325" y="2182420"/>
            <a:ext cx="7561263" cy="4006849"/>
            <a:chOff x="1558925" y="2182420"/>
            <a:chExt cx="7561263" cy="4006849"/>
          </a:xfrm>
        </p:grpSpPr>
        <p:pic>
          <p:nvPicPr>
            <p:cNvPr id="1174" name="Google Shape;1174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58925" y="2182420"/>
              <a:ext cx="7561263" cy="40068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5" name="Google Shape;1175;p70"/>
            <p:cNvSpPr txBox="1"/>
            <p:nvPr/>
          </p:nvSpPr>
          <p:spPr>
            <a:xfrm>
              <a:off x="5786809" y="4761958"/>
              <a:ext cx="825300" cy="461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0,25</a:t>
              </a:r>
              <a:endPara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6" name="Google Shape;1176;p70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1177" name="Google Shape;1177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0524" y="5083771"/>
            <a:ext cx="304800" cy="36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8" name="Google Shape;1178;p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03152" y="3344069"/>
            <a:ext cx="323850" cy="360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71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71"/>
          <p:cNvSpPr/>
          <p:nvPr/>
        </p:nvSpPr>
        <p:spPr>
          <a:xfrm>
            <a:off x="890586" y="27252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71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71"/>
          <p:cNvSpPr txBox="1"/>
          <p:nvPr>
            <p:ph type="title"/>
          </p:nvPr>
        </p:nvSpPr>
        <p:spPr>
          <a:xfrm>
            <a:off x="1177925" y="466725"/>
            <a:ext cx="7993063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4000"/>
              <a:t>Меры изменчивости</a:t>
            </a:r>
            <a:endParaRPr/>
          </a:p>
        </p:txBody>
      </p:sp>
      <p:sp>
        <p:nvSpPr>
          <p:cNvPr id="1187" name="Google Shape;1187;p71"/>
          <p:cNvSpPr/>
          <p:nvPr/>
        </p:nvSpPr>
        <p:spPr>
          <a:xfrm>
            <a:off x="0" y="0"/>
            <a:ext cx="10277475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71"/>
          <p:cNvSpPr/>
          <p:nvPr/>
        </p:nvSpPr>
        <p:spPr>
          <a:xfrm flipH="1" rot="10800000">
            <a:off x="0" y="3263900"/>
            <a:ext cx="10277475" cy="160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71"/>
          <p:cNvSpPr/>
          <p:nvPr/>
        </p:nvSpPr>
        <p:spPr>
          <a:xfrm>
            <a:off x="0" y="0"/>
            <a:ext cx="10277475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71"/>
          <p:cNvSpPr txBox="1"/>
          <p:nvPr/>
        </p:nvSpPr>
        <p:spPr>
          <a:xfrm>
            <a:off x="4130625" y="1074737"/>
            <a:ext cx="1571625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boxplot()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1" name="Google Shape;119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9991" y="2537558"/>
            <a:ext cx="5153025" cy="362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71"/>
          <p:cNvSpPr/>
          <p:nvPr/>
        </p:nvSpPr>
        <p:spPr>
          <a:xfrm>
            <a:off x="1142963" y="1555168"/>
            <a:ext cx="792011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Ящик с усами  способ визуализации основных характеристик распределения: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71"/>
          <p:cNvSpPr/>
          <p:nvPr/>
        </p:nvSpPr>
        <p:spPr>
          <a:xfrm>
            <a:off x="890586" y="6204904"/>
            <a:ext cx="885385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Длина усов отличается в разных реализациях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71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72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72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72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72"/>
          <p:cNvSpPr txBox="1"/>
          <p:nvPr>
            <p:ph type="title"/>
          </p:nvPr>
        </p:nvSpPr>
        <p:spPr>
          <a:xfrm>
            <a:off x="962025" y="395288"/>
            <a:ext cx="7921625" cy="757237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4400"/>
              <a:t>Процентили</a:t>
            </a:r>
            <a:endParaRPr sz="4400"/>
          </a:p>
        </p:txBody>
      </p:sp>
      <p:sp>
        <p:nvSpPr>
          <p:cNvPr id="1203" name="Google Shape;1203;p72"/>
          <p:cNvSpPr txBox="1"/>
          <p:nvPr>
            <p:ph idx="1" type="body"/>
          </p:nvPr>
        </p:nvSpPr>
        <p:spPr>
          <a:xfrm>
            <a:off x="746125" y="1402904"/>
            <a:ext cx="8857108" cy="4756023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Autofit/>
          </a:bodyPr>
          <a:lstStyle/>
          <a:p>
            <a:pPr indent="-356307" lvl="0" marL="35630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ru-RU" sz="2400"/>
              <a:t>Процентили  - это характеристики набора данных, которые выражают ранги элементов в процентах от 0% до 100%. </a:t>
            </a:r>
            <a:endParaRPr/>
          </a:p>
          <a:p>
            <a:pPr indent="-356307" lvl="0" marL="356307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  <a:p>
            <a:pPr indent="-356307" lvl="0" marL="356307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ru-RU" sz="2400"/>
              <a:t>Процентили:</a:t>
            </a:r>
            <a:endParaRPr/>
          </a:p>
          <a:p>
            <a:pPr indent="-356307" lvl="0" marL="356307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ru-RU" sz="2400"/>
              <a:t>	Минимальное значение 	0%</a:t>
            </a:r>
            <a:endParaRPr/>
          </a:p>
          <a:p>
            <a:pPr indent="-356307" lvl="0" marL="356307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ru-RU" sz="2400"/>
              <a:t>	Первый квартиль		25%</a:t>
            </a:r>
            <a:endParaRPr/>
          </a:p>
          <a:p>
            <a:pPr indent="-356307" lvl="0" marL="356307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ru-RU" sz="2400"/>
              <a:t>	Медиана			50%</a:t>
            </a:r>
            <a:endParaRPr/>
          </a:p>
          <a:p>
            <a:pPr indent="-356307" lvl="0" marL="356307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ru-RU" sz="2400"/>
              <a:t>	Третий квартиль		75%</a:t>
            </a:r>
            <a:endParaRPr/>
          </a:p>
          <a:p>
            <a:pPr indent="-356307" lvl="0" marL="356307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ru-RU" sz="2400"/>
              <a:t>	Наибольшее значение	100%</a:t>
            </a:r>
            <a:endParaRPr/>
          </a:p>
          <a:p>
            <a:pPr indent="-356307" lvl="0" marL="356307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  <a:p>
            <a:pPr indent="-356307" lvl="0" marL="356307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ru-RU" sz="2400"/>
              <a:t>Процентили разбивают наборы количественных и порядковых данных на определенные части.</a:t>
            </a:r>
            <a:endParaRPr/>
          </a:p>
        </p:txBody>
      </p:sp>
      <p:sp>
        <p:nvSpPr>
          <p:cNvPr id="1204" name="Google Shape;1204;p72"/>
          <p:cNvSpPr txBox="1"/>
          <p:nvPr>
            <p:ph idx="12" type="sldNum"/>
          </p:nvPr>
        </p:nvSpPr>
        <p:spPr>
          <a:xfrm>
            <a:off x="8883650" y="6605014"/>
            <a:ext cx="879952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73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73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73"/>
          <p:cNvSpPr/>
          <p:nvPr/>
        </p:nvSpPr>
        <p:spPr>
          <a:xfrm>
            <a:off x="361329" y="1331913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73"/>
          <p:cNvSpPr/>
          <p:nvPr/>
        </p:nvSpPr>
        <p:spPr>
          <a:xfrm>
            <a:off x="2796554" y="2366963"/>
            <a:ext cx="3660775" cy="1271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73"/>
          <p:cNvSpPr txBox="1"/>
          <p:nvPr>
            <p:ph type="title"/>
          </p:nvPr>
        </p:nvSpPr>
        <p:spPr>
          <a:xfrm>
            <a:off x="514350" y="285750"/>
            <a:ext cx="9248775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ru-RU"/>
              <a:t>Дисперсия</a:t>
            </a:r>
            <a:endParaRPr/>
          </a:p>
        </p:txBody>
      </p:sp>
      <p:pic>
        <p:nvPicPr>
          <p:cNvPr id="1214" name="Google Shape;1214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4517" y="1749426"/>
            <a:ext cx="4243387" cy="3024187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73"/>
          <p:cNvSpPr/>
          <p:nvPr/>
        </p:nvSpPr>
        <p:spPr>
          <a:xfrm>
            <a:off x="1583110" y="1884611"/>
            <a:ext cx="3025550" cy="276999"/>
          </a:xfrm>
          <a:prstGeom prst="rect">
            <a:avLst/>
          </a:prstGeom>
          <a:solidFill>
            <a:srgbClr val="E1E2E5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&gt;sd(numb) [1] 0.9766062</a:t>
            </a:r>
            <a:endParaRPr/>
          </a:p>
        </p:txBody>
      </p:sp>
      <p:grpSp>
        <p:nvGrpSpPr>
          <p:cNvPr id="1216" name="Google Shape;1216;p73"/>
          <p:cNvGrpSpPr/>
          <p:nvPr/>
        </p:nvGrpSpPr>
        <p:grpSpPr>
          <a:xfrm>
            <a:off x="7344742" y="4630738"/>
            <a:ext cx="1295400" cy="1008063"/>
            <a:chOff x="4643" y="3152"/>
            <a:chExt cx="816" cy="635"/>
          </a:xfrm>
        </p:grpSpPr>
        <p:cxnSp>
          <p:nvCxnSpPr>
            <p:cNvPr id="1217" name="Google Shape;1217;p73"/>
            <p:cNvCxnSpPr/>
            <p:nvPr/>
          </p:nvCxnSpPr>
          <p:spPr>
            <a:xfrm>
              <a:off x="4643" y="3470"/>
              <a:ext cx="0" cy="317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8" name="Google Shape;1218;p73"/>
            <p:cNvCxnSpPr/>
            <p:nvPr/>
          </p:nvCxnSpPr>
          <p:spPr>
            <a:xfrm>
              <a:off x="5459" y="3470"/>
              <a:ext cx="0" cy="317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9" name="Google Shape;1219;p73"/>
            <p:cNvCxnSpPr/>
            <p:nvPr/>
          </p:nvCxnSpPr>
          <p:spPr>
            <a:xfrm>
              <a:off x="4643" y="3470"/>
              <a:ext cx="816" cy="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20" name="Google Shape;1220;p73"/>
            <p:cNvSpPr txBox="1"/>
            <p:nvPr/>
          </p:nvSpPr>
          <p:spPr>
            <a:xfrm>
              <a:off x="4915" y="3152"/>
              <a:ext cx="343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lang="ru-RU"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σ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1" name="Google Shape;1221;p73"/>
          <p:cNvSpPr txBox="1"/>
          <p:nvPr/>
        </p:nvSpPr>
        <p:spPr>
          <a:xfrm>
            <a:off x="1008260" y="4875778"/>
            <a:ext cx="3384550" cy="131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plot(1:100, numb)  qqline(mean(numb),col=2) qqline(sd(numb),col=5) qqline(-sd(numb),col=5)</a:t>
            </a:r>
            <a:endParaRPr/>
          </a:p>
        </p:txBody>
      </p:sp>
      <p:pic>
        <p:nvPicPr>
          <p:cNvPr id="1222" name="Google Shape;1222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824" y="2268538"/>
            <a:ext cx="5097462" cy="25003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3" name="Google Shape;1223;p73"/>
          <p:cNvSpPr/>
          <p:nvPr/>
        </p:nvSpPr>
        <p:spPr>
          <a:xfrm>
            <a:off x="1320776" y="1467915"/>
            <a:ext cx="3539430" cy="3077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Droid Sans Mono"/>
              <a:buNone/>
            </a:pPr>
            <a:r>
              <a:rPr b="0" i="0" lang="ru-RU" sz="2000" u="none" cap="none" strike="noStrike">
                <a:solidFill>
                  <a:srgbClr val="0000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numb&lt;-rnorm(1:100,sd=1)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74"/>
          <p:cNvSpPr/>
          <p:nvPr/>
        </p:nvSpPr>
        <p:spPr>
          <a:xfrm>
            <a:off x="176262" y="317054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74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74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74"/>
          <p:cNvSpPr/>
          <p:nvPr/>
        </p:nvSpPr>
        <p:spPr>
          <a:xfrm>
            <a:off x="2822575" y="2740025"/>
            <a:ext cx="3660775" cy="1271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74"/>
          <p:cNvSpPr txBox="1"/>
          <p:nvPr>
            <p:ph type="title"/>
          </p:nvPr>
        </p:nvSpPr>
        <p:spPr>
          <a:xfrm>
            <a:off x="514350" y="285750"/>
            <a:ext cx="9248775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ru-RU"/>
              <a:t>Дисперсия</a:t>
            </a:r>
            <a:endParaRPr/>
          </a:p>
        </p:txBody>
      </p:sp>
      <p:sp>
        <p:nvSpPr>
          <p:cNvPr id="1233" name="Google Shape;1233;p74"/>
          <p:cNvSpPr txBox="1"/>
          <p:nvPr>
            <p:ph idx="1" type="body"/>
          </p:nvPr>
        </p:nvSpPr>
        <p:spPr>
          <a:xfrm>
            <a:off x="512042" y="1606172"/>
            <a:ext cx="9088438" cy="4703763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lang="ru-RU" sz="2100"/>
              <a:t>Дисперсия выборки</a:t>
            </a:r>
            <a:r>
              <a:rPr lang="ru-RU" sz="2100"/>
              <a:t>  – мера разброса данной случайной величины, то есть её отклонения от математического ожидания, вычисляется как среднее арифметическое квадратов отклонений значений выборки мощностью </a:t>
            </a:r>
            <a:r>
              <a:rPr b="1" i="1" lang="ru-RU" sz="2100"/>
              <a:t>n</a:t>
            </a:r>
            <a:r>
              <a:rPr lang="ru-RU" sz="2100"/>
              <a:t> от их среднего.</a:t>
            </a:r>
            <a:endParaRPr/>
          </a:p>
          <a:p>
            <a:pPr indent="-356307" lvl="0" marL="356307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lang="ru-RU" sz="2100"/>
              <a:t>Вычисляем по одной из формул: </a:t>
            </a:r>
            <a:endParaRPr/>
          </a:p>
          <a:p>
            <a:pPr indent="-356307" lvl="0" marL="356307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t/>
            </a:r>
            <a:endParaRPr sz="2100"/>
          </a:p>
          <a:p>
            <a:pPr indent="-356307" lvl="0" marL="356307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t/>
            </a:r>
            <a:endParaRPr sz="2100"/>
          </a:p>
          <a:p>
            <a:pPr indent="-356307" lvl="0" marL="356307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t/>
            </a:r>
            <a:endParaRPr sz="2100"/>
          </a:p>
          <a:p>
            <a:pPr indent="-356307" lvl="0" marL="356307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t/>
            </a:r>
            <a:endParaRPr sz="2100"/>
          </a:p>
          <a:p>
            <a:pPr indent="-356307" lvl="0" marL="356307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ru-RU" sz="2100"/>
              <a:t>Считается, что формула б) более пригодна для практических вычислений при ручном счете и при использовании электронных таблиц.</a:t>
            </a:r>
            <a:endParaRPr/>
          </a:p>
        </p:txBody>
      </p:sp>
      <p:pic>
        <p:nvPicPr>
          <p:cNvPr id="1234" name="Google Shape;1234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6809" y="3651219"/>
            <a:ext cx="2727325" cy="950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5" name="Google Shape;1235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2962" y="2765592"/>
            <a:ext cx="295275" cy="503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6" name="Google Shape;1236;p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95485" y="3691323"/>
            <a:ext cx="2205037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7" name="Google Shape;1237;p74"/>
          <p:cNvSpPr txBox="1"/>
          <p:nvPr/>
        </p:nvSpPr>
        <p:spPr>
          <a:xfrm>
            <a:off x="1652535" y="3923098"/>
            <a:ext cx="409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а)</a:t>
            </a:r>
            <a:endParaRPr/>
          </a:p>
        </p:txBody>
      </p:sp>
      <p:sp>
        <p:nvSpPr>
          <p:cNvPr id="1238" name="Google Shape;1238;p74"/>
          <p:cNvSpPr txBox="1"/>
          <p:nvPr/>
        </p:nvSpPr>
        <p:spPr>
          <a:xfrm>
            <a:off x="5134396" y="3927601"/>
            <a:ext cx="4143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б)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75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75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75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75"/>
          <p:cNvSpPr/>
          <p:nvPr/>
        </p:nvSpPr>
        <p:spPr>
          <a:xfrm>
            <a:off x="496888" y="2581275"/>
            <a:ext cx="3914775" cy="2290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75"/>
          <p:cNvSpPr txBox="1"/>
          <p:nvPr>
            <p:ph type="title"/>
          </p:nvPr>
        </p:nvSpPr>
        <p:spPr>
          <a:xfrm>
            <a:off x="1106488" y="285750"/>
            <a:ext cx="7848600" cy="757238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 sz="4000"/>
              <a:t>Подсчет дисперсии в таблице</a:t>
            </a:r>
            <a:endParaRPr/>
          </a:p>
        </p:txBody>
      </p:sp>
      <p:sp>
        <p:nvSpPr>
          <p:cNvPr id="1248" name="Google Shape;1248;p75"/>
          <p:cNvSpPr txBox="1"/>
          <p:nvPr>
            <p:ph idx="1" type="body"/>
          </p:nvPr>
        </p:nvSpPr>
        <p:spPr>
          <a:xfrm>
            <a:off x="817563" y="1677990"/>
            <a:ext cx="8424862" cy="360362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Дисперсию удобно рассчитывать при помощи таблицы.</a:t>
            </a:r>
            <a:endParaRPr/>
          </a:p>
        </p:txBody>
      </p:sp>
      <p:sp>
        <p:nvSpPr>
          <p:cNvPr id="1249" name="Google Shape;1249;p75"/>
          <p:cNvSpPr/>
          <p:nvPr/>
        </p:nvSpPr>
        <p:spPr>
          <a:xfrm>
            <a:off x="2703513" y="1482725"/>
            <a:ext cx="866775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0" name="Google Shape;1250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9988" y="2757488"/>
            <a:ext cx="220662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75"/>
          <p:cNvSpPr/>
          <p:nvPr/>
        </p:nvSpPr>
        <p:spPr>
          <a:xfrm>
            <a:off x="2703513" y="1482725"/>
            <a:ext cx="652462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75"/>
          <p:cNvSpPr/>
          <p:nvPr/>
        </p:nvSpPr>
        <p:spPr>
          <a:xfrm>
            <a:off x="2703513" y="1482725"/>
            <a:ext cx="9271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75"/>
          <p:cNvSpPr/>
          <p:nvPr/>
        </p:nvSpPr>
        <p:spPr>
          <a:xfrm>
            <a:off x="2703513" y="1482725"/>
            <a:ext cx="866775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75"/>
          <p:cNvSpPr/>
          <p:nvPr/>
        </p:nvSpPr>
        <p:spPr>
          <a:xfrm>
            <a:off x="2703513" y="1482725"/>
            <a:ext cx="652462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5" name="Google Shape;1255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9213" y="2586038"/>
            <a:ext cx="603250" cy="436562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Google Shape;1256;p75"/>
          <p:cNvSpPr/>
          <p:nvPr/>
        </p:nvSpPr>
        <p:spPr>
          <a:xfrm>
            <a:off x="2703513" y="1482725"/>
            <a:ext cx="9017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7" name="Google Shape;1257;p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08438" y="2605088"/>
            <a:ext cx="842962" cy="4635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58" name="Google Shape;1258;p75"/>
          <p:cNvGraphicFramePr/>
          <p:nvPr/>
        </p:nvGraphicFramePr>
        <p:xfrm>
          <a:off x="817563" y="265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{51B91766-9E8F-4537-9BFA-EBA28B162279}</a:tableStyleId>
              </a:tblPr>
              <a:tblGrid>
                <a:gridCol w="1416050"/>
                <a:gridCol w="1417625"/>
                <a:gridCol w="1416050"/>
              </a:tblGrid>
              <a:tr h="492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Calibri"/>
                        <a:buNone/>
                      </a:pPr>
                      <a:r>
                        <a:t/>
                      </a:r>
                      <a:endParaRPr b="0" i="0" sz="17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Calibri"/>
                        <a:buNone/>
                      </a:pPr>
                      <a:r>
                        <a:t/>
                      </a:r>
                      <a:endParaRPr b="0" i="0" sz="17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Calibri"/>
                        <a:buNone/>
                      </a:pPr>
                      <a:r>
                        <a:t/>
                      </a:r>
                      <a:endParaRPr b="0" i="0" sz="17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ru-RU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ru-RU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– 5 = -3</a:t>
                      </a:r>
                      <a:endParaRPr/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ru-RU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ru-RU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ru-RU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– 5 = -2</a:t>
                      </a:r>
                      <a:endParaRPr/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ru-RU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ru-RU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ru-RU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 – 5 = 1</a:t>
                      </a:r>
                      <a:endParaRPr/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ru-RU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ru-RU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ru-RU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 – 5 = 4</a:t>
                      </a:r>
                      <a:endParaRPr/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ru-RU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/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ru-RU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/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ru-RU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</a:t>
                      </a:r>
                      <a:endParaRPr/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59" name="Google Shape;1259;p75"/>
          <p:cNvSpPr/>
          <p:nvPr/>
        </p:nvSpPr>
        <p:spPr>
          <a:xfrm>
            <a:off x="5283200" y="2554288"/>
            <a:ext cx="4537075" cy="1584325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ru-RU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 первом столбце выборка. Второй и третий столбцы для вычислений.</a:t>
            </a:r>
            <a:endParaRPr/>
          </a:p>
          <a:p>
            <a:pPr indent="0" lvl="0" marL="0" marR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ru-RU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Сумма третьего столбца есть сумма квадратов отклонений значений выборки от среднего.</a:t>
            </a:r>
            <a:endParaRPr/>
          </a:p>
        </p:txBody>
      </p:sp>
      <p:pic>
        <p:nvPicPr>
          <p:cNvPr id="1260" name="Google Shape;1260;p7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86450" y="4341813"/>
            <a:ext cx="2146300" cy="7826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1" name="Google Shape;1261;p75"/>
          <p:cNvGrpSpPr/>
          <p:nvPr/>
        </p:nvGrpSpPr>
        <p:grpSpPr>
          <a:xfrm>
            <a:off x="5570538" y="5283200"/>
            <a:ext cx="3386137" cy="808038"/>
            <a:chOff x="3509" y="3328"/>
            <a:chExt cx="2133" cy="509"/>
          </a:xfrm>
        </p:grpSpPr>
        <p:pic>
          <p:nvPicPr>
            <p:cNvPr id="1262" name="Google Shape;1262;p7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509" y="3328"/>
              <a:ext cx="2069" cy="5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3" name="Google Shape;1263;p75"/>
            <p:cNvSpPr/>
            <p:nvPr/>
          </p:nvSpPr>
          <p:spPr>
            <a:xfrm>
              <a:off x="5324" y="3405"/>
              <a:ext cx="318" cy="362"/>
            </a:xfrm>
            <a:prstGeom prst="ellipse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4" name="Google Shape;1264;p75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76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p76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76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76"/>
          <p:cNvSpPr txBox="1"/>
          <p:nvPr>
            <p:ph type="title"/>
          </p:nvPr>
        </p:nvSpPr>
        <p:spPr>
          <a:xfrm>
            <a:off x="1035050" y="538163"/>
            <a:ext cx="7704138" cy="757237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 sz="3600"/>
              <a:t>Подсчет дисперсии в таблице</a:t>
            </a:r>
            <a:endParaRPr/>
          </a:p>
        </p:txBody>
      </p:sp>
      <p:sp>
        <p:nvSpPr>
          <p:cNvPr id="1273" name="Google Shape;1273;p76"/>
          <p:cNvSpPr txBox="1"/>
          <p:nvPr>
            <p:ph idx="1" type="body"/>
          </p:nvPr>
        </p:nvSpPr>
        <p:spPr>
          <a:xfrm>
            <a:off x="624681" y="1477963"/>
            <a:ext cx="9248775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Autofit/>
          </a:bodyPr>
          <a:lstStyle/>
          <a:p>
            <a:pPr indent="-356307" lvl="0" marL="35630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Пример вычисления дисперсии по второй формуле. В таблице рассчитываются лишь квадраты значений.</a:t>
            </a:r>
            <a:endParaRPr/>
          </a:p>
        </p:txBody>
      </p:sp>
      <p:sp>
        <p:nvSpPr>
          <p:cNvPr id="1274" name="Google Shape;1274;p76"/>
          <p:cNvSpPr/>
          <p:nvPr/>
        </p:nvSpPr>
        <p:spPr>
          <a:xfrm>
            <a:off x="2703513" y="1482725"/>
            <a:ext cx="866775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5" name="Google Shape;1275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7619" y="2514600"/>
            <a:ext cx="273050" cy="34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6" name="Google Shape;1276;p76"/>
          <p:cNvSpPr/>
          <p:nvPr/>
        </p:nvSpPr>
        <p:spPr>
          <a:xfrm>
            <a:off x="2703513" y="1482725"/>
            <a:ext cx="652462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76"/>
          <p:cNvSpPr/>
          <p:nvPr/>
        </p:nvSpPr>
        <p:spPr>
          <a:xfrm>
            <a:off x="2703513" y="1482725"/>
            <a:ext cx="9271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76"/>
          <p:cNvSpPr/>
          <p:nvPr/>
        </p:nvSpPr>
        <p:spPr>
          <a:xfrm>
            <a:off x="2703513" y="1482725"/>
            <a:ext cx="866775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76"/>
          <p:cNvSpPr/>
          <p:nvPr/>
        </p:nvSpPr>
        <p:spPr>
          <a:xfrm>
            <a:off x="2703513" y="1482725"/>
            <a:ext cx="652462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76"/>
          <p:cNvSpPr/>
          <p:nvPr/>
        </p:nvSpPr>
        <p:spPr>
          <a:xfrm>
            <a:off x="2703513" y="1482725"/>
            <a:ext cx="9017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81" name="Google Shape;1281;p76"/>
          <p:cNvGraphicFramePr/>
          <p:nvPr/>
        </p:nvGraphicFramePr>
        <p:xfrm>
          <a:off x="696119" y="24876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{51B91766-9E8F-4537-9BFA-EBA28B162279}</a:tableStyleId>
              </a:tblPr>
              <a:tblGrid>
                <a:gridCol w="1619250"/>
                <a:gridCol w="1619250"/>
              </a:tblGrid>
              <a:tr h="492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t/>
                      </a:r>
                      <a:endParaRPr b="0" i="0" sz="1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t/>
                      </a:r>
                      <a:endParaRPr b="0" i="0" sz="1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ru-RU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ru-RU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ru-RU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ru-RU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ru-RU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ru-RU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36</a:t>
                      </a:r>
                      <a:endParaRPr/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ru-RU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ru-RU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81</a:t>
                      </a:r>
                      <a:endParaRPr/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ru-RU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/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ru-RU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130</a:t>
                      </a:r>
                      <a:endParaRPr/>
                    </a:p>
                  </a:txBody>
                  <a:tcPr marT="47450" marB="47450" marR="94925" marL="949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82" name="Google Shape;1282;p76"/>
          <p:cNvSpPr/>
          <p:nvPr/>
        </p:nvSpPr>
        <p:spPr>
          <a:xfrm>
            <a:off x="4303713" y="2594768"/>
            <a:ext cx="5638006" cy="1563688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Autofit/>
          </a:bodyPr>
          <a:lstStyle/>
          <a:p>
            <a:pPr indent="-1333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 первом столбце выборка. Во втором – квадраты значений. Сумма второго столбца есть сумма квадратов значений. </a:t>
            </a:r>
            <a:endParaRPr/>
          </a:p>
          <a:p>
            <a:pPr indent="-133350" lvl="0" marL="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ru-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 требуется вычислять среднее.</a:t>
            </a:r>
            <a:endParaRPr/>
          </a:p>
          <a:p>
            <a:pPr indent="0" lvl="0" marL="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76"/>
          <p:cNvSpPr/>
          <p:nvPr/>
        </p:nvSpPr>
        <p:spPr>
          <a:xfrm>
            <a:off x="6578600" y="5578475"/>
            <a:ext cx="504825" cy="576263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4" name="Google Shape;1284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85281" y="2328862"/>
            <a:ext cx="398463" cy="56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5" name="Google Shape;1285;p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8013" y="4427538"/>
            <a:ext cx="2908300" cy="188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6" name="Google Shape;1286;p76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77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77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77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77"/>
          <p:cNvSpPr txBox="1"/>
          <p:nvPr>
            <p:ph type="title"/>
          </p:nvPr>
        </p:nvSpPr>
        <p:spPr>
          <a:xfrm>
            <a:off x="1393825" y="466725"/>
            <a:ext cx="7559675" cy="757238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 sz="4000"/>
              <a:t>Стандартное отклонение</a:t>
            </a:r>
            <a:endParaRPr/>
          </a:p>
        </p:txBody>
      </p:sp>
      <p:sp>
        <p:nvSpPr>
          <p:cNvPr id="1295" name="Google Shape;1295;p77"/>
          <p:cNvSpPr txBox="1"/>
          <p:nvPr>
            <p:ph idx="1" type="body"/>
          </p:nvPr>
        </p:nvSpPr>
        <p:spPr>
          <a:xfrm>
            <a:off x="875333" y="1112072"/>
            <a:ext cx="8785200" cy="10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6307" lvl="0" marL="35630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</a:pPr>
            <a:r>
              <a:rPr b="1" lang="ru-RU" sz="2300"/>
              <a:t>Стандартное (среднеквадратическое) отклонение  </a:t>
            </a:r>
            <a:r>
              <a:rPr b="1" lang="ru-RU" sz="3100"/>
              <a:t>(σ)</a:t>
            </a:r>
            <a:r>
              <a:rPr lang="ru-RU" sz="3100"/>
              <a:t> </a:t>
            </a:r>
            <a:r>
              <a:rPr lang="ru-RU" sz="2300"/>
              <a:t>вычисляется как корень квадратный из дисперсии:</a:t>
            </a:r>
            <a:endParaRPr/>
          </a:p>
          <a:p>
            <a:pPr indent="-356307" lvl="0" marL="356307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</a:pPr>
            <a:r>
              <a:t/>
            </a:r>
            <a:endParaRPr sz="2300"/>
          </a:p>
          <a:p>
            <a:pPr indent="-356307" lvl="0" marL="356307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</a:pPr>
            <a:r>
              <a:t/>
            </a:r>
            <a:endParaRPr sz="2300"/>
          </a:p>
          <a:p>
            <a:pPr indent="-356307" lvl="0" marL="356307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</a:pPr>
            <a:r>
              <a:t/>
            </a:r>
            <a:endParaRPr sz="2300"/>
          </a:p>
          <a:p>
            <a:pPr indent="-356307" lvl="0" marL="356307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</a:pPr>
            <a:r>
              <a:t/>
            </a:r>
            <a:endParaRPr sz="2300"/>
          </a:p>
          <a:p>
            <a:pPr indent="-356307" lvl="0" marL="356307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</a:pPr>
            <a:r>
              <a:t/>
            </a:r>
            <a:endParaRPr sz="2300"/>
          </a:p>
          <a:p>
            <a:pPr indent="-356307" lvl="0" marL="356307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</a:pPr>
            <a:r>
              <a:t/>
            </a:r>
            <a:endParaRPr sz="2300"/>
          </a:p>
          <a:p>
            <a:pPr indent="-356307" lvl="0" marL="356307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</a:pPr>
            <a:r>
              <a:t/>
            </a:r>
            <a:endParaRPr sz="2300"/>
          </a:p>
          <a:p>
            <a:pPr indent="-356307" lvl="0" marL="356307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</a:pPr>
            <a:r>
              <a:t/>
            </a:r>
            <a:endParaRPr sz="2300"/>
          </a:p>
        </p:txBody>
      </p:sp>
      <p:pic>
        <p:nvPicPr>
          <p:cNvPr descr="f127c5a8c7" id="1296" name="Google Shape;1296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546" y="2713673"/>
            <a:ext cx="2736850" cy="142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  <p:pic>
        <p:nvPicPr>
          <p:cNvPr id="1297" name="Google Shape;1297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9505" y="2613447"/>
            <a:ext cx="4619070" cy="3465686"/>
          </a:xfrm>
          <a:prstGeom prst="rect">
            <a:avLst/>
          </a:prstGeom>
          <a:noFill/>
          <a:ln>
            <a:noFill/>
          </a:ln>
        </p:spPr>
      </p:pic>
      <p:sp>
        <p:nvSpPr>
          <p:cNvPr id="1298" name="Google Shape;1298;p77"/>
          <p:cNvSpPr txBox="1"/>
          <p:nvPr/>
        </p:nvSpPr>
        <p:spPr>
          <a:xfrm>
            <a:off x="723488" y="4447917"/>
            <a:ext cx="3744416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Стандартное отклонение имеет исключительную важность для описания распределения данных.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78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78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78"/>
          <p:cNvSpPr txBox="1"/>
          <p:nvPr>
            <p:ph type="title"/>
          </p:nvPr>
        </p:nvSpPr>
        <p:spPr>
          <a:xfrm>
            <a:off x="1393825" y="466725"/>
            <a:ext cx="7559675" cy="757238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 sz="4000"/>
              <a:t>Куртозис</a:t>
            </a:r>
            <a:endParaRPr sz="4000"/>
          </a:p>
        </p:txBody>
      </p:sp>
      <p:sp>
        <p:nvSpPr>
          <p:cNvPr id="1306" name="Google Shape;1306;p78"/>
          <p:cNvSpPr/>
          <p:nvPr/>
        </p:nvSpPr>
        <p:spPr>
          <a:xfrm>
            <a:off x="386209" y="1389118"/>
            <a:ext cx="5112568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Куртозис (kurtosis)</a:t>
            </a: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это показатель, который отражает остроту вершины и толщину хвостов одномерного распределения.</a:t>
            </a:r>
            <a:b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Куртозис (kurtosis) или эксцесс</a:t>
            </a: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это четвертый центральный момент распределения отклонений от среднего, нормированный дисперсией.</a:t>
            </a:r>
            <a:endParaRPr/>
          </a:p>
        </p:txBody>
      </p:sp>
      <p:sp>
        <p:nvSpPr>
          <p:cNvPr id="1307" name="Google Shape;1307;p78"/>
          <p:cNvSpPr/>
          <p:nvPr/>
        </p:nvSpPr>
        <p:spPr>
          <a:xfrm>
            <a:off x="1249935" y="5442633"/>
            <a:ext cx="878465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Синяя кривая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нормальное распределение (куртозис нормального распределения вне зависимости от математического ожидания и стандартного отклонения равен 3).</a:t>
            </a:r>
            <a:b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Красная кривая</a:t>
            </a: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имеет положительный эксцесс/куртозис больше 3.</a:t>
            </a:r>
            <a:endParaRPr/>
          </a:p>
        </p:txBody>
      </p:sp>
      <p:pic>
        <p:nvPicPr>
          <p:cNvPr id="1308" name="Google Shape;1308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2753" y="1707948"/>
            <a:ext cx="4487575" cy="3367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79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79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79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79"/>
          <p:cNvSpPr txBox="1"/>
          <p:nvPr>
            <p:ph type="title"/>
          </p:nvPr>
        </p:nvSpPr>
        <p:spPr>
          <a:xfrm>
            <a:off x="1466329" y="538808"/>
            <a:ext cx="7200800" cy="573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4000"/>
              <a:t>Неравенство Чебышева</a:t>
            </a:r>
            <a:endParaRPr/>
          </a:p>
        </p:txBody>
      </p:sp>
      <p:sp>
        <p:nvSpPr>
          <p:cNvPr id="1317" name="Google Shape;1317;p79"/>
          <p:cNvSpPr txBox="1"/>
          <p:nvPr>
            <p:ph idx="1" type="body"/>
          </p:nvPr>
        </p:nvSpPr>
        <p:spPr>
          <a:xfrm>
            <a:off x="770390" y="1527174"/>
            <a:ext cx="8969027" cy="4703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Для интерпретации стандартного отклонения применяют неравенство Чебышева. В терминах статистического исследования оно имеет следующую трактовку:</a:t>
            </a:r>
            <a:endParaRPr sz="2400"/>
          </a:p>
          <a:p>
            <a:pPr indent="-2039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563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В любой совокупности доля значений, попадающих в интервал </a:t>
            </a:r>
            <a:endParaRPr/>
          </a:p>
          <a:p>
            <a:pPr indent="-2039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039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563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будет равна, по крайней мере,</a:t>
            </a:r>
            <a:endParaRPr/>
          </a:p>
          <a:p>
            <a:pPr indent="-2039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039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563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где k  - любое число, большее 1.</a:t>
            </a:r>
            <a:endParaRPr/>
          </a:p>
        </p:txBody>
      </p:sp>
      <p:pic>
        <p:nvPicPr>
          <p:cNvPr id="1318" name="Google Shape;1318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322" y="3590526"/>
            <a:ext cx="1297199" cy="576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9" name="Google Shape;1319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3968" y="4901833"/>
            <a:ext cx="1239553" cy="943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0" name="Google Shape;1320;p79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80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6" name="Google Shape;1326;p80"/>
          <p:cNvSpPr/>
          <p:nvPr/>
        </p:nvSpPr>
        <p:spPr>
          <a:xfrm>
            <a:off x="890588" y="395287"/>
            <a:ext cx="8351837" cy="1099185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80"/>
          <p:cNvSpPr/>
          <p:nvPr/>
        </p:nvSpPr>
        <p:spPr>
          <a:xfrm>
            <a:off x="1312716" y="1683886"/>
            <a:ext cx="8351837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80"/>
          <p:cNvSpPr txBox="1"/>
          <p:nvPr>
            <p:ph type="title"/>
          </p:nvPr>
        </p:nvSpPr>
        <p:spPr>
          <a:xfrm>
            <a:off x="1106289" y="395288"/>
            <a:ext cx="7776864" cy="8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ru-RU" sz="3200"/>
              <a:t>Интерпретация стандартного отклонения</a:t>
            </a:r>
            <a:endParaRPr/>
          </a:p>
        </p:txBody>
      </p:sp>
      <p:sp>
        <p:nvSpPr>
          <p:cNvPr id="1329" name="Google Shape;1329;p80"/>
          <p:cNvSpPr txBox="1"/>
          <p:nvPr>
            <p:ph idx="1" type="body"/>
          </p:nvPr>
        </p:nvSpPr>
        <p:spPr>
          <a:xfrm>
            <a:off x="1322313" y="1985416"/>
            <a:ext cx="8441289" cy="4296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Можно утверждать, что интервал с границами</a:t>
            </a:r>
            <a:endParaRPr/>
          </a:p>
          <a:p>
            <a:pPr indent="-2039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039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содержит, по крайней мере, 3/4 всех данных (75%). </a:t>
            </a:r>
            <a:endParaRPr/>
          </a:p>
          <a:p>
            <a:pPr indent="-2039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563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Интервал с границами</a:t>
            </a:r>
            <a:endParaRPr/>
          </a:p>
          <a:p>
            <a:pPr indent="-2039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039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содержит, по крайней мере, 8/9 всех данных (89,9%). </a:t>
            </a:r>
            <a:endParaRPr/>
          </a:p>
          <a:p>
            <a:pPr indent="-2039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id="1330" name="Google Shape;1330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5365" y="2483103"/>
            <a:ext cx="1138519" cy="576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8415" y="4133713"/>
            <a:ext cx="1107113" cy="576461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80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81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81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81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p81"/>
          <p:cNvSpPr txBox="1"/>
          <p:nvPr>
            <p:ph type="title"/>
          </p:nvPr>
        </p:nvSpPr>
        <p:spPr>
          <a:xfrm>
            <a:off x="1098128" y="448531"/>
            <a:ext cx="7936756" cy="757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4400"/>
              <a:t>Пример </a:t>
            </a:r>
            <a:endParaRPr/>
          </a:p>
        </p:txBody>
      </p:sp>
      <p:sp>
        <p:nvSpPr>
          <p:cNvPr id="1341" name="Google Shape;1341;p81"/>
          <p:cNvSpPr txBox="1"/>
          <p:nvPr>
            <p:ph idx="1" type="body"/>
          </p:nvPr>
        </p:nvSpPr>
        <p:spPr>
          <a:xfrm>
            <a:off x="415806" y="1501551"/>
            <a:ext cx="9248775" cy="1842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Средний заработок персонала на раздаче в ресторане быстрого обслуживания составляет 8,4$ со стандартным отклонением 0,4$. Оцените интервал, в котором находится заработок 90% персонала.</a:t>
            </a:r>
            <a:endParaRPr/>
          </a:p>
          <a:p>
            <a:pPr indent="-2039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357188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ru-RU" sz="2400"/>
              <a:t>Решение</a:t>
            </a:r>
            <a:r>
              <a:rPr lang="ru-RU" sz="2400"/>
              <a:t>.</a:t>
            </a:r>
            <a:endParaRPr/>
          </a:p>
          <a:p>
            <a:pPr indent="-3563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sz="2400"/>
              <a:t>По неравенству Чебышева: </a:t>
            </a:r>
            <a:endParaRPr/>
          </a:p>
          <a:p>
            <a:pPr indent="-203907" lvl="0" marL="356307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id="1342" name="Google Shape;1342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7388" y="4549775"/>
            <a:ext cx="4010025" cy="468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3" name="Google Shape;1343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2138" y="5316538"/>
            <a:ext cx="1754187" cy="43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81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82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0" name="Google Shape;1350;p82"/>
          <p:cNvSpPr/>
          <p:nvPr/>
        </p:nvSpPr>
        <p:spPr>
          <a:xfrm>
            <a:off x="890588" y="395288"/>
            <a:ext cx="8351837" cy="1008062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82"/>
          <p:cNvSpPr/>
          <p:nvPr/>
        </p:nvSpPr>
        <p:spPr>
          <a:xfrm>
            <a:off x="387350" y="1704975"/>
            <a:ext cx="9431338" cy="507365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82"/>
          <p:cNvSpPr txBox="1"/>
          <p:nvPr>
            <p:ph type="title"/>
          </p:nvPr>
        </p:nvSpPr>
        <p:spPr>
          <a:xfrm>
            <a:off x="696441" y="358775"/>
            <a:ext cx="8569200" cy="1044575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sz="3600"/>
              <a:t>Разделы исследовательского анализа данных (дескриптивный анализ)</a:t>
            </a:r>
            <a:endParaRPr sz="3600"/>
          </a:p>
        </p:txBody>
      </p:sp>
      <p:sp>
        <p:nvSpPr>
          <p:cNvPr id="1353" name="Google Shape;1353;p82"/>
          <p:cNvSpPr txBox="1"/>
          <p:nvPr>
            <p:ph idx="1" type="body"/>
          </p:nvPr>
        </p:nvSpPr>
        <p:spPr>
          <a:xfrm>
            <a:off x="416402" y="3059088"/>
            <a:ext cx="9762648" cy="3252812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/>
          </a:p>
          <a:p>
            <a:pPr indent="-356307" lvl="0" marL="356307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1" lang="ru-RU" sz="2200"/>
              <a:t>Основными разделами</a:t>
            </a:r>
            <a:r>
              <a:rPr lang="ru-RU" sz="2200"/>
              <a:t> анализа являются:</a:t>
            </a:r>
            <a:endParaRPr/>
          </a:p>
          <a:p>
            <a:pPr indent="-356307" lvl="0" marL="356307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lang="ru-RU" sz="2200"/>
              <a:t> </a:t>
            </a:r>
            <a:endParaRPr/>
          </a:p>
          <a:p>
            <a:pPr indent="-356307" lvl="0" marL="356307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lang="ru-RU" sz="2200"/>
              <a:t>1. </a:t>
            </a:r>
            <a:r>
              <a:rPr b="1" lang="ru-RU" sz="2200"/>
              <a:t>Центральная тенденция</a:t>
            </a:r>
            <a:r>
              <a:rPr lang="ru-RU" sz="2200"/>
              <a:t>. Вычисление и анализ среднего, моды, медианы.</a:t>
            </a:r>
            <a:endParaRPr/>
          </a:p>
          <a:p>
            <a:pPr indent="-356307" lvl="0" marL="356307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lang="ru-RU" sz="2200"/>
              <a:t>2. </a:t>
            </a:r>
            <a:r>
              <a:rPr b="1" lang="ru-RU" sz="2200"/>
              <a:t>Стандартное отклонение</a:t>
            </a:r>
            <a:r>
              <a:rPr lang="ru-RU" sz="2200"/>
              <a:t>. Нахождение дисперсии, стандартного отклонения.</a:t>
            </a:r>
            <a:endParaRPr/>
          </a:p>
          <a:p>
            <a:pPr indent="-356307" lvl="0" marL="356307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lang="ru-RU" sz="2200"/>
              <a:t>3. </a:t>
            </a:r>
            <a:r>
              <a:rPr b="1" lang="ru-RU" sz="2200"/>
              <a:t>Квартили</a:t>
            </a:r>
            <a:r>
              <a:rPr lang="ru-RU" sz="2200"/>
              <a:t>. Минимум, максимум, размах, нахождение квартилей.</a:t>
            </a:r>
            <a:endParaRPr/>
          </a:p>
          <a:p>
            <a:pPr indent="-356307" lvl="0" marL="356307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lang="ru-RU" sz="2200"/>
              <a:t>4. </a:t>
            </a:r>
            <a:r>
              <a:rPr b="1" lang="ru-RU" sz="2200"/>
              <a:t>Выбросы</a:t>
            </a:r>
            <a:r>
              <a:rPr lang="ru-RU" sz="2200"/>
              <a:t>. Нахождение и анализ выбросов.</a:t>
            </a:r>
            <a:endParaRPr/>
          </a:p>
          <a:p>
            <a:pPr indent="-356307" lvl="0" marL="356307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lang="ru-RU" sz="2200"/>
              <a:t>5. </a:t>
            </a:r>
            <a:r>
              <a:rPr b="1" lang="ru-RU" sz="2200"/>
              <a:t>Форма распределения</a:t>
            </a:r>
            <a:r>
              <a:rPr lang="ru-RU" sz="2200"/>
              <a:t>. Асимметрия и куртозис. </a:t>
            </a:r>
            <a:endParaRPr/>
          </a:p>
        </p:txBody>
      </p:sp>
      <p:sp>
        <p:nvSpPr>
          <p:cNvPr id="1354" name="Google Shape;1354;p82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355" name="Google Shape;1355;p82"/>
          <p:cNvSpPr/>
          <p:nvPr/>
        </p:nvSpPr>
        <p:spPr>
          <a:xfrm>
            <a:off x="674852" y="1526029"/>
            <a:ext cx="5904045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Исследовательский анализ данных - Exploratory Data Analysis (EDA) представляет собой применение статистических методов для представления, упорядочения данных и понимания их важнейших характеристик.</a:t>
            </a:r>
            <a:endParaRPr/>
          </a:p>
        </p:txBody>
      </p:sp>
      <p:pic>
        <p:nvPicPr>
          <p:cNvPr id="1356" name="Google Shape;1356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970" y="1276959"/>
            <a:ext cx="3232770" cy="3018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83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83"/>
          <p:cNvSpPr/>
          <p:nvPr/>
        </p:nvSpPr>
        <p:spPr>
          <a:xfrm>
            <a:off x="890588" y="395288"/>
            <a:ext cx="8351837" cy="863600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83"/>
          <p:cNvSpPr/>
          <p:nvPr/>
        </p:nvSpPr>
        <p:spPr>
          <a:xfrm>
            <a:off x="387350" y="1331913"/>
            <a:ext cx="9431338" cy="5446712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83"/>
          <p:cNvSpPr txBox="1"/>
          <p:nvPr>
            <p:ph type="title"/>
          </p:nvPr>
        </p:nvSpPr>
        <p:spPr>
          <a:xfrm>
            <a:off x="513874" y="285382"/>
            <a:ext cx="9249728" cy="1187715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4400"/>
              <a:t>Выбросы</a:t>
            </a:r>
            <a:endParaRPr/>
          </a:p>
        </p:txBody>
      </p:sp>
      <p:sp>
        <p:nvSpPr>
          <p:cNvPr id="1365" name="Google Shape;1365;p83"/>
          <p:cNvSpPr txBox="1"/>
          <p:nvPr>
            <p:ph idx="1" type="body"/>
          </p:nvPr>
        </p:nvSpPr>
        <p:spPr>
          <a:xfrm>
            <a:off x="469901" y="1124270"/>
            <a:ext cx="9045575" cy="2977256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ru-RU" sz="2200"/>
              <a:t>Расширенная диаграмма box plot строится с анализом выбросов. Для этого необходимо знать разброс квартилей IQR.</a:t>
            </a:r>
            <a:endParaRPr/>
          </a:p>
          <a:p>
            <a:pPr indent="-216607" lvl="0" marL="356307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/>
          </a:p>
          <a:p>
            <a:pPr indent="-356307" lvl="0" marL="356307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ru-RU" sz="2200"/>
              <a:t>Умеренные выбросы </a:t>
            </a:r>
            <a:r>
              <a:rPr lang="ru-RU" sz="2200"/>
              <a:t>изображаются темными точками и удалены ниже первой квартили или выше третьей от 1,5 IQR, но не более 3 IQR</a:t>
            </a:r>
            <a:r>
              <a:rPr i="1" lang="ru-RU" sz="2200"/>
              <a:t>.</a:t>
            </a:r>
            <a:endParaRPr/>
          </a:p>
          <a:p>
            <a:pPr indent="-356307" lvl="0" marL="356307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ru-RU" sz="2200"/>
              <a:t>Экстремальные выбросы </a:t>
            </a:r>
            <a:r>
              <a:rPr lang="ru-RU" sz="2200"/>
              <a:t>изображаются светлыми точками и удалены ниже первой квартили или выше третьей более 3 IQR.</a:t>
            </a:r>
            <a:endParaRPr b="1" sz="2200"/>
          </a:p>
          <a:p>
            <a:pPr indent="-216607" lvl="0" marL="356307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/>
          </a:p>
        </p:txBody>
      </p:sp>
      <p:grpSp>
        <p:nvGrpSpPr>
          <p:cNvPr id="1366" name="Google Shape;1366;p83"/>
          <p:cNvGrpSpPr/>
          <p:nvPr/>
        </p:nvGrpSpPr>
        <p:grpSpPr>
          <a:xfrm>
            <a:off x="26988" y="4304726"/>
            <a:ext cx="10007600" cy="1795463"/>
            <a:chOff x="133350" y="4460875"/>
            <a:chExt cx="10007600" cy="1795463"/>
          </a:xfrm>
        </p:grpSpPr>
        <p:sp>
          <p:nvSpPr>
            <p:cNvPr id="1367" name="Google Shape;1367;p83"/>
            <p:cNvSpPr/>
            <p:nvPr/>
          </p:nvSpPr>
          <p:spPr>
            <a:xfrm>
              <a:off x="4391025" y="4460875"/>
              <a:ext cx="1271588" cy="523875"/>
            </a:xfrm>
            <a:prstGeom prst="rect">
              <a:avLst/>
            </a:pr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68" name="Google Shape;1368;p83"/>
            <p:cNvCxnSpPr/>
            <p:nvPr/>
          </p:nvCxnSpPr>
          <p:spPr>
            <a:xfrm>
              <a:off x="3868738" y="4686300"/>
              <a:ext cx="2763837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9" name="Google Shape;1369;p83"/>
            <p:cNvCxnSpPr/>
            <p:nvPr/>
          </p:nvCxnSpPr>
          <p:spPr>
            <a:xfrm>
              <a:off x="4840288" y="4460875"/>
              <a:ext cx="1587" cy="523875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0" name="Google Shape;1370;p83"/>
            <p:cNvCxnSpPr/>
            <p:nvPr/>
          </p:nvCxnSpPr>
          <p:spPr>
            <a:xfrm flipH="1" rot="10800000">
              <a:off x="282575" y="5508625"/>
              <a:ext cx="9637713" cy="1588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1" name="Google Shape;1371;p83"/>
            <p:cNvCxnSpPr/>
            <p:nvPr/>
          </p:nvCxnSpPr>
          <p:spPr>
            <a:xfrm>
              <a:off x="4391025" y="5284788"/>
              <a:ext cx="0" cy="37465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2" name="Google Shape;1372;p83"/>
            <p:cNvCxnSpPr/>
            <p:nvPr/>
          </p:nvCxnSpPr>
          <p:spPr>
            <a:xfrm>
              <a:off x="5662613" y="5284788"/>
              <a:ext cx="0" cy="37465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73" name="Google Shape;1373;p83"/>
            <p:cNvSpPr/>
            <p:nvPr/>
          </p:nvSpPr>
          <p:spPr>
            <a:xfrm>
              <a:off x="4614863" y="5781675"/>
              <a:ext cx="752475" cy="474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450" lIns="94900" spcFirstLastPara="1" rIns="94900" wrap="square" tIns="474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IQR</a:t>
              </a:r>
              <a:endPara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83"/>
            <p:cNvSpPr/>
            <p:nvPr/>
          </p:nvSpPr>
          <p:spPr>
            <a:xfrm>
              <a:off x="133350" y="4821238"/>
              <a:ext cx="1714500" cy="5381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450" lIns="94900" spcFirstLastPara="1" rIns="94900" wrap="square" tIns="474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15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Экстремальные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15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выбросы</a:t>
              </a:r>
              <a:endParaRPr b="1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83"/>
            <p:cNvSpPr/>
            <p:nvPr/>
          </p:nvSpPr>
          <p:spPr>
            <a:xfrm>
              <a:off x="1701800" y="4821238"/>
              <a:ext cx="1243013" cy="5381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450" lIns="94900" spcFirstLastPara="1" rIns="94900" wrap="square" tIns="474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1500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Умеренные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1500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выбросы</a:t>
              </a:r>
              <a:endParaRPr/>
            </a:p>
          </p:txBody>
        </p:sp>
        <p:cxnSp>
          <p:nvCxnSpPr>
            <p:cNvPr id="1376" name="Google Shape;1376;p83"/>
            <p:cNvCxnSpPr/>
            <p:nvPr/>
          </p:nvCxnSpPr>
          <p:spPr>
            <a:xfrm>
              <a:off x="2973388" y="5283200"/>
              <a:ext cx="0" cy="37465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7" name="Google Shape;1377;p83"/>
            <p:cNvCxnSpPr/>
            <p:nvPr/>
          </p:nvCxnSpPr>
          <p:spPr>
            <a:xfrm>
              <a:off x="1627188" y="5283200"/>
              <a:ext cx="0" cy="37465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78" name="Google Shape;1378;p83"/>
            <p:cNvSpPr/>
            <p:nvPr/>
          </p:nvSpPr>
          <p:spPr>
            <a:xfrm>
              <a:off x="8426450" y="4821238"/>
              <a:ext cx="1714500" cy="5381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450" lIns="94900" spcFirstLastPara="1" rIns="94900" wrap="square" tIns="474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15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Экстремальные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15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выбросы</a:t>
              </a:r>
              <a:endParaRPr b="1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83"/>
            <p:cNvSpPr/>
            <p:nvPr/>
          </p:nvSpPr>
          <p:spPr>
            <a:xfrm>
              <a:off x="7231063" y="4821238"/>
              <a:ext cx="1243012" cy="5381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450" lIns="94900" spcFirstLastPara="1" rIns="94900" wrap="square" tIns="474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1500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Умеренные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1500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выбросы</a:t>
              </a:r>
              <a:endParaRPr/>
            </a:p>
          </p:txBody>
        </p:sp>
        <p:cxnSp>
          <p:nvCxnSpPr>
            <p:cNvPr id="1380" name="Google Shape;1380;p83"/>
            <p:cNvCxnSpPr/>
            <p:nvPr/>
          </p:nvCxnSpPr>
          <p:spPr>
            <a:xfrm>
              <a:off x="8575675" y="5283200"/>
              <a:ext cx="0" cy="37465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1" name="Google Shape;1381;p83"/>
            <p:cNvCxnSpPr/>
            <p:nvPr/>
          </p:nvCxnSpPr>
          <p:spPr>
            <a:xfrm>
              <a:off x="7231063" y="5283200"/>
              <a:ext cx="0" cy="37465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82" name="Google Shape;1382;p83"/>
            <p:cNvSpPr/>
            <p:nvPr/>
          </p:nvSpPr>
          <p:spPr>
            <a:xfrm>
              <a:off x="3046413" y="5781675"/>
              <a:ext cx="1281112" cy="474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450" lIns="94900" spcFirstLastPara="1" rIns="94900" wrap="square" tIns="474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1,5 IQR</a:t>
              </a:r>
              <a:endPara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83"/>
            <p:cNvSpPr/>
            <p:nvPr/>
          </p:nvSpPr>
          <p:spPr>
            <a:xfrm>
              <a:off x="5800725" y="5781675"/>
              <a:ext cx="1279525" cy="474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450" lIns="94900" spcFirstLastPara="1" rIns="94900" wrap="square" tIns="474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1,5 IQR</a:t>
              </a:r>
              <a:endPara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83"/>
            <p:cNvSpPr/>
            <p:nvPr/>
          </p:nvSpPr>
          <p:spPr>
            <a:xfrm>
              <a:off x="1627188" y="5781675"/>
              <a:ext cx="1279525" cy="474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450" lIns="94900" spcFirstLastPara="1" rIns="94900" wrap="square" tIns="474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1,5 IQR</a:t>
              </a:r>
              <a:endPara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83"/>
            <p:cNvSpPr/>
            <p:nvPr/>
          </p:nvSpPr>
          <p:spPr>
            <a:xfrm>
              <a:off x="7219950" y="5781675"/>
              <a:ext cx="1281113" cy="474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450" lIns="94900" spcFirstLastPara="1" rIns="94900" wrap="square" tIns="474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1,5 IQR</a:t>
              </a:r>
              <a:endPara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83"/>
            <p:cNvSpPr/>
            <p:nvPr/>
          </p:nvSpPr>
          <p:spPr>
            <a:xfrm>
              <a:off x="1104900" y="4537075"/>
              <a:ext cx="223838" cy="223838"/>
            </a:xfrm>
            <a:prstGeom prst="ellipse">
              <a:avLst/>
            </a:prstGeom>
            <a:solidFill>
              <a:schemeClr val="lt1"/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83"/>
            <p:cNvSpPr/>
            <p:nvPr/>
          </p:nvSpPr>
          <p:spPr>
            <a:xfrm>
              <a:off x="7902575" y="4537075"/>
              <a:ext cx="223838" cy="223838"/>
            </a:xfrm>
            <a:prstGeom prst="ellipse">
              <a:avLst/>
            </a:prstGeom>
            <a:solidFill>
              <a:schemeClr val="dk1"/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83"/>
            <p:cNvSpPr/>
            <p:nvPr/>
          </p:nvSpPr>
          <p:spPr>
            <a:xfrm>
              <a:off x="2074863" y="4537075"/>
              <a:ext cx="223837" cy="223838"/>
            </a:xfrm>
            <a:prstGeom prst="ellipse">
              <a:avLst/>
            </a:prstGeom>
            <a:solidFill>
              <a:schemeClr val="dk1"/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83"/>
            <p:cNvSpPr/>
            <p:nvPr/>
          </p:nvSpPr>
          <p:spPr>
            <a:xfrm>
              <a:off x="2524125" y="4537075"/>
              <a:ext cx="225425" cy="223838"/>
            </a:xfrm>
            <a:prstGeom prst="ellipse">
              <a:avLst/>
            </a:prstGeom>
            <a:solidFill>
              <a:schemeClr val="dk1"/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83"/>
            <p:cNvSpPr/>
            <p:nvPr/>
          </p:nvSpPr>
          <p:spPr>
            <a:xfrm>
              <a:off x="9621838" y="4537075"/>
              <a:ext cx="223837" cy="223838"/>
            </a:xfrm>
            <a:prstGeom prst="ellipse">
              <a:avLst/>
            </a:prstGeom>
            <a:solidFill>
              <a:schemeClr val="lt1"/>
            </a:solidFill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1" name="Google Shape;1391;p83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84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84"/>
          <p:cNvSpPr/>
          <p:nvPr/>
        </p:nvSpPr>
        <p:spPr>
          <a:xfrm>
            <a:off x="890588" y="395288"/>
            <a:ext cx="8351837" cy="703262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84"/>
          <p:cNvSpPr/>
          <p:nvPr/>
        </p:nvSpPr>
        <p:spPr>
          <a:xfrm>
            <a:off x="387350" y="1473200"/>
            <a:ext cx="9431338" cy="5305425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84"/>
          <p:cNvSpPr txBox="1"/>
          <p:nvPr>
            <p:ph type="title"/>
          </p:nvPr>
        </p:nvSpPr>
        <p:spPr>
          <a:xfrm>
            <a:off x="513874" y="285382"/>
            <a:ext cx="9249728" cy="1187715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4400"/>
              <a:t>Асимметрия (Skewness)</a:t>
            </a:r>
            <a:endParaRPr sz="4400"/>
          </a:p>
        </p:txBody>
      </p:sp>
      <p:sp>
        <p:nvSpPr>
          <p:cNvPr id="1400" name="Google Shape;1400;p84"/>
          <p:cNvSpPr txBox="1"/>
          <p:nvPr>
            <p:ph idx="1" type="body"/>
          </p:nvPr>
        </p:nvSpPr>
        <p:spPr>
          <a:xfrm>
            <a:off x="482625" y="1305025"/>
            <a:ext cx="9248775" cy="2549103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Autofit/>
          </a:bodyPr>
          <a:lstStyle/>
          <a:p>
            <a:pPr indent="-356307" lvl="0" marL="35630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ru-RU" sz="2200"/>
              <a:t>Если распределение симметрично, </a:t>
            </a:r>
            <a:r>
              <a:rPr b="1" lang="ru-RU" sz="2200"/>
              <a:t>асимметрия равна нулю</a:t>
            </a:r>
            <a:r>
              <a:rPr lang="ru-RU" sz="2200"/>
              <a:t>. В этом случае  совпадают значения моды, медианы и среднего арифметического.</a:t>
            </a:r>
            <a:endParaRPr/>
          </a:p>
          <a:p>
            <a:pPr indent="-356307" lvl="0" marL="356307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ru-RU" sz="2200"/>
              <a:t>Если одно или несколько значений существенно превышают остальные, имеется </a:t>
            </a:r>
            <a:r>
              <a:rPr b="1" lang="ru-RU" sz="2200"/>
              <a:t>положительная асимметрия</a:t>
            </a:r>
            <a:r>
              <a:rPr lang="ru-RU" sz="2200"/>
              <a:t>. Средняя меньше моды и медианы. </a:t>
            </a:r>
            <a:endParaRPr/>
          </a:p>
          <a:p>
            <a:pPr indent="-356307" lvl="0" marL="356307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ru-RU" sz="2200"/>
              <a:t>Если одно или несколько значений существенно меньше остальных, имеется </a:t>
            </a:r>
            <a:r>
              <a:rPr b="1" lang="ru-RU" sz="2200"/>
              <a:t>отрицательная асимметрия</a:t>
            </a:r>
            <a:r>
              <a:rPr lang="ru-RU" sz="2200"/>
              <a:t>. Средняя больше моды и медианы. </a:t>
            </a:r>
            <a:endParaRPr/>
          </a:p>
          <a:p>
            <a:pPr indent="-216607" lvl="0" marL="356307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  <p:pic>
        <p:nvPicPr>
          <p:cNvPr id="1401" name="Google Shape;1401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306" y="4623814"/>
            <a:ext cx="9377362" cy="1884362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84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85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85"/>
          <p:cNvSpPr/>
          <p:nvPr/>
        </p:nvSpPr>
        <p:spPr>
          <a:xfrm>
            <a:off x="890588" y="395288"/>
            <a:ext cx="8351837" cy="791592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85"/>
          <p:cNvSpPr/>
          <p:nvPr/>
        </p:nvSpPr>
        <p:spPr>
          <a:xfrm>
            <a:off x="387350" y="1474912"/>
            <a:ext cx="9431338" cy="5303713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85"/>
          <p:cNvSpPr txBox="1"/>
          <p:nvPr>
            <p:ph type="title"/>
          </p:nvPr>
        </p:nvSpPr>
        <p:spPr>
          <a:xfrm>
            <a:off x="1178297" y="395288"/>
            <a:ext cx="7488832" cy="791592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4400"/>
              <a:t>Вопрос</a:t>
            </a:r>
            <a:endParaRPr/>
          </a:p>
        </p:txBody>
      </p:sp>
      <p:sp>
        <p:nvSpPr>
          <p:cNvPr id="1411" name="Google Shape;1411;p85"/>
          <p:cNvSpPr txBox="1"/>
          <p:nvPr/>
        </p:nvSpPr>
        <p:spPr>
          <a:xfrm>
            <a:off x="746249" y="2339008"/>
            <a:ext cx="8959726" cy="3682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063" lvl="0" marL="37306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Char char="•"/>
            </a:pPr>
            <a:r>
              <a:rPr lang="ru-RU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чем состоит </a:t>
            </a:r>
            <a:r>
              <a:rPr b="1" lang="ru-RU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отличие практического применения моды от медианы?</a:t>
            </a:r>
            <a:r>
              <a:rPr lang="ru-RU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t/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Определение не нужно. Нужно только отличие.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85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86"/>
          <p:cNvSpPr/>
          <p:nvPr/>
        </p:nvSpPr>
        <p:spPr>
          <a:xfrm>
            <a:off x="242888" y="322263"/>
            <a:ext cx="9791700" cy="63373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86"/>
          <p:cNvSpPr txBox="1"/>
          <p:nvPr>
            <p:ph idx="4294967295" type="title"/>
          </p:nvPr>
        </p:nvSpPr>
        <p:spPr>
          <a:xfrm>
            <a:off x="0" y="285750"/>
            <a:ext cx="9248775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700" lIns="99425" spcFirstLastPara="1" rIns="99425" wrap="square" tIns="49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None/>
            </a:pPr>
            <a:r>
              <a:rPr b="1" lang="ru-RU" sz="3100"/>
              <a:t>Литература</a:t>
            </a:r>
            <a:endParaRPr/>
          </a:p>
        </p:txBody>
      </p:sp>
      <p:sp>
        <p:nvSpPr>
          <p:cNvPr id="1419" name="Google Shape;1419;p86"/>
          <p:cNvSpPr txBox="1"/>
          <p:nvPr/>
        </p:nvSpPr>
        <p:spPr>
          <a:xfrm>
            <a:off x="2709863" y="0"/>
            <a:ext cx="5100637" cy="407988"/>
          </a:xfrm>
          <a:prstGeom prst="rect">
            <a:avLst/>
          </a:prstGeom>
          <a:noFill/>
          <a:ln>
            <a:noFill/>
          </a:ln>
        </p:spPr>
        <p:txBody>
          <a:bodyPr anchorCtr="0" anchor="t" bIns="49700" lIns="99425" spcFirstLastPara="1" rIns="99425" wrap="square" tIns="49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Обработка больших данных. Л5</a:t>
            </a:r>
            <a:endParaRPr/>
          </a:p>
        </p:txBody>
      </p:sp>
      <p:pic>
        <p:nvPicPr>
          <p:cNvPr descr="Эндрю Сигел" id="1420" name="Google Shape;1420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888" y="898525"/>
            <a:ext cx="2549525" cy="37449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0002" id="1421" name="Google Shape;1421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46350" y="1403350"/>
            <a:ext cx="2465388" cy="352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m0012" id="1422" name="Google Shape;1422;p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22838" y="1835150"/>
            <a:ext cx="2441575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0005" id="1423" name="Google Shape;1423;p8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21538" y="2627313"/>
            <a:ext cx="2597150" cy="331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4" name="Google Shape;1424;p86"/>
          <p:cNvSpPr/>
          <p:nvPr/>
        </p:nvSpPr>
        <p:spPr>
          <a:xfrm>
            <a:off x="682699" y="5749925"/>
            <a:ext cx="683230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Основы статистики. Анатолий Карпов. Институт биоинформатики. </a:t>
            </a: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https://www.youtube.com/watch?v=ksdrNa_g11M</a:t>
            </a:r>
            <a:endParaRPr/>
          </a:p>
        </p:txBody>
      </p:sp>
      <p:sp>
        <p:nvSpPr>
          <p:cNvPr id="1425" name="Google Shape;1425;p86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87"/>
          <p:cNvSpPr/>
          <p:nvPr/>
        </p:nvSpPr>
        <p:spPr>
          <a:xfrm>
            <a:off x="242888" y="322263"/>
            <a:ext cx="9791700" cy="6553200"/>
          </a:xfrm>
          <a:prstGeom prst="roundRect">
            <a:avLst>
              <a:gd fmla="val 16667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p87"/>
          <p:cNvSpPr/>
          <p:nvPr/>
        </p:nvSpPr>
        <p:spPr>
          <a:xfrm>
            <a:off x="890588" y="395288"/>
            <a:ext cx="8351837" cy="791592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87"/>
          <p:cNvSpPr/>
          <p:nvPr/>
        </p:nvSpPr>
        <p:spPr>
          <a:xfrm>
            <a:off x="387350" y="1474912"/>
            <a:ext cx="9431338" cy="5303713"/>
          </a:xfrm>
          <a:prstGeom prst="roundRect">
            <a:avLst>
              <a:gd fmla="val 16667" name="adj"/>
            </a:avLst>
          </a:prstGeom>
          <a:solidFill>
            <a:srgbClr val="FFFFFF">
              <a:alpha val="78431"/>
            </a:srgbClr>
          </a:solidFill>
          <a:ln>
            <a:noFill/>
          </a:ln>
        </p:spPr>
        <p:txBody>
          <a:bodyPr anchorCtr="0" anchor="ctr" bIns="49700" lIns="99425" spcFirstLastPara="1" rIns="99425" wrap="square" tIns="4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87"/>
          <p:cNvSpPr txBox="1"/>
          <p:nvPr>
            <p:ph type="title"/>
          </p:nvPr>
        </p:nvSpPr>
        <p:spPr>
          <a:xfrm>
            <a:off x="1178297" y="395288"/>
            <a:ext cx="7488832" cy="791592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94900" spcFirstLastPara="1" rIns="94900" wrap="square" tIns="474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4400"/>
              <a:t>Вопросы к экзамену</a:t>
            </a:r>
            <a:endParaRPr/>
          </a:p>
        </p:txBody>
      </p:sp>
      <p:sp>
        <p:nvSpPr>
          <p:cNvPr id="1434" name="Google Shape;1434;p87"/>
          <p:cNvSpPr/>
          <p:nvPr/>
        </p:nvSpPr>
        <p:spPr>
          <a:xfrm>
            <a:off x="962559" y="1762944"/>
            <a:ext cx="8280920" cy="3490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ru-R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Основные понятия статистики и дескриптивный анализ</a:t>
            </a:r>
            <a:endParaRPr/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ru-R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Генеральная совокупность и выборка.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ru-R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Шкалы измерений. Генеральная совокупность и выборка.</a:t>
            </a:r>
            <a:endParaRPr/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ru-R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Меры центральной тенденции, их сравнительный анализ.</a:t>
            </a:r>
            <a:endParaRPr/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ru-R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Нормальное распределение. Уровень статистической достоверности.</a:t>
            </a:r>
            <a:endParaRPr/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ru-R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Свойства описательных статистик (Дескриптивный анализ). Меры изменчивости.</a:t>
            </a:r>
            <a:endParaRPr/>
          </a:p>
        </p:txBody>
      </p:sp>
      <p:sp>
        <p:nvSpPr>
          <p:cNvPr id="1435" name="Google Shape;1435;p87"/>
          <p:cNvSpPr txBox="1"/>
          <p:nvPr>
            <p:ph idx="12" type="sldNum"/>
          </p:nvPr>
        </p:nvSpPr>
        <p:spPr>
          <a:xfrm>
            <a:off x="7365524" y="6605014"/>
            <a:ext cx="2398078" cy="379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xno">
  <a:themeElements>
    <a:clrScheme name="Воздушный поток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2015-01-17T09:44:41Z</dcterms:created>
  <dc:creator>Tatyana</dc:creator>
</cp:coreProperties>
</file>