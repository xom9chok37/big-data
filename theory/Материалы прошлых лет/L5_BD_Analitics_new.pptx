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Lst>
  <p:sldSz cy="7126275" cx="10277475"/>
  <p:notesSz cx="6858000" cy="9144000"/>
  <p:embeddedFontLst>
    <p:embeddedFont>
      <p:font typeface="Book Antiqua"/>
      <p:regular r:id="rId80"/>
      <p:bold r:id="rId81"/>
      <p:italic r:id="rId82"/>
      <p:boldItalic r:id="rId8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245">
          <p15:clr>
            <a:srgbClr val="A4A3A4"/>
          </p15:clr>
        </p15:guide>
        <p15:guide id="2" pos="3237">
          <p15:clr>
            <a:srgbClr val="A4A3A4"/>
          </p15:clr>
        </p15:guide>
      </p15:sldGuideLst>
    </p:ext>
    <p:ext uri="GoogleSlidesCustomDataVersion2">
      <go:slidesCustomData xmlns:go="http://customooxmlschemas.google.com/" r:id="rId84" roundtripDataSignature="AMtx7mhd86YZf0XSEh1EFkQZB8qANY9GL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B791199-9649-4A3A-BD92-4492640ED8CE}">
  <a:tblStyle styleId="{8B791199-9649-4A3A-BD92-4492640ED8CE}"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AF5"/>
          </a:solidFill>
        </a:fill>
      </a:tcStyle>
    </a:wholeTbl>
    <a:band1H>
      <a:tcTxStyle/>
      <a:tcStyle>
        <a:fill>
          <a:solidFill>
            <a:srgbClr val="CFD2EB"/>
          </a:solidFill>
        </a:fill>
      </a:tcStyle>
    </a:band1H>
    <a:band2H>
      <a:tcTxStyle/>
    </a:band2H>
    <a:band1V>
      <a:tcTxStyle/>
      <a:tcStyle>
        <a:fill>
          <a:solidFill>
            <a:srgbClr val="CFD2EB"/>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245" orient="horz"/>
        <p:guide pos="3237"/>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customschemas.google.com/relationships/presentationmetadata" Target="metadata"/><Relationship Id="rId83" Type="http://schemas.openxmlformats.org/officeDocument/2006/relationships/font" Target="fonts/BookAntiqua-boldItalic.fntdata"/><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font" Target="fonts/BookAntiqua-regular.fntdata"/><Relationship Id="rId82" Type="http://schemas.openxmlformats.org/officeDocument/2006/relationships/font" Target="fonts/BookAntiqua-italic.fntdata"/><Relationship Id="rId81" Type="http://schemas.openxmlformats.org/officeDocument/2006/relationships/font" Target="fonts/BookAntiqua-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slide" Target="slides/slide73.xml"/><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0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20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20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20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0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0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0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0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0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20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20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20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0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0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0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0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0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20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20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20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0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0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0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0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ru-RU"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ru-RU"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87" name="Google Shape;87;p1: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 name="Google Shape;88;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None/>
            </a:pPr>
            <a:r>
              <a:rPr lang="ru-RU"/>
              <a:t>В последнее время технологии больших данных развиваются высокими темпами. Возникает множество высокотехнологичных компаний, предоставляющих новые инструменты по анализу данных. В то же время растёт мировой спрос на специалистов, способных работать с большими объёмами данных, ставить задачи в этой области, понимать сложность и потенциальную стоимость таких работ. Предполагая нарастающий интерес к этой сфере в России, актуальным и адекватным решением будет систематизация опыта работы с технологиями и задачами анализа больших данных. Анализ образовательного рынка в области больших данных показывает нам, что онлайн-образование в сфере аналитики становится всё более популярным и массовым. Существует несколько курсов на английском языке, в т.ч. курсы Data Science and Big Data Analytics от EMC, ряд курсов на платформах Coursera и Udacity. Однако на русском языке подобные курсы пока отсутствуют. Настоящий курс призван ликвидировать данный пробел. Он представляет собой образовательный инструмент для введения в эту, без сомнения вдохновляющую и перспективную, область. Авторы курса предлагают слушателям окунуться в мир методов и технологий анализа больших данных на простых примерах.</a:t>
            </a:r>
            <a:endParaRPr/>
          </a:p>
        </p:txBody>
      </p:sp>
      <p:sp>
        <p:nvSpPr>
          <p:cNvPr id="89" name="Google Shape;89;p1:notes"/>
          <p:cNvSpPr txBox="1"/>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ru-RU"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6" name="Google Shape;96;p2: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
        <p:nvSpPr>
          <p:cNvPr id="109" name="Google Shape;109;p3:notes"/>
          <p:cNvSpPr/>
          <p:nvPr>
            <p:ph idx="2" type="sldImg"/>
          </p:nvPr>
        </p:nvSpPr>
        <p:spPr>
          <a:xfrm>
            <a:off x="955675" y="685800"/>
            <a:ext cx="494665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 name="Google Shape;110;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900">
              <a:latin typeface="Droid Sans Mono"/>
              <a:ea typeface="Droid Sans Mono"/>
              <a:cs typeface="Droid Sans Mono"/>
              <a:sym typeface="Droid Sans Mono"/>
            </a:endParaRPr>
          </a:p>
        </p:txBody>
      </p:sp>
      <p:sp>
        <p:nvSpPr>
          <p:cNvPr id="111" name="Google Shape;111;p3:notes"/>
          <p:cNvSpPr txBox="1"/>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ru-RU"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
        <p:nvSpPr>
          <p:cNvPr id="117" name="Google Shape;117;p4:notes"/>
          <p:cNvSpPr/>
          <p:nvPr>
            <p:ph idx="2" type="sldImg"/>
          </p:nvPr>
        </p:nvSpPr>
        <p:spPr>
          <a:xfrm>
            <a:off x="955675" y="685800"/>
            <a:ext cx="494665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 name="Google Shape;118;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900">
              <a:latin typeface="Droid Sans Mono"/>
              <a:ea typeface="Droid Sans Mono"/>
              <a:cs typeface="Droid Sans Mono"/>
              <a:sym typeface="Droid Sans Mono"/>
            </a:endParaRPr>
          </a:p>
        </p:txBody>
      </p:sp>
      <p:sp>
        <p:nvSpPr>
          <p:cNvPr id="119" name="Google Shape;119;p4:notes"/>
          <p:cNvSpPr txBox="1"/>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ru-RU"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
        <p:nvSpPr>
          <p:cNvPr id="128" name="Google Shape;128;p5:notes"/>
          <p:cNvSpPr/>
          <p:nvPr>
            <p:ph idx="2" type="sldImg"/>
          </p:nvPr>
        </p:nvSpPr>
        <p:spPr>
          <a:xfrm>
            <a:off x="955675" y="685800"/>
            <a:ext cx="494665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9" name="Google Shape;129;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ru-RU"/>
              <a:t>Теперь, когда мы познакомились с самыми распространёнными технологиями больших данных, можно перейти к вопросам собственно аналитики. В чём состоит анализ больших данных? Следует отметить, что для больших данных пока нет стандартного процесса аналитики. В то время как для «небольших» он есть. Рассмотрим процесс аналитики на примере стандарта CRISP-DM. Здесь есть как процессы загрузки, анализа так и представления результатов. …</a:t>
            </a:r>
            <a:endParaRPr/>
          </a:p>
          <a:p>
            <a:pPr indent="0" lvl="0" marL="0" rtl="0" algn="l">
              <a:spcBef>
                <a:spcPts val="0"/>
              </a:spcBef>
              <a:spcAft>
                <a:spcPts val="0"/>
              </a:spcAft>
              <a:buNone/>
            </a:pPr>
            <a:r>
              <a:rPr lang="ru-RU"/>
              <a:t>Чем же он принципиально отличается от больших данных? Вы уже знаете, что, во-первых: мы не можем просто так взять и извлечь нужные нам данные, перекачать из одного места в другое. Т.е. у нас наложены ограничения на процесс ETL. Нам надо рассмотреть, где именно хранятся эти данные, реализован ли там интерфейс MapReduce? Если нет, какие средства отбора и обработки информации есть в этой системе хранения? Итак, в больших данных нам требуются (1) средства предварительной обработки информации на местах её хранения; (2) возможность запуска алгоритмов анализа прямо на этих данных. Причём, заметим, что для этих алгоритмов должно выполняться свойство локальности: мы не можем внутри них пользоваться данными из разных кластеров, иначе это повлечёт массовую загрузку пропускной способности.</a:t>
            </a:r>
            <a:endParaRPr/>
          </a:p>
          <a:p>
            <a:pPr indent="0" lvl="0" marL="0" rtl="0" algn="l">
              <a:spcBef>
                <a:spcPts val="0"/>
              </a:spcBef>
              <a:spcAft>
                <a:spcPts val="0"/>
              </a:spcAft>
              <a:buNone/>
            </a:pPr>
            <a:r>
              <a:rPr lang="ru-RU"/>
              <a:t>После предварительной обработки данные могут попасть на аналитический сервер, у которого и вычислительные возможности помощнее и есть средства визуализации.</a:t>
            </a:r>
            <a:endParaRPr/>
          </a:p>
          <a:p>
            <a:pPr indent="0" lvl="0" marL="0" rtl="0" algn="l">
              <a:spcBef>
                <a:spcPts val="0"/>
              </a:spcBef>
              <a:spcAft>
                <a:spcPts val="0"/>
              </a:spcAft>
              <a:buNone/>
            </a:pPr>
            <a:r>
              <a:rPr lang="ru-RU"/>
              <a:t> </a:t>
            </a:r>
            <a:endParaRPr/>
          </a:p>
          <a:p>
            <a:pPr indent="0" lvl="0" marL="0" rtl="0" algn="l">
              <a:spcBef>
                <a:spcPts val="0"/>
              </a:spcBef>
              <a:spcAft>
                <a:spcPts val="0"/>
              </a:spcAft>
              <a:buNone/>
            </a:pPr>
            <a:r>
              <a:rPr lang="ru-RU"/>
              <a:t>Мы уже поняли, что для извлечения данных необходимо использовать массово-параллельные вычисления, например MapReduce. Т.е. в любом проекте с большими данными нам следует помнить о времени исполнения процесса. Чтобы он не затягивался на месяцы ☺. Когда мы говорим об анализе данных, то мы имеем дело не только с процессом извлечения данных, но и их многократной переработке. Такую переработку можно осуществлять правильно написав функции MapReduce или использовав надстройки над системами кластерных вычислений. Существует ряд решений СУБД, также реализующих парадигму MapReduce, такие как Cassandra, MongoDB. Они позволяют оперировать данными не слишком задумываясь, как они расположены в кластере. Также есть библиотека Mahout от Apache для интеллектуального анализа данных на кластере Hadoop.</a:t>
            </a:r>
            <a:endParaRPr/>
          </a:p>
          <a:p>
            <a:pPr indent="0" lvl="0" marL="0" rtl="0" algn="l">
              <a:spcBef>
                <a:spcPts val="0"/>
              </a:spcBef>
              <a:spcAft>
                <a:spcPts val="0"/>
              </a:spcAft>
              <a:buNone/>
            </a:pPr>
            <a:r>
              <a:rPr lang="ru-RU"/>
              <a:t> </a:t>
            </a:r>
            <a:endParaRPr/>
          </a:p>
          <a:p>
            <a:pPr indent="0" lvl="0" marL="0" rtl="0" algn="l">
              <a:spcBef>
                <a:spcPts val="0"/>
              </a:spcBef>
              <a:spcAft>
                <a:spcPts val="0"/>
              </a:spcAft>
              <a:buNone/>
            </a:pPr>
            <a:r>
              <a:rPr lang="ru-RU"/>
              <a:t>Давайте рассмотрим цикл работы аналитика больших данных. Мы уже знаем, что на таких объёмах не все запросы дают мгновенный результат. Поэтому, чтобы не тратить время впустую, каждое ресурсоёмкое действие должно быть или тщательно спланировано или апробировано на данных меньшего объёма. </a:t>
            </a:r>
            <a:endParaRPr/>
          </a:p>
        </p:txBody>
      </p:sp>
      <p:sp>
        <p:nvSpPr>
          <p:cNvPr id="130" name="Google Shape;130;p5:notes"/>
          <p:cNvSpPr txBox="1"/>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ru-RU"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1" name="Google Shape;141;p6: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
        <p:nvSpPr>
          <p:cNvPr id="184" name="Google Shape;184;p7:notes"/>
          <p:cNvSpPr/>
          <p:nvPr>
            <p:ph idx="2" type="sldImg"/>
          </p:nvPr>
        </p:nvSpPr>
        <p:spPr>
          <a:xfrm>
            <a:off x="955675" y="685800"/>
            <a:ext cx="494665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5" name="Google Shape;185;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7:notes"/>
          <p:cNvSpPr txBox="1"/>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ru-RU"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9" name="Google Shape;199;p8: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
        <p:nvSpPr>
          <p:cNvPr id="205" name="Google Shape;205;p9:notes"/>
          <p:cNvSpPr/>
          <p:nvPr>
            <p:ph idx="2" type="sldImg"/>
          </p:nvPr>
        </p:nvSpPr>
        <p:spPr>
          <a:xfrm>
            <a:off x="955675" y="685800"/>
            <a:ext cx="494665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6" name="Google Shape;206;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ru-RU"/>
              <a:t>Теперь, когда мы познакомились с самыми распространёнными технологиями больших данных, можно перейти к вопросам собственно аналитики. В чём состоит анализ больших данных? Следует отметить, что для больших данных пока нет стандартного процесса аналитики. В то время как для «небольших» он есть. Рассмотрим процесс аналитики на примере стандарта CRISP-DM. Здесь есть как процессы загрузки, анализа так и представления результатов. …</a:t>
            </a:r>
            <a:endParaRPr/>
          </a:p>
          <a:p>
            <a:pPr indent="0" lvl="0" marL="0" rtl="0" algn="l">
              <a:spcBef>
                <a:spcPts val="0"/>
              </a:spcBef>
              <a:spcAft>
                <a:spcPts val="0"/>
              </a:spcAft>
              <a:buNone/>
            </a:pPr>
            <a:r>
              <a:rPr lang="ru-RU"/>
              <a:t>Чем же он принципиально отличается от больших данных? Вы уже знаете, что, во-первых: мы не можем просто так взять и извлечь нужные нам данные, перекачать из одного места в другое. Т.е. у нас наложены ограничения на процесс ETL. Нам надо рассмотреть, где именно хранятся эти данные, реализован ли там интерфейс MapReduce? Если нет, какие средства отбора и обработки информации есть в этой системе хранения? Итак, в больших данных нам требуются (1) средства предварительной обработки информации на местах её хранения; (2) возможность запуска алгоритмов анализа прямо на этих данных. Причём, заметим, что для этих алгоритмов должно выполняться свойство локальности: мы не можем внутри них пользоваться данными из разных кластеров, иначе это повлечёт массовую загрузку пропускной способности.</a:t>
            </a:r>
            <a:endParaRPr/>
          </a:p>
          <a:p>
            <a:pPr indent="0" lvl="0" marL="0" rtl="0" algn="l">
              <a:spcBef>
                <a:spcPts val="0"/>
              </a:spcBef>
              <a:spcAft>
                <a:spcPts val="0"/>
              </a:spcAft>
              <a:buNone/>
            </a:pPr>
            <a:r>
              <a:rPr lang="ru-RU"/>
              <a:t>После предварительной обработки данные могут попасть на аналитический сервер, у которого и вычислительные возможности помощнее и есть средства визуализации.</a:t>
            </a:r>
            <a:endParaRPr/>
          </a:p>
          <a:p>
            <a:pPr indent="0" lvl="0" marL="0" rtl="0" algn="l">
              <a:spcBef>
                <a:spcPts val="0"/>
              </a:spcBef>
              <a:spcAft>
                <a:spcPts val="0"/>
              </a:spcAft>
              <a:buNone/>
            </a:pPr>
            <a:r>
              <a:rPr lang="ru-RU"/>
              <a:t> </a:t>
            </a:r>
            <a:endParaRPr/>
          </a:p>
          <a:p>
            <a:pPr indent="0" lvl="0" marL="0" rtl="0" algn="l">
              <a:spcBef>
                <a:spcPts val="0"/>
              </a:spcBef>
              <a:spcAft>
                <a:spcPts val="0"/>
              </a:spcAft>
              <a:buNone/>
            </a:pPr>
            <a:r>
              <a:rPr lang="ru-RU"/>
              <a:t>Мы уже поняли, что для извлечения данных необходимо использовать массово-параллельные вычисления, например MapReduce. Т.е. в любом проекте с большими данными нам следует помнить о времени исполнения процесса. Чтобы он не затягивался на месяцы ☺. Когда мы говорим об анализе данных, то мы имеем дело не только с процессом извлечения данных, но и их многократной переработке. Такую переработку можно осуществлять правильно написав функции MapReduce или использовав надстройки над системами кластерных вычислений. Существует ряд решений СУБД, также реализующих парадигму MapReduce, такие как Cassandra, MongoDB. Они позволяют оперировать данными не слишком задумываясь, как они расположены в кластере. Также есть библиотека Mahout от Apache для интеллектуального анализа данных на кластере Hadoop.</a:t>
            </a:r>
            <a:endParaRPr/>
          </a:p>
          <a:p>
            <a:pPr indent="0" lvl="0" marL="0" rtl="0" algn="l">
              <a:spcBef>
                <a:spcPts val="0"/>
              </a:spcBef>
              <a:spcAft>
                <a:spcPts val="0"/>
              </a:spcAft>
              <a:buNone/>
            </a:pPr>
            <a:r>
              <a:rPr lang="ru-RU"/>
              <a:t> </a:t>
            </a:r>
            <a:endParaRPr/>
          </a:p>
          <a:p>
            <a:pPr indent="0" lvl="0" marL="0" rtl="0" algn="l">
              <a:spcBef>
                <a:spcPts val="0"/>
              </a:spcBef>
              <a:spcAft>
                <a:spcPts val="0"/>
              </a:spcAft>
              <a:buNone/>
            </a:pPr>
            <a:r>
              <a:rPr lang="ru-RU"/>
              <a:t>Давайте рассмотрим цикл работы аналитика больших данных. Мы уже знаем, что на таких объёмах не все запросы дают мгновенный результат. Поэтому, чтобы не тратить время впустую, каждое ресурсоёмкое действие должно быть или тщательно спланировано или апробировано на данных меньшего объёма. </a:t>
            </a:r>
            <a:endParaRPr/>
          </a:p>
        </p:txBody>
      </p:sp>
      <p:sp>
        <p:nvSpPr>
          <p:cNvPr id="207" name="Google Shape;207;p9:notes"/>
          <p:cNvSpPr txBox="1"/>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ru-RU"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
        <p:nvSpPr>
          <p:cNvPr id="217" name="Google Shape;217;p10:notes"/>
          <p:cNvSpPr/>
          <p:nvPr>
            <p:ph idx="2" type="sldImg"/>
          </p:nvPr>
        </p:nvSpPr>
        <p:spPr>
          <a:xfrm>
            <a:off x="955675" y="685800"/>
            <a:ext cx="494665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8" name="Google Shape;218;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ru-RU"/>
              <a:t>Теперь, когда мы познакомились с самыми распространёнными технологиями больших данных, можно перейти к вопросам собственно аналитики. В чём состоит анализ больших данных? Следует отметить, что для больших данных пока нет стандартного процесса аналитики. В то время как для «небольших» он есть. Рассмотрим процесс аналитики на примере стандарта CRISP-DM. Здесь есть как процессы загрузки, анализа так и представления результатов. …</a:t>
            </a:r>
            <a:endParaRPr/>
          </a:p>
          <a:p>
            <a:pPr indent="0" lvl="0" marL="0" rtl="0" algn="l">
              <a:spcBef>
                <a:spcPts val="0"/>
              </a:spcBef>
              <a:spcAft>
                <a:spcPts val="0"/>
              </a:spcAft>
              <a:buNone/>
            </a:pPr>
            <a:r>
              <a:rPr lang="ru-RU"/>
              <a:t>Чем же он принципиально отличается от больших данных? Вы уже знаете, что, во-первых: мы не можем просто так взять и извлечь нужные нам данные, перекачать из одного места в другое. Т.е. у нас наложены ограничения на процесс ETL. Нам надо рассмотреть, где именно хранятся эти данные, реализован ли там интерфейс MapReduce? Если нет, какие средства отбора и обработки информации есть в этой системе хранения? Итак, в больших данных нам требуются (1) средства предварительной обработки информации на местах её хранения; (2) возможность запуска алгоритмов анализа прямо на этих данных. Причём, заметим, что для этих алгоритмов должно выполняться свойство локальности: мы не можем внутри них пользоваться данными из разных кластеров, иначе это повлечёт массовую загрузку пропускной способности.</a:t>
            </a:r>
            <a:endParaRPr/>
          </a:p>
          <a:p>
            <a:pPr indent="0" lvl="0" marL="0" rtl="0" algn="l">
              <a:spcBef>
                <a:spcPts val="0"/>
              </a:spcBef>
              <a:spcAft>
                <a:spcPts val="0"/>
              </a:spcAft>
              <a:buNone/>
            </a:pPr>
            <a:r>
              <a:rPr lang="ru-RU"/>
              <a:t>После предварительной обработки данные могут попасть на аналитический сервер, у которого и вычислительные возможности помощнее и есть средства визуализации.</a:t>
            </a:r>
            <a:endParaRPr/>
          </a:p>
          <a:p>
            <a:pPr indent="0" lvl="0" marL="0" rtl="0" algn="l">
              <a:spcBef>
                <a:spcPts val="0"/>
              </a:spcBef>
              <a:spcAft>
                <a:spcPts val="0"/>
              </a:spcAft>
              <a:buNone/>
            </a:pPr>
            <a:r>
              <a:rPr lang="ru-RU"/>
              <a:t> </a:t>
            </a:r>
            <a:endParaRPr/>
          </a:p>
          <a:p>
            <a:pPr indent="0" lvl="0" marL="0" rtl="0" algn="l">
              <a:spcBef>
                <a:spcPts val="0"/>
              </a:spcBef>
              <a:spcAft>
                <a:spcPts val="0"/>
              </a:spcAft>
              <a:buNone/>
            </a:pPr>
            <a:r>
              <a:rPr lang="ru-RU"/>
              <a:t>Мы уже поняли, что для извлечения данных необходимо использовать массово-параллельные вычисления, например MapReduce. Т.е. в любом проекте с большими данными нам следует помнить о времени исполнения процесса. Чтобы он не затягивался на месяцы ☺. Когда мы говорим об анализе данных, то мы имеем дело не только с процессом извлечения данных, но и их многократной переработке. Такую переработку можно осуществлять правильно написав функции MapReduce или использовав надстройки над системами кластерных вычислений. Существует ряд решений СУБД, также реализующих парадигму MapReduce, такие как Cassandra, MongoDB. Они позволяют оперировать данными не слишком задумываясь, как они расположены в кластере. Также есть библиотека Mahout от Apache для интеллектуального анализа данных на кластере Hadoop.</a:t>
            </a:r>
            <a:endParaRPr/>
          </a:p>
          <a:p>
            <a:pPr indent="0" lvl="0" marL="0" rtl="0" algn="l">
              <a:spcBef>
                <a:spcPts val="0"/>
              </a:spcBef>
              <a:spcAft>
                <a:spcPts val="0"/>
              </a:spcAft>
              <a:buNone/>
            </a:pPr>
            <a:r>
              <a:rPr lang="ru-RU"/>
              <a:t> </a:t>
            </a:r>
            <a:endParaRPr/>
          </a:p>
          <a:p>
            <a:pPr indent="0" lvl="0" marL="0" rtl="0" algn="l">
              <a:spcBef>
                <a:spcPts val="0"/>
              </a:spcBef>
              <a:spcAft>
                <a:spcPts val="0"/>
              </a:spcAft>
              <a:buNone/>
            </a:pPr>
            <a:r>
              <a:rPr lang="ru-RU"/>
              <a:t>Давайте рассмотрим цикл работы аналитика больших данных. Мы уже знаем, что на таких объёмах не все запросы дают мгновенный результат. Поэтому, чтобы не тратить время впустую, каждое ресурсоёмкое действие должно быть или тщательно спланировано или апробировано на данных меньшего объёма. </a:t>
            </a:r>
            <a:endParaRPr/>
          </a:p>
        </p:txBody>
      </p:sp>
      <p:sp>
        <p:nvSpPr>
          <p:cNvPr id="219" name="Google Shape;219;p10:notes"/>
          <p:cNvSpPr txBox="1"/>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ru-RU"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229" name="Google Shape;229;p11:notes"/>
          <p:cNvSpPr/>
          <p:nvPr>
            <p:ph idx="2" type="sldImg"/>
          </p:nvPr>
        </p:nvSpPr>
        <p:spPr>
          <a:xfrm>
            <a:off x="955675" y="685800"/>
            <a:ext cx="494665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0" name="Google Shape;230;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11:notes"/>
          <p:cNvSpPr txBox="1"/>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ru-RU"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244" name="Google Shape;244;p12:notes"/>
          <p:cNvSpPr/>
          <p:nvPr>
            <p:ph idx="2" type="sldImg"/>
          </p:nvPr>
        </p:nvSpPr>
        <p:spPr>
          <a:xfrm>
            <a:off x="955675" y="685800"/>
            <a:ext cx="494665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5" name="Google Shape;245;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12:notes"/>
          <p:cNvSpPr txBox="1"/>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ru-RU"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0" name="Google Shape;260;p13: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
        <p:nvSpPr>
          <p:cNvPr id="271" name="Google Shape;271;p14: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2" name="Google Shape;272;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
        <p:nvSpPr>
          <p:cNvPr id="301" name="Google Shape;301;p15: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2" name="Google Shape;302;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ru-RU"/>
              <a:t>По мере исследований выдвигается гипотеза об определенной закономерности расположения данных (протокол 1).</a:t>
            </a:r>
            <a:endParaRPr/>
          </a:p>
          <a:p>
            <a:pPr indent="0" lvl="0" marL="0" rtl="0" algn="l">
              <a:spcBef>
                <a:spcPts val="360"/>
              </a:spcBef>
              <a:spcAft>
                <a:spcPts val="0"/>
              </a:spcAft>
              <a:buNone/>
            </a:pPr>
            <a:r>
              <a:rPr lang="ru-RU"/>
              <a:t>Здесь заштрихованные области – области, недопустимые для данного исследования, т.е. мы утверждаем, что в этом мире не могут встретиться факты, которые попадут в заштрихованные области – благодаря нашей гипотезе неопределенность уменьшилась.</a:t>
            </a:r>
            <a:endParaRPr/>
          </a:p>
          <a:p>
            <a:pPr indent="0" lvl="0" marL="0" rtl="0" algn="l">
              <a:spcBef>
                <a:spcPts val="360"/>
              </a:spcBef>
              <a:spcAft>
                <a:spcPts val="0"/>
              </a:spcAft>
              <a:buNone/>
            </a:pPr>
            <a:r>
              <a:rPr lang="ru-RU"/>
              <a:t>Затем, набирая все больше данных, мы получаем возможность уточнить гипотезу – сузить область допустимых значений.</a:t>
            </a:r>
            <a:endParaRPr/>
          </a:p>
          <a:p>
            <a:pPr indent="0" lvl="0" marL="0" rtl="0" algn="l">
              <a:spcBef>
                <a:spcPts val="360"/>
              </a:spcBef>
              <a:spcAft>
                <a:spcPts val="0"/>
              </a:spcAft>
              <a:buNone/>
            </a:pPr>
            <a:r>
              <a:rPr lang="ru-RU"/>
              <a:t>И, в конце концов приходим к функциональной зависимости, которая позволит получать прогнозируемый результат.</a:t>
            </a:r>
            <a:endParaRPr/>
          </a:p>
          <a:p>
            <a:pPr indent="0" lvl="0" marL="0" rtl="0" algn="l">
              <a:spcBef>
                <a:spcPts val="360"/>
              </a:spcBef>
              <a:spcAft>
                <a:spcPts val="0"/>
              </a:spcAft>
              <a:buNone/>
            </a:pPr>
            <a:r>
              <a:rPr lang="ru-RU"/>
              <a:t>Подобный результат получил очевидно Ом, когда исследовал зависимость тока от сопротивления. Любые варианты, не попадающие в данную закономерность будут опровергать этот закон.</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77" name="Google Shape;377;p16: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
        <p:nvSpPr>
          <p:cNvPr id="385" name="Google Shape;385;p17: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6" name="Google Shape;386;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ru-RU"/>
              <a:t>Каждый экспериментальный факт, не согласовавшийся с гипотезой формально опровергает ее, это значит, </a:t>
            </a:r>
            <a:endParaRPr/>
          </a:p>
          <a:p>
            <a:pPr indent="0" lvl="0" marL="0" rtl="0" algn="l">
              <a:spcBef>
                <a:spcPts val="360"/>
              </a:spcBef>
              <a:spcAft>
                <a:spcPts val="0"/>
              </a:spcAft>
              <a:buNone/>
            </a:pPr>
            <a:r>
              <a:rPr lang="ru-RU"/>
              <a:t>что нужно модернизировать гипотезу, и включить в нее как допустимый тот факт, который ее опровергал. Это называется фальсификацией гипотез.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
        <p:nvSpPr>
          <p:cNvPr id="394" name="Google Shape;394;p18: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5" name="Google Shape;395;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ru-RU"/>
              <a:t>Чем больше экспериментов, подтверждающих гипотезу, тем сильнее гипотеза и тем больше в нее веры.</a:t>
            </a:r>
            <a:endParaRPr/>
          </a:p>
          <a:p>
            <a:pPr indent="0" lvl="0" marL="0" rtl="0" algn="l">
              <a:spcBef>
                <a:spcPts val="360"/>
              </a:spcBef>
              <a:spcAft>
                <a:spcPts val="0"/>
              </a:spcAft>
              <a:buNone/>
            </a:pPr>
            <a:r>
              <a:rPr lang="ru-RU"/>
              <a:t>Степень подтвержденности – чем больше подтверждений, тем больше веры в гипотезу.</a:t>
            </a:r>
            <a:endParaRPr/>
          </a:p>
          <a:p>
            <a:pPr indent="0" lvl="0" marL="0" rtl="0" algn="l">
              <a:spcBef>
                <a:spcPts val="360"/>
              </a:spcBef>
              <a:spcAft>
                <a:spcPts val="0"/>
              </a:spcAft>
              <a:buNone/>
            </a:pPr>
            <a:r>
              <a:rPr lang="ru-RU"/>
              <a:t>Если нет объясненности гипотезы – она не является абсолютно доказанной.</a:t>
            </a:r>
            <a:endParaRPr/>
          </a:p>
          <a:p>
            <a:pPr indent="0" lvl="0" marL="0" rtl="0" algn="l">
              <a:spcBef>
                <a:spcPts val="360"/>
              </a:spcBef>
              <a:spcAft>
                <a:spcPts val="0"/>
              </a:spcAft>
              <a:buNone/>
            </a:pPr>
            <a:r>
              <a:rPr lang="ru-RU"/>
              <a:t>Форма представления: чем проще и нагляднее, тем лучше.</a:t>
            </a:r>
            <a:endParaRPr/>
          </a:p>
          <a:p>
            <a:pPr indent="0" lvl="0" marL="0" rtl="0" algn="l">
              <a:spcBef>
                <a:spcPts val="360"/>
              </a:spcBef>
              <a:spcAft>
                <a:spcPts val="0"/>
              </a:spcAft>
              <a:buNone/>
            </a:pPr>
            <a:r>
              <a:rPr lang="ru-RU"/>
              <a:t>Изящество – пример – структура ДНК. В Лондоне строили модель, но она была очень некрасива – решили, что природа не могла так создать.</a:t>
            </a:r>
            <a:endParaRPr/>
          </a:p>
          <a:p>
            <a:pPr indent="0" lvl="0" marL="0" rtl="0" algn="l">
              <a:spcBef>
                <a:spcPts val="360"/>
              </a:spcBef>
              <a:spcAft>
                <a:spcPts val="0"/>
              </a:spcAft>
              <a:buNone/>
            </a:pPr>
            <a:r>
              <a:rPr lang="ru-RU"/>
              <a:t>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03" name="Google Shape;403;p19: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13" name="Google Shape;413;p20: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23" name="Google Shape;423;p21: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34" name="Google Shape;434;p22: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
        <p:nvSpPr>
          <p:cNvPr id="444" name="Google Shape;444;p23:notes"/>
          <p:cNvSpPr/>
          <p:nvPr>
            <p:ph idx="2" type="sldImg"/>
          </p:nvPr>
        </p:nvSpPr>
        <p:spPr>
          <a:xfrm>
            <a:off x="955675" y="685800"/>
            <a:ext cx="494665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5" name="Google Shape;445;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ru-RU" sz="1400"/>
              <a:t>То о чём мы говорили вначале лекции – это были концепции. Существуют технические решения, использующие Hadoop и MapReduce, которые включают в себя полный комплекс для ведения процесса аналитики: и систему сопряжения с хранилищем, и подсистему извлечения данных, подсистему машинного обучения и систему визуализации, представления и распространения результатов аналитики. Таковы, например, решения от IBM: BigInsights, BigSheets, Stream, решения от SAP: SAP HANA, от EMC Greenplum: Chorus.</a:t>
            </a:r>
            <a:endParaRPr/>
          </a:p>
          <a:p>
            <a:pPr indent="0" lvl="0" marL="0" rtl="0" algn="l">
              <a:spcBef>
                <a:spcPts val="0"/>
              </a:spcBef>
              <a:spcAft>
                <a:spcPts val="0"/>
              </a:spcAft>
              <a:buNone/>
            </a:pPr>
            <a:r>
              <a:t/>
            </a:r>
            <a:endParaRPr/>
          </a:p>
        </p:txBody>
      </p:sp>
      <p:sp>
        <p:nvSpPr>
          <p:cNvPr id="446" name="Google Shape;446;p23:notes"/>
          <p:cNvSpPr txBox="1"/>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ru-RU"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
        <p:nvSpPr>
          <p:cNvPr id="457" name="Google Shape;457;p24:notes"/>
          <p:cNvSpPr/>
          <p:nvPr>
            <p:ph idx="2" type="sldImg"/>
          </p:nvPr>
        </p:nvSpPr>
        <p:spPr>
          <a:xfrm>
            <a:off x="955675" y="685800"/>
            <a:ext cx="494665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8" name="Google Shape;458;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ru-RU" sz="1400"/>
              <a:t>То о чём мы говорили вначале лекции – это были концепции. Существуют технические решения, использующие Hadoop и MapReduce, которые включают в себя полный комплекс для ведения процесса аналитики: и систему сопряжения с хранилищем, и подсистему извлечения данных, подсистему машинного обучения и систему визуализации, представления и распространения результатов аналитики. Таковы, например, решения от IBM: BigInsights, BigSheets, Stream, решения от SAP: SAP HANA, от EMC Greenplum: Chorus.</a:t>
            </a:r>
            <a:endParaRPr/>
          </a:p>
          <a:p>
            <a:pPr indent="0" lvl="0" marL="0" rtl="0" algn="l">
              <a:spcBef>
                <a:spcPts val="0"/>
              </a:spcBef>
              <a:spcAft>
                <a:spcPts val="0"/>
              </a:spcAft>
              <a:buNone/>
            </a:pPr>
            <a:r>
              <a:t/>
            </a:r>
            <a:endParaRPr/>
          </a:p>
        </p:txBody>
      </p:sp>
      <p:sp>
        <p:nvSpPr>
          <p:cNvPr id="459" name="Google Shape;459;p24:notes"/>
          <p:cNvSpPr txBox="1"/>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ru-RU"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
        <p:nvSpPr>
          <p:cNvPr id="469" name="Google Shape;469;p25:notes"/>
          <p:cNvSpPr/>
          <p:nvPr>
            <p:ph idx="2" type="sldImg"/>
          </p:nvPr>
        </p:nvSpPr>
        <p:spPr>
          <a:xfrm>
            <a:off x="955675" y="685800"/>
            <a:ext cx="494665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0" name="Google Shape;470;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900">
              <a:latin typeface="Droid Sans Mono"/>
              <a:ea typeface="Droid Sans Mono"/>
              <a:cs typeface="Droid Sans Mono"/>
              <a:sym typeface="Droid Sans Mono"/>
            </a:endParaRPr>
          </a:p>
        </p:txBody>
      </p:sp>
      <p:sp>
        <p:nvSpPr>
          <p:cNvPr id="471" name="Google Shape;471;p25:notes"/>
          <p:cNvSpPr txBox="1"/>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ru-RU"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77" name="Google Shape;477;p26: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86" name="Google Shape;486;p27: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01" name="Google Shape;501;p28: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11" name="Google Shape;511;p29: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23" name="Google Shape;523;p30: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35" name="Google Shape;535;p31: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47" name="Google Shape;547;p32: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56" name="Google Shape;556;p33: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69" name="Google Shape;569;p34: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81" name="Google Shape;581;p35: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92" name="Google Shape;592;p36: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02" name="Google Shape;602;p37: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12" name="Google Shape;612;p38: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22" name="Google Shape;622;p39: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32" name="Google Shape;632;p40: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43" name="Google Shape;643;p41: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53" name="Google Shape;653;p42: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65" name="Google Shape;665;p43: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75" name="Google Shape;675;p44: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85" name="Google Shape;685;p45: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95" name="Google Shape;695;p46: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09" name="Google Shape;709;p47: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19" name="Google Shape;719;p48: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31" name="Google Shape;731;p49: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41" name="Google Shape;741;p50: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54" name="Google Shape;754;p51: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p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64" name="Google Shape;764;p52: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75" name="Google Shape;775;p53: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85" name="Google Shape;785;p54: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95" name="Google Shape;795;p55: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p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07" name="Google Shape;807;p56: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20" name="Google Shape;820;p57: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p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32" name="Google Shape;832;p58: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p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42" name="Google Shape;842;p59: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p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52" name="Google Shape;852;p60: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p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67" name="Google Shape;867;p61: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p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82" name="Google Shape;882;p62: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p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96" name="Google Shape;896;p63: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p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06" name="Google Shape;906;p64: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p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16" name="Google Shape;916;p65: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p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29" name="Google Shape;929;p66: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p6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42" name="Google Shape;942;p67: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p6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61" name="Google Shape;961;p68: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p6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75" name="Google Shape;975;p69: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p7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86" name="Google Shape;986;p70: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p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02" name="Google Shape;1002;p71: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5" name="Shape 1015"/>
        <p:cNvGrpSpPr/>
        <p:nvPr/>
      </p:nvGrpSpPr>
      <p:grpSpPr>
        <a:xfrm>
          <a:off x="0" y="0"/>
          <a:ext cx="0" cy="0"/>
          <a:chOff x="0" y="0"/>
          <a:chExt cx="0" cy="0"/>
        </a:xfrm>
      </p:grpSpPr>
      <p:sp>
        <p:nvSpPr>
          <p:cNvPr id="1016" name="Google Shape;1016;p7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17" name="Google Shape;1017;p72: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p7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29" name="Google Shape;1029;p73: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hyperlink" Target="http://presentation-creation.ru/" TargetMode="Externa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итульный слайд" type="title">
  <p:cSld name="TITLE">
    <p:bg>
      <p:bgPr>
        <a:blipFill>
          <a:blip r:embed="rId2">
            <a:alphaModFix/>
          </a:blip>
          <a:stretch>
            <a:fillRect/>
          </a:stretch>
        </a:blipFill>
      </p:bgPr>
    </p:bg>
    <p:spTree>
      <p:nvGrpSpPr>
        <p:cNvPr id="15" name="Shape 15"/>
        <p:cNvGrpSpPr/>
        <p:nvPr/>
      </p:nvGrpSpPr>
      <p:grpSpPr>
        <a:xfrm>
          <a:off x="0" y="0"/>
          <a:ext cx="0" cy="0"/>
          <a:chOff x="0" y="0"/>
          <a:chExt cx="0" cy="0"/>
        </a:xfrm>
      </p:grpSpPr>
      <p:sp>
        <p:nvSpPr>
          <p:cNvPr id="16" name="Google Shape;16;p75"/>
          <p:cNvSpPr txBox="1"/>
          <p:nvPr>
            <p:ph type="ctrTitle"/>
          </p:nvPr>
        </p:nvSpPr>
        <p:spPr>
          <a:xfrm>
            <a:off x="0" y="1093920"/>
            <a:ext cx="5300605" cy="1527533"/>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75"/>
          <p:cNvSpPr txBox="1"/>
          <p:nvPr>
            <p:ph idx="1" type="subTitle"/>
          </p:nvPr>
        </p:nvSpPr>
        <p:spPr>
          <a:xfrm>
            <a:off x="13416" y="3114194"/>
            <a:ext cx="5206256" cy="1821162"/>
          </a:xfrm>
          <a:prstGeom prst="rect">
            <a:avLst/>
          </a:prstGeom>
          <a:noFill/>
          <a:ln>
            <a:noFill/>
          </a:ln>
        </p:spPr>
        <p:txBody>
          <a:bodyPr anchorCtr="0" anchor="t" bIns="45700" lIns="91425" spcFirstLastPara="1" rIns="91425" wrap="square" tIns="45700">
            <a:normAutofit/>
          </a:bodyPr>
          <a:lstStyle>
            <a:lvl1pPr lvl="0" algn="ctr">
              <a:spcBef>
                <a:spcPts val="665"/>
              </a:spcBef>
              <a:spcAft>
                <a:spcPts val="0"/>
              </a:spcAft>
              <a:buClr>
                <a:srgbClr val="888888"/>
              </a:buClr>
              <a:buSzPts val="3325"/>
              <a:buNone/>
              <a:defRPr>
                <a:solidFill>
                  <a:srgbClr val="888888"/>
                </a:solidFill>
              </a:defRPr>
            </a:lvl1pPr>
            <a:lvl2pPr lvl="1" algn="ctr">
              <a:spcBef>
                <a:spcPts val="582"/>
              </a:spcBef>
              <a:spcAft>
                <a:spcPts val="0"/>
              </a:spcAft>
              <a:buClr>
                <a:srgbClr val="888888"/>
              </a:buClr>
              <a:buSzPts val="2909"/>
              <a:buNone/>
              <a:defRPr>
                <a:solidFill>
                  <a:srgbClr val="888888"/>
                </a:solidFill>
              </a:defRPr>
            </a:lvl2pPr>
            <a:lvl3pPr lvl="2" algn="ctr">
              <a:spcBef>
                <a:spcPts val="499"/>
              </a:spcBef>
              <a:spcAft>
                <a:spcPts val="0"/>
              </a:spcAft>
              <a:buClr>
                <a:srgbClr val="888888"/>
              </a:buClr>
              <a:buSzPts val="2494"/>
              <a:buNone/>
              <a:defRPr>
                <a:solidFill>
                  <a:srgbClr val="888888"/>
                </a:solidFill>
              </a:defRPr>
            </a:lvl3pPr>
            <a:lvl4pPr lvl="3" algn="ctr">
              <a:spcBef>
                <a:spcPts val="416"/>
              </a:spcBef>
              <a:spcAft>
                <a:spcPts val="0"/>
              </a:spcAft>
              <a:buClr>
                <a:srgbClr val="888888"/>
              </a:buClr>
              <a:buSzPts val="2078"/>
              <a:buNone/>
              <a:defRPr>
                <a:solidFill>
                  <a:srgbClr val="888888"/>
                </a:solidFill>
              </a:defRPr>
            </a:lvl4pPr>
            <a:lvl5pPr lvl="4" algn="ctr">
              <a:spcBef>
                <a:spcPts val="416"/>
              </a:spcBef>
              <a:spcAft>
                <a:spcPts val="0"/>
              </a:spcAft>
              <a:buClr>
                <a:srgbClr val="888888"/>
              </a:buClr>
              <a:buSzPts val="2078"/>
              <a:buNone/>
              <a:defRPr>
                <a:solidFill>
                  <a:srgbClr val="888888"/>
                </a:solidFill>
              </a:defRPr>
            </a:lvl5pPr>
            <a:lvl6pPr lvl="5" algn="ctr">
              <a:spcBef>
                <a:spcPts val="416"/>
              </a:spcBef>
              <a:spcAft>
                <a:spcPts val="0"/>
              </a:spcAft>
              <a:buClr>
                <a:srgbClr val="888888"/>
              </a:buClr>
              <a:buSzPts val="2078"/>
              <a:buNone/>
              <a:defRPr>
                <a:solidFill>
                  <a:srgbClr val="888888"/>
                </a:solidFill>
              </a:defRPr>
            </a:lvl6pPr>
            <a:lvl7pPr lvl="6" algn="ctr">
              <a:spcBef>
                <a:spcPts val="416"/>
              </a:spcBef>
              <a:spcAft>
                <a:spcPts val="0"/>
              </a:spcAft>
              <a:buClr>
                <a:srgbClr val="888888"/>
              </a:buClr>
              <a:buSzPts val="2078"/>
              <a:buNone/>
              <a:defRPr>
                <a:solidFill>
                  <a:srgbClr val="888888"/>
                </a:solidFill>
              </a:defRPr>
            </a:lvl7pPr>
            <a:lvl8pPr lvl="7" algn="ctr">
              <a:spcBef>
                <a:spcPts val="416"/>
              </a:spcBef>
              <a:spcAft>
                <a:spcPts val="0"/>
              </a:spcAft>
              <a:buClr>
                <a:srgbClr val="888888"/>
              </a:buClr>
              <a:buSzPts val="2078"/>
              <a:buNone/>
              <a:defRPr>
                <a:solidFill>
                  <a:srgbClr val="888888"/>
                </a:solidFill>
              </a:defRPr>
            </a:lvl8pPr>
            <a:lvl9pPr lvl="8" algn="ctr">
              <a:spcBef>
                <a:spcPts val="416"/>
              </a:spcBef>
              <a:spcAft>
                <a:spcPts val="0"/>
              </a:spcAft>
              <a:buClr>
                <a:srgbClr val="888888"/>
              </a:buClr>
              <a:buSzPts val="2078"/>
              <a:buNone/>
              <a:defRPr>
                <a:solidFill>
                  <a:srgbClr val="888888"/>
                </a:solidFill>
              </a:defRPr>
            </a:lvl9pPr>
          </a:lstStyle>
          <a:p/>
        </p:txBody>
      </p:sp>
      <p:sp>
        <p:nvSpPr>
          <p:cNvPr id="18" name="Google Shape;18;p75"/>
          <p:cNvSpPr txBox="1"/>
          <p:nvPr>
            <p:ph idx="10" type="dt"/>
          </p:nvPr>
        </p:nvSpPr>
        <p:spPr>
          <a:xfrm>
            <a:off x="513874" y="6605014"/>
            <a:ext cx="2398078" cy="37940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75"/>
          <p:cNvSpPr txBox="1"/>
          <p:nvPr>
            <p:ph idx="11" type="ftr"/>
          </p:nvPr>
        </p:nvSpPr>
        <p:spPr>
          <a:xfrm>
            <a:off x="3511471" y="6605014"/>
            <a:ext cx="3254534" cy="37940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75"/>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ru-RU"/>
              <a:t>‹#›</a:t>
            </a:fld>
            <a:endParaRPr/>
          </a:p>
        </p:txBody>
      </p:sp>
      <p:sp>
        <p:nvSpPr>
          <p:cNvPr id="21" name="Google Shape;21;p75"/>
          <p:cNvSpPr/>
          <p:nvPr/>
        </p:nvSpPr>
        <p:spPr>
          <a:xfrm>
            <a:off x="6814156" y="6742507"/>
            <a:ext cx="3322576" cy="38010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ru-RU" sz="1870" u="sng" cap="none" strike="noStrike">
                <a:solidFill>
                  <a:schemeClr val="dk1"/>
                </a:solidFill>
                <a:latin typeface="Calibri"/>
                <a:ea typeface="Calibri"/>
                <a:cs typeface="Calibri"/>
                <a:sym typeface="Calibri"/>
                <a:hlinkClick r:id="rId3">
                  <a:extLst>
                    <a:ext uri="{A12FA001-AC4F-418D-AE19-62706E023703}">
                      <ahyp:hlinkClr val="tx"/>
                    </a:ext>
                  </a:extLst>
                </a:hlinkClick>
              </a:rPr>
              <a:t>http://presentation-creation.ru/</a:t>
            </a:r>
            <a:endParaRPr b="0" i="0" sz="3325"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Пустой слайд" type="blank">
  <p:cSld name="BLANK">
    <p:spTree>
      <p:nvGrpSpPr>
        <p:cNvPr id="22" name="Shape 22"/>
        <p:cNvGrpSpPr/>
        <p:nvPr/>
      </p:nvGrpSpPr>
      <p:grpSpPr>
        <a:xfrm>
          <a:off x="0" y="0"/>
          <a:ext cx="0" cy="0"/>
          <a:chOff x="0" y="0"/>
          <a:chExt cx="0" cy="0"/>
        </a:xfrm>
      </p:grpSpPr>
      <p:sp>
        <p:nvSpPr>
          <p:cNvPr id="23" name="Google Shape;23;p76"/>
          <p:cNvSpPr txBox="1"/>
          <p:nvPr>
            <p:ph idx="10" type="dt"/>
          </p:nvPr>
        </p:nvSpPr>
        <p:spPr>
          <a:xfrm>
            <a:off x="513874" y="6605014"/>
            <a:ext cx="2398078" cy="37940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76"/>
          <p:cNvSpPr txBox="1"/>
          <p:nvPr>
            <p:ph idx="11" type="ftr"/>
          </p:nvPr>
        </p:nvSpPr>
        <p:spPr>
          <a:xfrm>
            <a:off x="3511471" y="6605014"/>
            <a:ext cx="3254534" cy="37940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76"/>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объект" type="obj">
  <p:cSld name="OBJECT">
    <p:spTree>
      <p:nvGrpSpPr>
        <p:cNvPr id="26" name="Shape 26"/>
        <p:cNvGrpSpPr/>
        <p:nvPr/>
      </p:nvGrpSpPr>
      <p:grpSpPr>
        <a:xfrm>
          <a:off x="0" y="0"/>
          <a:ext cx="0" cy="0"/>
          <a:chOff x="0" y="0"/>
          <a:chExt cx="0" cy="0"/>
        </a:xfrm>
      </p:grpSpPr>
      <p:sp>
        <p:nvSpPr>
          <p:cNvPr id="27" name="Google Shape;27;p77"/>
          <p:cNvSpPr txBox="1"/>
          <p:nvPr>
            <p:ph type="title"/>
          </p:nvPr>
        </p:nvSpPr>
        <p:spPr>
          <a:xfrm>
            <a:off x="513874" y="285382"/>
            <a:ext cx="9249728" cy="118771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77"/>
          <p:cNvSpPr txBox="1"/>
          <p:nvPr>
            <p:ph idx="1" type="body"/>
          </p:nvPr>
        </p:nvSpPr>
        <p:spPr>
          <a:xfrm>
            <a:off x="513874" y="1662801"/>
            <a:ext cx="9249728" cy="4703021"/>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9" name="Google Shape;29;p77"/>
          <p:cNvSpPr txBox="1"/>
          <p:nvPr>
            <p:ph idx="10" type="dt"/>
          </p:nvPr>
        </p:nvSpPr>
        <p:spPr>
          <a:xfrm>
            <a:off x="513874" y="6605014"/>
            <a:ext cx="2398078" cy="37940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77"/>
          <p:cNvSpPr txBox="1"/>
          <p:nvPr>
            <p:ph idx="11" type="ftr"/>
          </p:nvPr>
        </p:nvSpPr>
        <p:spPr>
          <a:xfrm>
            <a:off x="3511471" y="6605014"/>
            <a:ext cx="3254534" cy="37940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77"/>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раздела" type="secHead">
  <p:cSld name="SECTION_HEADER">
    <p:spTree>
      <p:nvGrpSpPr>
        <p:cNvPr id="32" name="Shape 32"/>
        <p:cNvGrpSpPr/>
        <p:nvPr/>
      </p:nvGrpSpPr>
      <p:grpSpPr>
        <a:xfrm>
          <a:off x="0" y="0"/>
          <a:ext cx="0" cy="0"/>
          <a:chOff x="0" y="0"/>
          <a:chExt cx="0" cy="0"/>
        </a:xfrm>
      </p:grpSpPr>
      <p:sp>
        <p:nvSpPr>
          <p:cNvPr id="33" name="Google Shape;33;p78"/>
          <p:cNvSpPr txBox="1"/>
          <p:nvPr>
            <p:ph type="title"/>
          </p:nvPr>
        </p:nvSpPr>
        <p:spPr>
          <a:xfrm>
            <a:off x="811850" y="4579300"/>
            <a:ext cx="8735854" cy="141536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156"/>
              <a:buFont typeface="Calibri"/>
              <a:buNone/>
              <a:defRPr b="1" sz="4156"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78"/>
          <p:cNvSpPr txBox="1"/>
          <p:nvPr>
            <p:ph idx="1" type="body"/>
          </p:nvPr>
        </p:nvSpPr>
        <p:spPr>
          <a:xfrm>
            <a:off x="811850" y="3020425"/>
            <a:ext cx="8735854" cy="1558875"/>
          </a:xfrm>
          <a:prstGeom prst="rect">
            <a:avLst/>
          </a:prstGeom>
          <a:noFill/>
          <a:ln>
            <a:noFill/>
          </a:ln>
        </p:spPr>
        <p:txBody>
          <a:bodyPr anchorCtr="0" anchor="b" bIns="45700" lIns="91425" spcFirstLastPara="1" rIns="91425" wrap="square" tIns="45700">
            <a:normAutofit/>
          </a:bodyPr>
          <a:lstStyle>
            <a:lvl1pPr indent="-228600" lvl="0" marL="457200" algn="l">
              <a:spcBef>
                <a:spcPts val="416"/>
              </a:spcBef>
              <a:spcAft>
                <a:spcPts val="0"/>
              </a:spcAft>
              <a:buClr>
                <a:srgbClr val="888888"/>
              </a:buClr>
              <a:buSzPts val="2078"/>
              <a:buNone/>
              <a:defRPr sz="2078">
                <a:solidFill>
                  <a:srgbClr val="888888"/>
                </a:solidFill>
              </a:defRPr>
            </a:lvl1pPr>
            <a:lvl2pPr indent="-228600" lvl="1" marL="914400" algn="l">
              <a:spcBef>
                <a:spcPts val="374"/>
              </a:spcBef>
              <a:spcAft>
                <a:spcPts val="0"/>
              </a:spcAft>
              <a:buClr>
                <a:srgbClr val="888888"/>
              </a:buClr>
              <a:buSzPts val="1870"/>
              <a:buNone/>
              <a:defRPr sz="1870">
                <a:solidFill>
                  <a:srgbClr val="888888"/>
                </a:solidFill>
              </a:defRPr>
            </a:lvl2pPr>
            <a:lvl3pPr indent="-228600" lvl="2" marL="1371600" algn="l">
              <a:spcBef>
                <a:spcPts val="333"/>
              </a:spcBef>
              <a:spcAft>
                <a:spcPts val="0"/>
              </a:spcAft>
              <a:buClr>
                <a:srgbClr val="888888"/>
              </a:buClr>
              <a:buSzPts val="1663"/>
              <a:buNone/>
              <a:defRPr sz="1662">
                <a:solidFill>
                  <a:srgbClr val="888888"/>
                </a:solidFill>
              </a:defRPr>
            </a:lvl3pPr>
            <a:lvl4pPr indent="-228600" lvl="3" marL="1828800" algn="l">
              <a:spcBef>
                <a:spcPts val="291"/>
              </a:spcBef>
              <a:spcAft>
                <a:spcPts val="0"/>
              </a:spcAft>
              <a:buClr>
                <a:srgbClr val="888888"/>
              </a:buClr>
              <a:buSzPts val="1455"/>
              <a:buNone/>
              <a:defRPr sz="1455">
                <a:solidFill>
                  <a:srgbClr val="888888"/>
                </a:solidFill>
              </a:defRPr>
            </a:lvl4pPr>
            <a:lvl5pPr indent="-228600" lvl="4" marL="2286000" algn="l">
              <a:spcBef>
                <a:spcPts val="291"/>
              </a:spcBef>
              <a:spcAft>
                <a:spcPts val="0"/>
              </a:spcAft>
              <a:buClr>
                <a:srgbClr val="888888"/>
              </a:buClr>
              <a:buSzPts val="1455"/>
              <a:buNone/>
              <a:defRPr sz="1455">
                <a:solidFill>
                  <a:srgbClr val="888888"/>
                </a:solidFill>
              </a:defRPr>
            </a:lvl5pPr>
            <a:lvl6pPr indent="-228600" lvl="5" marL="2743200" algn="l">
              <a:spcBef>
                <a:spcPts val="291"/>
              </a:spcBef>
              <a:spcAft>
                <a:spcPts val="0"/>
              </a:spcAft>
              <a:buClr>
                <a:srgbClr val="888888"/>
              </a:buClr>
              <a:buSzPts val="1455"/>
              <a:buNone/>
              <a:defRPr sz="1455">
                <a:solidFill>
                  <a:srgbClr val="888888"/>
                </a:solidFill>
              </a:defRPr>
            </a:lvl6pPr>
            <a:lvl7pPr indent="-228600" lvl="6" marL="3200400" algn="l">
              <a:spcBef>
                <a:spcPts val="291"/>
              </a:spcBef>
              <a:spcAft>
                <a:spcPts val="0"/>
              </a:spcAft>
              <a:buClr>
                <a:srgbClr val="888888"/>
              </a:buClr>
              <a:buSzPts val="1455"/>
              <a:buNone/>
              <a:defRPr sz="1455">
                <a:solidFill>
                  <a:srgbClr val="888888"/>
                </a:solidFill>
              </a:defRPr>
            </a:lvl7pPr>
            <a:lvl8pPr indent="-228600" lvl="7" marL="3657600" algn="l">
              <a:spcBef>
                <a:spcPts val="291"/>
              </a:spcBef>
              <a:spcAft>
                <a:spcPts val="0"/>
              </a:spcAft>
              <a:buClr>
                <a:srgbClr val="888888"/>
              </a:buClr>
              <a:buSzPts val="1455"/>
              <a:buNone/>
              <a:defRPr sz="1455">
                <a:solidFill>
                  <a:srgbClr val="888888"/>
                </a:solidFill>
              </a:defRPr>
            </a:lvl8pPr>
            <a:lvl9pPr indent="-228600" lvl="8" marL="4114800" algn="l">
              <a:spcBef>
                <a:spcPts val="291"/>
              </a:spcBef>
              <a:spcAft>
                <a:spcPts val="0"/>
              </a:spcAft>
              <a:buClr>
                <a:srgbClr val="888888"/>
              </a:buClr>
              <a:buSzPts val="1455"/>
              <a:buNone/>
              <a:defRPr sz="1455">
                <a:solidFill>
                  <a:srgbClr val="888888"/>
                </a:solidFill>
              </a:defRPr>
            </a:lvl9pPr>
          </a:lstStyle>
          <a:p/>
        </p:txBody>
      </p:sp>
      <p:sp>
        <p:nvSpPr>
          <p:cNvPr id="35" name="Google Shape;35;p78"/>
          <p:cNvSpPr txBox="1"/>
          <p:nvPr>
            <p:ph idx="10" type="dt"/>
          </p:nvPr>
        </p:nvSpPr>
        <p:spPr>
          <a:xfrm>
            <a:off x="513874" y="6605014"/>
            <a:ext cx="2398078" cy="37940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78"/>
          <p:cNvSpPr txBox="1"/>
          <p:nvPr>
            <p:ph idx="11" type="ftr"/>
          </p:nvPr>
        </p:nvSpPr>
        <p:spPr>
          <a:xfrm>
            <a:off x="3511471" y="6605014"/>
            <a:ext cx="3254534" cy="37940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78"/>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Два объекта" type="twoObj">
  <p:cSld name="TWO_OBJECTS">
    <p:spTree>
      <p:nvGrpSpPr>
        <p:cNvPr id="38" name="Shape 38"/>
        <p:cNvGrpSpPr/>
        <p:nvPr/>
      </p:nvGrpSpPr>
      <p:grpSpPr>
        <a:xfrm>
          <a:off x="0" y="0"/>
          <a:ext cx="0" cy="0"/>
          <a:chOff x="0" y="0"/>
          <a:chExt cx="0" cy="0"/>
        </a:xfrm>
      </p:grpSpPr>
      <p:sp>
        <p:nvSpPr>
          <p:cNvPr id="39" name="Google Shape;39;p79"/>
          <p:cNvSpPr txBox="1"/>
          <p:nvPr>
            <p:ph type="title"/>
          </p:nvPr>
        </p:nvSpPr>
        <p:spPr>
          <a:xfrm>
            <a:off x="513874" y="285382"/>
            <a:ext cx="9249728" cy="118771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79"/>
          <p:cNvSpPr txBox="1"/>
          <p:nvPr>
            <p:ph idx="1" type="body"/>
          </p:nvPr>
        </p:nvSpPr>
        <p:spPr>
          <a:xfrm>
            <a:off x="513874" y="1662801"/>
            <a:ext cx="4539218" cy="4703021"/>
          </a:xfrm>
          <a:prstGeom prst="rect">
            <a:avLst/>
          </a:prstGeom>
          <a:noFill/>
          <a:ln>
            <a:noFill/>
          </a:ln>
        </p:spPr>
        <p:txBody>
          <a:bodyPr anchorCtr="0" anchor="t" bIns="45700" lIns="91425" spcFirstLastPara="1" rIns="91425" wrap="square" tIns="45700">
            <a:normAutofit/>
          </a:bodyPr>
          <a:lstStyle>
            <a:lvl1pPr indent="-413321" lvl="0" marL="457200" algn="l">
              <a:spcBef>
                <a:spcPts val="582"/>
              </a:spcBef>
              <a:spcAft>
                <a:spcPts val="0"/>
              </a:spcAft>
              <a:buClr>
                <a:schemeClr val="dk1"/>
              </a:buClr>
              <a:buSzPts val="2909"/>
              <a:buChar char="•"/>
              <a:defRPr sz="2909"/>
            </a:lvl1pPr>
            <a:lvl2pPr indent="-386969" lvl="1" marL="914400" algn="l">
              <a:spcBef>
                <a:spcPts val="499"/>
              </a:spcBef>
              <a:spcAft>
                <a:spcPts val="0"/>
              </a:spcAft>
              <a:buClr>
                <a:schemeClr val="dk1"/>
              </a:buClr>
              <a:buSzPts val="2494"/>
              <a:buChar char="–"/>
              <a:defRPr sz="2494"/>
            </a:lvl2pPr>
            <a:lvl3pPr indent="-360553" lvl="2" marL="1371600" algn="l">
              <a:spcBef>
                <a:spcPts val="416"/>
              </a:spcBef>
              <a:spcAft>
                <a:spcPts val="0"/>
              </a:spcAft>
              <a:buClr>
                <a:schemeClr val="dk1"/>
              </a:buClr>
              <a:buSzPts val="2078"/>
              <a:buChar char="•"/>
              <a:defRPr sz="2078"/>
            </a:lvl3pPr>
            <a:lvl4pPr indent="-347344" lvl="3" marL="1828800" algn="l">
              <a:spcBef>
                <a:spcPts val="374"/>
              </a:spcBef>
              <a:spcAft>
                <a:spcPts val="0"/>
              </a:spcAft>
              <a:buClr>
                <a:schemeClr val="dk1"/>
              </a:buClr>
              <a:buSzPts val="1870"/>
              <a:buChar char="–"/>
              <a:defRPr sz="1870"/>
            </a:lvl4pPr>
            <a:lvl5pPr indent="-347345" lvl="4" marL="2286000" algn="l">
              <a:spcBef>
                <a:spcPts val="374"/>
              </a:spcBef>
              <a:spcAft>
                <a:spcPts val="0"/>
              </a:spcAft>
              <a:buClr>
                <a:schemeClr val="dk1"/>
              </a:buClr>
              <a:buSzPts val="1870"/>
              <a:buChar char="»"/>
              <a:defRPr sz="1870"/>
            </a:lvl5pPr>
            <a:lvl6pPr indent="-347345" lvl="5" marL="2743200" algn="l">
              <a:spcBef>
                <a:spcPts val="374"/>
              </a:spcBef>
              <a:spcAft>
                <a:spcPts val="0"/>
              </a:spcAft>
              <a:buClr>
                <a:schemeClr val="dk1"/>
              </a:buClr>
              <a:buSzPts val="1870"/>
              <a:buChar char="•"/>
              <a:defRPr sz="1870"/>
            </a:lvl6pPr>
            <a:lvl7pPr indent="-347345" lvl="6" marL="3200400" algn="l">
              <a:spcBef>
                <a:spcPts val="374"/>
              </a:spcBef>
              <a:spcAft>
                <a:spcPts val="0"/>
              </a:spcAft>
              <a:buClr>
                <a:schemeClr val="dk1"/>
              </a:buClr>
              <a:buSzPts val="1870"/>
              <a:buChar char="•"/>
              <a:defRPr sz="1870"/>
            </a:lvl7pPr>
            <a:lvl8pPr indent="-347345" lvl="7" marL="3657600" algn="l">
              <a:spcBef>
                <a:spcPts val="374"/>
              </a:spcBef>
              <a:spcAft>
                <a:spcPts val="0"/>
              </a:spcAft>
              <a:buClr>
                <a:schemeClr val="dk1"/>
              </a:buClr>
              <a:buSzPts val="1870"/>
              <a:buChar char="•"/>
              <a:defRPr sz="1870"/>
            </a:lvl8pPr>
            <a:lvl9pPr indent="-347345" lvl="8" marL="4114800" algn="l">
              <a:spcBef>
                <a:spcPts val="374"/>
              </a:spcBef>
              <a:spcAft>
                <a:spcPts val="0"/>
              </a:spcAft>
              <a:buClr>
                <a:schemeClr val="dk1"/>
              </a:buClr>
              <a:buSzPts val="1870"/>
              <a:buChar char="•"/>
              <a:defRPr sz="1870"/>
            </a:lvl9pPr>
          </a:lstStyle>
          <a:p/>
        </p:txBody>
      </p:sp>
      <p:sp>
        <p:nvSpPr>
          <p:cNvPr id="41" name="Google Shape;41;p79"/>
          <p:cNvSpPr txBox="1"/>
          <p:nvPr>
            <p:ph idx="2" type="body"/>
          </p:nvPr>
        </p:nvSpPr>
        <p:spPr>
          <a:xfrm>
            <a:off x="5224383" y="1662801"/>
            <a:ext cx="4539218" cy="4703021"/>
          </a:xfrm>
          <a:prstGeom prst="rect">
            <a:avLst/>
          </a:prstGeom>
          <a:noFill/>
          <a:ln>
            <a:noFill/>
          </a:ln>
        </p:spPr>
        <p:txBody>
          <a:bodyPr anchorCtr="0" anchor="t" bIns="45700" lIns="91425" spcFirstLastPara="1" rIns="91425" wrap="square" tIns="45700">
            <a:normAutofit/>
          </a:bodyPr>
          <a:lstStyle>
            <a:lvl1pPr indent="-413321" lvl="0" marL="457200" algn="l">
              <a:spcBef>
                <a:spcPts val="582"/>
              </a:spcBef>
              <a:spcAft>
                <a:spcPts val="0"/>
              </a:spcAft>
              <a:buClr>
                <a:schemeClr val="dk1"/>
              </a:buClr>
              <a:buSzPts val="2909"/>
              <a:buChar char="•"/>
              <a:defRPr sz="2909"/>
            </a:lvl1pPr>
            <a:lvl2pPr indent="-386969" lvl="1" marL="914400" algn="l">
              <a:spcBef>
                <a:spcPts val="499"/>
              </a:spcBef>
              <a:spcAft>
                <a:spcPts val="0"/>
              </a:spcAft>
              <a:buClr>
                <a:schemeClr val="dk1"/>
              </a:buClr>
              <a:buSzPts val="2494"/>
              <a:buChar char="–"/>
              <a:defRPr sz="2494"/>
            </a:lvl2pPr>
            <a:lvl3pPr indent="-360553" lvl="2" marL="1371600" algn="l">
              <a:spcBef>
                <a:spcPts val="416"/>
              </a:spcBef>
              <a:spcAft>
                <a:spcPts val="0"/>
              </a:spcAft>
              <a:buClr>
                <a:schemeClr val="dk1"/>
              </a:buClr>
              <a:buSzPts val="2078"/>
              <a:buChar char="•"/>
              <a:defRPr sz="2078"/>
            </a:lvl3pPr>
            <a:lvl4pPr indent="-347344" lvl="3" marL="1828800" algn="l">
              <a:spcBef>
                <a:spcPts val="374"/>
              </a:spcBef>
              <a:spcAft>
                <a:spcPts val="0"/>
              </a:spcAft>
              <a:buClr>
                <a:schemeClr val="dk1"/>
              </a:buClr>
              <a:buSzPts val="1870"/>
              <a:buChar char="–"/>
              <a:defRPr sz="1870"/>
            </a:lvl4pPr>
            <a:lvl5pPr indent="-347345" lvl="4" marL="2286000" algn="l">
              <a:spcBef>
                <a:spcPts val="374"/>
              </a:spcBef>
              <a:spcAft>
                <a:spcPts val="0"/>
              </a:spcAft>
              <a:buClr>
                <a:schemeClr val="dk1"/>
              </a:buClr>
              <a:buSzPts val="1870"/>
              <a:buChar char="»"/>
              <a:defRPr sz="1870"/>
            </a:lvl5pPr>
            <a:lvl6pPr indent="-347345" lvl="5" marL="2743200" algn="l">
              <a:spcBef>
                <a:spcPts val="374"/>
              </a:spcBef>
              <a:spcAft>
                <a:spcPts val="0"/>
              </a:spcAft>
              <a:buClr>
                <a:schemeClr val="dk1"/>
              </a:buClr>
              <a:buSzPts val="1870"/>
              <a:buChar char="•"/>
              <a:defRPr sz="1870"/>
            </a:lvl6pPr>
            <a:lvl7pPr indent="-347345" lvl="6" marL="3200400" algn="l">
              <a:spcBef>
                <a:spcPts val="374"/>
              </a:spcBef>
              <a:spcAft>
                <a:spcPts val="0"/>
              </a:spcAft>
              <a:buClr>
                <a:schemeClr val="dk1"/>
              </a:buClr>
              <a:buSzPts val="1870"/>
              <a:buChar char="•"/>
              <a:defRPr sz="1870"/>
            </a:lvl7pPr>
            <a:lvl8pPr indent="-347345" lvl="7" marL="3657600" algn="l">
              <a:spcBef>
                <a:spcPts val="374"/>
              </a:spcBef>
              <a:spcAft>
                <a:spcPts val="0"/>
              </a:spcAft>
              <a:buClr>
                <a:schemeClr val="dk1"/>
              </a:buClr>
              <a:buSzPts val="1870"/>
              <a:buChar char="•"/>
              <a:defRPr sz="1870"/>
            </a:lvl8pPr>
            <a:lvl9pPr indent="-347345" lvl="8" marL="4114800" algn="l">
              <a:spcBef>
                <a:spcPts val="374"/>
              </a:spcBef>
              <a:spcAft>
                <a:spcPts val="0"/>
              </a:spcAft>
              <a:buClr>
                <a:schemeClr val="dk1"/>
              </a:buClr>
              <a:buSzPts val="1870"/>
              <a:buChar char="•"/>
              <a:defRPr sz="1870"/>
            </a:lvl9pPr>
          </a:lstStyle>
          <a:p/>
        </p:txBody>
      </p:sp>
      <p:sp>
        <p:nvSpPr>
          <p:cNvPr id="42" name="Google Shape;42;p79"/>
          <p:cNvSpPr txBox="1"/>
          <p:nvPr>
            <p:ph idx="10" type="dt"/>
          </p:nvPr>
        </p:nvSpPr>
        <p:spPr>
          <a:xfrm>
            <a:off x="513874" y="6605014"/>
            <a:ext cx="2398078" cy="37940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79"/>
          <p:cNvSpPr txBox="1"/>
          <p:nvPr>
            <p:ph idx="11" type="ftr"/>
          </p:nvPr>
        </p:nvSpPr>
        <p:spPr>
          <a:xfrm>
            <a:off x="3511471" y="6605014"/>
            <a:ext cx="3254534" cy="37940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79"/>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равнение" type="twoTxTwoObj">
  <p:cSld name="TWO_OBJECTS_WITH_TEXT">
    <p:spTree>
      <p:nvGrpSpPr>
        <p:cNvPr id="45" name="Shape 45"/>
        <p:cNvGrpSpPr/>
        <p:nvPr/>
      </p:nvGrpSpPr>
      <p:grpSpPr>
        <a:xfrm>
          <a:off x="0" y="0"/>
          <a:ext cx="0" cy="0"/>
          <a:chOff x="0" y="0"/>
          <a:chExt cx="0" cy="0"/>
        </a:xfrm>
      </p:grpSpPr>
      <p:sp>
        <p:nvSpPr>
          <p:cNvPr id="46" name="Google Shape;46;p80"/>
          <p:cNvSpPr txBox="1"/>
          <p:nvPr>
            <p:ph type="title"/>
          </p:nvPr>
        </p:nvSpPr>
        <p:spPr>
          <a:xfrm>
            <a:off x="513874" y="285382"/>
            <a:ext cx="9249728" cy="118771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572"/>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80"/>
          <p:cNvSpPr txBox="1"/>
          <p:nvPr>
            <p:ph idx="1" type="body"/>
          </p:nvPr>
        </p:nvSpPr>
        <p:spPr>
          <a:xfrm>
            <a:off x="513874" y="1595167"/>
            <a:ext cx="4541003" cy="664790"/>
          </a:xfrm>
          <a:prstGeom prst="rect">
            <a:avLst/>
          </a:prstGeom>
          <a:noFill/>
          <a:ln>
            <a:noFill/>
          </a:ln>
        </p:spPr>
        <p:txBody>
          <a:bodyPr anchorCtr="0" anchor="b" bIns="45700" lIns="91425" spcFirstLastPara="1" rIns="91425" wrap="square" tIns="45700">
            <a:normAutofit/>
          </a:bodyPr>
          <a:lstStyle>
            <a:lvl1pPr indent="-228600" lvl="0" marL="457200" algn="l">
              <a:spcBef>
                <a:spcPts val="499"/>
              </a:spcBef>
              <a:spcAft>
                <a:spcPts val="0"/>
              </a:spcAft>
              <a:buClr>
                <a:schemeClr val="dk1"/>
              </a:buClr>
              <a:buSzPts val="2494"/>
              <a:buNone/>
              <a:defRPr b="1" sz="2494"/>
            </a:lvl1pPr>
            <a:lvl2pPr indent="-228600" lvl="1" marL="914400" algn="l">
              <a:spcBef>
                <a:spcPts val="416"/>
              </a:spcBef>
              <a:spcAft>
                <a:spcPts val="0"/>
              </a:spcAft>
              <a:buClr>
                <a:schemeClr val="dk1"/>
              </a:buClr>
              <a:buSzPts val="2078"/>
              <a:buNone/>
              <a:defRPr b="1" sz="2078"/>
            </a:lvl2pPr>
            <a:lvl3pPr indent="-228600" lvl="2" marL="1371600" algn="l">
              <a:spcBef>
                <a:spcPts val="374"/>
              </a:spcBef>
              <a:spcAft>
                <a:spcPts val="0"/>
              </a:spcAft>
              <a:buClr>
                <a:schemeClr val="dk1"/>
              </a:buClr>
              <a:buSzPts val="1870"/>
              <a:buNone/>
              <a:defRPr b="1" sz="1870"/>
            </a:lvl3pPr>
            <a:lvl4pPr indent="-228600" lvl="3" marL="1828800" algn="l">
              <a:spcBef>
                <a:spcPts val="333"/>
              </a:spcBef>
              <a:spcAft>
                <a:spcPts val="0"/>
              </a:spcAft>
              <a:buClr>
                <a:schemeClr val="dk1"/>
              </a:buClr>
              <a:buSzPts val="1663"/>
              <a:buNone/>
              <a:defRPr b="1" sz="1662"/>
            </a:lvl4pPr>
            <a:lvl5pPr indent="-228600" lvl="4" marL="2286000" algn="l">
              <a:spcBef>
                <a:spcPts val="333"/>
              </a:spcBef>
              <a:spcAft>
                <a:spcPts val="0"/>
              </a:spcAft>
              <a:buClr>
                <a:schemeClr val="dk1"/>
              </a:buClr>
              <a:buSzPts val="1663"/>
              <a:buNone/>
              <a:defRPr b="1" sz="1662"/>
            </a:lvl5pPr>
            <a:lvl6pPr indent="-228600" lvl="5" marL="2743200" algn="l">
              <a:spcBef>
                <a:spcPts val="333"/>
              </a:spcBef>
              <a:spcAft>
                <a:spcPts val="0"/>
              </a:spcAft>
              <a:buClr>
                <a:schemeClr val="dk1"/>
              </a:buClr>
              <a:buSzPts val="1663"/>
              <a:buNone/>
              <a:defRPr b="1" sz="1662"/>
            </a:lvl6pPr>
            <a:lvl7pPr indent="-228600" lvl="6" marL="3200400" algn="l">
              <a:spcBef>
                <a:spcPts val="333"/>
              </a:spcBef>
              <a:spcAft>
                <a:spcPts val="0"/>
              </a:spcAft>
              <a:buClr>
                <a:schemeClr val="dk1"/>
              </a:buClr>
              <a:buSzPts val="1663"/>
              <a:buNone/>
              <a:defRPr b="1" sz="1662"/>
            </a:lvl7pPr>
            <a:lvl8pPr indent="-228600" lvl="7" marL="3657600" algn="l">
              <a:spcBef>
                <a:spcPts val="333"/>
              </a:spcBef>
              <a:spcAft>
                <a:spcPts val="0"/>
              </a:spcAft>
              <a:buClr>
                <a:schemeClr val="dk1"/>
              </a:buClr>
              <a:buSzPts val="1663"/>
              <a:buNone/>
              <a:defRPr b="1" sz="1662"/>
            </a:lvl8pPr>
            <a:lvl9pPr indent="-228600" lvl="8" marL="4114800" algn="l">
              <a:spcBef>
                <a:spcPts val="333"/>
              </a:spcBef>
              <a:spcAft>
                <a:spcPts val="0"/>
              </a:spcAft>
              <a:buClr>
                <a:schemeClr val="dk1"/>
              </a:buClr>
              <a:buSzPts val="1663"/>
              <a:buNone/>
              <a:defRPr b="1" sz="1662"/>
            </a:lvl9pPr>
          </a:lstStyle>
          <a:p/>
        </p:txBody>
      </p:sp>
      <p:sp>
        <p:nvSpPr>
          <p:cNvPr id="48" name="Google Shape;48;p80"/>
          <p:cNvSpPr txBox="1"/>
          <p:nvPr>
            <p:ph idx="2" type="body"/>
          </p:nvPr>
        </p:nvSpPr>
        <p:spPr>
          <a:xfrm>
            <a:off x="513874" y="2259957"/>
            <a:ext cx="4541003" cy="4105864"/>
          </a:xfrm>
          <a:prstGeom prst="rect">
            <a:avLst/>
          </a:prstGeom>
          <a:noFill/>
          <a:ln>
            <a:noFill/>
          </a:ln>
        </p:spPr>
        <p:txBody>
          <a:bodyPr anchorCtr="0" anchor="t" bIns="45700" lIns="91425" spcFirstLastPara="1" rIns="91425" wrap="square" tIns="45700">
            <a:normAutofit/>
          </a:bodyPr>
          <a:lstStyle>
            <a:lvl1pPr indent="-386969" lvl="0" marL="457200" algn="l">
              <a:spcBef>
                <a:spcPts val="499"/>
              </a:spcBef>
              <a:spcAft>
                <a:spcPts val="0"/>
              </a:spcAft>
              <a:buClr>
                <a:schemeClr val="dk1"/>
              </a:buClr>
              <a:buSzPts val="2494"/>
              <a:buChar char="•"/>
              <a:defRPr sz="2494"/>
            </a:lvl1pPr>
            <a:lvl2pPr indent="-360553" lvl="1" marL="914400" algn="l">
              <a:spcBef>
                <a:spcPts val="416"/>
              </a:spcBef>
              <a:spcAft>
                <a:spcPts val="0"/>
              </a:spcAft>
              <a:buClr>
                <a:schemeClr val="dk1"/>
              </a:buClr>
              <a:buSzPts val="2078"/>
              <a:buChar char="–"/>
              <a:defRPr sz="2078"/>
            </a:lvl2pPr>
            <a:lvl3pPr indent="-347344" lvl="2" marL="1371600" algn="l">
              <a:spcBef>
                <a:spcPts val="374"/>
              </a:spcBef>
              <a:spcAft>
                <a:spcPts val="0"/>
              </a:spcAft>
              <a:buClr>
                <a:schemeClr val="dk1"/>
              </a:buClr>
              <a:buSzPts val="1870"/>
              <a:buChar char="•"/>
              <a:defRPr sz="1870"/>
            </a:lvl3pPr>
            <a:lvl4pPr indent="-334200" lvl="3" marL="1828800" algn="l">
              <a:spcBef>
                <a:spcPts val="333"/>
              </a:spcBef>
              <a:spcAft>
                <a:spcPts val="0"/>
              </a:spcAft>
              <a:buClr>
                <a:schemeClr val="dk1"/>
              </a:buClr>
              <a:buSzPts val="1663"/>
              <a:buChar char="–"/>
              <a:defRPr sz="1662"/>
            </a:lvl4pPr>
            <a:lvl5pPr indent="-334200" lvl="4" marL="2286000" algn="l">
              <a:spcBef>
                <a:spcPts val="333"/>
              </a:spcBef>
              <a:spcAft>
                <a:spcPts val="0"/>
              </a:spcAft>
              <a:buClr>
                <a:schemeClr val="dk1"/>
              </a:buClr>
              <a:buSzPts val="1663"/>
              <a:buChar char="»"/>
              <a:defRPr sz="1662"/>
            </a:lvl5pPr>
            <a:lvl6pPr indent="-334200" lvl="5" marL="2743200" algn="l">
              <a:spcBef>
                <a:spcPts val="333"/>
              </a:spcBef>
              <a:spcAft>
                <a:spcPts val="0"/>
              </a:spcAft>
              <a:buClr>
                <a:schemeClr val="dk1"/>
              </a:buClr>
              <a:buSzPts val="1663"/>
              <a:buChar char="•"/>
              <a:defRPr sz="1662"/>
            </a:lvl6pPr>
            <a:lvl7pPr indent="-334200" lvl="6" marL="3200400" algn="l">
              <a:spcBef>
                <a:spcPts val="333"/>
              </a:spcBef>
              <a:spcAft>
                <a:spcPts val="0"/>
              </a:spcAft>
              <a:buClr>
                <a:schemeClr val="dk1"/>
              </a:buClr>
              <a:buSzPts val="1663"/>
              <a:buChar char="•"/>
              <a:defRPr sz="1662"/>
            </a:lvl7pPr>
            <a:lvl8pPr indent="-334200" lvl="7" marL="3657600" algn="l">
              <a:spcBef>
                <a:spcPts val="333"/>
              </a:spcBef>
              <a:spcAft>
                <a:spcPts val="0"/>
              </a:spcAft>
              <a:buClr>
                <a:schemeClr val="dk1"/>
              </a:buClr>
              <a:buSzPts val="1663"/>
              <a:buChar char="•"/>
              <a:defRPr sz="1662"/>
            </a:lvl8pPr>
            <a:lvl9pPr indent="-334200" lvl="8" marL="4114800" algn="l">
              <a:spcBef>
                <a:spcPts val="333"/>
              </a:spcBef>
              <a:spcAft>
                <a:spcPts val="0"/>
              </a:spcAft>
              <a:buClr>
                <a:schemeClr val="dk1"/>
              </a:buClr>
              <a:buSzPts val="1663"/>
              <a:buChar char="•"/>
              <a:defRPr sz="1662"/>
            </a:lvl9pPr>
          </a:lstStyle>
          <a:p/>
        </p:txBody>
      </p:sp>
      <p:sp>
        <p:nvSpPr>
          <p:cNvPr id="49" name="Google Shape;49;p80"/>
          <p:cNvSpPr txBox="1"/>
          <p:nvPr>
            <p:ph idx="3" type="body"/>
          </p:nvPr>
        </p:nvSpPr>
        <p:spPr>
          <a:xfrm>
            <a:off x="5220815" y="1595167"/>
            <a:ext cx="4542787" cy="664790"/>
          </a:xfrm>
          <a:prstGeom prst="rect">
            <a:avLst/>
          </a:prstGeom>
          <a:noFill/>
          <a:ln>
            <a:noFill/>
          </a:ln>
        </p:spPr>
        <p:txBody>
          <a:bodyPr anchorCtr="0" anchor="b" bIns="45700" lIns="91425" spcFirstLastPara="1" rIns="91425" wrap="square" tIns="45700">
            <a:normAutofit/>
          </a:bodyPr>
          <a:lstStyle>
            <a:lvl1pPr indent="-228600" lvl="0" marL="457200" algn="l">
              <a:spcBef>
                <a:spcPts val="499"/>
              </a:spcBef>
              <a:spcAft>
                <a:spcPts val="0"/>
              </a:spcAft>
              <a:buClr>
                <a:schemeClr val="dk1"/>
              </a:buClr>
              <a:buSzPts val="2494"/>
              <a:buNone/>
              <a:defRPr b="1" sz="2494"/>
            </a:lvl1pPr>
            <a:lvl2pPr indent="-228600" lvl="1" marL="914400" algn="l">
              <a:spcBef>
                <a:spcPts val="416"/>
              </a:spcBef>
              <a:spcAft>
                <a:spcPts val="0"/>
              </a:spcAft>
              <a:buClr>
                <a:schemeClr val="dk1"/>
              </a:buClr>
              <a:buSzPts val="2078"/>
              <a:buNone/>
              <a:defRPr b="1" sz="2078"/>
            </a:lvl2pPr>
            <a:lvl3pPr indent="-228600" lvl="2" marL="1371600" algn="l">
              <a:spcBef>
                <a:spcPts val="374"/>
              </a:spcBef>
              <a:spcAft>
                <a:spcPts val="0"/>
              </a:spcAft>
              <a:buClr>
                <a:schemeClr val="dk1"/>
              </a:buClr>
              <a:buSzPts val="1870"/>
              <a:buNone/>
              <a:defRPr b="1" sz="1870"/>
            </a:lvl3pPr>
            <a:lvl4pPr indent="-228600" lvl="3" marL="1828800" algn="l">
              <a:spcBef>
                <a:spcPts val="333"/>
              </a:spcBef>
              <a:spcAft>
                <a:spcPts val="0"/>
              </a:spcAft>
              <a:buClr>
                <a:schemeClr val="dk1"/>
              </a:buClr>
              <a:buSzPts val="1663"/>
              <a:buNone/>
              <a:defRPr b="1" sz="1662"/>
            </a:lvl4pPr>
            <a:lvl5pPr indent="-228600" lvl="4" marL="2286000" algn="l">
              <a:spcBef>
                <a:spcPts val="333"/>
              </a:spcBef>
              <a:spcAft>
                <a:spcPts val="0"/>
              </a:spcAft>
              <a:buClr>
                <a:schemeClr val="dk1"/>
              </a:buClr>
              <a:buSzPts val="1663"/>
              <a:buNone/>
              <a:defRPr b="1" sz="1662"/>
            </a:lvl5pPr>
            <a:lvl6pPr indent="-228600" lvl="5" marL="2743200" algn="l">
              <a:spcBef>
                <a:spcPts val="333"/>
              </a:spcBef>
              <a:spcAft>
                <a:spcPts val="0"/>
              </a:spcAft>
              <a:buClr>
                <a:schemeClr val="dk1"/>
              </a:buClr>
              <a:buSzPts val="1663"/>
              <a:buNone/>
              <a:defRPr b="1" sz="1662"/>
            </a:lvl6pPr>
            <a:lvl7pPr indent="-228600" lvl="6" marL="3200400" algn="l">
              <a:spcBef>
                <a:spcPts val="333"/>
              </a:spcBef>
              <a:spcAft>
                <a:spcPts val="0"/>
              </a:spcAft>
              <a:buClr>
                <a:schemeClr val="dk1"/>
              </a:buClr>
              <a:buSzPts val="1663"/>
              <a:buNone/>
              <a:defRPr b="1" sz="1662"/>
            </a:lvl7pPr>
            <a:lvl8pPr indent="-228600" lvl="7" marL="3657600" algn="l">
              <a:spcBef>
                <a:spcPts val="333"/>
              </a:spcBef>
              <a:spcAft>
                <a:spcPts val="0"/>
              </a:spcAft>
              <a:buClr>
                <a:schemeClr val="dk1"/>
              </a:buClr>
              <a:buSzPts val="1663"/>
              <a:buNone/>
              <a:defRPr b="1" sz="1662"/>
            </a:lvl8pPr>
            <a:lvl9pPr indent="-228600" lvl="8" marL="4114800" algn="l">
              <a:spcBef>
                <a:spcPts val="333"/>
              </a:spcBef>
              <a:spcAft>
                <a:spcPts val="0"/>
              </a:spcAft>
              <a:buClr>
                <a:schemeClr val="dk1"/>
              </a:buClr>
              <a:buSzPts val="1663"/>
              <a:buNone/>
              <a:defRPr b="1" sz="1662"/>
            </a:lvl9pPr>
          </a:lstStyle>
          <a:p/>
        </p:txBody>
      </p:sp>
      <p:sp>
        <p:nvSpPr>
          <p:cNvPr id="50" name="Google Shape;50;p80"/>
          <p:cNvSpPr txBox="1"/>
          <p:nvPr>
            <p:ph idx="4" type="body"/>
          </p:nvPr>
        </p:nvSpPr>
        <p:spPr>
          <a:xfrm>
            <a:off x="5220815" y="2259957"/>
            <a:ext cx="4542787" cy="4105864"/>
          </a:xfrm>
          <a:prstGeom prst="rect">
            <a:avLst/>
          </a:prstGeom>
          <a:noFill/>
          <a:ln>
            <a:noFill/>
          </a:ln>
        </p:spPr>
        <p:txBody>
          <a:bodyPr anchorCtr="0" anchor="t" bIns="45700" lIns="91425" spcFirstLastPara="1" rIns="91425" wrap="square" tIns="45700">
            <a:normAutofit/>
          </a:bodyPr>
          <a:lstStyle>
            <a:lvl1pPr indent="-386969" lvl="0" marL="457200" algn="l">
              <a:spcBef>
                <a:spcPts val="499"/>
              </a:spcBef>
              <a:spcAft>
                <a:spcPts val="0"/>
              </a:spcAft>
              <a:buClr>
                <a:schemeClr val="dk1"/>
              </a:buClr>
              <a:buSzPts val="2494"/>
              <a:buChar char="•"/>
              <a:defRPr sz="2494"/>
            </a:lvl1pPr>
            <a:lvl2pPr indent="-360553" lvl="1" marL="914400" algn="l">
              <a:spcBef>
                <a:spcPts val="416"/>
              </a:spcBef>
              <a:spcAft>
                <a:spcPts val="0"/>
              </a:spcAft>
              <a:buClr>
                <a:schemeClr val="dk1"/>
              </a:buClr>
              <a:buSzPts val="2078"/>
              <a:buChar char="–"/>
              <a:defRPr sz="2078"/>
            </a:lvl2pPr>
            <a:lvl3pPr indent="-347344" lvl="2" marL="1371600" algn="l">
              <a:spcBef>
                <a:spcPts val="374"/>
              </a:spcBef>
              <a:spcAft>
                <a:spcPts val="0"/>
              </a:spcAft>
              <a:buClr>
                <a:schemeClr val="dk1"/>
              </a:buClr>
              <a:buSzPts val="1870"/>
              <a:buChar char="•"/>
              <a:defRPr sz="1870"/>
            </a:lvl3pPr>
            <a:lvl4pPr indent="-334200" lvl="3" marL="1828800" algn="l">
              <a:spcBef>
                <a:spcPts val="333"/>
              </a:spcBef>
              <a:spcAft>
                <a:spcPts val="0"/>
              </a:spcAft>
              <a:buClr>
                <a:schemeClr val="dk1"/>
              </a:buClr>
              <a:buSzPts val="1663"/>
              <a:buChar char="–"/>
              <a:defRPr sz="1662"/>
            </a:lvl4pPr>
            <a:lvl5pPr indent="-334200" lvl="4" marL="2286000" algn="l">
              <a:spcBef>
                <a:spcPts val="333"/>
              </a:spcBef>
              <a:spcAft>
                <a:spcPts val="0"/>
              </a:spcAft>
              <a:buClr>
                <a:schemeClr val="dk1"/>
              </a:buClr>
              <a:buSzPts val="1663"/>
              <a:buChar char="»"/>
              <a:defRPr sz="1662"/>
            </a:lvl5pPr>
            <a:lvl6pPr indent="-334200" lvl="5" marL="2743200" algn="l">
              <a:spcBef>
                <a:spcPts val="333"/>
              </a:spcBef>
              <a:spcAft>
                <a:spcPts val="0"/>
              </a:spcAft>
              <a:buClr>
                <a:schemeClr val="dk1"/>
              </a:buClr>
              <a:buSzPts val="1663"/>
              <a:buChar char="•"/>
              <a:defRPr sz="1662"/>
            </a:lvl6pPr>
            <a:lvl7pPr indent="-334200" lvl="6" marL="3200400" algn="l">
              <a:spcBef>
                <a:spcPts val="333"/>
              </a:spcBef>
              <a:spcAft>
                <a:spcPts val="0"/>
              </a:spcAft>
              <a:buClr>
                <a:schemeClr val="dk1"/>
              </a:buClr>
              <a:buSzPts val="1663"/>
              <a:buChar char="•"/>
              <a:defRPr sz="1662"/>
            </a:lvl7pPr>
            <a:lvl8pPr indent="-334200" lvl="7" marL="3657600" algn="l">
              <a:spcBef>
                <a:spcPts val="333"/>
              </a:spcBef>
              <a:spcAft>
                <a:spcPts val="0"/>
              </a:spcAft>
              <a:buClr>
                <a:schemeClr val="dk1"/>
              </a:buClr>
              <a:buSzPts val="1663"/>
              <a:buChar char="•"/>
              <a:defRPr sz="1662"/>
            </a:lvl8pPr>
            <a:lvl9pPr indent="-334200" lvl="8" marL="4114800" algn="l">
              <a:spcBef>
                <a:spcPts val="333"/>
              </a:spcBef>
              <a:spcAft>
                <a:spcPts val="0"/>
              </a:spcAft>
              <a:buClr>
                <a:schemeClr val="dk1"/>
              </a:buClr>
              <a:buSzPts val="1663"/>
              <a:buChar char="•"/>
              <a:defRPr sz="1662"/>
            </a:lvl9pPr>
          </a:lstStyle>
          <a:p/>
        </p:txBody>
      </p:sp>
      <p:sp>
        <p:nvSpPr>
          <p:cNvPr id="51" name="Google Shape;51;p80"/>
          <p:cNvSpPr txBox="1"/>
          <p:nvPr>
            <p:ph idx="10" type="dt"/>
          </p:nvPr>
        </p:nvSpPr>
        <p:spPr>
          <a:xfrm>
            <a:off x="513874" y="6605014"/>
            <a:ext cx="2398078" cy="37940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0"/>
          <p:cNvSpPr txBox="1"/>
          <p:nvPr>
            <p:ph idx="11" type="ftr"/>
          </p:nvPr>
        </p:nvSpPr>
        <p:spPr>
          <a:xfrm>
            <a:off x="3511471" y="6605014"/>
            <a:ext cx="3254534" cy="37940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0"/>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олько заголовок" type="titleOnly">
  <p:cSld name="TITLE_ONLY">
    <p:spTree>
      <p:nvGrpSpPr>
        <p:cNvPr id="54" name="Shape 54"/>
        <p:cNvGrpSpPr/>
        <p:nvPr/>
      </p:nvGrpSpPr>
      <p:grpSpPr>
        <a:xfrm>
          <a:off x="0" y="0"/>
          <a:ext cx="0" cy="0"/>
          <a:chOff x="0" y="0"/>
          <a:chExt cx="0" cy="0"/>
        </a:xfrm>
      </p:grpSpPr>
      <p:sp>
        <p:nvSpPr>
          <p:cNvPr id="55" name="Google Shape;55;p81"/>
          <p:cNvSpPr txBox="1"/>
          <p:nvPr>
            <p:ph type="title"/>
          </p:nvPr>
        </p:nvSpPr>
        <p:spPr>
          <a:xfrm>
            <a:off x="513874" y="285382"/>
            <a:ext cx="9249728" cy="118771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81"/>
          <p:cNvSpPr txBox="1"/>
          <p:nvPr>
            <p:ph idx="10" type="dt"/>
          </p:nvPr>
        </p:nvSpPr>
        <p:spPr>
          <a:xfrm>
            <a:off x="513874" y="6605014"/>
            <a:ext cx="2398078" cy="37940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1"/>
          <p:cNvSpPr txBox="1"/>
          <p:nvPr>
            <p:ph idx="11" type="ftr"/>
          </p:nvPr>
        </p:nvSpPr>
        <p:spPr>
          <a:xfrm>
            <a:off x="3511471" y="6605014"/>
            <a:ext cx="3254534" cy="37940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81"/>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Объект с подписью" type="objTx">
  <p:cSld name="OBJECT_WITH_CAPTION_TEXT">
    <p:spTree>
      <p:nvGrpSpPr>
        <p:cNvPr id="59" name="Shape 59"/>
        <p:cNvGrpSpPr/>
        <p:nvPr/>
      </p:nvGrpSpPr>
      <p:grpSpPr>
        <a:xfrm>
          <a:off x="0" y="0"/>
          <a:ext cx="0" cy="0"/>
          <a:chOff x="0" y="0"/>
          <a:chExt cx="0" cy="0"/>
        </a:xfrm>
      </p:grpSpPr>
      <p:sp>
        <p:nvSpPr>
          <p:cNvPr id="60" name="Google Shape;60;p82"/>
          <p:cNvSpPr txBox="1"/>
          <p:nvPr>
            <p:ph type="title"/>
          </p:nvPr>
        </p:nvSpPr>
        <p:spPr>
          <a:xfrm>
            <a:off x="513875" y="283732"/>
            <a:ext cx="3381218" cy="120751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78"/>
              <a:buFont typeface="Calibri"/>
              <a:buNone/>
              <a:defRPr b="1" sz="2078"/>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82"/>
          <p:cNvSpPr txBox="1"/>
          <p:nvPr>
            <p:ph idx="1" type="body"/>
          </p:nvPr>
        </p:nvSpPr>
        <p:spPr>
          <a:xfrm>
            <a:off x="4018207" y="283733"/>
            <a:ext cx="5745394" cy="6082089"/>
          </a:xfrm>
          <a:prstGeom prst="rect">
            <a:avLst/>
          </a:prstGeom>
          <a:noFill/>
          <a:ln>
            <a:noFill/>
          </a:ln>
        </p:spPr>
        <p:txBody>
          <a:bodyPr anchorCtr="0" anchor="t" bIns="45700" lIns="91425" spcFirstLastPara="1" rIns="91425" wrap="square" tIns="45700">
            <a:normAutofit/>
          </a:bodyPr>
          <a:lstStyle>
            <a:lvl1pPr indent="-439737" lvl="0" marL="457200" algn="l">
              <a:spcBef>
                <a:spcPts val="665"/>
              </a:spcBef>
              <a:spcAft>
                <a:spcPts val="0"/>
              </a:spcAft>
              <a:buClr>
                <a:schemeClr val="dk1"/>
              </a:buClr>
              <a:buSzPts val="3325"/>
              <a:buChar char="•"/>
              <a:defRPr sz="3325"/>
            </a:lvl1pPr>
            <a:lvl2pPr indent="-413321" lvl="1" marL="914400" algn="l">
              <a:spcBef>
                <a:spcPts val="582"/>
              </a:spcBef>
              <a:spcAft>
                <a:spcPts val="0"/>
              </a:spcAft>
              <a:buClr>
                <a:schemeClr val="dk1"/>
              </a:buClr>
              <a:buSzPts val="2909"/>
              <a:buChar char="–"/>
              <a:defRPr sz="2909"/>
            </a:lvl2pPr>
            <a:lvl3pPr indent="-386969" lvl="2" marL="1371600" algn="l">
              <a:spcBef>
                <a:spcPts val="499"/>
              </a:spcBef>
              <a:spcAft>
                <a:spcPts val="0"/>
              </a:spcAft>
              <a:buClr>
                <a:schemeClr val="dk1"/>
              </a:buClr>
              <a:buSzPts val="2494"/>
              <a:buChar char="•"/>
              <a:defRPr sz="2494"/>
            </a:lvl3pPr>
            <a:lvl4pPr indent="-360553" lvl="3" marL="1828800" algn="l">
              <a:spcBef>
                <a:spcPts val="416"/>
              </a:spcBef>
              <a:spcAft>
                <a:spcPts val="0"/>
              </a:spcAft>
              <a:buClr>
                <a:schemeClr val="dk1"/>
              </a:buClr>
              <a:buSzPts val="2078"/>
              <a:buChar char="–"/>
              <a:defRPr sz="2078"/>
            </a:lvl4pPr>
            <a:lvl5pPr indent="-360553" lvl="4" marL="2286000" algn="l">
              <a:spcBef>
                <a:spcPts val="416"/>
              </a:spcBef>
              <a:spcAft>
                <a:spcPts val="0"/>
              </a:spcAft>
              <a:buClr>
                <a:schemeClr val="dk1"/>
              </a:buClr>
              <a:buSzPts val="2078"/>
              <a:buChar char="»"/>
              <a:defRPr sz="2078"/>
            </a:lvl5pPr>
            <a:lvl6pPr indent="-360553" lvl="5" marL="2743200" algn="l">
              <a:spcBef>
                <a:spcPts val="416"/>
              </a:spcBef>
              <a:spcAft>
                <a:spcPts val="0"/>
              </a:spcAft>
              <a:buClr>
                <a:schemeClr val="dk1"/>
              </a:buClr>
              <a:buSzPts val="2078"/>
              <a:buChar char="•"/>
              <a:defRPr sz="2078"/>
            </a:lvl6pPr>
            <a:lvl7pPr indent="-360553" lvl="6" marL="3200400" algn="l">
              <a:spcBef>
                <a:spcPts val="416"/>
              </a:spcBef>
              <a:spcAft>
                <a:spcPts val="0"/>
              </a:spcAft>
              <a:buClr>
                <a:schemeClr val="dk1"/>
              </a:buClr>
              <a:buSzPts val="2078"/>
              <a:buChar char="•"/>
              <a:defRPr sz="2078"/>
            </a:lvl7pPr>
            <a:lvl8pPr indent="-360553" lvl="7" marL="3657600" algn="l">
              <a:spcBef>
                <a:spcPts val="416"/>
              </a:spcBef>
              <a:spcAft>
                <a:spcPts val="0"/>
              </a:spcAft>
              <a:buClr>
                <a:schemeClr val="dk1"/>
              </a:buClr>
              <a:buSzPts val="2078"/>
              <a:buChar char="•"/>
              <a:defRPr sz="2078"/>
            </a:lvl8pPr>
            <a:lvl9pPr indent="-360553" lvl="8" marL="4114800" algn="l">
              <a:spcBef>
                <a:spcPts val="416"/>
              </a:spcBef>
              <a:spcAft>
                <a:spcPts val="0"/>
              </a:spcAft>
              <a:buClr>
                <a:schemeClr val="dk1"/>
              </a:buClr>
              <a:buSzPts val="2078"/>
              <a:buChar char="•"/>
              <a:defRPr sz="2078"/>
            </a:lvl9pPr>
          </a:lstStyle>
          <a:p/>
        </p:txBody>
      </p:sp>
      <p:sp>
        <p:nvSpPr>
          <p:cNvPr id="62" name="Google Shape;62;p82"/>
          <p:cNvSpPr txBox="1"/>
          <p:nvPr>
            <p:ph idx="2" type="body"/>
          </p:nvPr>
        </p:nvSpPr>
        <p:spPr>
          <a:xfrm>
            <a:off x="513875" y="1491242"/>
            <a:ext cx="3381218" cy="4874579"/>
          </a:xfrm>
          <a:prstGeom prst="rect">
            <a:avLst/>
          </a:prstGeom>
          <a:noFill/>
          <a:ln>
            <a:noFill/>
          </a:ln>
        </p:spPr>
        <p:txBody>
          <a:bodyPr anchorCtr="0" anchor="t" bIns="45700" lIns="91425" spcFirstLastPara="1" rIns="91425" wrap="square" tIns="45700">
            <a:normAutofit/>
          </a:bodyPr>
          <a:lstStyle>
            <a:lvl1pPr indent="-228600" lvl="0" marL="457200" algn="l">
              <a:spcBef>
                <a:spcPts val="291"/>
              </a:spcBef>
              <a:spcAft>
                <a:spcPts val="0"/>
              </a:spcAft>
              <a:buClr>
                <a:schemeClr val="dk1"/>
              </a:buClr>
              <a:buSzPts val="1455"/>
              <a:buNone/>
              <a:defRPr sz="1455"/>
            </a:lvl1pPr>
            <a:lvl2pPr indent="-228600" lvl="1" marL="914400" algn="l">
              <a:spcBef>
                <a:spcPts val="249"/>
              </a:spcBef>
              <a:spcAft>
                <a:spcPts val="0"/>
              </a:spcAft>
              <a:buClr>
                <a:schemeClr val="dk1"/>
              </a:buClr>
              <a:buSzPts val="1247"/>
              <a:buNone/>
              <a:defRPr sz="1247"/>
            </a:lvl2pPr>
            <a:lvl3pPr indent="-228600" lvl="2" marL="1371600" algn="l">
              <a:spcBef>
                <a:spcPts val="208"/>
              </a:spcBef>
              <a:spcAft>
                <a:spcPts val="0"/>
              </a:spcAft>
              <a:buClr>
                <a:schemeClr val="dk1"/>
              </a:buClr>
              <a:buSzPts val="1039"/>
              <a:buNone/>
              <a:defRPr sz="1039"/>
            </a:lvl3pPr>
            <a:lvl4pPr indent="-228600" lvl="3" marL="1828800" algn="l">
              <a:spcBef>
                <a:spcPts val="187"/>
              </a:spcBef>
              <a:spcAft>
                <a:spcPts val="0"/>
              </a:spcAft>
              <a:buClr>
                <a:schemeClr val="dk1"/>
              </a:buClr>
              <a:buSzPts val="935"/>
              <a:buNone/>
              <a:defRPr sz="935"/>
            </a:lvl4pPr>
            <a:lvl5pPr indent="-228600" lvl="4" marL="2286000" algn="l">
              <a:spcBef>
                <a:spcPts val="187"/>
              </a:spcBef>
              <a:spcAft>
                <a:spcPts val="0"/>
              </a:spcAft>
              <a:buClr>
                <a:schemeClr val="dk1"/>
              </a:buClr>
              <a:buSzPts val="935"/>
              <a:buNone/>
              <a:defRPr sz="935"/>
            </a:lvl5pPr>
            <a:lvl6pPr indent="-228600" lvl="5" marL="2743200" algn="l">
              <a:spcBef>
                <a:spcPts val="187"/>
              </a:spcBef>
              <a:spcAft>
                <a:spcPts val="0"/>
              </a:spcAft>
              <a:buClr>
                <a:schemeClr val="dk1"/>
              </a:buClr>
              <a:buSzPts val="935"/>
              <a:buNone/>
              <a:defRPr sz="935"/>
            </a:lvl6pPr>
            <a:lvl7pPr indent="-228600" lvl="6" marL="3200400" algn="l">
              <a:spcBef>
                <a:spcPts val="187"/>
              </a:spcBef>
              <a:spcAft>
                <a:spcPts val="0"/>
              </a:spcAft>
              <a:buClr>
                <a:schemeClr val="dk1"/>
              </a:buClr>
              <a:buSzPts val="935"/>
              <a:buNone/>
              <a:defRPr sz="935"/>
            </a:lvl7pPr>
            <a:lvl8pPr indent="-228600" lvl="7" marL="3657600" algn="l">
              <a:spcBef>
                <a:spcPts val="187"/>
              </a:spcBef>
              <a:spcAft>
                <a:spcPts val="0"/>
              </a:spcAft>
              <a:buClr>
                <a:schemeClr val="dk1"/>
              </a:buClr>
              <a:buSzPts val="935"/>
              <a:buNone/>
              <a:defRPr sz="935"/>
            </a:lvl8pPr>
            <a:lvl9pPr indent="-228600" lvl="8" marL="4114800" algn="l">
              <a:spcBef>
                <a:spcPts val="187"/>
              </a:spcBef>
              <a:spcAft>
                <a:spcPts val="0"/>
              </a:spcAft>
              <a:buClr>
                <a:schemeClr val="dk1"/>
              </a:buClr>
              <a:buSzPts val="935"/>
              <a:buNone/>
              <a:defRPr sz="935"/>
            </a:lvl9pPr>
          </a:lstStyle>
          <a:p/>
        </p:txBody>
      </p:sp>
      <p:sp>
        <p:nvSpPr>
          <p:cNvPr id="63" name="Google Shape;63;p82"/>
          <p:cNvSpPr txBox="1"/>
          <p:nvPr>
            <p:ph idx="10" type="dt"/>
          </p:nvPr>
        </p:nvSpPr>
        <p:spPr>
          <a:xfrm>
            <a:off x="513874" y="6605014"/>
            <a:ext cx="2398078" cy="37940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82"/>
          <p:cNvSpPr txBox="1"/>
          <p:nvPr>
            <p:ph idx="11" type="ftr"/>
          </p:nvPr>
        </p:nvSpPr>
        <p:spPr>
          <a:xfrm>
            <a:off x="3511471" y="6605014"/>
            <a:ext cx="3254534" cy="37940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82"/>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Рисунок с подписью" type="picTx">
  <p:cSld name="PICTURE_WITH_CAPTION_TEXT">
    <p:spTree>
      <p:nvGrpSpPr>
        <p:cNvPr id="66" name="Shape 66"/>
        <p:cNvGrpSpPr/>
        <p:nvPr/>
      </p:nvGrpSpPr>
      <p:grpSpPr>
        <a:xfrm>
          <a:off x="0" y="0"/>
          <a:ext cx="0" cy="0"/>
          <a:chOff x="0" y="0"/>
          <a:chExt cx="0" cy="0"/>
        </a:xfrm>
      </p:grpSpPr>
      <p:sp>
        <p:nvSpPr>
          <p:cNvPr id="67" name="Google Shape;67;p83"/>
          <p:cNvSpPr txBox="1"/>
          <p:nvPr>
            <p:ph type="title"/>
          </p:nvPr>
        </p:nvSpPr>
        <p:spPr>
          <a:xfrm>
            <a:off x="2014457" y="4988402"/>
            <a:ext cx="6166485" cy="588909"/>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78"/>
              <a:buFont typeface="Calibri"/>
              <a:buNone/>
              <a:defRPr b="1" sz="2078"/>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83"/>
          <p:cNvSpPr/>
          <p:nvPr>
            <p:ph idx="2" type="pic"/>
          </p:nvPr>
        </p:nvSpPr>
        <p:spPr>
          <a:xfrm>
            <a:off x="2014457" y="636747"/>
            <a:ext cx="6166485" cy="4275773"/>
          </a:xfrm>
          <a:prstGeom prst="rect">
            <a:avLst/>
          </a:prstGeom>
          <a:noFill/>
          <a:ln>
            <a:noFill/>
          </a:ln>
        </p:spPr>
      </p:sp>
      <p:sp>
        <p:nvSpPr>
          <p:cNvPr id="69" name="Google Shape;69;p83"/>
          <p:cNvSpPr txBox="1"/>
          <p:nvPr>
            <p:ph idx="1" type="body"/>
          </p:nvPr>
        </p:nvSpPr>
        <p:spPr>
          <a:xfrm>
            <a:off x="2014457" y="5577310"/>
            <a:ext cx="6166485" cy="836349"/>
          </a:xfrm>
          <a:prstGeom prst="rect">
            <a:avLst/>
          </a:prstGeom>
          <a:noFill/>
          <a:ln>
            <a:noFill/>
          </a:ln>
        </p:spPr>
        <p:txBody>
          <a:bodyPr anchorCtr="0" anchor="t" bIns="45700" lIns="91425" spcFirstLastPara="1" rIns="91425" wrap="square" tIns="45700">
            <a:normAutofit/>
          </a:bodyPr>
          <a:lstStyle>
            <a:lvl1pPr indent="-228600" lvl="0" marL="457200" algn="l">
              <a:spcBef>
                <a:spcPts val="291"/>
              </a:spcBef>
              <a:spcAft>
                <a:spcPts val="0"/>
              </a:spcAft>
              <a:buClr>
                <a:schemeClr val="dk1"/>
              </a:buClr>
              <a:buSzPts val="1455"/>
              <a:buNone/>
              <a:defRPr sz="1455"/>
            </a:lvl1pPr>
            <a:lvl2pPr indent="-228600" lvl="1" marL="914400" algn="l">
              <a:spcBef>
                <a:spcPts val="249"/>
              </a:spcBef>
              <a:spcAft>
                <a:spcPts val="0"/>
              </a:spcAft>
              <a:buClr>
                <a:schemeClr val="dk1"/>
              </a:buClr>
              <a:buSzPts val="1247"/>
              <a:buNone/>
              <a:defRPr sz="1247"/>
            </a:lvl2pPr>
            <a:lvl3pPr indent="-228600" lvl="2" marL="1371600" algn="l">
              <a:spcBef>
                <a:spcPts val="208"/>
              </a:spcBef>
              <a:spcAft>
                <a:spcPts val="0"/>
              </a:spcAft>
              <a:buClr>
                <a:schemeClr val="dk1"/>
              </a:buClr>
              <a:buSzPts val="1039"/>
              <a:buNone/>
              <a:defRPr sz="1039"/>
            </a:lvl3pPr>
            <a:lvl4pPr indent="-228600" lvl="3" marL="1828800" algn="l">
              <a:spcBef>
                <a:spcPts val="187"/>
              </a:spcBef>
              <a:spcAft>
                <a:spcPts val="0"/>
              </a:spcAft>
              <a:buClr>
                <a:schemeClr val="dk1"/>
              </a:buClr>
              <a:buSzPts val="935"/>
              <a:buNone/>
              <a:defRPr sz="935"/>
            </a:lvl4pPr>
            <a:lvl5pPr indent="-228600" lvl="4" marL="2286000" algn="l">
              <a:spcBef>
                <a:spcPts val="187"/>
              </a:spcBef>
              <a:spcAft>
                <a:spcPts val="0"/>
              </a:spcAft>
              <a:buClr>
                <a:schemeClr val="dk1"/>
              </a:buClr>
              <a:buSzPts val="935"/>
              <a:buNone/>
              <a:defRPr sz="935"/>
            </a:lvl5pPr>
            <a:lvl6pPr indent="-228600" lvl="5" marL="2743200" algn="l">
              <a:spcBef>
                <a:spcPts val="187"/>
              </a:spcBef>
              <a:spcAft>
                <a:spcPts val="0"/>
              </a:spcAft>
              <a:buClr>
                <a:schemeClr val="dk1"/>
              </a:buClr>
              <a:buSzPts val="935"/>
              <a:buNone/>
              <a:defRPr sz="935"/>
            </a:lvl6pPr>
            <a:lvl7pPr indent="-228600" lvl="6" marL="3200400" algn="l">
              <a:spcBef>
                <a:spcPts val="187"/>
              </a:spcBef>
              <a:spcAft>
                <a:spcPts val="0"/>
              </a:spcAft>
              <a:buClr>
                <a:schemeClr val="dk1"/>
              </a:buClr>
              <a:buSzPts val="935"/>
              <a:buNone/>
              <a:defRPr sz="935"/>
            </a:lvl7pPr>
            <a:lvl8pPr indent="-228600" lvl="7" marL="3657600" algn="l">
              <a:spcBef>
                <a:spcPts val="187"/>
              </a:spcBef>
              <a:spcAft>
                <a:spcPts val="0"/>
              </a:spcAft>
              <a:buClr>
                <a:schemeClr val="dk1"/>
              </a:buClr>
              <a:buSzPts val="935"/>
              <a:buNone/>
              <a:defRPr sz="935"/>
            </a:lvl8pPr>
            <a:lvl9pPr indent="-228600" lvl="8" marL="4114800" algn="l">
              <a:spcBef>
                <a:spcPts val="187"/>
              </a:spcBef>
              <a:spcAft>
                <a:spcPts val="0"/>
              </a:spcAft>
              <a:buClr>
                <a:schemeClr val="dk1"/>
              </a:buClr>
              <a:buSzPts val="935"/>
              <a:buNone/>
              <a:defRPr sz="935"/>
            </a:lvl9pPr>
          </a:lstStyle>
          <a:p/>
        </p:txBody>
      </p:sp>
      <p:sp>
        <p:nvSpPr>
          <p:cNvPr id="70" name="Google Shape;70;p83"/>
          <p:cNvSpPr txBox="1"/>
          <p:nvPr>
            <p:ph idx="10" type="dt"/>
          </p:nvPr>
        </p:nvSpPr>
        <p:spPr>
          <a:xfrm>
            <a:off x="513874" y="6605014"/>
            <a:ext cx="2398078" cy="37940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83"/>
          <p:cNvSpPr txBox="1"/>
          <p:nvPr>
            <p:ph idx="11" type="ftr"/>
          </p:nvPr>
        </p:nvSpPr>
        <p:spPr>
          <a:xfrm>
            <a:off x="3511471" y="6605014"/>
            <a:ext cx="3254534" cy="37940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83"/>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вертикальный текст" type="vertTx">
  <p:cSld name="VERTICAL_TEXT">
    <p:spTree>
      <p:nvGrpSpPr>
        <p:cNvPr id="73" name="Shape 73"/>
        <p:cNvGrpSpPr/>
        <p:nvPr/>
      </p:nvGrpSpPr>
      <p:grpSpPr>
        <a:xfrm>
          <a:off x="0" y="0"/>
          <a:ext cx="0" cy="0"/>
          <a:chOff x="0" y="0"/>
          <a:chExt cx="0" cy="0"/>
        </a:xfrm>
      </p:grpSpPr>
      <p:sp>
        <p:nvSpPr>
          <p:cNvPr id="74" name="Google Shape;74;p84"/>
          <p:cNvSpPr txBox="1"/>
          <p:nvPr>
            <p:ph type="title"/>
          </p:nvPr>
        </p:nvSpPr>
        <p:spPr>
          <a:xfrm>
            <a:off x="513874" y="285382"/>
            <a:ext cx="9249728" cy="118771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84"/>
          <p:cNvSpPr txBox="1"/>
          <p:nvPr>
            <p:ph idx="1" type="body"/>
          </p:nvPr>
        </p:nvSpPr>
        <p:spPr>
          <a:xfrm rot="5400000">
            <a:off x="2787228" y="-610553"/>
            <a:ext cx="4703021" cy="9249728"/>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6" name="Google Shape;76;p84"/>
          <p:cNvSpPr txBox="1"/>
          <p:nvPr>
            <p:ph idx="10" type="dt"/>
          </p:nvPr>
        </p:nvSpPr>
        <p:spPr>
          <a:xfrm>
            <a:off x="513874" y="6605014"/>
            <a:ext cx="2398078" cy="37940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84"/>
          <p:cNvSpPr txBox="1"/>
          <p:nvPr>
            <p:ph idx="11" type="ftr"/>
          </p:nvPr>
        </p:nvSpPr>
        <p:spPr>
          <a:xfrm>
            <a:off x="3511471" y="6605014"/>
            <a:ext cx="3254534" cy="37940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84"/>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Вертикальный заголовок и текст" type="vertTitleAndTx">
  <p:cSld name="VERTICAL_TITLE_AND_VERTICAL_TEXT">
    <p:spTree>
      <p:nvGrpSpPr>
        <p:cNvPr id="79" name="Shape 79"/>
        <p:cNvGrpSpPr/>
        <p:nvPr/>
      </p:nvGrpSpPr>
      <p:grpSpPr>
        <a:xfrm>
          <a:off x="0" y="0"/>
          <a:ext cx="0" cy="0"/>
          <a:chOff x="0" y="0"/>
          <a:chExt cx="0" cy="0"/>
        </a:xfrm>
      </p:grpSpPr>
      <p:sp>
        <p:nvSpPr>
          <p:cNvPr id="80" name="Google Shape;80;p85"/>
          <p:cNvSpPr txBox="1"/>
          <p:nvPr>
            <p:ph type="title"/>
          </p:nvPr>
        </p:nvSpPr>
        <p:spPr>
          <a:xfrm rot="5400000">
            <a:off x="5567166" y="2169387"/>
            <a:ext cx="6080439" cy="2312432"/>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85"/>
          <p:cNvSpPr txBox="1"/>
          <p:nvPr>
            <p:ph idx="1" type="body"/>
          </p:nvPr>
        </p:nvSpPr>
        <p:spPr>
          <a:xfrm rot="5400000">
            <a:off x="856656" y="-57399"/>
            <a:ext cx="6080439" cy="6766004"/>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2" name="Google Shape;82;p85"/>
          <p:cNvSpPr txBox="1"/>
          <p:nvPr>
            <p:ph idx="10" type="dt"/>
          </p:nvPr>
        </p:nvSpPr>
        <p:spPr>
          <a:xfrm>
            <a:off x="513874" y="6605014"/>
            <a:ext cx="2398078" cy="37940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85"/>
          <p:cNvSpPr txBox="1"/>
          <p:nvPr>
            <p:ph idx="11" type="ftr"/>
          </p:nvPr>
        </p:nvSpPr>
        <p:spPr>
          <a:xfrm>
            <a:off x="3511471" y="6605014"/>
            <a:ext cx="3254534" cy="37940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85"/>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5.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74"/>
          <p:cNvSpPr txBox="1"/>
          <p:nvPr>
            <p:ph type="title"/>
          </p:nvPr>
        </p:nvSpPr>
        <p:spPr>
          <a:xfrm>
            <a:off x="513874" y="285382"/>
            <a:ext cx="9249728" cy="1187715"/>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572"/>
              <a:buFont typeface="Calibri"/>
              <a:buNone/>
              <a:defRPr b="0" i="0" sz="4572"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74"/>
          <p:cNvSpPr txBox="1"/>
          <p:nvPr>
            <p:ph idx="1" type="body"/>
          </p:nvPr>
        </p:nvSpPr>
        <p:spPr>
          <a:xfrm>
            <a:off x="513874" y="1662801"/>
            <a:ext cx="9249728" cy="4703021"/>
          </a:xfrm>
          <a:prstGeom prst="rect">
            <a:avLst/>
          </a:prstGeom>
          <a:noFill/>
          <a:ln>
            <a:noFill/>
          </a:ln>
        </p:spPr>
        <p:txBody>
          <a:bodyPr anchorCtr="0" anchor="t" bIns="45700" lIns="91425" spcFirstLastPara="1" rIns="91425" wrap="square" tIns="45700">
            <a:normAutofit/>
          </a:bodyPr>
          <a:lstStyle>
            <a:lvl1pPr indent="-439737" lvl="0" marL="457200" marR="0" rtl="0" algn="l">
              <a:spcBef>
                <a:spcPts val="665"/>
              </a:spcBef>
              <a:spcAft>
                <a:spcPts val="0"/>
              </a:spcAft>
              <a:buClr>
                <a:schemeClr val="dk1"/>
              </a:buClr>
              <a:buSzPts val="3325"/>
              <a:buFont typeface="Arial"/>
              <a:buChar char="•"/>
              <a:defRPr b="0" i="0" sz="3325" u="none" cap="none" strike="noStrike">
                <a:solidFill>
                  <a:schemeClr val="dk1"/>
                </a:solidFill>
                <a:latin typeface="Calibri"/>
                <a:ea typeface="Calibri"/>
                <a:cs typeface="Calibri"/>
                <a:sym typeface="Calibri"/>
              </a:defRPr>
            </a:lvl1pPr>
            <a:lvl2pPr indent="-413321" lvl="1" marL="914400" marR="0" rtl="0" algn="l">
              <a:spcBef>
                <a:spcPts val="582"/>
              </a:spcBef>
              <a:spcAft>
                <a:spcPts val="0"/>
              </a:spcAft>
              <a:buClr>
                <a:schemeClr val="dk1"/>
              </a:buClr>
              <a:buSzPts val="2909"/>
              <a:buFont typeface="Arial"/>
              <a:buChar char="–"/>
              <a:defRPr b="0" i="0" sz="2909" u="none" cap="none" strike="noStrike">
                <a:solidFill>
                  <a:schemeClr val="dk1"/>
                </a:solidFill>
                <a:latin typeface="Calibri"/>
                <a:ea typeface="Calibri"/>
                <a:cs typeface="Calibri"/>
                <a:sym typeface="Calibri"/>
              </a:defRPr>
            </a:lvl2pPr>
            <a:lvl3pPr indent="-386969" lvl="2" marL="1371600" marR="0" rtl="0" algn="l">
              <a:spcBef>
                <a:spcPts val="499"/>
              </a:spcBef>
              <a:spcAft>
                <a:spcPts val="0"/>
              </a:spcAft>
              <a:buClr>
                <a:schemeClr val="dk1"/>
              </a:buClr>
              <a:buSzPts val="2494"/>
              <a:buFont typeface="Arial"/>
              <a:buChar char="•"/>
              <a:defRPr b="0" i="0" sz="2494" u="none" cap="none" strike="noStrike">
                <a:solidFill>
                  <a:schemeClr val="dk1"/>
                </a:solidFill>
                <a:latin typeface="Calibri"/>
                <a:ea typeface="Calibri"/>
                <a:cs typeface="Calibri"/>
                <a:sym typeface="Calibri"/>
              </a:defRPr>
            </a:lvl3pPr>
            <a:lvl4pPr indent="-360553" lvl="3" marL="1828800" marR="0" rtl="0" algn="l">
              <a:spcBef>
                <a:spcPts val="416"/>
              </a:spcBef>
              <a:spcAft>
                <a:spcPts val="0"/>
              </a:spcAft>
              <a:buClr>
                <a:schemeClr val="dk1"/>
              </a:buClr>
              <a:buSzPts val="2078"/>
              <a:buFont typeface="Arial"/>
              <a:buChar char="–"/>
              <a:defRPr b="0" i="0" sz="2078" u="none" cap="none" strike="noStrike">
                <a:solidFill>
                  <a:schemeClr val="dk1"/>
                </a:solidFill>
                <a:latin typeface="Calibri"/>
                <a:ea typeface="Calibri"/>
                <a:cs typeface="Calibri"/>
                <a:sym typeface="Calibri"/>
              </a:defRPr>
            </a:lvl4pPr>
            <a:lvl5pPr indent="-360553" lvl="4" marL="2286000" marR="0" rtl="0" algn="l">
              <a:spcBef>
                <a:spcPts val="416"/>
              </a:spcBef>
              <a:spcAft>
                <a:spcPts val="0"/>
              </a:spcAft>
              <a:buClr>
                <a:schemeClr val="dk1"/>
              </a:buClr>
              <a:buSzPts val="2078"/>
              <a:buFont typeface="Arial"/>
              <a:buChar char="»"/>
              <a:defRPr b="0" i="0" sz="2078" u="none" cap="none" strike="noStrike">
                <a:solidFill>
                  <a:schemeClr val="dk1"/>
                </a:solidFill>
                <a:latin typeface="Calibri"/>
                <a:ea typeface="Calibri"/>
                <a:cs typeface="Calibri"/>
                <a:sym typeface="Calibri"/>
              </a:defRPr>
            </a:lvl5pPr>
            <a:lvl6pPr indent="-360553" lvl="5" marL="2743200" marR="0" rtl="0" algn="l">
              <a:spcBef>
                <a:spcPts val="416"/>
              </a:spcBef>
              <a:spcAft>
                <a:spcPts val="0"/>
              </a:spcAft>
              <a:buClr>
                <a:schemeClr val="dk1"/>
              </a:buClr>
              <a:buSzPts val="2078"/>
              <a:buFont typeface="Arial"/>
              <a:buChar char="•"/>
              <a:defRPr b="0" i="0" sz="2078" u="none" cap="none" strike="noStrike">
                <a:solidFill>
                  <a:schemeClr val="dk1"/>
                </a:solidFill>
                <a:latin typeface="Calibri"/>
                <a:ea typeface="Calibri"/>
                <a:cs typeface="Calibri"/>
                <a:sym typeface="Calibri"/>
              </a:defRPr>
            </a:lvl6pPr>
            <a:lvl7pPr indent="-360553" lvl="6" marL="3200400" marR="0" rtl="0" algn="l">
              <a:spcBef>
                <a:spcPts val="416"/>
              </a:spcBef>
              <a:spcAft>
                <a:spcPts val="0"/>
              </a:spcAft>
              <a:buClr>
                <a:schemeClr val="dk1"/>
              </a:buClr>
              <a:buSzPts val="2078"/>
              <a:buFont typeface="Arial"/>
              <a:buChar char="•"/>
              <a:defRPr b="0" i="0" sz="2078" u="none" cap="none" strike="noStrike">
                <a:solidFill>
                  <a:schemeClr val="dk1"/>
                </a:solidFill>
                <a:latin typeface="Calibri"/>
                <a:ea typeface="Calibri"/>
                <a:cs typeface="Calibri"/>
                <a:sym typeface="Calibri"/>
              </a:defRPr>
            </a:lvl7pPr>
            <a:lvl8pPr indent="-360553" lvl="7" marL="3657600" marR="0" rtl="0" algn="l">
              <a:spcBef>
                <a:spcPts val="416"/>
              </a:spcBef>
              <a:spcAft>
                <a:spcPts val="0"/>
              </a:spcAft>
              <a:buClr>
                <a:schemeClr val="dk1"/>
              </a:buClr>
              <a:buSzPts val="2078"/>
              <a:buFont typeface="Arial"/>
              <a:buChar char="•"/>
              <a:defRPr b="0" i="0" sz="2078" u="none" cap="none" strike="noStrike">
                <a:solidFill>
                  <a:schemeClr val="dk1"/>
                </a:solidFill>
                <a:latin typeface="Calibri"/>
                <a:ea typeface="Calibri"/>
                <a:cs typeface="Calibri"/>
                <a:sym typeface="Calibri"/>
              </a:defRPr>
            </a:lvl8pPr>
            <a:lvl9pPr indent="-360553" lvl="8" marL="4114800" marR="0" rtl="0" algn="l">
              <a:spcBef>
                <a:spcPts val="416"/>
              </a:spcBef>
              <a:spcAft>
                <a:spcPts val="0"/>
              </a:spcAft>
              <a:buClr>
                <a:schemeClr val="dk1"/>
              </a:buClr>
              <a:buSzPts val="2078"/>
              <a:buFont typeface="Arial"/>
              <a:buChar char="•"/>
              <a:defRPr b="0" i="0" sz="2078" u="none" cap="none" strike="noStrike">
                <a:solidFill>
                  <a:schemeClr val="dk1"/>
                </a:solidFill>
                <a:latin typeface="Calibri"/>
                <a:ea typeface="Calibri"/>
                <a:cs typeface="Calibri"/>
                <a:sym typeface="Calibri"/>
              </a:defRPr>
            </a:lvl9pPr>
          </a:lstStyle>
          <a:p/>
        </p:txBody>
      </p:sp>
      <p:sp>
        <p:nvSpPr>
          <p:cNvPr id="12" name="Google Shape;12;p74"/>
          <p:cNvSpPr txBox="1"/>
          <p:nvPr>
            <p:ph idx="10" type="dt"/>
          </p:nvPr>
        </p:nvSpPr>
        <p:spPr>
          <a:xfrm>
            <a:off x="513874" y="6605014"/>
            <a:ext cx="2398078" cy="379409"/>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47"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20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20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20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20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0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0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0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000" u="none" cap="none" strike="noStrike">
                <a:solidFill>
                  <a:schemeClr val="dk1"/>
                </a:solidFill>
                <a:latin typeface="Arial"/>
                <a:ea typeface="Arial"/>
                <a:cs typeface="Arial"/>
                <a:sym typeface="Arial"/>
              </a:defRPr>
            </a:lvl9pPr>
          </a:lstStyle>
          <a:p/>
        </p:txBody>
      </p:sp>
      <p:sp>
        <p:nvSpPr>
          <p:cNvPr id="13" name="Google Shape;13;p74"/>
          <p:cNvSpPr txBox="1"/>
          <p:nvPr>
            <p:ph idx="11" type="ftr"/>
          </p:nvPr>
        </p:nvSpPr>
        <p:spPr>
          <a:xfrm>
            <a:off x="3511471" y="6605014"/>
            <a:ext cx="3254534" cy="379409"/>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47"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20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20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20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20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0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0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0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000" u="none" cap="none" strike="noStrike">
                <a:solidFill>
                  <a:schemeClr val="dk1"/>
                </a:solidFill>
                <a:latin typeface="Arial"/>
                <a:ea typeface="Arial"/>
                <a:cs typeface="Arial"/>
                <a:sym typeface="Arial"/>
              </a:defRPr>
            </a:lvl9pPr>
          </a:lstStyle>
          <a:p/>
        </p:txBody>
      </p:sp>
      <p:sp>
        <p:nvSpPr>
          <p:cNvPr id="14" name="Google Shape;14;p74"/>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1247" u="none" cap="none" strike="noStrike">
                <a:solidFill>
                  <a:srgbClr val="888888"/>
                </a:solidFill>
                <a:latin typeface="Arial"/>
                <a:ea typeface="Arial"/>
                <a:cs typeface="Arial"/>
                <a:sym typeface="Arial"/>
              </a:defRPr>
            </a:lvl1pPr>
            <a:lvl2pPr indent="0" lvl="1" marL="0" marR="0" rtl="0" algn="r">
              <a:spcBef>
                <a:spcPts val="0"/>
              </a:spcBef>
              <a:spcAft>
                <a:spcPts val="0"/>
              </a:spcAft>
              <a:buNone/>
              <a:defRPr b="0" i="0" sz="1247" u="none" cap="none" strike="noStrike">
                <a:solidFill>
                  <a:srgbClr val="888888"/>
                </a:solidFill>
                <a:latin typeface="Arial"/>
                <a:ea typeface="Arial"/>
                <a:cs typeface="Arial"/>
                <a:sym typeface="Arial"/>
              </a:defRPr>
            </a:lvl2pPr>
            <a:lvl3pPr indent="0" lvl="2" marL="0" marR="0" rtl="0" algn="r">
              <a:spcBef>
                <a:spcPts val="0"/>
              </a:spcBef>
              <a:spcAft>
                <a:spcPts val="0"/>
              </a:spcAft>
              <a:buNone/>
              <a:defRPr b="0" i="0" sz="1247" u="none" cap="none" strike="noStrike">
                <a:solidFill>
                  <a:srgbClr val="888888"/>
                </a:solidFill>
                <a:latin typeface="Arial"/>
                <a:ea typeface="Arial"/>
                <a:cs typeface="Arial"/>
                <a:sym typeface="Arial"/>
              </a:defRPr>
            </a:lvl3pPr>
            <a:lvl4pPr indent="0" lvl="3" marL="0" marR="0" rtl="0" algn="r">
              <a:spcBef>
                <a:spcPts val="0"/>
              </a:spcBef>
              <a:spcAft>
                <a:spcPts val="0"/>
              </a:spcAft>
              <a:buNone/>
              <a:defRPr b="0" i="0" sz="1247" u="none" cap="none" strike="noStrike">
                <a:solidFill>
                  <a:srgbClr val="888888"/>
                </a:solidFill>
                <a:latin typeface="Arial"/>
                <a:ea typeface="Arial"/>
                <a:cs typeface="Arial"/>
                <a:sym typeface="Arial"/>
              </a:defRPr>
            </a:lvl4pPr>
            <a:lvl5pPr indent="0" lvl="4" marL="0" marR="0" rtl="0" algn="r">
              <a:spcBef>
                <a:spcPts val="0"/>
              </a:spcBef>
              <a:spcAft>
                <a:spcPts val="0"/>
              </a:spcAft>
              <a:buNone/>
              <a:defRPr b="0" i="0" sz="1247" u="none" cap="none" strike="noStrike">
                <a:solidFill>
                  <a:srgbClr val="888888"/>
                </a:solidFill>
                <a:latin typeface="Arial"/>
                <a:ea typeface="Arial"/>
                <a:cs typeface="Arial"/>
                <a:sym typeface="Arial"/>
              </a:defRPr>
            </a:lvl5pPr>
            <a:lvl6pPr indent="0" lvl="5" marL="0" marR="0" rtl="0" algn="r">
              <a:spcBef>
                <a:spcPts val="0"/>
              </a:spcBef>
              <a:spcAft>
                <a:spcPts val="0"/>
              </a:spcAft>
              <a:buNone/>
              <a:defRPr b="0" i="0" sz="1247" u="none" cap="none" strike="noStrike">
                <a:solidFill>
                  <a:srgbClr val="888888"/>
                </a:solidFill>
                <a:latin typeface="Arial"/>
                <a:ea typeface="Arial"/>
                <a:cs typeface="Arial"/>
                <a:sym typeface="Arial"/>
              </a:defRPr>
            </a:lvl6pPr>
            <a:lvl7pPr indent="0" lvl="6" marL="0" marR="0" rtl="0" algn="r">
              <a:spcBef>
                <a:spcPts val="0"/>
              </a:spcBef>
              <a:spcAft>
                <a:spcPts val="0"/>
              </a:spcAft>
              <a:buNone/>
              <a:defRPr b="0" i="0" sz="1247" u="none" cap="none" strike="noStrike">
                <a:solidFill>
                  <a:srgbClr val="888888"/>
                </a:solidFill>
                <a:latin typeface="Arial"/>
                <a:ea typeface="Arial"/>
                <a:cs typeface="Arial"/>
                <a:sym typeface="Arial"/>
              </a:defRPr>
            </a:lvl7pPr>
            <a:lvl8pPr indent="0" lvl="7" marL="0" marR="0" rtl="0" algn="r">
              <a:spcBef>
                <a:spcPts val="0"/>
              </a:spcBef>
              <a:spcAft>
                <a:spcPts val="0"/>
              </a:spcAft>
              <a:buNone/>
              <a:defRPr b="0" i="0" sz="1247" u="none" cap="none" strike="noStrike">
                <a:solidFill>
                  <a:srgbClr val="888888"/>
                </a:solidFill>
                <a:latin typeface="Arial"/>
                <a:ea typeface="Arial"/>
                <a:cs typeface="Arial"/>
                <a:sym typeface="Arial"/>
              </a:defRPr>
            </a:lvl8pPr>
            <a:lvl9pPr indent="0" lvl="8" marL="0" marR="0" rtl="0" algn="r">
              <a:spcBef>
                <a:spcPts val="0"/>
              </a:spcBef>
              <a:spcAft>
                <a:spcPts val="0"/>
              </a:spcAft>
              <a:buNone/>
              <a:defRPr b="0" i="0" sz="1247"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RU"/>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www.glassdoor.com/List/Best-Jobs-in-America-LST_KQ0,20.htm"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8.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7.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0.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png"/><Relationship Id="rId4" Type="http://schemas.openxmlformats.org/officeDocument/2006/relationships/image" Target="../media/image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13.png"/><Relationship Id="rId4" Type="http://schemas.openxmlformats.org/officeDocument/2006/relationships/image" Target="../media/image2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2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3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1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24.png"/><Relationship Id="rId4" Type="http://schemas.openxmlformats.org/officeDocument/2006/relationships/image" Target="../media/image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2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2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2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2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30.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29.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29.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
          <p:cNvSpPr txBox="1"/>
          <p:nvPr>
            <p:ph type="ctrTitle"/>
          </p:nvPr>
        </p:nvSpPr>
        <p:spPr>
          <a:xfrm>
            <a:off x="0" y="1093788"/>
            <a:ext cx="5300663" cy="1527175"/>
          </a:xfrm>
          <a:prstGeom prst="rect">
            <a:avLst/>
          </a:prstGeom>
          <a:noFill/>
          <a:ln>
            <a:noFill/>
          </a:ln>
        </p:spPr>
        <p:txBody>
          <a:bodyPr anchorCtr="0" anchor="b" bIns="49700" lIns="99425" spcFirstLastPara="1" rIns="99425" wrap="square" tIns="49700">
            <a:normAutofit fontScale="90000"/>
          </a:bodyPr>
          <a:lstStyle/>
          <a:p>
            <a:pPr indent="0" lvl="0" marL="0" rtl="0" algn="ctr">
              <a:lnSpc>
                <a:spcPct val="80000"/>
              </a:lnSpc>
              <a:spcBef>
                <a:spcPts val="0"/>
              </a:spcBef>
              <a:spcAft>
                <a:spcPts val="0"/>
              </a:spcAft>
              <a:buClr>
                <a:schemeClr val="dk1"/>
              </a:buClr>
              <a:buSzPct val="100000"/>
              <a:buFont typeface="Calibri"/>
              <a:buNone/>
            </a:pPr>
            <a:r>
              <a:rPr lang="ru-RU" sz="6600"/>
              <a:t>Курс</a:t>
            </a:r>
            <a:br>
              <a:rPr lang="ru-RU" sz="6600"/>
            </a:br>
            <a:r>
              <a:rPr lang="ru-RU" sz="6000"/>
              <a:t>Обработка больших данных</a:t>
            </a:r>
            <a:endParaRPr/>
          </a:p>
        </p:txBody>
      </p:sp>
      <p:sp>
        <p:nvSpPr>
          <p:cNvPr id="92" name="Google Shape;92;p1"/>
          <p:cNvSpPr txBox="1"/>
          <p:nvPr>
            <p:ph idx="1" type="subTitle"/>
          </p:nvPr>
        </p:nvSpPr>
        <p:spPr>
          <a:xfrm>
            <a:off x="101600" y="2771775"/>
            <a:ext cx="5207000" cy="1820863"/>
          </a:xfrm>
          <a:prstGeom prst="rect">
            <a:avLst/>
          </a:prstGeom>
          <a:noFill/>
          <a:ln>
            <a:noFill/>
          </a:ln>
        </p:spPr>
        <p:txBody>
          <a:bodyPr anchorCtr="0" anchor="t" bIns="49700" lIns="99425" spcFirstLastPara="1" rIns="99425" wrap="square" tIns="49700">
            <a:normAutofit lnSpcReduction="10000"/>
          </a:bodyPr>
          <a:lstStyle/>
          <a:p>
            <a:pPr indent="0" lvl="0" marL="0" rtl="0" algn="ctr">
              <a:spcBef>
                <a:spcPts val="0"/>
              </a:spcBef>
              <a:spcAft>
                <a:spcPts val="0"/>
              </a:spcAft>
              <a:buClr>
                <a:srgbClr val="888888"/>
              </a:buClr>
              <a:buSzPts val="3600"/>
              <a:buFont typeface="Calibri"/>
              <a:buNone/>
            </a:pPr>
            <a:r>
              <a:rPr lang="ru-RU" sz="3600"/>
              <a:t>Лекция 5 </a:t>
            </a:r>
            <a:endParaRPr sz="3600"/>
          </a:p>
          <a:p>
            <a:pPr indent="0" lvl="0" marL="0" rtl="0" algn="ctr">
              <a:spcBef>
                <a:spcPts val="720"/>
              </a:spcBef>
              <a:spcAft>
                <a:spcPts val="0"/>
              </a:spcAft>
              <a:buClr>
                <a:srgbClr val="ED8137"/>
              </a:buClr>
              <a:buSzPts val="3600"/>
              <a:buNone/>
            </a:pPr>
            <a:r>
              <a:rPr b="1" lang="ru-RU" sz="3600">
                <a:solidFill>
                  <a:srgbClr val="ED8137"/>
                </a:solidFill>
              </a:rPr>
              <a:t>Аналитика больших данных</a:t>
            </a:r>
            <a:endParaRPr/>
          </a:p>
        </p:txBody>
      </p:sp>
      <p:sp>
        <p:nvSpPr>
          <p:cNvPr id="93" name="Google Shape;93;p1"/>
          <p:cNvSpPr/>
          <p:nvPr/>
        </p:nvSpPr>
        <p:spPr>
          <a:xfrm>
            <a:off x="174103" y="4743450"/>
            <a:ext cx="5137150" cy="7683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ru-RU" sz="1600" u="none" cap="none" strike="noStrike">
                <a:solidFill>
                  <a:schemeClr val="dk1"/>
                </a:solidFill>
                <a:latin typeface="Arial"/>
                <a:ea typeface="Arial"/>
                <a:cs typeface="Arial"/>
                <a:sym typeface="Arial"/>
              </a:rPr>
              <a:t>Приходько Татьяна Александровна</a:t>
            </a:r>
            <a:endParaRPr b="0" i="1" sz="1600" u="none" cap="none" strike="noStrike">
              <a:solidFill>
                <a:schemeClr val="dk1"/>
              </a:solidFill>
              <a:latin typeface="Arial"/>
              <a:ea typeface="Arial"/>
              <a:cs typeface="Arial"/>
              <a:sym typeface="Arial"/>
            </a:endParaRPr>
          </a:p>
          <a:p>
            <a:pPr indent="0" lvl="0" marL="0" marR="0" rtl="0" algn="ctr">
              <a:spcBef>
                <a:spcPts val="0"/>
              </a:spcBef>
              <a:spcAft>
                <a:spcPts val="0"/>
              </a:spcAft>
              <a:buNone/>
            </a:pPr>
            <a:r>
              <a:rPr b="0" i="1" lang="ru-RU" sz="1400" u="none" cap="none" strike="noStrike">
                <a:solidFill>
                  <a:schemeClr val="dk1"/>
                </a:solidFill>
                <a:latin typeface="Arial"/>
                <a:ea typeface="Arial"/>
                <a:cs typeface="Arial"/>
                <a:sym typeface="Arial"/>
              </a:rPr>
              <a:t>доцент кафедры </a:t>
            </a:r>
            <a:endParaRPr/>
          </a:p>
          <a:p>
            <a:pPr indent="0" lvl="0" marL="0" marR="0" rtl="0" algn="ctr">
              <a:spcBef>
                <a:spcPts val="0"/>
              </a:spcBef>
              <a:spcAft>
                <a:spcPts val="0"/>
              </a:spcAft>
              <a:buNone/>
            </a:pPr>
            <a:r>
              <a:rPr b="0" i="1" lang="ru-RU" sz="1400" u="none" cap="none" strike="noStrike">
                <a:solidFill>
                  <a:schemeClr val="dk1"/>
                </a:solidFill>
                <a:latin typeface="Arial"/>
                <a:ea typeface="Arial"/>
                <a:cs typeface="Arial"/>
                <a:sym typeface="Arial"/>
              </a:rPr>
              <a:t>Вычислительных технологий КубГУ</a:t>
            </a:r>
            <a:endParaRPr b="0" i="1" sz="14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grpSp>
        <p:nvGrpSpPr>
          <p:cNvPr id="98" name="Google Shape;98;p2"/>
          <p:cNvGrpSpPr/>
          <p:nvPr/>
        </p:nvGrpSpPr>
        <p:grpSpPr>
          <a:xfrm>
            <a:off x="242887" y="381203"/>
            <a:ext cx="9791700" cy="6696075"/>
            <a:chOff x="153" y="113"/>
            <a:chExt cx="6168" cy="4218"/>
          </a:xfrm>
        </p:grpSpPr>
        <p:sp>
          <p:nvSpPr>
            <p:cNvPr id="99" name="Google Shape;99;p2"/>
            <p:cNvSpPr/>
            <p:nvPr/>
          </p:nvSpPr>
          <p:spPr>
            <a:xfrm>
              <a:off x="153" y="113"/>
              <a:ext cx="6168" cy="4218"/>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100" name="Google Shape;100;p2"/>
            <p:cNvSpPr/>
            <p:nvPr/>
          </p:nvSpPr>
          <p:spPr>
            <a:xfrm>
              <a:off x="561" y="249"/>
              <a:ext cx="5261" cy="544"/>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101" name="Google Shape;101;p2"/>
            <p:cNvSpPr/>
            <p:nvPr/>
          </p:nvSpPr>
          <p:spPr>
            <a:xfrm>
              <a:off x="244" y="929"/>
              <a:ext cx="5941" cy="3311"/>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grpSp>
      <p:sp>
        <p:nvSpPr>
          <p:cNvPr id="102" name="Google Shape;102;p2"/>
          <p:cNvSpPr txBox="1"/>
          <p:nvPr>
            <p:ph idx="4294967295" type="title"/>
          </p:nvPr>
        </p:nvSpPr>
        <p:spPr>
          <a:xfrm>
            <a:off x="727401" y="542961"/>
            <a:ext cx="8463708" cy="884238"/>
          </a:xfrm>
          <a:prstGeom prst="rect">
            <a:avLst/>
          </a:prstGeom>
          <a:noFill/>
          <a:ln>
            <a:noFill/>
          </a:ln>
        </p:spPr>
        <p:txBody>
          <a:bodyPr anchorCtr="0" anchor="ctr" bIns="49700" lIns="99425" spcFirstLastPara="1" rIns="99425" wrap="square" tIns="49700">
            <a:normAutofit/>
          </a:bodyPr>
          <a:lstStyle/>
          <a:p>
            <a:pPr indent="0" lvl="0" marL="0" rtl="0" algn="ctr">
              <a:spcBef>
                <a:spcPts val="0"/>
              </a:spcBef>
              <a:spcAft>
                <a:spcPts val="0"/>
              </a:spcAft>
              <a:buClr>
                <a:schemeClr val="dk1"/>
              </a:buClr>
              <a:buSzPts val="4400"/>
              <a:buFont typeface="Calibri"/>
              <a:buNone/>
            </a:pPr>
            <a:r>
              <a:rPr lang="ru-RU" sz="4400"/>
              <a:t>Содержание</a:t>
            </a:r>
            <a:endParaRPr/>
          </a:p>
        </p:txBody>
      </p:sp>
      <p:sp>
        <p:nvSpPr>
          <p:cNvPr id="103" name="Google Shape;103;p2"/>
          <p:cNvSpPr txBox="1"/>
          <p:nvPr>
            <p:ph idx="4294967295" type="body"/>
          </p:nvPr>
        </p:nvSpPr>
        <p:spPr>
          <a:xfrm>
            <a:off x="524947" y="1564702"/>
            <a:ext cx="9248775" cy="4895850"/>
          </a:xfrm>
          <a:prstGeom prst="rect">
            <a:avLst/>
          </a:prstGeom>
          <a:noFill/>
          <a:ln>
            <a:noFill/>
          </a:ln>
        </p:spPr>
        <p:txBody>
          <a:bodyPr anchorCtr="0" anchor="t" bIns="49700" lIns="99425" spcFirstLastPara="1" rIns="99425" wrap="square" tIns="49700">
            <a:normAutofit lnSpcReduction="10000"/>
          </a:bodyPr>
          <a:lstStyle/>
          <a:p>
            <a:pPr indent="-376238" lvl="1" marL="579438" rtl="0" algn="l">
              <a:lnSpc>
                <a:spcPct val="75000"/>
              </a:lnSpc>
              <a:spcBef>
                <a:spcPts val="0"/>
              </a:spcBef>
              <a:spcAft>
                <a:spcPts val="0"/>
              </a:spcAft>
              <a:buClr>
                <a:schemeClr val="dk1"/>
              </a:buClr>
              <a:buSzPts val="2400"/>
              <a:buFont typeface="Noto Sans Symbols"/>
              <a:buNone/>
            </a:pPr>
            <a:r>
              <a:t/>
            </a:r>
            <a:endParaRPr sz="2400"/>
          </a:p>
          <a:p>
            <a:pPr indent="-144463" lvl="0" marL="144463" rtl="0" algn="l">
              <a:lnSpc>
                <a:spcPct val="75000"/>
              </a:lnSpc>
              <a:spcBef>
                <a:spcPts val="580"/>
              </a:spcBef>
              <a:spcAft>
                <a:spcPts val="0"/>
              </a:spcAft>
              <a:buClr>
                <a:schemeClr val="dk1"/>
              </a:buClr>
              <a:buSzPts val="2900"/>
              <a:buFont typeface="Noto Sans Symbols"/>
              <a:buChar char="▪"/>
            </a:pPr>
            <a:r>
              <a:rPr lang="ru-RU" sz="2900"/>
              <a:t>Процесс аналитики</a:t>
            </a:r>
            <a:endParaRPr/>
          </a:p>
          <a:p>
            <a:pPr indent="-237538" lvl="2" marL="1187691" rtl="0" algn="l">
              <a:lnSpc>
                <a:spcPct val="75000"/>
              </a:lnSpc>
              <a:spcBef>
                <a:spcPts val="480"/>
              </a:spcBef>
              <a:spcAft>
                <a:spcPts val="0"/>
              </a:spcAft>
              <a:buClr>
                <a:schemeClr val="dk1"/>
              </a:buClr>
              <a:buSzPts val="2400"/>
              <a:buFont typeface="Noto Sans Symbols"/>
              <a:buChar char="▪"/>
            </a:pPr>
            <a:r>
              <a:rPr lang="ru-RU" sz="2400"/>
              <a:t>Стандарты  жизненного цикла Big Data: </a:t>
            </a:r>
            <a:r>
              <a:rPr b="1" i="1" lang="ru-RU" sz="2000"/>
              <a:t>CRISP-DM</a:t>
            </a:r>
            <a:endParaRPr b="1" i="1" sz="2000"/>
          </a:p>
          <a:p>
            <a:pPr indent="-237538" lvl="2" marL="1187691" rtl="0" algn="l">
              <a:lnSpc>
                <a:spcPct val="75000"/>
              </a:lnSpc>
              <a:spcBef>
                <a:spcPts val="480"/>
              </a:spcBef>
              <a:spcAft>
                <a:spcPts val="0"/>
              </a:spcAft>
              <a:buClr>
                <a:schemeClr val="dk1"/>
              </a:buClr>
              <a:buSzPts val="2400"/>
              <a:buFont typeface="Noto Sans Symbols"/>
              <a:buChar char="▪"/>
            </a:pPr>
            <a:r>
              <a:rPr lang="ru-RU" sz="2400"/>
              <a:t>Принципы и инструменты аналитики</a:t>
            </a:r>
            <a:endParaRPr/>
          </a:p>
          <a:p>
            <a:pPr indent="-237538" lvl="2" marL="1187691" rtl="0" algn="l">
              <a:lnSpc>
                <a:spcPct val="75000"/>
              </a:lnSpc>
              <a:spcBef>
                <a:spcPts val="480"/>
              </a:spcBef>
              <a:spcAft>
                <a:spcPts val="0"/>
              </a:spcAft>
              <a:buClr>
                <a:schemeClr val="dk1"/>
              </a:buClr>
              <a:buSzPts val="2400"/>
              <a:buFont typeface="Noto Sans Symbols"/>
              <a:buChar char="▪"/>
            </a:pPr>
            <a:r>
              <a:rPr lang="ru-RU" sz="2400"/>
              <a:t>Задачи и компетенции аналитиков Big Data</a:t>
            </a:r>
            <a:endParaRPr sz="2400"/>
          </a:p>
          <a:p>
            <a:pPr indent="-356307" lvl="0" marL="356307" rtl="0" algn="l">
              <a:lnSpc>
                <a:spcPct val="75000"/>
              </a:lnSpc>
              <a:spcBef>
                <a:spcPts val="560"/>
              </a:spcBef>
              <a:spcAft>
                <a:spcPts val="0"/>
              </a:spcAft>
              <a:buClr>
                <a:schemeClr val="dk1"/>
              </a:buClr>
              <a:buSzPts val="2800"/>
              <a:buFont typeface="Noto Sans Symbols"/>
              <a:buChar char="▪"/>
            </a:pPr>
            <a:r>
              <a:rPr lang="ru-RU" sz="2800"/>
              <a:t>Примеры эффективного применения аналитики БД</a:t>
            </a:r>
            <a:endParaRPr/>
          </a:p>
          <a:p>
            <a:pPr indent="-110538" lvl="2" marL="1187691" rtl="0" algn="l">
              <a:lnSpc>
                <a:spcPct val="75000"/>
              </a:lnSpc>
              <a:spcBef>
                <a:spcPts val="400"/>
              </a:spcBef>
              <a:spcAft>
                <a:spcPts val="0"/>
              </a:spcAft>
              <a:buClr>
                <a:schemeClr val="dk1"/>
              </a:buClr>
              <a:buSzPts val="2000"/>
              <a:buFont typeface="Noto Sans Symbols"/>
              <a:buNone/>
            </a:pPr>
            <a:r>
              <a:t/>
            </a:r>
            <a:endParaRPr sz="2000"/>
          </a:p>
          <a:p>
            <a:pPr indent="-144463" lvl="0" marL="144463" rtl="0" algn="l">
              <a:lnSpc>
                <a:spcPct val="75000"/>
              </a:lnSpc>
              <a:spcBef>
                <a:spcPts val="580"/>
              </a:spcBef>
              <a:spcAft>
                <a:spcPts val="0"/>
              </a:spcAft>
              <a:buClr>
                <a:schemeClr val="dk1"/>
              </a:buClr>
              <a:buSzPts val="2900"/>
              <a:buFont typeface="Noto Sans Symbols"/>
              <a:buChar char="▪"/>
            </a:pPr>
            <a:r>
              <a:rPr lang="ru-RU" sz="2900"/>
              <a:t>Big Data – Статистическое обучение</a:t>
            </a:r>
            <a:endParaRPr sz="2900"/>
          </a:p>
          <a:p>
            <a:pPr indent="-237538" lvl="2" marL="1187691" rtl="0" algn="l">
              <a:lnSpc>
                <a:spcPct val="75000"/>
              </a:lnSpc>
              <a:spcBef>
                <a:spcPts val="480"/>
              </a:spcBef>
              <a:spcAft>
                <a:spcPts val="0"/>
              </a:spcAft>
              <a:buClr>
                <a:schemeClr val="dk1"/>
              </a:buClr>
              <a:buSzPts val="2400"/>
              <a:buFont typeface="Noto Sans Symbols"/>
              <a:buChar char="▪"/>
            </a:pPr>
            <a:r>
              <a:rPr b="1" lang="ru-RU" sz="2400"/>
              <a:t>Классификация задач Data Mining – описательные и предсказательные модели</a:t>
            </a:r>
            <a:endParaRPr/>
          </a:p>
          <a:p>
            <a:pPr indent="-237538" lvl="2" marL="1187691" rtl="0" algn="l">
              <a:lnSpc>
                <a:spcPct val="75000"/>
              </a:lnSpc>
              <a:spcBef>
                <a:spcPts val="480"/>
              </a:spcBef>
              <a:spcAft>
                <a:spcPts val="0"/>
              </a:spcAft>
              <a:buClr>
                <a:schemeClr val="dk1"/>
              </a:buClr>
              <a:buSzPts val="2400"/>
              <a:buFont typeface="Noto Sans Symbols"/>
              <a:buChar char="▪"/>
            </a:pPr>
            <a:r>
              <a:rPr lang="ru-RU" sz="2400"/>
              <a:t>Параметрические и непараметрические методы</a:t>
            </a:r>
            <a:endParaRPr/>
          </a:p>
          <a:p>
            <a:pPr indent="-237538" lvl="2" marL="1187691" rtl="0" algn="l">
              <a:lnSpc>
                <a:spcPct val="75000"/>
              </a:lnSpc>
              <a:spcBef>
                <a:spcPts val="480"/>
              </a:spcBef>
              <a:spcAft>
                <a:spcPts val="0"/>
              </a:spcAft>
              <a:buClr>
                <a:schemeClr val="dk1"/>
              </a:buClr>
              <a:buSzPts val="2400"/>
              <a:buFont typeface="Noto Sans Symbols"/>
              <a:buChar char="▪"/>
            </a:pPr>
            <a:r>
              <a:rPr lang="ru-RU" sz="2400"/>
              <a:t>Обучение с учителем и без</a:t>
            </a:r>
            <a:endParaRPr/>
          </a:p>
          <a:p>
            <a:pPr indent="-237538" lvl="2" marL="1187691" rtl="0" algn="l">
              <a:lnSpc>
                <a:spcPct val="75000"/>
              </a:lnSpc>
              <a:spcBef>
                <a:spcPts val="480"/>
              </a:spcBef>
              <a:spcAft>
                <a:spcPts val="0"/>
              </a:spcAft>
              <a:buClr>
                <a:schemeClr val="dk1"/>
              </a:buClr>
              <a:buSzPts val="2400"/>
              <a:buFont typeface="Noto Sans Symbols"/>
              <a:buChar char="▪"/>
            </a:pPr>
            <a:r>
              <a:rPr lang="ru-RU" sz="2400"/>
              <a:t>Оценка точности модели</a:t>
            </a:r>
            <a:endParaRPr/>
          </a:p>
          <a:p>
            <a:pPr indent="-237538" lvl="2" marL="1187691" rtl="0" algn="l">
              <a:lnSpc>
                <a:spcPct val="75000"/>
              </a:lnSpc>
              <a:spcBef>
                <a:spcPts val="480"/>
              </a:spcBef>
              <a:spcAft>
                <a:spcPts val="0"/>
              </a:spcAft>
              <a:buClr>
                <a:schemeClr val="dk1"/>
              </a:buClr>
              <a:buSzPts val="2400"/>
              <a:buFont typeface="Noto Sans Symbols"/>
              <a:buChar char="▪"/>
            </a:pPr>
            <a:r>
              <a:rPr lang="ru-RU" sz="2400"/>
              <a:t>Фундаментальное свойство статистического обучения</a:t>
            </a:r>
            <a:endParaRPr/>
          </a:p>
          <a:p>
            <a:pPr indent="0" lvl="2" marL="993775" rtl="0" algn="l">
              <a:lnSpc>
                <a:spcPct val="75000"/>
              </a:lnSpc>
              <a:spcBef>
                <a:spcPts val="400"/>
              </a:spcBef>
              <a:spcAft>
                <a:spcPts val="0"/>
              </a:spcAft>
              <a:buClr>
                <a:schemeClr val="dk1"/>
              </a:buClr>
              <a:buSzPts val="2000"/>
              <a:buNone/>
            </a:pPr>
            <a:r>
              <a:t/>
            </a:r>
            <a:endParaRPr sz="2000"/>
          </a:p>
          <a:p>
            <a:pPr indent="0" lvl="2" marL="993775" rtl="0" algn="l">
              <a:lnSpc>
                <a:spcPct val="75000"/>
              </a:lnSpc>
              <a:spcBef>
                <a:spcPts val="360"/>
              </a:spcBef>
              <a:spcAft>
                <a:spcPts val="0"/>
              </a:spcAft>
              <a:buClr>
                <a:schemeClr val="dk1"/>
              </a:buClr>
              <a:buSzPts val="1800"/>
              <a:buNone/>
            </a:pPr>
            <a:r>
              <a:t/>
            </a:r>
            <a:endParaRPr sz="1800"/>
          </a:p>
        </p:txBody>
      </p:sp>
      <p:sp>
        <p:nvSpPr>
          <p:cNvPr id="104" name="Google Shape;104;p2"/>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i="0" lang="ru-RU" sz="2000" u="none" cap="none" strike="noStrike">
                <a:solidFill>
                  <a:schemeClr val="lt1"/>
                </a:solidFill>
                <a:latin typeface="Courier New"/>
                <a:ea typeface="Courier New"/>
                <a:cs typeface="Courier New"/>
                <a:sym typeface="Courier New"/>
              </a:rPr>
              <a:t>Обработка больших данных. </a:t>
            </a:r>
            <a:r>
              <a:rPr b="1" i="0" lang="ru-RU" sz="2000" u="none" cap="none" strike="noStrike">
                <a:solidFill>
                  <a:schemeClr val="lt1"/>
                </a:solidFill>
                <a:latin typeface="Times New Roman"/>
                <a:ea typeface="Times New Roman"/>
                <a:cs typeface="Times New Roman"/>
                <a:sym typeface="Times New Roman"/>
              </a:rPr>
              <a:t>Л5</a:t>
            </a:r>
            <a:endParaRPr/>
          </a:p>
        </p:txBody>
      </p:sp>
      <p:sp>
        <p:nvSpPr>
          <p:cNvPr id="105" name="Google Shape;105;p2"/>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
        <p:nvSpPr>
          <p:cNvPr id="106" name="Google Shape;106;p2"/>
          <p:cNvSpPr txBox="1"/>
          <p:nvPr/>
        </p:nvSpPr>
        <p:spPr>
          <a:xfrm>
            <a:off x="2709863" y="0"/>
            <a:ext cx="5100637" cy="407988"/>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i="0" lang="ru-RU" sz="2000" u="none" cap="none" strike="noStrike">
                <a:solidFill>
                  <a:srgbClr val="9EE0F7"/>
                </a:solidFill>
                <a:latin typeface="Courier New"/>
                <a:ea typeface="Courier New"/>
                <a:cs typeface="Courier New"/>
                <a:sym typeface="Courier New"/>
              </a:rPr>
              <a:t>Обработка больших данных. Л5</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3"/>
          <p:cNvSpPr txBox="1"/>
          <p:nvPr>
            <p:ph idx="4294967295" type="ctrTitle"/>
          </p:nvPr>
        </p:nvSpPr>
        <p:spPr>
          <a:xfrm>
            <a:off x="890265" y="2050975"/>
            <a:ext cx="8199760" cy="1584177"/>
          </a:xfrm>
          <a:prstGeom prst="rect">
            <a:avLst/>
          </a:prstGeom>
          <a:noFill/>
          <a:ln>
            <a:noFill/>
          </a:ln>
        </p:spPr>
        <p:txBody>
          <a:bodyPr anchorCtr="0" anchor="b" bIns="45700" lIns="91425" spcFirstLastPara="1" rIns="91425" wrap="square" tIns="45700">
            <a:normAutofit/>
          </a:bodyPr>
          <a:lstStyle/>
          <a:p>
            <a:pPr indent="0" lvl="0" marL="0" marR="0" rtl="0" algn="ctr">
              <a:lnSpc>
                <a:spcPct val="80000"/>
              </a:lnSpc>
              <a:spcBef>
                <a:spcPts val="0"/>
              </a:spcBef>
              <a:spcAft>
                <a:spcPts val="0"/>
              </a:spcAft>
              <a:buClr>
                <a:schemeClr val="dk1"/>
              </a:buClr>
              <a:buSzPts val="6600"/>
              <a:buFont typeface="Calibri"/>
              <a:buNone/>
            </a:pPr>
            <a:r>
              <a:rPr b="0" i="0" lang="ru-RU" sz="6600" u="none" cap="none" strike="noStrike">
                <a:solidFill>
                  <a:schemeClr val="dk1"/>
                </a:solidFill>
                <a:latin typeface="Calibri"/>
                <a:ea typeface="Calibri"/>
                <a:cs typeface="Calibri"/>
                <a:sym typeface="Calibri"/>
              </a:rPr>
              <a:t>Процесс аналитики</a:t>
            </a:r>
            <a:endParaRPr/>
          </a:p>
        </p:txBody>
      </p:sp>
      <p:sp>
        <p:nvSpPr>
          <p:cNvPr id="114" name="Google Shape;114;p3"/>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0" name="Shape 120"/>
        <p:cNvGrpSpPr/>
        <p:nvPr/>
      </p:nvGrpSpPr>
      <p:grpSpPr>
        <a:xfrm>
          <a:off x="0" y="0"/>
          <a:ext cx="0" cy="0"/>
          <a:chOff x="0" y="0"/>
          <a:chExt cx="0" cy="0"/>
        </a:xfrm>
      </p:grpSpPr>
      <p:sp>
        <p:nvSpPr>
          <p:cNvPr id="121" name="Google Shape;121;p4"/>
          <p:cNvSpPr/>
          <p:nvPr/>
        </p:nvSpPr>
        <p:spPr>
          <a:xfrm>
            <a:off x="242888" y="322263"/>
            <a:ext cx="9791700" cy="63373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122" name="Google Shape;122;p4"/>
          <p:cNvSpPr txBox="1"/>
          <p:nvPr>
            <p:ph idx="4294967295" type="ctrTitle"/>
          </p:nvPr>
        </p:nvSpPr>
        <p:spPr>
          <a:xfrm>
            <a:off x="674241" y="1328739"/>
            <a:ext cx="8066088" cy="4250630"/>
          </a:xfrm>
          <a:prstGeom prst="rect">
            <a:avLst/>
          </a:prstGeom>
          <a:solidFill>
            <a:schemeClr val="lt1"/>
          </a:solidFill>
          <a:ln>
            <a:noFill/>
          </a:ln>
        </p:spPr>
        <p:txBody>
          <a:bodyPr anchorCtr="0" anchor="b" bIns="45700" lIns="91425" spcFirstLastPara="1" rIns="91425" wrap="square" tIns="45700">
            <a:normAutofit/>
          </a:bodyPr>
          <a:lstStyle/>
          <a:p>
            <a:pPr indent="360363" lvl="0" marL="0" marR="0" rtl="0" algn="l">
              <a:lnSpc>
                <a:spcPct val="80000"/>
              </a:lnSpc>
              <a:spcBef>
                <a:spcPts val="0"/>
              </a:spcBef>
              <a:spcAft>
                <a:spcPts val="0"/>
              </a:spcAft>
              <a:buClr>
                <a:srgbClr val="0D78C9"/>
              </a:buClr>
              <a:buSzPts val="2400"/>
              <a:buFont typeface="Calibri"/>
              <a:buNone/>
            </a:pPr>
            <a:r>
              <a:rPr b="1" i="1" lang="ru-RU" sz="2400" u="none" cap="none" strike="noStrike">
                <a:solidFill>
                  <a:srgbClr val="0D78C9"/>
                </a:solidFill>
                <a:latin typeface="Calibri"/>
                <a:ea typeface="Calibri"/>
                <a:cs typeface="Calibri"/>
                <a:sym typeface="Calibri"/>
              </a:rPr>
              <a:t>"Если вы подыскиваете род деятельности, в котором ваши усилия будут высоко востребованы, вам следует найти область, в которой вы сможете обеспечить дефицитные дополнительные услуги по отношению к тому, что повсеместно распространено и дешево обходится. </a:t>
            </a:r>
            <a:br>
              <a:rPr b="1" i="1" lang="ru-RU" sz="2400" u="none" cap="none" strike="noStrike">
                <a:solidFill>
                  <a:srgbClr val="0D78C9"/>
                </a:solidFill>
                <a:latin typeface="Calibri"/>
                <a:ea typeface="Calibri"/>
                <a:cs typeface="Calibri"/>
                <a:sym typeface="Calibri"/>
              </a:rPr>
            </a:br>
            <a:r>
              <a:rPr b="1" i="1" lang="ru-RU" sz="2400" u="none" cap="none" strike="noStrike">
                <a:solidFill>
                  <a:srgbClr val="0D78C9"/>
                </a:solidFill>
                <a:latin typeface="Calibri"/>
                <a:ea typeface="Calibri"/>
                <a:cs typeface="Calibri"/>
                <a:sym typeface="Calibri"/>
              </a:rPr>
              <a:t>	А что повсеместно распространено и дешево обходится? Данные. А что является дополнительной услугой по отношению к данным? Анализ"</a:t>
            </a:r>
            <a:r>
              <a:rPr b="1" i="0" lang="ru-RU" sz="2400" u="none" cap="none" strike="noStrike">
                <a:solidFill>
                  <a:srgbClr val="0D78C9"/>
                </a:solidFill>
                <a:latin typeface="Calibri"/>
                <a:ea typeface="Calibri"/>
                <a:cs typeface="Calibri"/>
                <a:sym typeface="Calibri"/>
              </a:rPr>
              <a:t>.</a:t>
            </a:r>
            <a:br>
              <a:rPr b="1" i="0" lang="ru-RU" sz="2400" u="none" cap="none" strike="noStrike">
                <a:solidFill>
                  <a:srgbClr val="0D78C9"/>
                </a:solidFill>
                <a:latin typeface="Calibri"/>
                <a:ea typeface="Calibri"/>
                <a:cs typeface="Calibri"/>
                <a:sym typeface="Calibri"/>
              </a:rPr>
            </a:br>
            <a:br>
              <a:rPr b="1" i="0" lang="ru-RU" sz="2400" u="none" cap="none" strike="noStrike">
                <a:solidFill>
                  <a:srgbClr val="0D78C9"/>
                </a:solidFill>
                <a:latin typeface="Calibri"/>
                <a:ea typeface="Calibri"/>
                <a:cs typeface="Calibri"/>
                <a:sym typeface="Calibri"/>
              </a:rPr>
            </a:br>
            <a:r>
              <a:rPr b="1" i="0" lang="ru-RU" sz="2400" u="none" cap="none" strike="noStrike">
                <a:solidFill>
                  <a:srgbClr val="0D78C9"/>
                </a:solidFill>
                <a:latin typeface="Calibri"/>
                <a:ea typeface="Calibri"/>
                <a:cs typeface="Calibri"/>
                <a:sym typeface="Calibri"/>
              </a:rPr>
              <a:t>– Профессор Хал Вариан, университет Беркли, главный экономист Google</a:t>
            </a:r>
            <a:br>
              <a:rPr b="1" i="0" lang="ru-RU" sz="2400" u="none" cap="none" strike="noStrike">
                <a:solidFill>
                  <a:srgbClr val="0D78C9"/>
                </a:solidFill>
                <a:latin typeface="Calibri"/>
                <a:ea typeface="Calibri"/>
                <a:cs typeface="Calibri"/>
                <a:sym typeface="Calibri"/>
              </a:rPr>
            </a:br>
            <a:endParaRPr b="1" i="0" sz="3600" u="none" cap="none" strike="noStrike">
              <a:solidFill>
                <a:srgbClr val="0D78C9"/>
              </a:solidFill>
              <a:latin typeface="Calibri"/>
              <a:ea typeface="Calibri"/>
              <a:cs typeface="Calibri"/>
              <a:sym typeface="Calibri"/>
            </a:endParaRPr>
          </a:p>
        </p:txBody>
      </p:sp>
      <p:sp>
        <p:nvSpPr>
          <p:cNvPr id="123" name="Google Shape;123;p4"/>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i="0" lang="ru-RU" sz="2000" u="none" cap="none" strike="noStrike">
                <a:solidFill>
                  <a:schemeClr val="lt1"/>
                </a:solidFill>
                <a:latin typeface="Courier New"/>
                <a:ea typeface="Courier New"/>
                <a:cs typeface="Courier New"/>
                <a:sym typeface="Courier New"/>
              </a:rPr>
              <a:t>Обработка больших данных. Л5</a:t>
            </a:r>
            <a:endParaRPr/>
          </a:p>
        </p:txBody>
      </p:sp>
      <p:sp>
        <p:nvSpPr>
          <p:cNvPr id="124" name="Google Shape;124;p4"/>
          <p:cNvSpPr txBox="1"/>
          <p:nvPr/>
        </p:nvSpPr>
        <p:spPr>
          <a:xfrm>
            <a:off x="514350" y="322263"/>
            <a:ext cx="9248775" cy="757238"/>
          </a:xfrm>
          <a:prstGeom prst="rect">
            <a:avLst/>
          </a:prstGeom>
          <a:noFill/>
          <a:ln>
            <a:noFill/>
          </a:ln>
        </p:spPr>
        <p:txBody>
          <a:bodyPr anchorCtr="0" anchor="ctr" bIns="49700" lIns="99425" spcFirstLastPara="1" rIns="99425" wrap="square" tIns="49700">
            <a:noAutofit/>
          </a:bodyPr>
          <a:lstStyle/>
          <a:p>
            <a:pPr indent="0" lvl="0" marL="0" marR="0" rtl="0" algn="ctr">
              <a:spcBef>
                <a:spcPts val="0"/>
              </a:spcBef>
              <a:spcAft>
                <a:spcPts val="0"/>
              </a:spcAft>
              <a:buNone/>
            </a:pPr>
            <a:r>
              <a:rPr b="1" i="0" lang="ru-RU" sz="3100" u="none" cap="none" strike="noStrike">
                <a:solidFill>
                  <a:schemeClr val="dk2"/>
                </a:solidFill>
                <a:latin typeface="Calibri"/>
                <a:ea typeface="Calibri"/>
                <a:cs typeface="Calibri"/>
                <a:sym typeface="Calibri"/>
              </a:rPr>
              <a:t>Аналитика БД</a:t>
            </a:r>
            <a:endParaRPr/>
          </a:p>
        </p:txBody>
      </p:sp>
      <p:sp>
        <p:nvSpPr>
          <p:cNvPr id="125" name="Google Shape;125;p4"/>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5"/>
          <p:cNvSpPr/>
          <p:nvPr/>
        </p:nvSpPr>
        <p:spPr>
          <a:xfrm>
            <a:off x="242888" y="322263"/>
            <a:ext cx="9791700" cy="63373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133" name="Google Shape;133;p5"/>
          <p:cNvSpPr txBox="1"/>
          <p:nvPr>
            <p:ph idx="4294967295" type="title"/>
          </p:nvPr>
        </p:nvSpPr>
        <p:spPr>
          <a:xfrm>
            <a:off x="1034281" y="285750"/>
            <a:ext cx="8214494" cy="757238"/>
          </a:xfrm>
          <a:prstGeom prst="rect">
            <a:avLst/>
          </a:prstGeom>
          <a:noFill/>
          <a:ln>
            <a:noFill/>
          </a:ln>
        </p:spPr>
        <p:txBody>
          <a:bodyPr anchorCtr="0" anchor="ctr" bIns="49700" lIns="99425" spcFirstLastPara="1" rIns="99425" wrap="square" tIns="49700">
            <a:normAutofit/>
          </a:bodyPr>
          <a:lstStyle/>
          <a:p>
            <a:pPr indent="0" lvl="0" marL="0" rtl="0" algn="ctr">
              <a:spcBef>
                <a:spcPts val="0"/>
              </a:spcBef>
              <a:spcAft>
                <a:spcPts val="0"/>
              </a:spcAft>
              <a:buClr>
                <a:schemeClr val="dk1"/>
              </a:buClr>
              <a:buSzPts val="3100"/>
              <a:buFont typeface="Calibri"/>
              <a:buNone/>
            </a:pPr>
            <a:r>
              <a:rPr b="1" lang="ru-RU" sz="3100"/>
              <a:t>Стандарты ЖЦ</a:t>
            </a:r>
            <a:endParaRPr/>
          </a:p>
        </p:txBody>
      </p:sp>
      <p:sp>
        <p:nvSpPr>
          <p:cNvPr id="134" name="Google Shape;134;p5"/>
          <p:cNvSpPr txBox="1"/>
          <p:nvPr>
            <p:ph idx="4294967295" type="body"/>
          </p:nvPr>
        </p:nvSpPr>
        <p:spPr>
          <a:xfrm>
            <a:off x="478630" y="1099952"/>
            <a:ext cx="9248775" cy="3341688"/>
          </a:xfrm>
          <a:prstGeom prst="rect">
            <a:avLst/>
          </a:prstGeom>
          <a:solidFill>
            <a:srgbClr val="FFFFFF"/>
          </a:solidFill>
          <a:ln>
            <a:noFill/>
          </a:ln>
        </p:spPr>
        <p:txBody>
          <a:bodyPr anchorCtr="0" anchor="t" bIns="45700" lIns="91425" spcFirstLastPara="1" rIns="91425" wrap="square" tIns="45700">
            <a:noAutofit/>
          </a:bodyPr>
          <a:lstStyle/>
          <a:p>
            <a:pPr indent="-177800" lvl="0" marL="177800" rtl="0" algn="l">
              <a:spcBef>
                <a:spcPts val="0"/>
              </a:spcBef>
              <a:spcAft>
                <a:spcPts val="0"/>
              </a:spcAft>
              <a:buClr>
                <a:schemeClr val="dk1"/>
              </a:buClr>
              <a:buSzPts val="2400"/>
              <a:buChar char="•"/>
            </a:pPr>
            <a:r>
              <a:rPr lang="ru-RU" sz="2400"/>
              <a:t>Общепризнанный стандарт по ЖЦ пока отсутствует</a:t>
            </a:r>
            <a:endParaRPr/>
          </a:p>
          <a:p>
            <a:pPr indent="-285750" lvl="1" marL="742950" rtl="0" algn="l">
              <a:spcBef>
                <a:spcPts val="480"/>
              </a:spcBef>
              <a:spcAft>
                <a:spcPts val="0"/>
              </a:spcAft>
              <a:buClr>
                <a:schemeClr val="dk1"/>
              </a:buClr>
              <a:buSzPts val="2400"/>
              <a:buFont typeface="Calibri"/>
              <a:buNone/>
            </a:pPr>
            <a:r>
              <a:rPr i="1" lang="ru-RU" sz="2400"/>
              <a:t>Известные методологии, являющиеся мировыми стандартами: CRISP-DM, Two Crows, SEMMA, а также  для аналитики данных можно применить свои собственные методологии. </a:t>
            </a:r>
            <a:endParaRPr/>
          </a:p>
          <a:p>
            <a:pPr indent="-177800" lvl="0" marL="177800" rtl="0" algn="l">
              <a:spcBef>
                <a:spcPts val="480"/>
              </a:spcBef>
              <a:spcAft>
                <a:spcPts val="0"/>
              </a:spcAft>
              <a:buClr>
                <a:schemeClr val="dk1"/>
              </a:buClr>
              <a:buSzPts val="2400"/>
              <a:buChar char="•"/>
            </a:pPr>
            <a:r>
              <a:rPr lang="ru-RU" sz="2400"/>
              <a:t>Стандарт CRISP-DM включает:</a:t>
            </a:r>
            <a:endParaRPr sz="2400"/>
          </a:p>
          <a:p>
            <a:pPr indent="-285750" lvl="1" marL="742950" rtl="0" algn="l">
              <a:spcBef>
                <a:spcPts val="480"/>
              </a:spcBef>
              <a:spcAft>
                <a:spcPts val="0"/>
              </a:spcAft>
              <a:buClr>
                <a:schemeClr val="dk1"/>
              </a:buClr>
              <a:buSzPts val="2400"/>
              <a:buFont typeface="Calibri"/>
              <a:buAutoNum type="arabicPeriod"/>
            </a:pPr>
            <a:r>
              <a:rPr lang="ru-RU" sz="2400"/>
              <a:t>Средства предварительной обработки информации на местах её хранения</a:t>
            </a:r>
            <a:endParaRPr/>
          </a:p>
          <a:p>
            <a:pPr indent="-285750" lvl="1" marL="742950" rtl="0" algn="l">
              <a:spcBef>
                <a:spcPts val="480"/>
              </a:spcBef>
              <a:spcAft>
                <a:spcPts val="0"/>
              </a:spcAft>
              <a:buClr>
                <a:schemeClr val="dk1"/>
              </a:buClr>
              <a:buSzPts val="2400"/>
              <a:buFont typeface="Calibri"/>
              <a:buAutoNum type="arabicPeriod"/>
            </a:pPr>
            <a:r>
              <a:rPr lang="ru-RU" sz="2400"/>
              <a:t>Возможность запуска алгоритмов анализа прямо в этих местах</a:t>
            </a:r>
            <a:endParaRPr/>
          </a:p>
        </p:txBody>
      </p:sp>
      <p:sp>
        <p:nvSpPr>
          <p:cNvPr id="135" name="Google Shape;135;p5"/>
          <p:cNvSpPr txBox="1"/>
          <p:nvPr/>
        </p:nvSpPr>
        <p:spPr>
          <a:xfrm>
            <a:off x="577850" y="6811963"/>
            <a:ext cx="4240213" cy="236537"/>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950" u="none" cap="none" strike="noStrike">
              <a:solidFill>
                <a:schemeClr val="dk1"/>
              </a:solidFill>
              <a:latin typeface="Calibri"/>
              <a:ea typeface="Calibri"/>
              <a:cs typeface="Calibri"/>
              <a:sym typeface="Calibri"/>
            </a:endParaRPr>
          </a:p>
        </p:txBody>
      </p:sp>
      <p:sp>
        <p:nvSpPr>
          <p:cNvPr id="136" name="Google Shape;136;p5"/>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i="0" lang="ru-RU" sz="2000" u="none" cap="none" strike="noStrike">
                <a:solidFill>
                  <a:schemeClr val="lt1"/>
                </a:solidFill>
                <a:latin typeface="Courier New"/>
                <a:ea typeface="Courier New"/>
                <a:cs typeface="Courier New"/>
                <a:sym typeface="Courier New"/>
              </a:rPr>
              <a:t>Обработка больших данных. Л5</a:t>
            </a:r>
            <a:endParaRPr/>
          </a:p>
        </p:txBody>
      </p:sp>
      <p:sp>
        <p:nvSpPr>
          <p:cNvPr id="137" name="Google Shape;137;p5"/>
          <p:cNvSpPr txBox="1"/>
          <p:nvPr/>
        </p:nvSpPr>
        <p:spPr>
          <a:xfrm>
            <a:off x="530224" y="5219328"/>
            <a:ext cx="9145588" cy="13112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ru-RU" sz="2000" u="none" cap="none" strike="noStrike">
                <a:solidFill>
                  <a:srgbClr val="0D78C9"/>
                </a:solidFill>
                <a:latin typeface="Arial"/>
                <a:ea typeface="Arial"/>
                <a:cs typeface="Arial"/>
                <a:sym typeface="Arial"/>
              </a:rPr>
              <a:t>*Методология CRISP-DM (CRoss-Industry Standard Process for Data Mining), разработана экспертами в индустрии Data Mining, и представляет собой пошаговое руководство, где определены задачи и цели для каждого этапа процесса Data Mining. </a:t>
            </a:r>
            <a:endParaRPr/>
          </a:p>
        </p:txBody>
      </p:sp>
      <p:sp>
        <p:nvSpPr>
          <p:cNvPr id="138" name="Google Shape;138;p5"/>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6"/>
          <p:cNvSpPr/>
          <p:nvPr/>
        </p:nvSpPr>
        <p:spPr>
          <a:xfrm>
            <a:off x="242888" y="322263"/>
            <a:ext cx="9791700" cy="63373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144" name="Google Shape;144;p6"/>
          <p:cNvSpPr txBox="1"/>
          <p:nvPr/>
        </p:nvSpPr>
        <p:spPr>
          <a:xfrm>
            <a:off x="438117" y="467151"/>
            <a:ext cx="9286939"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ru-RU" sz="2400" u="none" cap="none" strike="noStrike">
                <a:solidFill>
                  <a:schemeClr val="dk1"/>
                </a:solidFill>
                <a:latin typeface="Calibri"/>
                <a:ea typeface="Calibri"/>
                <a:cs typeface="Calibri"/>
                <a:sym typeface="Calibri"/>
              </a:rPr>
              <a:t>Этапы аналитики в соответствии со стандартом  CRISP-DM</a:t>
            </a:r>
            <a:endParaRPr b="1" i="0" sz="2400" u="none" cap="none" strike="noStrike">
              <a:solidFill>
                <a:schemeClr val="dk1"/>
              </a:solidFill>
              <a:latin typeface="Calibri"/>
              <a:ea typeface="Calibri"/>
              <a:cs typeface="Calibri"/>
              <a:sym typeface="Calibri"/>
            </a:endParaRPr>
          </a:p>
          <a:p>
            <a:pPr indent="0" lvl="0" marL="0" marR="0" rtl="0" algn="ctr">
              <a:spcBef>
                <a:spcPts val="0"/>
              </a:spcBef>
              <a:spcAft>
                <a:spcPts val="0"/>
              </a:spcAft>
              <a:buNone/>
            </a:pPr>
            <a:r>
              <a:rPr b="1" i="0" lang="ru-RU" sz="2400" u="none" cap="none" strike="noStrike">
                <a:solidFill>
                  <a:schemeClr val="dk1"/>
                </a:solidFill>
                <a:latin typeface="Calibri"/>
                <a:ea typeface="Calibri"/>
                <a:cs typeface="Calibri"/>
                <a:sym typeface="Calibri"/>
              </a:rPr>
              <a:t>Cross industry Standard process for Data Mining</a:t>
            </a:r>
            <a:endParaRPr b="1" i="0" sz="2400" u="none" cap="none" strike="noStrike">
              <a:solidFill>
                <a:schemeClr val="dk1"/>
              </a:solidFill>
              <a:latin typeface="Calibri"/>
              <a:ea typeface="Calibri"/>
              <a:cs typeface="Calibri"/>
              <a:sym typeface="Calibri"/>
            </a:endParaRPr>
          </a:p>
        </p:txBody>
      </p:sp>
      <p:sp>
        <p:nvSpPr>
          <p:cNvPr id="145" name="Google Shape;145;p6"/>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i="0" lang="ru-RU" sz="2000" u="none" cap="none" strike="noStrike">
                <a:solidFill>
                  <a:schemeClr val="lt1"/>
                </a:solidFill>
                <a:latin typeface="Courier New"/>
                <a:ea typeface="Courier New"/>
                <a:cs typeface="Courier New"/>
                <a:sym typeface="Courier New"/>
              </a:rPr>
              <a:t>Обработка больших данных. Л5</a:t>
            </a:r>
            <a:endParaRPr/>
          </a:p>
        </p:txBody>
      </p:sp>
      <p:grpSp>
        <p:nvGrpSpPr>
          <p:cNvPr id="146" name="Google Shape;146;p6"/>
          <p:cNvGrpSpPr/>
          <p:nvPr/>
        </p:nvGrpSpPr>
        <p:grpSpPr>
          <a:xfrm>
            <a:off x="242888" y="663576"/>
            <a:ext cx="9936162" cy="6423024"/>
            <a:chOff x="242888" y="663576"/>
            <a:chExt cx="9936162" cy="6423024"/>
          </a:xfrm>
        </p:grpSpPr>
        <p:grpSp>
          <p:nvGrpSpPr>
            <p:cNvPr id="147" name="Google Shape;147;p6"/>
            <p:cNvGrpSpPr/>
            <p:nvPr/>
          </p:nvGrpSpPr>
          <p:grpSpPr>
            <a:xfrm>
              <a:off x="1012825" y="663576"/>
              <a:ext cx="8070850" cy="5949950"/>
              <a:chOff x="1012825" y="663576"/>
              <a:chExt cx="8070850" cy="5949950"/>
            </a:xfrm>
          </p:grpSpPr>
          <p:sp>
            <p:nvSpPr>
              <p:cNvPr id="148" name="Google Shape;148;p6"/>
              <p:cNvSpPr/>
              <p:nvPr/>
            </p:nvSpPr>
            <p:spPr>
              <a:xfrm>
                <a:off x="1646238" y="1298149"/>
                <a:ext cx="7437437" cy="5315377"/>
              </a:xfrm>
              <a:custGeom>
                <a:rect b="b" l="l" r="r" t="t"/>
                <a:pathLst>
                  <a:path extrusionOk="0" h="120000" w="120000">
                    <a:moveTo>
                      <a:pt x="4013" y="60000"/>
                    </a:moveTo>
                    <a:lnTo>
                      <a:pt x="4013" y="60000"/>
                    </a:lnTo>
                    <a:cubicBezTo>
                      <a:pt x="4013" y="32911"/>
                      <a:pt x="24537" y="9952"/>
                      <a:pt x="52149" y="6153"/>
                    </a:cubicBezTo>
                    <a:lnTo>
                      <a:pt x="52186" y="539"/>
                    </a:lnTo>
                    <a:lnTo>
                      <a:pt x="60354" y="5838"/>
                    </a:lnTo>
                    <a:lnTo>
                      <a:pt x="52109" y="12212"/>
                    </a:lnTo>
                    <a:lnTo>
                      <a:pt x="52146" y="6598"/>
                    </a:lnTo>
                    <a:lnTo>
                      <a:pt x="52146" y="6598"/>
                    </a:lnTo>
                    <a:cubicBezTo>
                      <a:pt x="24711" y="10386"/>
                      <a:pt x="4330" y="33149"/>
                      <a:pt x="4330" y="6000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None/>
                </a:pPr>
                <a:r>
                  <a:rPr b="0" i="0" lang="ru-RU" sz="1200" u="none" cap="none" strike="noStrike">
                    <a:solidFill>
                      <a:schemeClr val="lt1"/>
                    </a:solidFill>
                    <a:latin typeface="Consolas"/>
                    <a:ea typeface="Consolas"/>
                    <a:cs typeface="Consolas"/>
                    <a:sym typeface="Consolas"/>
                  </a:rPr>
                  <a:t> </a:t>
                </a:r>
                <a:endParaRPr/>
              </a:p>
            </p:txBody>
          </p:sp>
          <p:sp>
            <p:nvSpPr>
              <p:cNvPr id="149" name="Google Shape;149;p6"/>
              <p:cNvSpPr/>
              <p:nvPr/>
            </p:nvSpPr>
            <p:spPr>
              <a:xfrm rot="10800000">
                <a:off x="1012825" y="663576"/>
                <a:ext cx="7435850" cy="5857875"/>
              </a:xfrm>
              <a:custGeom>
                <a:rect b="b" l="l" r="r" t="t"/>
                <a:pathLst>
                  <a:path extrusionOk="0" h="120000" w="120000">
                    <a:moveTo>
                      <a:pt x="4357" y="60000"/>
                    </a:moveTo>
                    <a:lnTo>
                      <a:pt x="4357" y="60000"/>
                    </a:lnTo>
                    <a:cubicBezTo>
                      <a:pt x="4357" y="33301"/>
                      <a:pt x="24126" y="10537"/>
                      <a:pt x="51046" y="6240"/>
                    </a:cubicBezTo>
                    <a:lnTo>
                      <a:pt x="51053" y="712"/>
                    </a:lnTo>
                    <a:lnTo>
                      <a:pt x="60077" y="5808"/>
                    </a:lnTo>
                    <a:lnTo>
                      <a:pt x="51037" y="12328"/>
                    </a:lnTo>
                    <a:lnTo>
                      <a:pt x="51045" y="6800"/>
                    </a:lnTo>
                    <a:lnTo>
                      <a:pt x="51045" y="6800"/>
                    </a:lnTo>
                    <a:cubicBezTo>
                      <a:pt x="24370" y="11082"/>
                      <a:pt x="4794" y="33600"/>
                      <a:pt x="4794" y="6000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None/>
                </a:pPr>
                <a:r>
                  <a:rPr b="0" i="0" lang="ru-RU" sz="1200" u="none" cap="none" strike="noStrike">
                    <a:solidFill>
                      <a:schemeClr val="lt1"/>
                    </a:solidFill>
                    <a:latin typeface="Consolas"/>
                    <a:ea typeface="Consolas"/>
                    <a:cs typeface="Consolas"/>
                    <a:sym typeface="Consolas"/>
                  </a:rPr>
                  <a:t> </a:t>
                </a:r>
                <a:endParaRPr/>
              </a:p>
            </p:txBody>
          </p:sp>
          <p:sp>
            <p:nvSpPr>
              <p:cNvPr id="150" name="Google Shape;150;p6"/>
              <p:cNvSpPr/>
              <p:nvPr/>
            </p:nvSpPr>
            <p:spPr>
              <a:xfrm rot="-5400000">
                <a:off x="2377506" y="359791"/>
                <a:ext cx="5390703" cy="6900863"/>
              </a:xfrm>
              <a:custGeom>
                <a:rect b="b" l="l" r="r" t="t"/>
                <a:pathLst>
                  <a:path extrusionOk="0" h="120000" w="120000">
                    <a:moveTo>
                      <a:pt x="5269" y="60000"/>
                    </a:moveTo>
                    <a:lnTo>
                      <a:pt x="5269" y="60000"/>
                    </a:lnTo>
                    <a:cubicBezTo>
                      <a:pt x="5269" y="34771"/>
                      <a:pt x="21823" y="12671"/>
                      <a:pt x="45669" y="6065"/>
                    </a:cubicBezTo>
                    <a:lnTo>
                      <a:pt x="45567" y="1960"/>
                    </a:lnTo>
                    <a:lnTo>
                      <a:pt x="58614" y="4315"/>
                    </a:lnTo>
                    <a:lnTo>
                      <a:pt x="45781" y="10552"/>
                    </a:lnTo>
                    <a:lnTo>
                      <a:pt x="45679" y="6447"/>
                    </a:lnTo>
                    <a:lnTo>
                      <a:pt x="45679" y="6447"/>
                    </a:lnTo>
                    <a:cubicBezTo>
                      <a:pt x="22090" y="13050"/>
                      <a:pt x="5733" y="34979"/>
                      <a:pt x="5733" y="6000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None/>
                </a:pPr>
                <a:r>
                  <a:rPr b="0" i="0" lang="ru-RU" sz="1200" u="none" cap="none" strike="noStrike">
                    <a:solidFill>
                      <a:schemeClr val="lt1"/>
                    </a:solidFill>
                    <a:latin typeface="Consolas"/>
                    <a:ea typeface="Consolas"/>
                    <a:cs typeface="Consolas"/>
                    <a:sym typeface="Consolas"/>
                  </a:rPr>
                  <a:t> </a:t>
                </a:r>
                <a:endParaRPr/>
              </a:p>
            </p:txBody>
          </p:sp>
        </p:grpSp>
        <p:grpSp>
          <p:nvGrpSpPr>
            <p:cNvPr id="151" name="Google Shape;151;p6"/>
            <p:cNvGrpSpPr/>
            <p:nvPr/>
          </p:nvGrpSpPr>
          <p:grpSpPr>
            <a:xfrm>
              <a:off x="242888" y="1298147"/>
              <a:ext cx="9936162" cy="5788453"/>
              <a:chOff x="242888" y="1298147"/>
              <a:chExt cx="9936162" cy="5788453"/>
            </a:xfrm>
          </p:grpSpPr>
          <p:sp>
            <p:nvSpPr>
              <p:cNvPr id="152" name="Google Shape;152;p6"/>
              <p:cNvSpPr txBox="1"/>
              <p:nvPr/>
            </p:nvSpPr>
            <p:spPr>
              <a:xfrm>
                <a:off x="242888" y="2676525"/>
                <a:ext cx="1728787" cy="58102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ru-RU" sz="1600" u="none" cap="none" strike="noStrike">
                    <a:solidFill>
                      <a:schemeClr val="dk1"/>
                    </a:solidFill>
                    <a:latin typeface="Arial"/>
                    <a:ea typeface="Arial"/>
                    <a:cs typeface="Arial"/>
                    <a:sym typeface="Arial"/>
                  </a:rPr>
                  <a:t>Постановка задачи</a:t>
                </a:r>
                <a:endParaRPr/>
              </a:p>
            </p:txBody>
          </p:sp>
          <p:sp>
            <p:nvSpPr>
              <p:cNvPr id="153" name="Google Shape;153;p6"/>
              <p:cNvSpPr txBox="1"/>
              <p:nvPr/>
            </p:nvSpPr>
            <p:spPr>
              <a:xfrm>
                <a:off x="8116888" y="2122488"/>
                <a:ext cx="1917700" cy="8255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ru-RU" sz="1600" u="none" cap="none" strike="noStrike">
                    <a:solidFill>
                      <a:schemeClr val="dk1"/>
                    </a:solidFill>
                    <a:latin typeface="Arial"/>
                    <a:ea typeface="Arial"/>
                    <a:cs typeface="Arial"/>
                    <a:sym typeface="Arial"/>
                  </a:rPr>
                  <a:t>Достаточно ли данных для решения задачи</a:t>
                </a:r>
                <a:endParaRPr/>
              </a:p>
            </p:txBody>
          </p:sp>
          <p:cxnSp>
            <p:nvCxnSpPr>
              <p:cNvPr id="154" name="Google Shape;154;p6"/>
              <p:cNvCxnSpPr/>
              <p:nvPr/>
            </p:nvCxnSpPr>
            <p:spPr>
              <a:xfrm flipH="1" rot="10800000">
                <a:off x="1898650" y="2482850"/>
                <a:ext cx="863600" cy="336550"/>
              </a:xfrm>
              <a:prstGeom prst="straightConnector1">
                <a:avLst/>
              </a:prstGeom>
              <a:noFill/>
              <a:ln cap="flat" cmpd="sng" w="28575">
                <a:solidFill>
                  <a:srgbClr val="FF5050"/>
                </a:solidFill>
                <a:prstDash val="solid"/>
                <a:round/>
                <a:headEnd len="med" w="med" type="none"/>
                <a:tailEnd len="lg" w="lg" type="stealth"/>
              </a:ln>
            </p:spPr>
          </p:cxnSp>
          <p:cxnSp>
            <p:nvCxnSpPr>
              <p:cNvPr id="155" name="Google Shape;155;p6"/>
              <p:cNvCxnSpPr/>
              <p:nvPr/>
            </p:nvCxnSpPr>
            <p:spPr>
              <a:xfrm flipH="1">
                <a:off x="7299325" y="2411413"/>
                <a:ext cx="792163" cy="1587"/>
              </a:xfrm>
              <a:prstGeom prst="straightConnector1">
                <a:avLst/>
              </a:prstGeom>
              <a:noFill/>
              <a:ln cap="flat" cmpd="sng" w="28575">
                <a:solidFill>
                  <a:srgbClr val="FF5050"/>
                </a:solidFill>
                <a:prstDash val="solid"/>
                <a:round/>
                <a:headEnd len="med" w="med" type="none"/>
                <a:tailEnd len="lg" w="lg" type="stealth"/>
              </a:ln>
            </p:spPr>
          </p:cxnSp>
          <p:sp>
            <p:nvSpPr>
              <p:cNvPr id="156" name="Google Shape;156;p6"/>
              <p:cNvSpPr/>
              <p:nvPr/>
            </p:nvSpPr>
            <p:spPr>
              <a:xfrm>
                <a:off x="4408488" y="3643313"/>
                <a:ext cx="1163638" cy="1128713"/>
              </a:xfrm>
              <a:prstGeom prst="flowChartMagneticDisk">
                <a:avLst/>
              </a:prstGeom>
              <a:solidFill>
                <a:schemeClr val="accent1"/>
              </a:solidFill>
              <a:ln cap="flat" cmpd="sng" w="25400">
                <a:solidFill>
                  <a:srgbClr val="384B91"/>
                </a:solidFill>
                <a:prstDash val="solid"/>
                <a:round/>
                <a:headEnd len="sm" w="sm" type="none"/>
                <a:tailEnd len="sm" w="sm" type="none"/>
              </a:ln>
            </p:spPr>
            <p:txBody>
              <a:bodyPr anchorCtr="0" anchor="ctr" bIns="42600" lIns="85225" spcFirstLastPara="1" rIns="85225" wrap="square" tIns="42600">
                <a:noAutofit/>
              </a:bodyPr>
              <a:lstStyle/>
              <a:p>
                <a:pPr indent="0" lvl="0" marL="0" marR="0" rtl="0" algn="ctr">
                  <a:lnSpc>
                    <a:spcPct val="115000"/>
                  </a:lnSpc>
                  <a:spcBef>
                    <a:spcPts val="0"/>
                  </a:spcBef>
                  <a:spcAft>
                    <a:spcPts val="0"/>
                  </a:spcAft>
                  <a:buNone/>
                </a:pPr>
                <a:r>
                  <a:rPr b="1" i="0" lang="ru-RU" sz="2400" u="none" cap="none" strike="noStrike">
                    <a:solidFill>
                      <a:srgbClr val="FFFFFF"/>
                    </a:solidFill>
                    <a:latin typeface="Consolas"/>
                    <a:ea typeface="Consolas"/>
                    <a:cs typeface="Consolas"/>
                    <a:sym typeface="Consolas"/>
                  </a:rPr>
                  <a:t>Data</a:t>
                </a:r>
                <a:endParaRPr b="1" i="0" sz="1400" u="none" cap="none" strike="noStrike">
                  <a:solidFill>
                    <a:srgbClr val="FFFFFF"/>
                  </a:solidFill>
                  <a:latin typeface="Consolas"/>
                  <a:ea typeface="Consolas"/>
                  <a:cs typeface="Consolas"/>
                  <a:sym typeface="Consolas"/>
                </a:endParaRPr>
              </a:p>
            </p:txBody>
          </p:sp>
          <p:sp>
            <p:nvSpPr>
              <p:cNvPr id="157" name="Google Shape;157;p6"/>
              <p:cNvSpPr/>
              <p:nvPr/>
            </p:nvSpPr>
            <p:spPr>
              <a:xfrm>
                <a:off x="2690813" y="2133600"/>
                <a:ext cx="1708150" cy="638175"/>
              </a:xfrm>
              <a:prstGeom prst="rect">
                <a:avLst/>
              </a:prstGeom>
              <a:solidFill>
                <a:schemeClr val="lt1">
                  <a:alpha val="49803"/>
                </a:schemeClr>
              </a:solidFill>
              <a:ln>
                <a:noFill/>
              </a:ln>
            </p:spPr>
            <p:txBody>
              <a:bodyPr anchorCtr="0" anchor="ctr" bIns="42600" lIns="85225" spcFirstLastPara="1" rIns="85225" wrap="square" tIns="42600">
                <a:noAutofit/>
              </a:bodyPr>
              <a:lstStyle/>
              <a:p>
                <a:pPr indent="0" lvl="0" marL="0" marR="0" rtl="0" algn="ctr">
                  <a:lnSpc>
                    <a:spcPct val="115000"/>
                  </a:lnSpc>
                  <a:spcBef>
                    <a:spcPts val="0"/>
                  </a:spcBef>
                  <a:spcAft>
                    <a:spcPts val="0"/>
                  </a:spcAft>
                  <a:buNone/>
                </a:pPr>
                <a:r>
                  <a:rPr b="1" i="0" lang="ru-RU" sz="1600" u="none" cap="none" strike="noStrike">
                    <a:solidFill>
                      <a:srgbClr val="000000"/>
                    </a:solidFill>
                    <a:latin typeface="Consolas"/>
                    <a:ea typeface="Consolas"/>
                    <a:cs typeface="Consolas"/>
                    <a:sym typeface="Consolas"/>
                  </a:rPr>
                  <a:t>BUSINESS UNDERSTANDING</a:t>
                </a:r>
                <a:endParaRPr b="1" i="0" sz="1600" u="none" cap="none" strike="noStrike">
                  <a:solidFill>
                    <a:srgbClr val="FFFFFF"/>
                  </a:solidFill>
                  <a:latin typeface="Consolas"/>
                  <a:ea typeface="Consolas"/>
                  <a:cs typeface="Consolas"/>
                  <a:sym typeface="Consolas"/>
                </a:endParaRPr>
              </a:p>
            </p:txBody>
          </p:sp>
          <p:sp>
            <p:nvSpPr>
              <p:cNvPr id="158" name="Google Shape;158;p6"/>
              <p:cNvSpPr/>
              <p:nvPr/>
            </p:nvSpPr>
            <p:spPr>
              <a:xfrm>
                <a:off x="5616575" y="2130425"/>
                <a:ext cx="1754188" cy="496888"/>
              </a:xfrm>
              <a:prstGeom prst="rect">
                <a:avLst/>
              </a:prstGeom>
              <a:solidFill>
                <a:schemeClr val="lt1">
                  <a:alpha val="49803"/>
                </a:schemeClr>
              </a:solidFill>
              <a:ln>
                <a:noFill/>
              </a:ln>
            </p:spPr>
            <p:txBody>
              <a:bodyPr anchorCtr="0" anchor="ctr" bIns="42600" lIns="85225" spcFirstLastPara="1" rIns="85225" wrap="square" tIns="42600">
                <a:noAutofit/>
              </a:bodyPr>
              <a:lstStyle/>
              <a:p>
                <a:pPr indent="0" lvl="0" marL="0" marR="0" rtl="0" algn="ctr">
                  <a:lnSpc>
                    <a:spcPct val="115000"/>
                  </a:lnSpc>
                  <a:spcBef>
                    <a:spcPts val="0"/>
                  </a:spcBef>
                  <a:spcAft>
                    <a:spcPts val="0"/>
                  </a:spcAft>
                  <a:buNone/>
                </a:pPr>
                <a:r>
                  <a:rPr b="1" i="0" lang="ru-RU" sz="1600" u="none" cap="none" strike="noStrike">
                    <a:solidFill>
                      <a:srgbClr val="000000"/>
                    </a:solidFill>
                    <a:latin typeface="Consolas"/>
                    <a:ea typeface="Consolas"/>
                    <a:cs typeface="Consolas"/>
                    <a:sym typeface="Consolas"/>
                  </a:rPr>
                  <a:t>DATA UNDERSTANDING</a:t>
                </a:r>
                <a:endParaRPr b="1" i="0" sz="1600" u="none" cap="none" strike="noStrike">
                  <a:solidFill>
                    <a:srgbClr val="FFFFFF"/>
                  </a:solidFill>
                  <a:latin typeface="Consolas"/>
                  <a:ea typeface="Consolas"/>
                  <a:cs typeface="Consolas"/>
                  <a:sym typeface="Consolas"/>
                </a:endParaRPr>
              </a:p>
            </p:txBody>
          </p:sp>
          <p:sp>
            <p:nvSpPr>
              <p:cNvPr id="159" name="Google Shape;159;p6"/>
              <p:cNvSpPr/>
              <p:nvPr/>
            </p:nvSpPr>
            <p:spPr>
              <a:xfrm>
                <a:off x="6272213" y="3240088"/>
                <a:ext cx="1470025" cy="512763"/>
              </a:xfrm>
              <a:prstGeom prst="rect">
                <a:avLst/>
              </a:prstGeom>
              <a:solidFill>
                <a:schemeClr val="lt1">
                  <a:alpha val="49803"/>
                </a:schemeClr>
              </a:solidFill>
              <a:ln>
                <a:noFill/>
              </a:ln>
            </p:spPr>
            <p:txBody>
              <a:bodyPr anchorCtr="0" anchor="ctr" bIns="42600" lIns="85225" spcFirstLastPara="1" rIns="85225" wrap="square" tIns="42600">
                <a:noAutofit/>
              </a:bodyPr>
              <a:lstStyle/>
              <a:p>
                <a:pPr indent="0" lvl="0" marL="0" marR="0" rtl="0" algn="ctr">
                  <a:lnSpc>
                    <a:spcPct val="115000"/>
                  </a:lnSpc>
                  <a:spcBef>
                    <a:spcPts val="0"/>
                  </a:spcBef>
                  <a:spcAft>
                    <a:spcPts val="0"/>
                  </a:spcAft>
                  <a:buNone/>
                </a:pPr>
                <a:r>
                  <a:rPr b="1" i="0" lang="ru-RU" sz="1600" u="none" cap="none" strike="noStrike">
                    <a:solidFill>
                      <a:srgbClr val="000000"/>
                    </a:solidFill>
                    <a:latin typeface="Consolas"/>
                    <a:ea typeface="Consolas"/>
                    <a:cs typeface="Consolas"/>
                    <a:sym typeface="Consolas"/>
                  </a:rPr>
                  <a:t>DATA PREPARATION</a:t>
                </a:r>
                <a:endParaRPr b="1" i="0" sz="1600" u="none" cap="none" strike="noStrike">
                  <a:solidFill>
                    <a:srgbClr val="FFFFFF"/>
                  </a:solidFill>
                  <a:latin typeface="Consolas"/>
                  <a:ea typeface="Consolas"/>
                  <a:cs typeface="Consolas"/>
                  <a:sym typeface="Consolas"/>
                </a:endParaRPr>
              </a:p>
            </p:txBody>
          </p:sp>
          <p:sp>
            <p:nvSpPr>
              <p:cNvPr id="160" name="Google Shape;160;p6"/>
              <p:cNvSpPr/>
              <p:nvPr/>
            </p:nvSpPr>
            <p:spPr>
              <a:xfrm>
                <a:off x="6272213" y="4279900"/>
                <a:ext cx="1751013" cy="514350"/>
              </a:xfrm>
              <a:prstGeom prst="rect">
                <a:avLst/>
              </a:prstGeom>
              <a:solidFill>
                <a:schemeClr val="lt1">
                  <a:alpha val="49803"/>
                </a:schemeClr>
              </a:solidFill>
              <a:ln>
                <a:noFill/>
              </a:ln>
            </p:spPr>
            <p:txBody>
              <a:bodyPr anchorCtr="0" anchor="ctr" bIns="42600" lIns="85225" spcFirstLastPara="1" rIns="85225" wrap="square" tIns="42600">
                <a:noAutofit/>
              </a:bodyPr>
              <a:lstStyle/>
              <a:p>
                <a:pPr indent="0" lvl="0" marL="0" marR="0" rtl="0" algn="ctr">
                  <a:lnSpc>
                    <a:spcPct val="115000"/>
                  </a:lnSpc>
                  <a:spcBef>
                    <a:spcPts val="0"/>
                  </a:spcBef>
                  <a:spcAft>
                    <a:spcPts val="0"/>
                  </a:spcAft>
                  <a:buNone/>
                </a:pPr>
                <a:r>
                  <a:rPr b="1" i="0" lang="ru-RU" sz="1600" u="none" cap="none" strike="noStrike">
                    <a:solidFill>
                      <a:srgbClr val="000000"/>
                    </a:solidFill>
                    <a:latin typeface="Consolas"/>
                    <a:ea typeface="Consolas"/>
                    <a:cs typeface="Consolas"/>
                    <a:sym typeface="Consolas"/>
                  </a:rPr>
                  <a:t>MODELING-моделирование</a:t>
                </a:r>
                <a:endParaRPr b="1" i="0" sz="1600" u="none" cap="none" strike="noStrike">
                  <a:solidFill>
                    <a:srgbClr val="FFFFFF"/>
                  </a:solidFill>
                  <a:latin typeface="Consolas"/>
                  <a:ea typeface="Consolas"/>
                  <a:cs typeface="Consolas"/>
                  <a:sym typeface="Consolas"/>
                </a:endParaRPr>
              </a:p>
            </p:txBody>
          </p:sp>
          <p:sp>
            <p:nvSpPr>
              <p:cNvPr id="161" name="Google Shape;161;p6"/>
              <p:cNvSpPr/>
              <p:nvPr/>
            </p:nvSpPr>
            <p:spPr>
              <a:xfrm>
                <a:off x="4346575" y="5362575"/>
                <a:ext cx="1470025" cy="514350"/>
              </a:xfrm>
              <a:prstGeom prst="rect">
                <a:avLst/>
              </a:prstGeom>
              <a:solidFill>
                <a:schemeClr val="lt1">
                  <a:alpha val="49803"/>
                </a:schemeClr>
              </a:solidFill>
              <a:ln>
                <a:noFill/>
              </a:ln>
            </p:spPr>
            <p:txBody>
              <a:bodyPr anchorCtr="0" anchor="ctr" bIns="42600" lIns="85225" spcFirstLastPara="1" rIns="85225" wrap="square" tIns="42600">
                <a:noAutofit/>
              </a:bodyPr>
              <a:lstStyle/>
              <a:p>
                <a:pPr indent="0" lvl="0" marL="0" marR="0" rtl="0" algn="ctr">
                  <a:lnSpc>
                    <a:spcPct val="115000"/>
                  </a:lnSpc>
                  <a:spcBef>
                    <a:spcPts val="0"/>
                  </a:spcBef>
                  <a:spcAft>
                    <a:spcPts val="0"/>
                  </a:spcAft>
                  <a:buNone/>
                </a:pPr>
                <a:r>
                  <a:rPr b="1" i="0" lang="ru-RU" sz="1600" u="none" cap="none" strike="noStrike">
                    <a:solidFill>
                      <a:srgbClr val="000000"/>
                    </a:solidFill>
                    <a:latin typeface="Consolas"/>
                    <a:ea typeface="Consolas"/>
                    <a:cs typeface="Consolas"/>
                    <a:sym typeface="Consolas"/>
                  </a:rPr>
                  <a:t>EVALUATION -оценка</a:t>
                </a:r>
                <a:endParaRPr b="1" i="0" sz="1600" u="none" cap="none" strike="noStrike">
                  <a:solidFill>
                    <a:srgbClr val="FFFFFF"/>
                  </a:solidFill>
                  <a:latin typeface="Consolas"/>
                  <a:ea typeface="Consolas"/>
                  <a:cs typeface="Consolas"/>
                  <a:sym typeface="Consolas"/>
                </a:endParaRPr>
              </a:p>
            </p:txBody>
          </p:sp>
          <p:sp>
            <p:nvSpPr>
              <p:cNvPr id="162" name="Google Shape;162;p6"/>
              <p:cNvSpPr/>
              <p:nvPr/>
            </p:nvSpPr>
            <p:spPr>
              <a:xfrm>
                <a:off x="2297113" y="3717925"/>
                <a:ext cx="1470025" cy="514350"/>
              </a:xfrm>
              <a:prstGeom prst="rect">
                <a:avLst/>
              </a:prstGeom>
              <a:solidFill>
                <a:schemeClr val="lt1">
                  <a:alpha val="49803"/>
                </a:schemeClr>
              </a:solidFill>
              <a:ln>
                <a:noFill/>
              </a:ln>
            </p:spPr>
            <p:txBody>
              <a:bodyPr anchorCtr="0" anchor="ctr" bIns="42600" lIns="85225" spcFirstLastPara="1" rIns="85225" wrap="square" tIns="42600">
                <a:noAutofit/>
              </a:bodyPr>
              <a:lstStyle/>
              <a:p>
                <a:pPr indent="0" lvl="0" marL="0" marR="0" rtl="0" algn="ctr">
                  <a:lnSpc>
                    <a:spcPct val="115000"/>
                  </a:lnSpc>
                  <a:spcBef>
                    <a:spcPts val="0"/>
                  </a:spcBef>
                  <a:spcAft>
                    <a:spcPts val="0"/>
                  </a:spcAft>
                  <a:buNone/>
                </a:pPr>
                <a:r>
                  <a:rPr b="1" i="0" lang="ru-RU" sz="1600" u="none" cap="none" strike="noStrike">
                    <a:solidFill>
                      <a:srgbClr val="000000"/>
                    </a:solidFill>
                    <a:latin typeface="Consolas"/>
                    <a:ea typeface="Consolas"/>
                    <a:cs typeface="Consolas"/>
                    <a:sym typeface="Consolas"/>
                  </a:rPr>
                  <a:t>DEPLOYMENT - внедрение</a:t>
                </a:r>
                <a:endParaRPr b="1" i="0" sz="1600" u="none" cap="none" strike="noStrike">
                  <a:solidFill>
                    <a:srgbClr val="FFFFFF"/>
                  </a:solidFill>
                  <a:latin typeface="Consolas"/>
                  <a:ea typeface="Consolas"/>
                  <a:cs typeface="Consolas"/>
                  <a:sym typeface="Consolas"/>
                </a:endParaRPr>
              </a:p>
            </p:txBody>
          </p:sp>
          <p:cxnSp>
            <p:nvCxnSpPr>
              <p:cNvPr id="163" name="Google Shape;163;p6"/>
              <p:cNvCxnSpPr/>
              <p:nvPr/>
            </p:nvCxnSpPr>
            <p:spPr>
              <a:xfrm>
                <a:off x="4430713" y="2220913"/>
                <a:ext cx="1163638" cy="69850"/>
              </a:xfrm>
              <a:prstGeom prst="straightConnector1">
                <a:avLst/>
              </a:prstGeom>
              <a:noFill/>
              <a:ln cap="flat" cmpd="sng" w="38100">
                <a:solidFill>
                  <a:schemeClr val="lt2"/>
                </a:solidFill>
                <a:prstDash val="solid"/>
                <a:round/>
                <a:headEnd len="med" w="med" type="none"/>
                <a:tailEnd len="med" w="med" type="stealth"/>
              </a:ln>
            </p:spPr>
          </p:cxnSp>
          <p:cxnSp>
            <p:nvCxnSpPr>
              <p:cNvPr id="164" name="Google Shape;164;p6"/>
              <p:cNvCxnSpPr>
                <a:stCxn id="158" idx="1"/>
                <a:endCxn id="157" idx="3"/>
              </p:cNvCxnSpPr>
              <p:nvPr/>
            </p:nvCxnSpPr>
            <p:spPr>
              <a:xfrm flipH="1">
                <a:off x="4398875" y="2378869"/>
                <a:ext cx="1217700" cy="73800"/>
              </a:xfrm>
              <a:prstGeom prst="straightConnector1">
                <a:avLst/>
              </a:prstGeom>
              <a:noFill/>
              <a:ln cap="flat" cmpd="sng" w="38100">
                <a:solidFill>
                  <a:schemeClr val="lt2"/>
                </a:solidFill>
                <a:prstDash val="solid"/>
                <a:round/>
                <a:headEnd len="med" w="med" type="none"/>
                <a:tailEnd len="med" w="med" type="stealth"/>
              </a:ln>
            </p:spPr>
          </p:cxnSp>
          <p:cxnSp>
            <p:nvCxnSpPr>
              <p:cNvPr id="165" name="Google Shape;165;p6"/>
              <p:cNvCxnSpPr>
                <a:endCxn id="159" idx="0"/>
              </p:cNvCxnSpPr>
              <p:nvPr/>
            </p:nvCxnSpPr>
            <p:spPr>
              <a:xfrm>
                <a:off x="6391326" y="2697088"/>
                <a:ext cx="615900" cy="543000"/>
              </a:xfrm>
              <a:prstGeom prst="curvedConnector2">
                <a:avLst/>
              </a:prstGeom>
              <a:noFill/>
              <a:ln cap="flat" cmpd="sng" w="38100">
                <a:solidFill>
                  <a:schemeClr val="lt2"/>
                </a:solidFill>
                <a:prstDash val="solid"/>
                <a:round/>
                <a:headEnd len="med" w="med" type="none"/>
                <a:tailEnd len="med" w="med" type="stealth"/>
              </a:ln>
            </p:spPr>
          </p:cxnSp>
          <p:cxnSp>
            <p:nvCxnSpPr>
              <p:cNvPr id="166" name="Google Shape;166;p6"/>
              <p:cNvCxnSpPr/>
              <p:nvPr/>
            </p:nvCxnSpPr>
            <p:spPr>
              <a:xfrm>
                <a:off x="6802438" y="3802063"/>
                <a:ext cx="69850" cy="434975"/>
              </a:xfrm>
              <a:prstGeom prst="straightConnector1">
                <a:avLst/>
              </a:prstGeom>
              <a:noFill/>
              <a:ln cap="flat" cmpd="sng" w="38100">
                <a:solidFill>
                  <a:schemeClr val="lt2"/>
                </a:solidFill>
                <a:prstDash val="solid"/>
                <a:round/>
                <a:headEnd len="med" w="med" type="none"/>
                <a:tailEnd len="med" w="med" type="stealth"/>
              </a:ln>
            </p:spPr>
          </p:cxnSp>
          <p:cxnSp>
            <p:nvCxnSpPr>
              <p:cNvPr id="167" name="Google Shape;167;p6"/>
              <p:cNvCxnSpPr/>
              <p:nvPr/>
            </p:nvCxnSpPr>
            <p:spPr>
              <a:xfrm flipH="1" rot="10800000">
                <a:off x="7089775" y="3803650"/>
                <a:ext cx="69850" cy="434975"/>
              </a:xfrm>
              <a:prstGeom prst="straightConnector1">
                <a:avLst/>
              </a:prstGeom>
              <a:noFill/>
              <a:ln cap="flat" cmpd="sng" w="38100">
                <a:solidFill>
                  <a:schemeClr val="lt2"/>
                </a:solidFill>
                <a:prstDash val="solid"/>
                <a:round/>
                <a:headEnd len="med" w="med" type="none"/>
                <a:tailEnd len="med" w="med" type="stealth"/>
              </a:ln>
            </p:spPr>
          </p:cxnSp>
          <p:cxnSp>
            <p:nvCxnSpPr>
              <p:cNvPr id="168" name="Google Shape;168;p6"/>
              <p:cNvCxnSpPr>
                <a:stCxn id="160" idx="2"/>
                <a:endCxn id="161" idx="3"/>
              </p:cNvCxnSpPr>
              <p:nvPr/>
            </p:nvCxnSpPr>
            <p:spPr>
              <a:xfrm rot="5400000">
                <a:off x="6069370" y="4541500"/>
                <a:ext cx="825600" cy="1331100"/>
              </a:xfrm>
              <a:prstGeom prst="curvedConnector2">
                <a:avLst/>
              </a:prstGeom>
              <a:noFill/>
              <a:ln cap="flat" cmpd="sng" w="38100">
                <a:solidFill>
                  <a:schemeClr val="lt2"/>
                </a:solidFill>
                <a:prstDash val="solid"/>
                <a:round/>
                <a:headEnd len="med" w="med" type="none"/>
                <a:tailEnd len="med" w="med" type="stealth"/>
              </a:ln>
            </p:spPr>
          </p:cxnSp>
          <p:cxnSp>
            <p:nvCxnSpPr>
              <p:cNvPr id="169" name="Google Shape;169;p6"/>
              <p:cNvCxnSpPr>
                <a:stCxn id="161" idx="1"/>
                <a:endCxn id="162" idx="2"/>
              </p:cNvCxnSpPr>
              <p:nvPr/>
            </p:nvCxnSpPr>
            <p:spPr>
              <a:xfrm rot="10800000">
                <a:off x="3032275" y="4232250"/>
                <a:ext cx="1314300" cy="1387500"/>
              </a:xfrm>
              <a:prstGeom prst="curvedConnector2">
                <a:avLst/>
              </a:prstGeom>
              <a:noFill/>
              <a:ln cap="flat" cmpd="sng" w="38100">
                <a:solidFill>
                  <a:schemeClr val="lt2"/>
                </a:solidFill>
                <a:prstDash val="solid"/>
                <a:round/>
                <a:headEnd len="med" w="med" type="none"/>
                <a:tailEnd len="med" w="med" type="stealth"/>
              </a:ln>
            </p:spPr>
          </p:cxnSp>
          <p:sp>
            <p:nvSpPr>
              <p:cNvPr id="170" name="Google Shape;170;p6"/>
              <p:cNvSpPr/>
              <p:nvPr/>
            </p:nvSpPr>
            <p:spPr>
              <a:xfrm rot="5400000">
                <a:off x="2110368" y="741942"/>
                <a:ext cx="5788453" cy="6900863"/>
              </a:xfrm>
              <a:custGeom>
                <a:rect b="b" l="l" r="r" t="t"/>
                <a:pathLst>
                  <a:path extrusionOk="0" h="120000" w="120000">
                    <a:moveTo>
                      <a:pt x="5193" y="60000"/>
                    </a:moveTo>
                    <a:lnTo>
                      <a:pt x="5193" y="60000"/>
                    </a:lnTo>
                    <a:cubicBezTo>
                      <a:pt x="5193" y="34409"/>
                      <a:pt x="22386" y="12117"/>
                      <a:pt x="46857" y="5980"/>
                    </a:cubicBezTo>
                    <a:lnTo>
                      <a:pt x="46956" y="1634"/>
                    </a:lnTo>
                    <a:lnTo>
                      <a:pt x="61267" y="4557"/>
                    </a:lnTo>
                    <a:lnTo>
                      <a:pt x="46748" y="10715"/>
                    </a:lnTo>
                    <a:lnTo>
                      <a:pt x="46848" y="6369"/>
                    </a:lnTo>
                    <a:lnTo>
                      <a:pt x="46848" y="6369"/>
                    </a:lnTo>
                    <a:cubicBezTo>
                      <a:pt x="22630" y="12508"/>
                      <a:pt x="5636" y="34624"/>
                      <a:pt x="5636" y="6000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None/>
                </a:pPr>
                <a:r>
                  <a:rPr b="0" i="0" lang="ru-RU" sz="1200" u="none" cap="none" strike="noStrike">
                    <a:solidFill>
                      <a:schemeClr val="lt1"/>
                    </a:solidFill>
                    <a:latin typeface="Consolas"/>
                    <a:ea typeface="Consolas"/>
                    <a:cs typeface="Consolas"/>
                    <a:sym typeface="Consolas"/>
                  </a:rPr>
                  <a:t> </a:t>
                </a:r>
                <a:endParaRPr/>
              </a:p>
            </p:txBody>
          </p:sp>
          <p:sp>
            <p:nvSpPr>
              <p:cNvPr id="171" name="Google Shape;171;p6"/>
              <p:cNvSpPr/>
              <p:nvPr/>
            </p:nvSpPr>
            <p:spPr>
              <a:xfrm>
                <a:off x="4346575" y="2698750"/>
                <a:ext cx="1668463" cy="2663825"/>
              </a:xfrm>
              <a:custGeom>
                <a:rect b="b" l="l" r="r" t="t"/>
                <a:pathLst>
                  <a:path extrusionOk="0" h="1678" w="1051">
                    <a:moveTo>
                      <a:pt x="726" y="1678"/>
                    </a:moveTo>
                    <a:cubicBezTo>
                      <a:pt x="888" y="1394"/>
                      <a:pt x="1051" y="1111"/>
                      <a:pt x="1043" y="862"/>
                    </a:cubicBezTo>
                    <a:cubicBezTo>
                      <a:pt x="1035" y="613"/>
                      <a:pt x="854" y="326"/>
                      <a:pt x="680" y="182"/>
                    </a:cubicBezTo>
                    <a:cubicBezTo>
                      <a:pt x="506" y="38"/>
                      <a:pt x="253" y="19"/>
                      <a:pt x="0" y="0"/>
                    </a:cubicBezTo>
                  </a:path>
                </a:pathLst>
              </a:custGeom>
              <a:noFill/>
              <a:ln cap="flat" cmpd="sng" w="38100">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172" name="Google Shape;172;p6"/>
              <p:cNvSpPr txBox="1"/>
              <p:nvPr/>
            </p:nvSpPr>
            <p:spPr>
              <a:xfrm>
                <a:off x="8091488" y="3922713"/>
                <a:ext cx="2087562" cy="8255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ru-RU" sz="1600" u="none">
                    <a:solidFill>
                      <a:schemeClr val="dk1"/>
                    </a:solidFill>
                    <a:latin typeface="Arial"/>
                    <a:ea typeface="Arial"/>
                    <a:cs typeface="Arial"/>
                    <a:sym typeface="Arial"/>
                  </a:rPr>
                  <a:t>Процесс предварительной обработки</a:t>
                </a:r>
                <a:endParaRPr/>
              </a:p>
            </p:txBody>
          </p:sp>
          <p:cxnSp>
            <p:nvCxnSpPr>
              <p:cNvPr id="173" name="Google Shape;173;p6"/>
              <p:cNvCxnSpPr/>
              <p:nvPr/>
            </p:nvCxnSpPr>
            <p:spPr>
              <a:xfrm rot="10800000">
                <a:off x="7370763" y="3779838"/>
                <a:ext cx="720725" cy="358775"/>
              </a:xfrm>
              <a:prstGeom prst="straightConnector1">
                <a:avLst/>
              </a:prstGeom>
              <a:noFill/>
              <a:ln cap="flat" cmpd="sng" w="28575">
                <a:solidFill>
                  <a:srgbClr val="FF5050"/>
                </a:solidFill>
                <a:prstDash val="solid"/>
                <a:round/>
                <a:headEnd len="med" w="med" type="none"/>
                <a:tailEnd len="lg" w="lg" type="stealth"/>
              </a:ln>
            </p:spPr>
          </p:cxnSp>
          <p:sp>
            <p:nvSpPr>
              <p:cNvPr id="174" name="Google Shape;174;p6"/>
              <p:cNvSpPr txBox="1"/>
              <p:nvPr/>
            </p:nvSpPr>
            <p:spPr>
              <a:xfrm>
                <a:off x="7443788" y="5362575"/>
                <a:ext cx="2087562" cy="8255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ru-RU" sz="1600" u="none">
                    <a:solidFill>
                      <a:schemeClr val="dk1"/>
                    </a:solidFill>
                    <a:latin typeface="Arial"/>
                    <a:ea typeface="Arial"/>
                    <a:cs typeface="Arial"/>
                    <a:sym typeface="Arial"/>
                  </a:rPr>
                  <a:t>Проверка гипотез в процессе моделирования</a:t>
                </a:r>
                <a:endParaRPr/>
              </a:p>
            </p:txBody>
          </p:sp>
          <p:cxnSp>
            <p:nvCxnSpPr>
              <p:cNvPr id="175" name="Google Shape;175;p6"/>
              <p:cNvCxnSpPr/>
              <p:nvPr/>
            </p:nvCxnSpPr>
            <p:spPr>
              <a:xfrm rot="10800000">
                <a:off x="7083425" y="4787900"/>
                <a:ext cx="792163" cy="574675"/>
              </a:xfrm>
              <a:prstGeom prst="straightConnector1">
                <a:avLst/>
              </a:prstGeom>
              <a:noFill/>
              <a:ln cap="flat" cmpd="sng" w="28575">
                <a:solidFill>
                  <a:srgbClr val="FF5050"/>
                </a:solidFill>
                <a:prstDash val="solid"/>
                <a:round/>
                <a:headEnd len="med" w="med" type="none"/>
                <a:tailEnd len="lg" w="lg" type="stealth"/>
              </a:ln>
            </p:spPr>
          </p:cxnSp>
          <p:sp>
            <p:nvSpPr>
              <p:cNvPr id="176" name="Google Shape;176;p6"/>
              <p:cNvSpPr txBox="1"/>
              <p:nvPr/>
            </p:nvSpPr>
            <p:spPr>
              <a:xfrm>
                <a:off x="746125" y="5834063"/>
                <a:ext cx="2520950" cy="8255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ru-RU" sz="1600" u="none">
                    <a:solidFill>
                      <a:schemeClr val="dk1"/>
                    </a:solidFill>
                    <a:latin typeface="Arial"/>
                    <a:ea typeface="Arial"/>
                    <a:cs typeface="Arial"/>
                    <a:sym typeface="Arial"/>
                  </a:rPr>
                  <a:t>Заказчик помогает определить ценность полученных данных</a:t>
                </a:r>
                <a:endParaRPr/>
              </a:p>
            </p:txBody>
          </p:sp>
          <p:cxnSp>
            <p:nvCxnSpPr>
              <p:cNvPr id="177" name="Google Shape;177;p6"/>
              <p:cNvCxnSpPr/>
              <p:nvPr/>
            </p:nvCxnSpPr>
            <p:spPr>
              <a:xfrm flipH="1" rot="10800000">
                <a:off x="3267075" y="5580063"/>
                <a:ext cx="1150938" cy="719137"/>
              </a:xfrm>
              <a:prstGeom prst="straightConnector1">
                <a:avLst/>
              </a:prstGeom>
              <a:noFill/>
              <a:ln cap="flat" cmpd="sng" w="28575">
                <a:solidFill>
                  <a:srgbClr val="FF5050"/>
                </a:solidFill>
                <a:prstDash val="solid"/>
                <a:round/>
                <a:headEnd len="med" w="med" type="none"/>
                <a:tailEnd len="lg" w="lg" type="stealth"/>
              </a:ln>
            </p:spPr>
          </p:cxnSp>
          <p:sp>
            <p:nvSpPr>
              <p:cNvPr id="178" name="Google Shape;178;p6"/>
              <p:cNvSpPr txBox="1"/>
              <p:nvPr/>
            </p:nvSpPr>
            <p:spPr>
              <a:xfrm>
                <a:off x="242888" y="4572000"/>
                <a:ext cx="1800225" cy="1069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ru-RU" sz="1600" u="none">
                    <a:solidFill>
                      <a:schemeClr val="dk1"/>
                    </a:solidFill>
                    <a:latin typeface="Arial"/>
                    <a:ea typeface="Arial"/>
                    <a:cs typeface="Arial"/>
                    <a:sym typeface="Arial"/>
                  </a:rPr>
                  <a:t>Внедрение автоматизации принятия решений</a:t>
                </a:r>
                <a:endParaRPr/>
              </a:p>
            </p:txBody>
          </p:sp>
          <p:cxnSp>
            <p:nvCxnSpPr>
              <p:cNvPr id="179" name="Google Shape;179;p6"/>
              <p:cNvCxnSpPr/>
              <p:nvPr/>
            </p:nvCxnSpPr>
            <p:spPr>
              <a:xfrm flipH="1" rot="10800000">
                <a:off x="1609725" y="4067175"/>
                <a:ext cx="720725" cy="504825"/>
              </a:xfrm>
              <a:prstGeom prst="straightConnector1">
                <a:avLst/>
              </a:prstGeom>
              <a:noFill/>
              <a:ln cap="flat" cmpd="sng" w="28575">
                <a:solidFill>
                  <a:srgbClr val="FF5050"/>
                </a:solidFill>
                <a:prstDash val="solid"/>
                <a:round/>
                <a:headEnd len="med" w="med" type="none"/>
                <a:tailEnd len="lg" w="lg" type="stealth"/>
              </a:ln>
            </p:spPr>
          </p:cxnSp>
          <p:sp>
            <p:nvSpPr>
              <p:cNvPr id="180" name="Google Shape;180;p6"/>
              <p:cNvSpPr/>
              <p:nvPr/>
            </p:nvSpPr>
            <p:spPr>
              <a:xfrm>
                <a:off x="680244" y="2060690"/>
                <a:ext cx="633413" cy="566738"/>
              </a:xfrm>
              <a:prstGeom prst="downArrow">
                <a:avLst>
                  <a:gd fmla="val 50000" name="adj1"/>
                  <a:gd fmla="val 50000" name="adj2"/>
                </a:avLst>
              </a:prstGeom>
              <a:solidFill>
                <a:srgbClr val="FF0000"/>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grpSp>
      </p:grpSp>
      <p:sp>
        <p:nvSpPr>
          <p:cNvPr id="181" name="Google Shape;181;p6"/>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grpSp>
        <p:nvGrpSpPr>
          <p:cNvPr id="188" name="Google Shape;188;p7"/>
          <p:cNvGrpSpPr/>
          <p:nvPr/>
        </p:nvGrpSpPr>
        <p:grpSpPr>
          <a:xfrm>
            <a:off x="242888" y="179388"/>
            <a:ext cx="9791700" cy="6696075"/>
            <a:chOff x="153" y="113"/>
            <a:chExt cx="6168" cy="4218"/>
          </a:xfrm>
        </p:grpSpPr>
        <p:sp>
          <p:nvSpPr>
            <p:cNvPr id="189" name="Google Shape;189;p7"/>
            <p:cNvSpPr/>
            <p:nvPr/>
          </p:nvSpPr>
          <p:spPr>
            <a:xfrm>
              <a:off x="153" y="113"/>
              <a:ext cx="6168" cy="4218"/>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90" name="Google Shape;190;p7"/>
            <p:cNvSpPr/>
            <p:nvPr/>
          </p:nvSpPr>
          <p:spPr>
            <a:xfrm>
              <a:off x="561" y="249"/>
              <a:ext cx="5261" cy="544"/>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91" name="Google Shape;191;p7"/>
            <p:cNvSpPr/>
            <p:nvPr/>
          </p:nvSpPr>
          <p:spPr>
            <a:xfrm>
              <a:off x="244" y="929"/>
              <a:ext cx="5941" cy="3311"/>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grpSp>
      <p:sp>
        <p:nvSpPr>
          <p:cNvPr id="192" name="Google Shape;192;p7"/>
          <p:cNvSpPr txBox="1"/>
          <p:nvPr>
            <p:ph idx="4294967295" type="title"/>
          </p:nvPr>
        </p:nvSpPr>
        <p:spPr>
          <a:xfrm>
            <a:off x="0" y="407988"/>
            <a:ext cx="8351838" cy="850900"/>
          </a:xfrm>
          <a:prstGeom prst="rect">
            <a:avLst/>
          </a:prstGeom>
          <a:noFill/>
          <a:ln>
            <a:noFill/>
          </a:ln>
        </p:spPr>
        <p:txBody>
          <a:bodyPr anchorCtr="0" anchor="ctr" bIns="49700" lIns="99425" spcFirstLastPara="1" rIns="99425" wrap="square" tIns="49700">
            <a:normAutofit/>
          </a:bodyPr>
          <a:lstStyle/>
          <a:p>
            <a:pPr indent="0" lvl="0" marL="0" rtl="0" algn="ctr">
              <a:spcBef>
                <a:spcPts val="0"/>
              </a:spcBef>
              <a:spcAft>
                <a:spcPts val="0"/>
              </a:spcAft>
              <a:buClr>
                <a:schemeClr val="dk1"/>
              </a:buClr>
              <a:buSzPts val="2800"/>
              <a:buFont typeface="Calibri"/>
              <a:buNone/>
            </a:pPr>
            <a:r>
              <a:rPr b="1" lang="ru-RU" sz="2800"/>
              <a:t>Этапы построения модели анализа данных</a:t>
            </a:r>
            <a:endParaRPr/>
          </a:p>
        </p:txBody>
      </p:sp>
      <p:sp>
        <p:nvSpPr>
          <p:cNvPr id="193" name="Google Shape;193;p7"/>
          <p:cNvSpPr txBox="1"/>
          <p:nvPr>
            <p:ph idx="4294967295" type="body"/>
          </p:nvPr>
        </p:nvSpPr>
        <p:spPr>
          <a:xfrm>
            <a:off x="846138" y="2023988"/>
            <a:ext cx="8440738" cy="3268663"/>
          </a:xfrm>
          <a:prstGeom prst="rect">
            <a:avLst/>
          </a:prstGeom>
          <a:solidFill>
            <a:srgbClr val="FFFFFF"/>
          </a:solidFill>
          <a:ln>
            <a:noFill/>
          </a:ln>
        </p:spPr>
        <p:txBody>
          <a:bodyPr anchorCtr="0" anchor="t" bIns="45700" lIns="91425" spcFirstLastPara="1" rIns="91425" wrap="square" tIns="45700">
            <a:normAutofit lnSpcReduction="10000"/>
          </a:bodyPr>
          <a:lstStyle/>
          <a:p>
            <a:pPr indent="-196850" lvl="0" marL="177800" rtl="0" algn="l">
              <a:spcBef>
                <a:spcPts val="0"/>
              </a:spcBef>
              <a:spcAft>
                <a:spcPts val="0"/>
              </a:spcAft>
              <a:buClr>
                <a:schemeClr val="dk1"/>
              </a:buClr>
              <a:buSzPts val="3100"/>
              <a:buChar char="•"/>
            </a:pPr>
            <a:r>
              <a:rPr lang="ru-RU" sz="3100"/>
              <a:t>Формулирование и проверка гипотез</a:t>
            </a:r>
            <a:endParaRPr/>
          </a:p>
          <a:p>
            <a:pPr indent="0" lvl="0" marL="177800" rtl="0" algn="l">
              <a:spcBef>
                <a:spcPts val="620"/>
              </a:spcBef>
              <a:spcAft>
                <a:spcPts val="0"/>
              </a:spcAft>
              <a:buClr>
                <a:schemeClr val="dk1"/>
              </a:buClr>
              <a:buSzPts val="3100"/>
              <a:buNone/>
            </a:pPr>
            <a:r>
              <a:t/>
            </a:r>
            <a:endParaRPr sz="3100"/>
          </a:p>
          <a:p>
            <a:pPr indent="-196850" lvl="0" marL="177800" rtl="0" algn="l">
              <a:spcBef>
                <a:spcPts val="620"/>
              </a:spcBef>
              <a:spcAft>
                <a:spcPts val="0"/>
              </a:spcAft>
              <a:buClr>
                <a:schemeClr val="dk1"/>
              </a:buClr>
              <a:buSzPts val="3100"/>
              <a:buChar char="•"/>
            </a:pPr>
            <a:r>
              <a:rPr lang="ru-RU" sz="3100"/>
              <a:t>Разработка численных критериев качества решений</a:t>
            </a:r>
            <a:endParaRPr/>
          </a:p>
          <a:p>
            <a:pPr indent="0" lvl="0" marL="177800" rtl="0" algn="l">
              <a:spcBef>
                <a:spcPts val="620"/>
              </a:spcBef>
              <a:spcAft>
                <a:spcPts val="0"/>
              </a:spcAft>
              <a:buClr>
                <a:schemeClr val="dk1"/>
              </a:buClr>
              <a:buSzPts val="3100"/>
              <a:buNone/>
            </a:pPr>
            <a:r>
              <a:t/>
            </a:r>
            <a:endParaRPr sz="3100"/>
          </a:p>
          <a:p>
            <a:pPr indent="-196850" lvl="0" marL="177800" rtl="0" algn="l">
              <a:spcBef>
                <a:spcPts val="620"/>
              </a:spcBef>
              <a:spcAft>
                <a:spcPts val="0"/>
              </a:spcAft>
              <a:buClr>
                <a:schemeClr val="dk1"/>
              </a:buClr>
              <a:buSzPts val="3100"/>
              <a:buChar char="•"/>
            </a:pPr>
            <a:r>
              <a:rPr lang="ru-RU" sz="3100"/>
              <a:t>Просчет эффективности: время/качество</a:t>
            </a:r>
            <a:endParaRPr/>
          </a:p>
        </p:txBody>
      </p:sp>
      <p:sp>
        <p:nvSpPr>
          <p:cNvPr id="194" name="Google Shape;194;p7"/>
          <p:cNvSpPr txBox="1"/>
          <p:nvPr/>
        </p:nvSpPr>
        <p:spPr>
          <a:xfrm>
            <a:off x="577850" y="6811963"/>
            <a:ext cx="4240213" cy="236537"/>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950" cap="none">
              <a:solidFill>
                <a:schemeClr val="dk1"/>
              </a:solidFill>
              <a:latin typeface="Calibri"/>
              <a:ea typeface="Calibri"/>
              <a:cs typeface="Calibri"/>
              <a:sym typeface="Calibri"/>
            </a:endParaRPr>
          </a:p>
        </p:txBody>
      </p:sp>
      <p:sp>
        <p:nvSpPr>
          <p:cNvPr id="195" name="Google Shape;195;p7"/>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196" name="Google Shape;196;p7"/>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8"/>
          <p:cNvSpPr txBox="1"/>
          <p:nvPr/>
        </p:nvSpPr>
        <p:spPr>
          <a:xfrm>
            <a:off x="602233" y="2771056"/>
            <a:ext cx="9248775" cy="1187450"/>
          </a:xfrm>
          <a:prstGeom prst="rect">
            <a:avLst/>
          </a:prstGeom>
          <a:noFill/>
          <a:ln>
            <a:noFill/>
          </a:ln>
        </p:spPr>
        <p:txBody>
          <a:bodyPr anchorCtr="0" anchor="ctr" bIns="49700" lIns="99425" spcFirstLastPara="1" rIns="99425" wrap="square" tIns="49700">
            <a:noAutofit/>
          </a:bodyPr>
          <a:lstStyle/>
          <a:p>
            <a:pPr indent="0" lvl="0" marL="0" marR="0" rtl="0" algn="ctr">
              <a:spcBef>
                <a:spcPts val="0"/>
              </a:spcBef>
              <a:spcAft>
                <a:spcPts val="0"/>
              </a:spcAft>
              <a:buNone/>
            </a:pPr>
            <a:r>
              <a:rPr b="1" lang="ru-RU" sz="3600">
                <a:solidFill>
                  <a:schemeClr val="dk2"/>
                </a:solidFill>
                <a:latin typeface="Calibri"/>
                <a:ea typeface="Calibri"/>
                <a:cs typeface="Calibri"/>
                <a:sym typeface="Calibri"/>
              </a:rPr>
              <a:t>Кто такие Data Scientists и чем они занимаются?</a:t>
            </a:r>
            <a:endParaRPr/>
          </a:p>
          <a:p>
            <a:pPr indent="0" lvl="0" marL="0" marR="0" rtl="0" algn="ctr">
              <a:spcBef>
                <a:spcPts val="0"/>
              </a:spcBef>
              <a:spcAft>
                <a:spcPts val="0"/>
              </a:spcAft>
              <a:buNone/>
            </a:pPr>
            <a:r>
              <a:t/>
            </a:r>
            <a:endParaRPr b="1" sz="3600">
              <a:solidFill>
                <a:schemeClr val="dk2"/>
              </a:solidFill>
              <a:latin typeface="Calibri"/>
              <a:ea typeface="Calibri"/>
              <a:cs typeface="Calibri"/>
              <a:sym typeface="Calibri"/>
            </a:endParaRPr>
          </a:p>
          <a:p>
            <a:pPr indent="0" lvl="0" marL="0" marR="0" rtl="0" algn="ctr">
              <a:spcBef>
                <a:spcPts val="0"/>
              </a:spcBef>
              <a:spcAft>
                <a:spcPts val="0"/>
              </a:spcAft>
              <a:buNone/>
            </a:pPr>
            <a:r>
              <a:rPr b="1" lang="ru-RU" sz="3600">
                <a:solidFill>
                  <a:schemeClr val="dk2"/>
                </a:solidFill>
                <a:latin typeface="Calibri"/>
                <a:ea typeface="Calibri"/>
                <a:cs typeface="Calibri"/>
                <a:sym typeface="Calibri"/>
              </a:rPr>
              <a:t>Процесс познания – когнитивный анализ</a:t>
            </a:r>
            <a:endParaRPr/>
          </a:p>
        </p:txBody>
      </p:sp>
      <p:sp>
        <p:nvSpPr>
          <p:cNvPr id="202" name="Google Shape;202;p8"/>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9"/>
          <p:cNvSpPr/>
          <p:nvPr/>
        </p:nvSpPr>
        <p:spPr>
          <a:xfrm>
            <a:off x="242887" y="408190"/>
            <a:ext cx="9791700" cy="63373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210" name="Google Shape;210;p9"/>
          <p:cNvSpPr txBox="1"/>
          <p:nvPr>
            <p:ph idx="4294967295" type="title"/>
          </p:nvPr>
        </p:nvSpPr>
        <p:spPr>
          <a:xfrm>
            <a:off x="0" y="285750"/>
            <a:ext cx="9248775" cy="757238"/>
          </a:xfrm>
          <a:prstGeom prst="rect">
            <a:avLst/>
          </a:prstGeom>
          <a:noFill/>
          <a:ln>
            <a:noFill/>
          </a:ln>
        </p:spPr>
        <p:txBody>
          <a:bodyPr anchorCtr="0" anchor="ctr" bIns="49700" lIns="99425" spcFirstLastPara="1" rIns="99425" wrap="square" tIns="49700">
            <a:normAutofit/>
          </a:bodyPr>
          <a:lstStyle/>
          <a:p>
            <a:pPr indent="0" lvl="0" marL="0" rtl="0" algn="ctr">
              <a:spcBef>
                <a:spcPts val="0"/>
              </a:spcBef>
              <a:spcAft>
                <a:spcPts val="0"/>
              </a:spcAft>
              <a:buClr>
                <a:schemeClr val="dk1"/>
              </a:buClr>
              <a:buSzPts val="3100"/>
              <a:buFont typeface="Calibri"/>
              <a:buNone/>
            </a:pPr>
            <a:r>
              <a:rPr b="1" lang="ru-RU" sz="3100"/>
              <a:t>Кто работает с Big Data?</a:t>
            </a:r>
            <a:endParaRPr/>
          </a:p>
        </p:txBody>
      </p:sp>
      <p:sp>
        <p:nvSpPr>
          <p:cNvPr id="211" name="Google Shape;211;p9"/>
          <p:cNvSpPr txBox="1"/>
          <p:nvPr>
            <p:ph idx="4294967295" type="body"/>
          </p:nvPr>
        </p:nvSpPr>
        <p:spPr>
          <a:xfrm>
            <a:off x="3122513" y="5598077"/>
            <a:ext cx="3671931" cy="1196641"/>
          </a:xfrm>
          <a:prstGeom prst="rect">
            <a:avLst/>
          </a:prstGeom>
          <a:solidFill>
            <a:srgbClr val="FFFFFF"/>
          </a:solidFill>
          <a:ln>
            <a:noFill/>
          </a:ln>
        </p:spPr>
        <p:txBody>
          <a:bodyPr anchorCtr="0" anchor="t" bIns="45700" lIns="91425" spcFirstLastPara="1" rIns="91425" wrap="square" tIns="45700">
            <a:noAutofit/>
          </a:bodyPr>
          <a:lstStyle/>
          <a:p>
            <a:pPr indent="-356307" lvl="0" marL="356307" rtl="0" algn="l">
              <a:spcBef>
                <a:spcPts val="0"/>
              </a:spcBef>
              <a:spcAft>
                <a:spcPts val="0"/>
              </a:spcAft>
              <a:buClr>
                <a:schemeClr val="dk1"/>
              </a:buClr>
              <a:buSzPts val="2400"/>
              <a:buChar char="•"/>
            </a:pPr>
            <a:r>
              <a:rPr b="1" lang="ru-RU" sz="2400"/>
              <a:t>Data-сайентист.</a:t>
            </a:r>
            <a:r>
              <a:rPr lang="ru-RU" sz="2400"/>
              <a:t> </a:t>
            </a:r>
            <a:endParaRPr sz="2400"/>
          </a:p>
          <a:p>
            <a:pPr indent="-356307" lvl="0" marL="356307" rtl="0" algn="l">
              <a:spcBef>
                <a:spcPts val="480"/>
              </a:spcBef>
              <a:spcAft>
                <a:spcPts val="0"/>
              </a:spcAft>
              <a:buClr>
                <a:schemeClr val="dk1"/>
              </a:buClr>
              <a:buSzPts val="2400"/>
              <a:buChar char="•"/>
            </a:pPr>
            <a:r>
              <a:rPr b="1" lang="ru-RU" sz="2400"/>
              <a:t>Data-инженер.</a:t>
            </a:r>
            <a:r>
              <a:rPr lang="ru-RU" sz="2400"/>
              <a:t> </a:t>
            </a:r>
            <a:endParaRPr sz="2400"/>
          </a:p>
          <a:p>
            <a:pPr indent="-356307" lvl="0" marL="356307" rtl="0" algn="l">
              <a:spcBef>
                <a:spcPts val="480"/>
              </a:spcBef>
              <a:spcAft>
                <a:spcPts val="0"/>
              </a:spcAft>
              <a:buClr>
                <a:schemeClr val="dk1"/>
              </a:buClr>
              <a:buSzPts val="2400"/>
              <a:buChar char="•"/>
            </a:pPr>
            <a:r>
              <a:rPr b="1" lang="ru-RU" sz="2400"/>
              <a:t>Аналитик данных.</a:t>
            </a:r>
            <a:r>
              <a:rPr lang="ru-RU" sz="2400"/>
              <a:t> </a:t>
            </a:r>
            <a:endParaRPr/>
          </a:p>
        </p:txBody>
      </p:sp>
      <p:sp>
        <p:nvSpPr>
          <p:cNvPr id="212" name="Google Shape;212;p9"/>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213" name="Google Shape;213;p9"/>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pic>
        <p:nvPicPr>
          <p:cNvPr id="214" name="Google Shape;214;p9"/>
          <p:cNvPicPr preferRelativeResize="0"/>
          <p:nvPr/>
        </p:nvPicPr>
        <p:blipFill rotWithShape="1">
          <a:blip r:embed="rId3">
            <a:alphaModFix/>
          </a:blip>
          <a:srcRect b="0" l="0" r="0" t="0"/>
          <a:stretch/>
        </p:blipFill>
        <p:spPr>
          <a:xfrm>
            <a:off x="963613" y="1012826"/>
            <a:ext cx="7600950" cy="431892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0"/>
          <p:cNvSpPr/>
          <p:nvPr/>
        </p:nvSpPr>
        <p:spPr>
          <a:xfrm>
            <a:off x="242888" y="322263"/>
            <a:ext cx="9791700" cy="63373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222" name="Google Shape;222;p10"/>
          <p:cNvSpPr txBox="1"/>
          <p:nvPr>
            <p:ph idx="4294967295" type="title"/>
          </p:nvPr>
        </p:nvSpPr>
        <p:spPr>
          <a:xfrm>
            <a:off x="0" y="285750"/>
            <a:ext cx="9248775" cy="757238"/>
          </a:xfrm>
          <a:prstGeom prst="rect">
            <a:avLst/>
          </a:prstGeom>
          <a:noFill/>
          <a:ln>
            <a:noFill/>
          </a:ln>
        </p:spPr>
        <p:txBody>
          <a:bodyPr anchorCtr="0" anchor="ctr" bIns="49700" lIns="99425" spcFirstLastPara="1" rIns="99425" wrap="square" tIns="49700">
            <a:normAutofit/>
          </a:bodyPr>
          <a:lstStyle/>
          <a:p>
            <a:pPr indent="0" lvl="0" marL="0" rtl="0" algn="ctr">
              <a:spcBef>
                <a:spcPts val="0"/>
              </a:spcBef>
              <a:spcAft>
                <a:spcPts val="0"/>
              </a:spcAft>
              <a:buClr>
                <a:schemeClr val="dk1"/>
              </a:buClr>
              <a:buSzPts val="3100"/>
              <a:buFont typeface="Calibri"/>
              <a:buNone/>
            </a:pPr>
            <a:r>
              <a:rPr b="1" lang="ru-RU" sz="3100"/>
              <a:t>Кто работает с Big Data</a:t>
            </a:r>
            <a:endParaRPr b="1" sz="3100"/>
          </a:p>
        </p:txBody>
      </p:sp>
      <p:sp>
        <p:nvSpPr>
          <p:cNvPr id="223" name="Google Shape;223;p10"/>
          <p:cNvSpPr txBox="1"/>
          <p:nvPr>
            <p:ph idx="4294967295" type="body"/>
          </p:nvPr>
        </p:nvSpPr>
        <p:spPr>
          <a:xfrm>
            <a:off x="229517" y="1195388"/>
            <a:ext cx="9770716" cy="5257226"/>
          </a:xfrm>
          <a:prstGeom prst="rect">
            <a:avLst/>
          </a:prstGeom>
          <a:solidFill>
            <a:srgbClr val="FFFFFF"/>
          </a:solidFill>
          <a:ln>
            <a:noFill/>
          </a:ln>
        </p:spPr>
        <p:txBody>
          <a:bodyPr anchorCtr="0" anchor="t" bIns="45700" lIns="91425" spcFirstLastPara="1" rIns="91425" wrap="square" tIns="45700">
            <a:noAutofit/>
          </a:bodyPr>
          <a:lstStyle/>
          <a:p>
            <a:pPr indent="-356307" lvl="0" marL="356307" rtl="0" algn="l">
              <a:spcBef>
                <a:spcPts val="0"/>
              </a:spcBef>
              <a:spcAft>
                <a:spcPts val="0"/>
              </a:spcAft>
              <a:buClr>
                <a:schemeClr val="dk1"/>
              </a:buClr>
              <a:buSzPts val="2200"/>
              <a:buChar char="•"/>
            </a:pPr>
            <a:r>
              <a:rPr b="1" lang="ru-RU" sz="2200"/>
              <a:t>Data-инженер.</a:t>
            </a:r>
            <a:r>
              <a:rPr lang="ru-RU" sz="2200"/>
              <a:t> Чтобы начать работать с большими данными, необходимо их собрать, организовать место хранения, подготовить и обработать эти данные. Всё это обеспечивает инженер, который строит процессы работы с big data. Data-инженер — это программист, у которого есть опыт работы с различными базами данных и высоконагруженными системами обработки данных.</a:t>
            </a:r>
            <a:endParaRPr/>
          </a:p>
          <a:p>
            <a:pPr indent="-356307" lvl="0" marL="356307" rtl="0" algn="l">
              <a:spcBef>
                <a:spcPts val="440"/>
              </a:spcBef>
              <a:spcAft>
                <a:spcPts val="0"/>
              </a:spcAft>
              <a:buClr>
                <a:schemeClr val="dk1"/>
              </a:buClr>
              <a:buSzPts val="2200"/>
              <a:buChar char="•"/>
            </a:pPr>
            <a:r>
              <a:rPr b="1" lang="ru-RU" sz="2200"/>
              <a:t>Data-сайентист.</a:t>
            </a:r>
            <a:r>
              <a:rPr lang="ru-RU" sz="2200"/>
              <a:t> Это эксперт в анализе данных, математической статистике, теории вероятности. Его главная задача — построение математических моделей для прогнозирования, оптимизации и других задач. Data-сайентист в меньшей степени погружен в бизнес-процессы компании, потому что сфокусирован на техническом и математическом решении задач.</a:t>
            </a:r>
            <a:endParaRPr/>
          </a:p>
          <a:p>
            <a:pPr indent="-356307" lvl="0" marL="356307" rtl="0" algn="l">
              <a:spcBef>
                <a:spcPts val="440"/>
              </a:spcBef>
              <a:spcAft>
                <a:spcPts val="0"/>
              </a:spcAft>
              <a:buClr>
                <a:schemeClr val="dk1"/>
              </a:buClr>
              <a:buSzPts val="2200"/>
              <a:buChar char="•"/>
            </a:pPr>
            <a:r>
              <a:rPr b="1" lang="ru-RU" sz="2200"/>
              <a:t>Аналитик данных.</a:t>
            </a:r>
            <a:r>
              <a:rPr lang="ru-RU" sz="2200"/>
              <a:t> Это эксперт в анализе данных и бизнес-процессах компании, в которой он работает. Аналитик разбирается в задачах и проблемах бизнеса, знает, какие данные доступны для анализа. Он является связующим звеном между бизнесом и миром больших данных.</a:t>
            </a:r>
            <a:endParaRPr/>
          </a:p>
        </p:txBody>
      </p:sp>
      <p:sp>
        <p:nvSpPr>
          <p:cNvPr id="224" name="Google Shape;224;p10"/>
          <p:cNvSpPr txBox="1"/>
          <p:nvPr/>
        </p:nvSpPr>
        <p:spPr>
          <a:xfrm>
            <a:off x="577850" y="6811963"/>
            <a:ext cx="4240213" cy="236537"/>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950" cap="none">
              <a:solidFill>
                <a:schemeClr val="dk1"/>
              </a:solidFill>
              <a:latin typeface="Calibri"/>
              <a:ea typeface="Calibri"/>
              <a:cs typeface="Calibri"/>
              <a:sym typeface="Calibri"/>
            </a:endParaRPr>
          </a:p>
        </p:txBody>
      </p:sp>
      <p:sp>
        <p:nvSpPr>
          <p:cNvPr id="225" name="Google Shape;225;p10"/>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226" name="Google Shape;226;p10"/>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grpSp>
        <p:nvGrpSpPr>
          <p:cNvPr id="233" name="Google Shape;233;p11"/>
          <p:cNvGrpSpPr/>
          <p:nvPr/>
        </p:nvGrpSpPr>
        <p:grpSpPr>
          <a:xfrm>
            <a:off x="242888" y="322263"/>
            <a:ext cx="9791700" cy="6553200"/>
            <a:chOff x="153" y="203"/>
            <a:chExt cx="6168" cy="4128"/>
          </a:xfrm>
        </p:grpSpPr>
        <p:sp>
          <p:nvSpPr>
            <p:cNvPr id="234" name="Google Shape;234;p11"/>
            <p:cNvSpPr/>
            <p:nvPr/>
          </p:nvSpPr>
          <p:spPr>
            <a:xfrm>
              <a:off x="153" y="203"/>
              <a:ext cx="6168" cy="4128"/>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235" name="Google Shape;235;p11"/>
            <p:cNvSpPr/>
            <p:nvPr/>
          </p:nvSpPr>
          <p:spPr>
            <a:xfrm>
              <a:off x="561" y="249"/>
              <a:ext cx="5261" cy="771"/>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236" name="Google Shape;236;p11"/>
            <p:cNvSpPr/>
            <p:nvPr/>
          </p:nvSpPr>
          <p:spPr>
            <a:xfrm>
              <a:off x="244" y="1119"/>
              <a:ext cx="5941" cy="3121"/>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grpSp>
      <p:sp>
        <p:nvSpPr>
          <p:cNvPr id="237" name="Google Shape;237;p11"/>
          <p:cNvSpPr txBox="1"/>
          <p:nvPr>
            <p:ph idx="4294967295" type="title"/>
          </p:nvPr>
        </p:nvSpPr>
        <p:spPr>
          <a:xfrm>
            <a:off x="1538288" y="592138"/>
            <a:ext cx="7000875" cy="828675"/>
          </a:xfrm>
          <a:prstGeom prst="rect">
            <a:avLst/>
          </a:prstGeom>
          <a:noFill/>
          <a:ln>
            <a:noFill/>
          </a:ln>
        </p:spPr>
        <p:txBody>
          <a:bodyPr anchorCtr="0" anchor="ctr" bIns="49700" lIns="99425" spcFirstLastPara="1" rIns="99425" wrap="square" tIns="49700">
            <a:normAutofit fontScale="90000"/>
          </a:bodyPr>
          <a:lstStyle/>
          <a:p>
            <a:pPr indent="0" lvl="0" marL="0" rtl="0" algn="ctr">
              <a:spcBef>
                <a:spcPts val="0"/>
              </a:spcBef>
              <a:spcAft>
                <a:spcPts val="0"/>
              </a:spcAft>
              <a:buClr>
                <a:schemeClr val="dk1"/>
              </a:buClr>
              <a:buSzPct val="100000"/>
              <a:buFont typeface="Calibri"/>
              <a:buNone/>
            </a:pPr>
            <a:r>
              <a:rPr b="1" lang="ru-RU" sz="3100"/>
              <a:t>Навыки, необходимые аналитику Big Data</a:t>
            </a:r>
            <a:endParaRPr b="1" sz="3100"/>
          </a:p>
        </p:txBody>
      </p:sp>
      <p:sp>
        <p:nvSpPr>
          <p:cNvPr id="238" name="Google Shape;238;p11"/>
          <p:cNvSpPr txBox="1"/>
          <p:nvPr/>
        </p:nvSpPr>
        <p:spPr>
          <a:xfrm>
            <a:off x="577850" y="6811963"/>
            <a:ext cx="4240213" cy="236537"/>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950" cap="none">
              <a:solidFill>
                <a:schemeClr val="dk1"/>
              </a:solidFill>
              <a:latin typeface="Calibri"/>
              <a:ea typeface="Calibri"/>
              <a:cs typeface="Calibri"/>
              <a:sym typeface="Calibri"/>
            </a:endParaRPr>
          </a:p>
        </p:txBody>
      </p:sp>
      <p:sp>
        <p:nvSpPr>
          <p:cNvPr id="239" name="Google Shape;239;p11"/>
          <p:cNvSpPr txBox="1"/>
          <p:nvPr/>
        </p:nvSpPr>
        <p:spPr>
          <a:xfrm>
            <a:off x="2709863" y="0"/>
            <a:ext cx="5100637" cy="407988"/>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2"/>
                </a:solidFill>
                <a:latin typeface="Courier New"/>
                <a:ea typeface="Courier New"/>
                <a:cs typeface="Courier New"/>
                <a:sym typeface="Courier New"/>
              </a:rPr>
              <a:t>Обработка больших данных. Л1</a:t>
            </a:r>
            <a:endParaRPr/>
          </a:p>
        </p:txBody>
      </p:sp>
      <p:sp>
        <p:nvSpPr>
          <p:cNvPr id="240" name="Google Shape;240;p11"/>
          <p:cNvSpPr/>
          <p:nvPr/>
        </p:nvSpPr>
        <p:spPr>
          <a:xfrm>
            <a:off x="561975" y="1930400"/>
            <a:ext cx="9082088" cy="4400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000">
                <a:solidFill>
                  <a:schemeClr val="dk1"/>
                </a:solidFill>
                <a:latin typeface="Arial"/>
                <a:ea typeface="Arial"/>
                <a:cs typeface="Arial"/>
                <a:sym typeface="Arial"/>
              </a:rPr>
              <a:t>Навыки, необходимые аналитику Big Data:</a:t>
            </a:r>
            <a:br>
              <a:rPr lang="ru-RU" sz="2000">
                <a:solidFill>
                  <a:schemeClr val="dk1"/>
                </a:solidFill>
                <a:latin typeface="Arial"/>
                <a:ea typeface="Arial"/>
                <a:cs typeface="Arial"/>
                <a:sym typeface="Arial"/>
              </a:rPr>
            </a:br>
            <a:endParaRPr sz="2000">
              <a:solidFill>
                <a:schemeClr val="dk1"/>
              </a:solidFill>
              <a:latin typeface="Arial"/>
              <a:ea typeface="Arial"/>
              <a:cs typeface="Arial"/>
              <a:sym typeface="Arial"/>
            </a:endParaRPr>
          </a:p>
          <a:p>
            <a:pPr indent="-342900" lvl="0" marL="342900" marR="0" rtl="0" algn="l">
              <a:spcBef>
                <a:spcPts val="0"/>
              </a:spcBef>
              <a:spcAft>
                <a:spcPts val="0"/>
              </a:spcAft>
              <a:buClr>
                <a:schemeClr val="dk1"/>
              </a:buClr>
              <a:buSzPts val="2000"/>
              <a:buFont typeface="Arial"/>
              <a:buChar char="•"/>
            </a:pPr>
            <a:r>
              <a:rPr lang="ru-RU" sz="2000">
                <a:solidFill>
                  <a:schemeClr val="dk1"/>
                </a:solidFill>
                <a:latin typeface="Arial"/>
                <a:ea typeface="Arial"/>
                <a:cs typeface="Arial"/>
                <a:sym typeface="Arial"/>
              </a:rPr>
              <a:t>Умение быстро разобраться в особенностях в той области, для которой проводится анализ, погрузиться в аспекты нужной сферы. Это может быть ритейл, нефтегазовая отрасль, медицина и т.п.</a:t>
            </a:r>
            <a:br>
              <a:rPr lang="ru-RU" sz="2000">
                <a:solidFill>
                  <a:schemeClr val="dk1"/>
                </a:solidFill>
                <a:latin typeface="Arial"/>
                <a:ea typeface="Arial"/>
                <a:cs typeface="Arial"/>
                <a:sym typeface="Arial"/>
              </a:rPr>
            </a:br>
            <a:endParaRPr sz="2000">
              <a:solidFill>
                <a:schemeClr val="dk1"/>
              </a:solidFill>
              <a:latin typeface="Arial"/>
              <a:ea typeface="Arial"/>
              <a:cs typeface="Arial"/>
              <a:sym typeface="Arial"/>
            </a:endParaRPr>
          </a:p>
          <a:p>
            <a:pPr indent="-342900" lvl="0" marL="342900" marR="0" rtl="0" algn="l">
              <a:spcBef>
                <a:spcPts val="0"/>
              </a:spcBef>
              <a:spcAft>
                <a:spcPts val="0"/>
              </a:spcAft>
              <a:buClr>
                <a:schemeClr val="dk1"/>
              </a:buClr>
              <a:buSzPts val="2000"/>
              <a:buFont typeface="Arial"/>
              <a:buChar char="•"/>
            </a:pPr>
            <a:r>
              <a:rPr lang="ru-RU" sz="2000">
                <a:solidFill>
                  <a:schemeClr val="dk1"/>
                </a:solidFill>
                <a:latin typeface="Arial"/>
                <a:ea typeface="Arial"/>
                <a:cs typeface="Arial"/>
                <a:sym typeface="Arial"/>
              </a:rPr>
              <a:t>Знание методов статистического анализа данных, построения математических моделей (нейронные сети, байесовские сети, кластеризация, регрессионный, факторный, дисперсионный и корреляционный анализы и т.п.).</a:t>
            </a:r>
            <a:br>
              <a:rPr lang="ru-RU" sz="2000">
                <a:solidFill>
                  <a:schemeClr val="dk1"/>
                </a:solidFill>
                <a:latin typeface="Arial"/>
                <a:ea typeface="Arial"/>
                <a:cs typeface="Arial"/>
                <a:sym typeface="Arial"/>
              </a:rPr>
            </a:br>
            <a:endParaRPr sz="2000">
              <a:solidFill>
                <a:schemeClr val="dk1"/>
              </a:solidFill>
              <a:latin typeface="Arial"/>
              <a:ea typeface="Arial"/>
              <a:cs typeface="Arial"/>
              <a:sym typeface="Arial"/>
            </a:endParaRPr>
          </a:p>
          <a:p>
            <a:pPr indent="-342900" lvl="0" marL="342900" marR="0" rtl="0" algn="l">
              <a:spcBef>
                <a:spcPts val="0"/>
              </a:spcBef>
              <a:spcAft>
                <a:spcPts val="0"/>
              </a:spcAft>
              <a:buClr>
                <a:schemeClr val="dk1"/>
              </a:buClr>
              <a:buSzPts val="2000"/>
              <a:buFont typeface="Arial"/>
              <a:buChar char="•"/>
            </a:pPr>
            <a:r>
              <a:rPr lang="ru-RU" sz="2000">
                <a:solidFill>
                  <a:schemeClr val="dk1"/>
                </a:solidFill>
                <a:latin typeface="Arial"/>
                <a:ea typeface="Arial"/>
                <a:cs typeface="Arial"/>
                <a:sym typeface="Arial"/>
              </a:rPr>
              <a:t>Уметь извлекать данные из разных источников, преобразовывать их для анализа, загружать в аналитическую базу данных.</a:t>
            </a:r>
            <a:br>
              <a:rPr lang="ru-RU" sz="2000">
                <a:solidFill>
                  <a:schemeClr val="dk1"/>
                </a:solidFill>
                <a:latin typeface="Arial"/>
                <a:ea typeface="Arial"/>
                <a:cs typeface="Arial"/>
                <a:sym typeface="Arial"/>
              </a:rPr>
            </a:br>
            <a:endParaRPr sz="2000">
              <a:solidFill>
                <a:schemeClr val="dk1"/>
              </a:solidFill>
              <a:latin typeface="Arial"/>
              <a:ea typeface="Arial"/>
              <a:cs typeface="Arial"/>
              <a:sym typeface="Arial"/>
            </a:endParaRPr>
          </a:p>
        </p:txBody>
      </p:sp>
      <p:sp>
        <p:nvSpPr>
          <p:cNvPr id="241" name="Google Shape;241;p11"/>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grpSp>
        <p:nvGrpSpPr>
          <p:cNvPr id="248" name="Google Shape;248;p12"/>
          <p:cNvGrpSpPr/>
          <p:nvPr/>
        </p:nvGrpSpPr>
        <p:grpSpPr>
          <a:xfrm>
            <a:off x="363538" y="254000"/>
            <a:ext cx="9791700" cy="6553200"/>
            <a:chOff x="153" y="203"/>
            <a:chExt cx="6168" cy="4128"/>
          </a:xfrm>
        </p:grpSpPr>
        <p:sp>
          <p:nvSpPr>
            <p:cNvPr id="249" name="Google Shape;249;p12"/>
            <p:cNvSpPr/>
            <p:nvPr/>
          </p:nvSpPr>
          <p:spPr>
            <a:xfrm>
              <a:off x="153" y="203"/>
              <a:ext cx="6168" cy="4128"/>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250" name="Google Shape;250;p12"/>
            <p:cNvSpPr/>
            <p:nvPr/>
          </p:nvSpPr>
          <p:spPr>
            <a:xfrm>
              <a:off x="561" y="249"/>
              <a:ext cx="5261" cy="771"/>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251" name="Google Shape;251;p12"/>
            <p:cNvSpPr/>
            <p:nvPr/>
          </p:nvSpPr>
          <p:spPr>
            <a:xfrm>
              <a:off x="244" y="1119"/>
              <a:ext cx="5941" cy="3121"/>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grpSp>
      <p:sp>
        <p:nvSpPr>
          <p:cNvPr id="252" name="Google Shape;252;p12"/>
          <p:cNvSpPr txBox="1"/>
          <p:nvPr/>
        </p:nvSpPr>
        <p:spPr>
          <a:xfrm>
            <a:off x="577850" y="6811963"/>
            <a:ext cx="4240213" cy="236537"/>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950" cap="none">
              <a:solidFill>
                <a:schemeClr val="dk1"/>
              </a:solidFill>
              <a:latin typeface="Calibri"/>
              <a:ea typeface="Calibri"/>
              <a:cs typeface="Calibri"/>
              <a:sym typeface="Calibri"/>
            </a:endParaRPr>
          </a:p>
        </p:txBody>
      </p:sp>
      <p:sp>
        <p:nvSpPr>
          <p:cNvPr id="253" name="Google Shape;253;p12"/>
          <p:cNvSpPr txBox="1"/>
          <p:nvPr/>
        </p:nvSpPr>
        <p:spPr>
          <a:xfrm>
            <a:off x="2709863" y="0"/>
            <a:ext cx="5100637" cy="407988"/>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2"/>
                </a:solidFill>
                <a:latin typeface="Courier New"/>
                <a:ea typeface="Courier New"/>
                <a:cs typeface="Courier New"/>
                <a:sym typeface="Courier New"/>
              </a:rPr>
              <a:t>Обработка больших данных. Л1</a:t>
            </a:r>
            <a:endParaRPr/>
          </a:p>
        </p:txBody>
      </p:sp>
      <p:sp>
        <p:nvSpPr>
          <p:cNvPr id="254" name="Google Shape;254;p12"/>
          <p:cNvSpPr/>
          <p:nvPr/>
        </p:nvSpPr>
        <p:spPr>
          <a:xfrm>
            <a:off x="561975" y="1590675"/>
            <a:ext cx="9082088" cy="314007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200"/>
              <a:buFont typeface="Arial"/>
              <a:buChar char="•"/>
            </a:pPr>
            <a:r>
              <a:rPr lang="ru-RU" sz="2200">
                <a:solidFill>
                  <a:schemeClr val="dk1"/>
                </a:solidFill>
                <a:latin typeface="Arial"/>
                <a:ea typeface="Arial"/>
                <a:cs typeface="Arial"/>
                <a:sym typeface="Arial"/>
              </a:rPr>
              <a:t>Владение SQL.</a:t>
            </a:r>
            <a:endParaRPr/>
          </a:p>
          <a:p>
            <a:pPr indent="-342900" lvl="0" marL="342900" marR="0" rtl="0" algn="l">
              <a:spcBef>
                <a:spcPts val="0"/>
              </a:spcBef>
              <a:spcAft>
                <a:spcPts val="0"/>
              </a:spcAft>
              <a:buClr>
                <a:schemeClr val="dk1"/>
              </a:buClr>
              <a:buSzPts val="2200"/>
              <a:buFont typeface="Arial"/>
              <a:buChar char="•"/>
            </a:pPr>
            <a:r>
              <a:rPr lang="ru-RU" sz="2200">
                <a:solidFill>
                  <a:schemeClr val="dk1"/>
                </a:solidFill>
                <a:latin typeface="Arial"/>
                <a:ea typeface="Arial"/>
                <a:cs typeface="Arial"/>
                <a:sym typeface="Arial"/>
              </a:rPr>
              <a:t>Знание английского языка на уровне, достаточном для беспроблемного чтения технической документации.</a:t>
            </a:r>
            <a:endParaRPr/>
          </a:p>
          <a:p>
            <a:pPr indent="-342900" lvl="0" marL="342900" marR="0" rtl="0" algn="l">
              <a:spcBef>
                <a:spcPts val="0"/>
              </a:spcBef>
              <a:spcAft>
                <a:spcPts val="0"/>
              </a:spcAft>
              <a:buClr>
                <a:schemeClr val="dk1"/>
              </a:buClr>
              <a:buSzPts val="2200"/>
              <a:buFont typeface="Arial"/>
              <a:buChar char="•"/>
            </a:pPr>
            <a:r>
              <a:rPr lang="ru-RU" sz="2200">
                <a:solidFill>
                  <a:schemeClr val="dk1"/>
                </a:solidFill>
                <a:latin typeface="Arial"/>
                <a:ea typeface="Arial"/>
                <a:cs typeface="Arial"/>
                <a:sym typeface="Arial"/>
              </a:rPr>
              <a:t>Знание Python (хотя бы основ), Bash (без него очень сложно обойтись в процессе работы), плюс желательно знать основы Java и Scala (нужны для активного использования Spark, одного из самых популярных фреймворков для работы с большими данными).</a:t>
            </a:r>
            <a:endParaRPr/>
          </a:p>
          <a:p>
            <a:pPr indent="-342900" lvl="0" marL="342900" marR="0" rtl="0" algn="l">
              <a:spcBef>
                <a:spcPts val="0"/>
              </a:spcBef>
              <a:spcAft>
                <a:spcPts val="0"/>
              </a:spcAft>
              <a:buClr>
                <a:schemeClr val="dk1"/>
              </a:buClr>
              <a:buSzPts val="2200"/>
              <a:buFont typeface="Arial"/>
              <a:buChar char="•"/>
            </a:pPr>
            <a:r>
              <a:rPr lang="ru-RU" sz="2200">
                <a:solidFill>
                  <a:schemeClr val="dk1"/>
                </a:solidFill>
                <a:latin typeface="Arial"/>
                <a:ea typeface="Arial"/>
                <a:cs typeface="Arial"/>
                <a:sym typeface="Arial"/>
              </a:rPr>
              <a:t>Умение работать с Hadoop.</a:t>
            </a:r>
            <a:endParaRPr/>
          </a:p>
        </p:txBody>
      </p:sp>
      <p:sp>
        <p:nvSpPr>
          <p:cNvPr id="255" name="Google Shape;255;p12"/>
          <p:cNvSpPr txBox="1"/>
          <p:nvPr/>
        </p:nvSpPr>
        <p:spPr>
          <a:xfrm>
            <a:off x="1177925" y="644525"/>
            <a:ext cx="7921625" cy="828675"/>
          </a:xfrm>
          <a:prstGeom prst="rect">
            <a:avLst/>
          </a:prstGeom>
          <a:noFill/>
          <a:ln>
            <a:noFill/>
          </a:ln>
        </p:spPr>
        <p:txBody>
          <a:bodyPr anchorCtr="0" anchor="ctr" bIns="49700" lIns="99425" spcFirstLastPara="1" rIns="99425" wrap="square" tIns="49700">
            <a:noAutofit/>
          </a:bodyPr>
          <a:lstStyle/>
          <a:p>
            <a:pPr indent="0" lvl="0" marL="0" marR="0" rtl="0" algn="ctr">
              <a:spcBef>
                <a:spcPts val="0"/>
              </a:spcBef>
              <a:spcAft>
                <a:spcPts val="0"/>
              </a:spcAft>
              <a:buNone/>
            </a:pPr>
            <a:r>
              <a:rPr b="1" lang="ru-RU" sz="2800">
                <a:solidFill>
                  <a:schemeClr val="dk2"/>
                </a:solidFill>
                <a:latin typeface="Arial"/>
                <a:ea typeface="Arial"/>
                <a:cs typeface="Arial"/>
                <a:sym typeface="Arial"/>
              </a:rPr>
              <a:t>Навыки, необходимые аналитику Big Data</a:t>
            </a:r>
            <a:endParaRPr/>
          </a:p>
        </p:txBody>
      </p:sp>
      <p:sp>
        <p:nvSpPr>
          <p:cNvPr id="256" name="Google Shape;256;p12"/>
          <p:cNvSpPr/>
          <p:nvPr/>
        </p:nvSpPr>
        <p:spPr>
          <a:xfrm>
            <a:off x="706438" y="4848225"/>
            <a:ext cx="9221787" cy="17541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1800">
                <a:solidFill>
                  <a:schemeClr val="dk1"/>
                </a:solidFill>
                <a:latin typeface="Arial"/>
                <a:ea typeface="Arial"/>
                <a:cs typeface="Arial"/>
                <a:sym typeface="Arial"/>
              </a:rPr>
              <a:t>Data Scientist и Data Analyst в США </a:t>
            </a:r>
            <a:r>
              <a:rPr lang="ru-RU" sz="1800" u="sng">
                <a:solidFill>
                  <a:schemeClr val="dk1"/>
                </a:solidFill>
                <a:latin typeface="Arial"/>
                <a:ea typeface="Arial"/>
                <a:cs typeface="Arial"/>
                <a:sym typeface="Arial"/>
                <a:hlinkClick r:id="rId3">
                  <a:extLst>
                    <a:ext uri="{A12FA001-AC4F-418D-AE19-62706E023703}">
                      <ahyp:hlinkClr val="tx"/>
                    </a:ext>
                  </a:extLst>
                </a:hlinkClick>
              </a:rPr>
              <a:t>вошли в топ-3 лучших профессий 2017 года</a:t>
            </a:r>
            <a:r>
              <a:rPr lang="ru-RU" sz="1800">
                <a:solidFill>
                  <a:schemeClr val="dk1"/>
                </a:solidFill>
                <a:latin typeface="Arial"/>
                <a:ea typeface="Arial"/>
                <a:cs typeface="Arial"/>
                <a:sym typeface="Arial"/>
              </a:rPr>
              <a:t> по версии кадрового агентства Glassdoor. Средняя заработная плата этих специалистов в Америке начинается от $100 тысяч в год.</a:t>
            </a:r>
            <a:br>
              <a:rPr lang="ru-RU" sz="1800">
                <a:solidFill>
                  <a:schemeClr val="dk1"/>
                </a:solidFill>
                <a:latin typeface="Arial"/>
                <a:ea typeface="Arial"/>
                <a:cs typeface="Arial"/>
                <a:sym typeface="Arial"/>
              </a:rPr>
            </a:br>
            <a:r>
              <a:rPr lang="ru-RU" sz="1800">
                <a:solidFill>
                  <a:schemeClr val="dk1"/>
                </a:solidFill>
                <a:latin typeface="Arial"/>
                <a:ea typeface="Arial"/>
                <a:cs typeface="Arial"/>
                <a:sym typeface="Arial"/>
              </a:rPr>
              <a:t>В России специалисты по машинному обучению получают от 150 до 400 тысяч рублей в месяц, аналитики больших данных — от 60 до 250 тысяч рублей в месяц. Все зависит от опыта, квалификации и локации.</a:t>
            </a:r>
            <a:endParaRPr/>
          </a:p>
        </p:txBody>
      </p:sp>
      <p:sp>
        <p:nvSpPr>
          <p:cNvPr id="257" name="Google Shape;257;p12"/>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13"/>
          <p:cNvSpPr/>
          <p:nvPr/>
        </p:nvSpPr>
        <p:spPr>
          <a:xfrm>
            <a:off x="242888" y="322263"/>
            <a:ext cx="9791700" cy="63373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263" name="Google Shape;263;p13"/>
          <p:cNvSpPr txBox="1"/>
          <p:nvPr>
            <p:ph idx="4294967295" type="title"/>
          </p:nvPr>
        </p:nvSpPr>
        <p:spPr>
          <a:xfrm>
            <a:off x="0" y="285750"/>
            <a:ext cx="9248775" cy="1187450"/>
          </a:xfrm>
          <a:prstGeom prst="rect">
            <a:avLst/>
          </a:prstGeom>
          <a:noFill/>
          <a:ln>
            <a:noFill/>
          </a:ln>
        </p:spPr>
        <p:txBody>
          <a:bodyPr anchorCtr="0" anchor="ctr" bIns="49700" lIns="99425" spcFirstLastPara="1" rIns="99425" wrap="square" tIns="49700">
            <a:normAutofit/>
          </a:bodyPr>
          <a:lstStyle/>
          <a:p>
            <a:pPr indent="0" lvl="0" marL="0" rtl="0" algn="ctr">
              <a:spcBef>
                <a:spcPts val="0"/>
              </a:spcBef>
              <a:spcAft>
                <a:spcPts val="0"/>
              </a:spcAft>
              <a:buClr>
                <a:schemeClr val="dk1"/>
              </a:buClr>
              <a:buSzPts val="3100"/>
              <a:buFont typeface="Calibri"/>
              <a:buNone/>
            </a:pPr>
            <a:r>
              <a:rPr b="1" lang="ru-RU" sz="3100"/>
              <a:t>Что делают Data Scientists?</a:t>
            </a:r>
            <a:endParaRPr b="1" sz="3100"/>
          </a:p>
        </p:txBody>
      </p:sp>
      <p:pic>
        <p:nvPicPr>
          <p:cNvPr descr="http://spectrum.ieee.org/img/data%20scientist-1348780097431.jpg" id="264" name="Google Shape;264;p13"/>
          <p:cNvPicPr preferRelativeResize="0"/>
          <p:nvPr/>
        </p:nvPicPr>
        <p:blipFill rotWithShape="1">
          <a:blip r:embed="rId3">
            <a:alphaModFix/>
          </a:blip>
          <a:srcRect b="0" l="0" r="0" t="0"/>
          <a:stretch/>
        </p:blipFill>
        <p:spPr>
          <a:xfrm>
            <a:off x="6074841" y="2195513"/>
            <a:ext cx="3781675" cy="3239839"/>
          </a:xfrm>
          <a:prstGeom prst="rect">
            <a:avLst/>
          </a:prstGeom>
          <a:noFill/>
          <a:ln>
            <a:noFill/>
          </a:ln>
        </p:spPr>
      </p:pic>
      <p:sp>
        <p:nvSpPr>
          <p:cNvPr id="265" name="Google Shape;265;p13"/>
          <p:cNvSpPr/>
          <p:nvPr/>
        </p:nvSpPr>
        <p:spPr>
          <a:xfrm>
            <a:off x="332657" y="1186880"/>
            <a:ext cx="5586880" cy="5472608"/>
          </a:xfrm>
          <a:prstGeom prst="roundRect">
            <a:avLst>
              <a:gd fmla="val 16667" name="adj"/>
            </a:avLst>
          </a:prstGeom>
          <a:solidFill>
            <a:srgbClr val="FFFFFF">
              <a:alpha val="3882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66" name="Google Shape;266;p13"/>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267" name="Google Shape;267;p13"/>
          <p:cNvSpPr/>
          <p:nvPr/>
        </p:nvSpPr>
        <p:spPr>
          <a:xfrm>
            <a:off x="424404" y="1312569"/>
            <a:ext cx="5766595" cy="52014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ru-RU" sz="2000">
                <a:solidFill>
                  <a:schemeClr val="dk1"/>
                </a:solidFill>
                <a:latin typeface="Calibri"/>
                <a:ea typeface="Calibri"/>
                <a:cs typeface="Calibri"/>
                <a:sym typeface="Calibri"/>
              </a:rPr>
              <a:t>что делают?</a:t>
            </a:r>
            <a:endParaRPr/>
          </a:p>
          <a:p>
            <a:pPr indent="0" lvl="0" marL="0" marR="0" rtl="0" algn="l">
              <a:spcBef>
                <a:spcPts val="0"/>
              </a:spcBef>
              <a:spcAft>
                <a:spcPts val="0"/>
              </a:spcAft>
              <a:buNone/>
            </a:pPr>
            <a:r>
              <a:rPr i="1" lang="ru-RU" sz="2000">
                <a:solidFill>
                  <a:schemeClr val="dk1"/>
                </a:solidFill>
                <a:latin typeface="Calibri"/>
                <a:ea typeface="Calibri"/>
                <a:cs typeface="Calibri"/>
                <a:sym typeface="Calibri"/>
              </a:rPr>
              <a:t>    как достичь озарения</a:t>
            </a:r>
            <a:endParaRPr/>
          </a:p>
          <a:p>
            <a:pPr indent="0" lvl="0" marL="0" marR="0" rtl="0" algn="l">
              <a:spcBef>
                <a:spcPts val="0"/>
              </a:spcBef>
              <a:spcAft>
                <a:spcPts val="0"/>
              </a:spcAft>
              <a:buNone/>
            </a:pPr>
            <a:r>
              <a:rPr lang="ru-RU" sz="2000">
                <a:solidFill>
                  <a:schemeClr val="dk1"/>
                </a:solidFill>
                <a:latin typeface="Calibri"/>
                <a:ea typeface="Calibri"/>
                <a:cs typeface="Calibri"/>
                <a:sym typeface="Calibri"/>
              </a:rPr>
              <a:t>        разрабатывают методы</a:t>
            </a:r>
            <a:endParaRPr/>
          </a:p>
          <a:p>
            <a:pPr indent="0" lvl="0" marL="0" marR="0" rtl="0" algn="l">
              <a:spcBef>
                <a:spcPts val="0"/>
              </a:spcBef>
              <a:spcAft>
                <a:spcPts val="0"/>
              </a:spcAft>
              <a:buNone/>
            </a:pPr>
            <a:r>
              <a:rPr lang="ru-RU" sz="2000">
                <a:solidFill>
                  <a:schemeClr val="dk1"/>
                </a:solidFill>
                <a:latin typeface="Calibri"/>
                <a:ea typeface="Calibri"/>
                <a:cs typeface="Calibri"/>
                <a:sym typeface="Calibri"/>
              </a:rPr>
              <a:t>        придумывают алгоритмы</a:t>
            </a:r>
            <a:endParaRPr/>
          </a:p>
          <a:p>
            <a:pPr indent="0" lvl="0" marL="0" marR="0" rtl="0" algn="l">
              <a:spcBef>
                <a:spcPts val="0"/>
              </a:spcBef>
              <a:spcAft>
                <a:spcPts val="0"/>
              </a:spcAft>
              <a:buNone/>
            </a:pPr>
            <a:r>
              <a:rPr lang="ru-RU" sz="2000">
                <a:solidFill>
                  <a:schemeClr val="dk1"/>
                </a:solidFill>
                <a:latin typeface="Calibri"/>
                <a:ea typeface="Calibri"/>
                <a:cs typeface="Calibri"/>
                <a:sym typeface="Calibri"/>
              </a:rPr>
              <a:t>        используют теор.вероятностей, мат.статистику,</a:t>
            </a:r>
            <a:endParaRPr/>
          </a:p>
          <a:p>
            <a:pPr indent="0" lvl="0" marL="0" marR="0" rtl="0" algn="l">
              <a:spcBef>
                <a:spcPts val="0"/>
              </a:spcBef>
              <a:spcAft>
                <a:spcPts val="0"/>
              </a:spcAft>
              <a:buNone/>
            </a:pPr>
            <a:r>
              <a:rPr lang="ru-RU" sz="2000">
                <a:solidFill>
                  <a:schemeClr val="dk1"/>
                </a:solidFill>
                <a:latin typeface="Calibri"/>
                <a:ea typeface="Calibri"/>
                <a:cs typeface="Calibri"/>
                <a:sym typeface="Calibri"/>
              </a:rPr>
              <a:t>        используют методы машинного обучения</a:t>
            </a:r>
            <a:endParaRPr/>
          </a:p>
          <a:p>
            <a:pPr indent="0" lvl="0" marL="0" marR="0" rtl="0" algn="l">
              <a:spcBef>
                <a:spcPts val="0"/>
              </a:spcBef>
              <a:spcAft>
                <a:spcPts val="0"/>
              </a:spcAft>
              <a:buNone/>
            </a:pPr>
            <a:r>
              <a:rPr lang="ru-RU" sz="2000">
                <a:solidFill>
                  <a:schemeClr val="dk1"/>
                </a:solidFill>
                <a:latin typeface="Calibri"/>
                <a:ea typeface="Calibri"/>
                <a:cs typeface="Calibri"/>
                <a:sym typeface="Calibri"/>
              </a:rPr>
              <a:t>        перевод бизнес-моделей в математич. вид</a:t>
            </a:r>
            <a:endParaRPr/>
          </a:p>
          <a:p>
            <a:pPr indent="0" lvl="0" marL="0" marR="0" rtl="0" algn="l">
              <a:spcBef>
                <a:spcPts val="0"/>
              </a:spcBef>
              <a:spcAft>
                <a:spcPts val="0"/>
              </a:spcAft>
              <a:buNone/>
            </a:pPr>
            <a:r>
              <a:rPr lang="ru-RU" sz="2000">
                <a:solidFill>
                  <a:schemeClr val="dk1"/>
                </a:solidFill>
                <a:latin typeface="Calibri"/>
                <a:ea typeface="Calibri"/>
                <a:cs typeface="Calibri"/>
                <a:sym typeface="Calibri"/>
              </a:rPr>
              <a:t>            </a:t>
            </a:r>
            <a:r>
              <a:rPr lang="ru-RU" sz="1800">
                <a:solidFill>
                  <a:schemeClr val="dk1"/>
                </a:solidFill>
                <a:latin typeface="Calibri"/>
                <a:ea typeface="Calibri"/>
                <a:cs typeface="Calibri"/>
                <a:sym typeface="Calibri"/>
              </a:rPr>
              <a:t>искусственный интеллект</a:t>
            </a:r>
            <a:endParaRPr/>
          </a:p>
          <a:p>
            <a:pPr indent="0" lvl="0" marL="0" marR="0" rtl="0" algn="l">
              <a:spcBef>
                <a:spcPts val="0"/>
              </a:spcBef>
              <a:spcAft>
                <a:spcPts val="0"/>
              </a:spcAft>
              <a:buNone/>
            </a:pPr>
            <a:r>
              <a:rPr lang="ru-RU" sz="1800">
                <a:solidFill>
                  <a:schemeClr val="dk1"/>
                </a:solidFill>
                <a:latin typeface="Calibri"/>
                <a:ea typeface="Calibri"/>
                <a:cs typeface="Calibri"/>
                <a:sym typeface="Calibri"/>
              </a:rPr>
              <a:t>              нейронные сети</a:t>
            </a:r>
            <a:endParaRPr/>
          </a:p>
          <a:p>
            <a:pPr indent="0" lvl="0" marL="0" marR="0" rtl="0" algn="l">
              <a:spcBef>
                <a:spcPts val="0"/>
              </a:spcBef>
              <a:spcAft>
                <a:spcPts val="0"/>
              </a:spcAft>
              <a:buNone/>
            </a:pPr>
            <a:r>
              <a:rPr lang="ru-RU" sz="1800">
                <a:solidFill>
                  <a:schemeClr val="dk1"/>
                </a:solidFill>
                <a:latin typeface="Calibri"/>
                <a:ea typeface="Calibri"/>
                <a:cs typeface="Calibri"/>
                <a:sym typeface="Calibri"/>
              </a:rPr>
              <a:t>              Байесовские сети</a:t>
            </a:r>
            <a:endParaRPr/>
          </a:p>
          <a:p>
            <a:pPr indent="0" lvl="0" marL="0" marR="0" rtl="0" algn="l">
              <a:spcBef>
                <a:spcPts val="0"/>
              </a:spcBef>
              <a:spcAft>
                <a:spcPts val="0"/>
              </a:spcAft>
              <a:buNone/>
            </a:pPr>
            <a:r>
              <a:rPr lang="ru-RU" sz="2000">
                <a:solidFill>
                  <a:schemeClr val="dk1"/>
                </a:solidFill>
                <a:latin typeface="Calibri"/>
                <a:ea typeface="Calibri"/>
                <a:cs typeface="Calibri"/>
                <a:sym typeface="Calibri"/>
              </a:rPr>
              <a:t>    обработка формализованных знаний</a:t>
            </a:r>
            <a:endParaRPr/>
          </a:p>
          <a:p>
            <a:pPr indent="0" lvl="0" marL="0" marR="0" rtl="0" algn="l">
              <a:spcBef>
                <a:spcPts val="0"/>
              </a:spcBef>
              <a:spcAft>
                <a:spcPts val="0"/>
              </a:spcAft>
              <a:buNone/>
            </a:pPr>
            <a:r>
              <a:rPr lang="ru-RU" sz="2000">
                <a:solidFill>
                  <a:schemeClr val="dk1"/>
                </a:solidFill>
                <a:latin typeface="Calibri"/>
                <a:ea typeface="Calibri"/>
                <a:cs typeface="Calibri"/>
                <a:sym typeface="Calibri"/>
              </a:rPr>
              <a:t>         </a:t>
            </a:r>
            <a:r>
              <a:rPr lang="ru-RU" sz="1800">
                <a:solidFill>
                  <a:schemeClr val="dk1"/>
                </a:solidFill>
                <a:latin typeface="Calibri"/>
                <a:ea typeface="Calibri"/>
                <a:cs typeface="Calibri"/>
                <a:sym typeface="Calibri"/>
              </a:rPr>
              <a:t>хранение</a:t>
            </a:r>
            <a:endParaRPr/>
          </a:p>
          <a:p>
            <a:pPr indent="0" lvl="0" marL="0" marR="0" rtl="0" algn="l">
              <a:spcBef>
                <a:spcPts val="0"/>
              </a:spcBef>
              <a:spcAft>
                <a:spcPts val="0"/>
              </a:spcAft>
              <a:buNone/>
            </a:pPr>
            <a:r>
              <a:rPr lang="ru-RU" sz="1800">
                <a:solidFill>
                  <a:schemeClr val="dk1"/>
                </a:solidFill>
                <a:latin typeface="Calibri"/>
                <a:ea typeface="Calibri"/>
                <a:cs typeface="Calibri"/>
                <a:sym typeface="Calibri"/>
              </a:rPr>
              <a:t>           использование</a:t>
            </a:r>
            <a:endParaRPr/>
          </a:p>
          <a:p>
            <a:pPr indent="0" lvl="0" marL="0" marR="0" rtl="0" algn="l">
              <a:spcBef>
                <a:spcPts val="0"/>
              </a:spcBef>
              <a:spcAft>
                <a:spcPts val="0"/>
              </a:spcAft>
              <a:buNone/>
            </a:pPr>
            <a:r>
              <a:rPr lang="ru-RU" sz="2000">
                <a:solidFill>
                  <a:schemeClr val="dk1"/>
                </a:solidFill>
                <a:latin typeface="Calibri"/>
                <a:ea typeface="Calibri"/>
                <a:cs typeface="Calibri"/>
                <a:sym typeface="Calibri"/>
              </a:rPr>
              <a:t>    описание проблем бизнеса</a:t>
            </a:r>
            <a:endParaRPr/>
          </a:p>
          <a:p>
            <a:pPr indent="0" lvl="0" marL="0" marR="0" rtl="0" algn="l">
              <a:spcBef>
                <a:spcPts val="0"/>
              </a:spcBef>
              <a:spcAft>
                <a:spcPts val="0"/>
              </a:spcAft>
              <a:buNone/>
            </a:pPr>
            <a:r>
              <a:rPr lang="ru-RU" sz="2000">
                <a:solidFill>
                  <a:schemeClr val="dk1"/>
                </a:solidFill>
                <a:latin typeface="Calibri"/>
                <a:ea typeface="Calibri"/>
                <a:cs typeface="Calibri"/>
                <a:sym typeface="Calibri"/>
              </a:rPr>
              <a:t>        </a:t>
            </a:r>
            <a:r>
              <a:rPr lang="ru-RU" sz="1800">
                <a:solidFill>
                  <a:schemeClr val="dk1"/>
                </a:solidFill>
                <a:latin typeface="Calibri"/>
                <a:ea typeface="Calibri"/>
                <a:cs typeface="Calibri"/>
                <a:sym typeface="Calibri"/>
              </a:rPr>
              <a:t>бизнес-моделирование</a:t>
            </a:r>
            <a:endParaRPr/>
          </a:p>
          <a:p>
            <a:pPr indent="0" lvl="0" marL="0" marR="0" rtl="0" algn="l">
              <a:spcBef>
                <a:spcPts val="0"/>
              </a:spcBef>
              <a:spcAft>
                <a:spcPts val="0"/>
              </a:spcAft>
              <a:buNone/>
            </a:pPr>
            <a:r>
              <a:rPr lang="ru-RU" sz="1800">
                <a:solidFill>
                  <a:schemeClr val="dk1"/>
                </a:solidFill>
                <a:latin typeface="Calibri"/>
                <a:ea typeface="Calibri"/>
                <a:cs typeface="Calibri"/>
                <a:sym typeface="Calibri"/>
              </a:rPr>
              <a:t>         среды исполнения бизнес-процессов</a:t>
            </a:r>
            <a:endParaRPr/>
          </a:p>
          <a:p>
            <a:pPr indent="0" lvl="0" marL="0" marR="0" rtl="0" algn="l">
              <a:spcBef>
                <a:spcPts val="0"/>
              </a:spcBef>
              <a:spcAft>
                <a:spcPts val="0"/>
              </a:spcAft>
              <a:buNone/>
            </a:pPr>
            <a:r>
              <a:rPr lang="ru-RU" sz="2000">
                <a:solidFill>
                  <a:schemeClr val="dk1"/>
                </a:solidFill>
                <a:latin typeface="Calibri"/>
                <a:ea typeface="Calibri"/>
                <a:cs typeface="Calibri"/>
                <a:sym typeface="Calibri"/>
              </a:rPr>
              <a:t>    методы визуализации</a:t>
            </a:r>
            <a:endParaRPr/>
          </a:p>
        </p:txBody>
      </p:sp>
      <p:sp>
        <p:nvSpPr>
          <p:cNvPr id="268" name="Google Shape;268;p13"/>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14"/>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275" name="Google Shape;275;p14"/>
          <p:cNvSpPr txBox="1"/>
          <p:nvPr>
            <p:ph idx="4294967295" type="title"/>
          </p:nvPr>
        </p:nvSpPr>
        <p:spPr>
          <a:xfrm>
            <a:off x="0" y="285750"/>
            <a:ext cx="9248775" cy="11874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hlink"/>
              </a:buClr>
              <a:buSzPts val="4500"/>
              <a:buFont typeface="Calibri"/>
              <a:buNone/>
            </a:pPr>
            <a:r>
              <a:rPr b="1" lang="ru-RU">
                <a:solidFill>
                  <a:schemeClr val="hlink"/>
                </a:solidFill>
              </a:rPr>
              <a:t>Процесс познания</a:t>
            </a:r>
            <a:endParaRPr/>
          </a:p>
        </p:txBody>
      </p:sp>
      <p:sp>
        <p:nvSpPr>
          <p:cNvPr id="276" name="Google Shape;276;p14"/>
          <p:cNvSpPr txBox="1"/>
          <p:nvPr>
            <p:ph idx="4294967295" type="body"/>
          </p:nvPr>
        </p:nvSpPr>
        <p:spPr>
          <a:xfrm>
            <a:off x="0" y="1258888"/>
            <a:ext cx="9248775" cy="3744912"/>
          </a:xfrm>
          <a:prstGeom prst="rect">
            <a:avLst/>
          </a:prstGeom>
          <a:solidFill>
            <a:srgbClr val="FFFFFF"/>
          </a:solid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325"/>
              <a:buFont typeface="Calibri"/>
              <a:buNone/>
            </a:pPr>
            <a:r>
              <a:t/>
            </a:r>
            <a:endParaRPr/>
          </a:p>
          <a:p>
            <a:pPr indent="0" lvl="0" marL="0" rtl="0" algn="l">
              <a:spcBef>
                <a:spcPts val="665"/>
              </a:spcBef>
              <a:spcAft>
                <a:spcPts val="0"/>
              </a:spcAft>
              <a:buClr>
                <a:schemeClr val="dk1"/>
              </a:buClr>
              <a:buSzPts val="3325"/>
              <a:buFont typeface="Calibri"/>
              <a:buNone/>
            </a:pPr>
            <a:r>
              <a:t/>
            </a:r>
            <a:endParaRPr/>
          </a:p>
        </p:txBody>
      </p:sp>
      <p:grpSp>
        <p:nvGrpSpPr>
          <p:cNvPr id="277" name="Google Shape;277;p14"/>
          <p:cNvGrpSpPr/>
          <p:nvPr/>
        </p:nvGrpSpPr>
        <p:grpSpPr>
          <a:xfrm>
            <a:off x="1682750" y="1763713"/>
            <a:ext cx="6427788" cy="3169664"/>
            <a:chOff x="1682750" y="2166938"/>
            <a:chExt cx="6427788" cy="3936949"/>
          </a:xfrm>
        </p:grpSpPr>
        <p:sp>
          <p:nvSpPr>
            <p:cNvPr id="278" name="Google Shape;278;p14"/>
            <p:cNvSpPr/>
            <p:nvPr/>
          </p:nvSpPr>
          <p:spPr>
            <a:xfrm>
              <a:off x="1933575" y="2792413"/>
              <a:ext cx="2714625" cy="2559050"/>
            </a:xfrm>
            <a:prstGeom prst="rect">
              <a:avLst/>
            </a:prstGeom>
            <a:noFill/>
            <a:ln cap="flat" cmpd="sng" w="25400">
              <a:solidFill>
                <a:srgbClr val="384B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9" name="Google Shape;279;p14"/>
            <p:cNvSpPr txBox="1"/>
            <p:nvPr/>
          </p:nvSpPr>
          <p:spPr>
            <a:xfrm>
              <a:off x="6850063" y="4481513"/>
              <a:ext cx="322262" cy="5191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800">
                  <a:solidFill>
                    <a:schemeClr val="dk1"/>
                  </a:solidFill>
                  <a:latin typeface="Calibri"/>
                  <a:ea typeface="Calibri"/>
                  <a:cs typeface="Calibri"/>
                  <a:sym typeface="Calibri"/>
                </a:rPr>
                <a:t>*</a:t>
              </a:r>
              <a:endParaRPr/>
            </a:p>
          </p:txBody>
        </p:sp>
        <p:sp>
          <p:nvSpPr>
            <p:cNvPr id="280" name="Google Shape;280;p14"/>
            <p:cNvSpPr txBox="1"/>
            <p:nvPr/>
          </p:nvSpPr>
          <p:spPr>
            <a:xfrm>
              <a:off x="5162550" y="4464050"/>
              <a:ext cx="322263" cy="519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800">
                  <a:solidFill>
                    <a:schemeClr val="dk1"/>
                  </a:solidFill>
                  <a:latin typeface="Calibri"/>
                  <a:ea typeface="Calibri"/>
                  <a:cs typeface="Calibri"/>
                  <a:sym typeface="Calibri"/>
                </a:rPr>
                <a:t>*</a:t>
              </a:r>
              <a:endParaRPr/>
            </a:p>
          </p:txBody>
        </p:sp>
        <p:sp>
          <p:nvSpPr>
            <p:cNvPr id="281" name="Google Shape;281;p14"/>
            <p:cNvSpPr txBox="1"/>
            <p:nvPr/>
          </p:nvSpPr>
          <p:spPr>
            <a:xfrm>
              <a:off x="5635625" y="3770313"/>
              <a:ext cx="322263" cy="5191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800">
                  <a:solidFill>
                    <a:schemeClr val="dk1"/>
                  </a:solidFill>
                  <a:latin typeface="Calibri"/>
                  <a:ea typeface="Calibri"/>
                  <a:cs typeface="Calibri"/>
                  <a:sym typeface="Calibri"/>
                </a:rPr>
                <a:t>*</a:t>
              </a:r>
              <a:endParaRPr/>
            </a:p>
          </p:txBody>
        </p:sp>
        <p:sp>
          <p:nvSpPr>
            <p:cNvPr id="282" name="Google Shape;282;p14"/>
            <p:cNvSpPr txBox="1"/>
            <p:nvPr/>
          </p:nvSpPr>
          <p:spPr>
            <a:xfrm>
              <a:off x="5635625" y="3063875"/>
              <a:ext cx="322263" cy="519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800">
                  <a:solidFill>
                    <a:schemeClr val="dk1"/>
                  </a:solidFill>
                  <a:latin typeface="Calibri"/>
                  <a:ea typeface="Calibri"/>
                  <a:cs typeface="Calibri"/>
                  <a:sym typeface="Calibri"/>
                </a:rPr>
                <a:t>*</a:t>
              </a:r>
              <a:endParaRPr/>
            </a:p>
          </p:txBody>
        </p:sp>
        <p:sp>
          <p:nvSpPr>
            <p:cNvPr id="283" name="Google Shape;283;p14"/>
            <p:cNvSpPr txBox="1"/>
            <p:nvPr/>
          </p:nvSpPr>
          <p:spPr>
            <a:xfrm>
              <a:off x="7004050" y="3605213"/>
              <a:ext cx="322263" cy="5191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800">
                  <a:solidFill>
                    <a:schemeClr val="dk1"/>
                  </a:solidFill>
                  <a:latin typeface="Calibri"/>
                  <a:ea typeface="Calibri"/>
                  <a:cs typeface="Calibri"/>
                  <a:sym typeface="Calibri"/>
                </a:rPr>
                <a:t>*</a:t>
              </a:r>
              <a:endParaRPr/>
            </a:p>
          </p:txBody>
        </p:sp>
        <p:sp>
          <p:nvSpPr>
            <p:cNvPr id="284" name="Google Shape;284;p14"/>
            <p:cNvSpPr/>
            <p:nvPr/>
          </p:nvSpPr>
          <p:spPr>
            <a:xfrm>
              <a:off x="5162550" y="2792413"/>
              <a:ext cx="2790825" cy="2559050"/>
            </a:xfrm>
            <a:prstGeom prst="rect">
              <a:avLst/>
            </a:prstGeom>
            <a:noFill/>
            <a:ln cap="flat" cmpd="sng" w="25400">
              <a:solidFill>
                <a:srgbClr val="384B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5" name="Google Shape;285;p14"/>
            <p:cNvSpPr txBox="1"/>
            <p:nvPr/>
          </p:nvSpPr>
          <p:spPr>
            <a:xfrm>
              <a:off x="6110288" y="4635500"/>
              <a:ext cx="322262" cy="519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800">
                  <a:solidFill>
                    <a:schemeClr val="dk1"/>
                  </a:solidFill>
                  <a:latin typeface="Calibri"/>
                  <a:ea typeface="Calibri"/>
                  <a:cs typeface="Calibri"/>
                  <a:sym typeface="Calibri"/>
                </a:rPr>
                <a:t>*</a:t>
              </a:r>
              <a:endParaRPr/>
            </a:p>
          </p:txBody>
        </p:sp>
        <p:sp>
          <p:nvSpPr>
            <p:cNvPr id="286" name="Google Shape;286;p14"/>
            <p:cNvSpPr txBox="1"/>
            <p:nvPr/>
          </p:nvSpPr>
          <p:spPr>
            <a:xfrm>
              <a:off x="6303963" y="3498850"/>
              <a:ext cx="322262" cy="519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800">
                  <a:solidFill>
                    <a:schemeClr val="dk1"/>
                  </a:solidFill>
                  <a:latin typeface="Calibri"/>
                  <a:ea typeface="Calibri"/>
                  <a:cs typeface="Calibri"/>
                  <a:sym typeface="Calibri"/>
                </a:rPr>
                <a:t>*</a:t>
              </a:r>
              <a:endParaRPr/>
            </a:p>
          </p:txBody>
        </p:sp>
        <p:sp>
          <p:nvSpPr>
            <p:cNvPr id="287" name="Google Shape;287;p14"/>
            <p:cNvSpPr txBox="1"/>
            <p:nvPr/>
          </p:nvSpPr>
          <p:spPr>
            <a:xfrm>
              <a:off x="6996113" y="2927350"/>
              <a:ext cx="322262" cy="519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800">
                  <a:solidFill>
                    <a:schemeClr val="dk1"/>
                  </a:solidFill>
                  <a:latin typeface="Calibri"/>
                  <a:ea typeface="Calibri"/>
                  <a:cs typeface="Calibri"/>
                  <a:sym typeface="Calibri"/>
                </a:rPr>
                <a:t>*</a:t>
              </a:r>
              <a:endParaRPr/>
            </a:p>
          </p:txBody>
        </p:sp>
        <p:sp>
          <p:nvSpPr>
            <p:cNvPr id="288" name="Google Shape;288;p14"/>
            <p:cNvSpPr txBox="1"/>
            <p:nvPr/>
          </p:nvSpPr>
          <p:spPr>
            <a:xfrm>
              <a:off x="5764213" y="3929063"/>
              <a:ext cx="322262" cy="5191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800">
                  <a:solidFill>
                    <a:schemeClr val="dk1"/>
                  </a:solidFill>
                  <a:latin typeface="Calibri"/>
                  <a:ea typeface="Calibri"/>
                  <a:cs typeface="Calibri"/>
                  <a:sym typeface="Calibri"/>
                </a:rPr>
                <a:t>*</a:t>
              </a:r>
              <a:endParaRPr/>
            </a:p>
          </p:txBody>
        </p:sp>
        <p:sp>
          <p:nvSpPr>
            <p:cNvPr id="289" name="Google Shape;289;p14"/>
            <p:cNvSpPr txBox="1"/>
            <p:nvPr/>
          </p:nvSpPr>
          <p:spPr>
            <a:xfrm>
              <a:off x="7634288" y="4938713"/>
              <a:ext cx="322262" cy="5191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800">
                  <a:solidFill>
                    <a:schemeClr val="dk1"/>
                  </a:solidFill>
                  <a:latin typeface="Calibri"/>
                  <a:ea typeface="Calibri"/>
                  <a:cs typeface="Calibri"/>
                  <a:sym typeface="Calibri"/>
                </a:rPr>
                <a:t>*</a:t>
              </a:r>
              <a:endParaRPr/>
            </a:p>
          </p:txBody>
        </p:sp>
        <p:sp>
          <p:nvSpPr>
            <p:cNvPr id="290" name="Google Shape;290;p14"/>
            <p:cNvSpPr txBox="1"/>
            <p:nvPr/>
          </p:nvSpPr>
          <p:spPr>
            <a:xfrm>
              <a:off x="3290888" y="5645150"/>
              <a:ext cx="378630" cy="45873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ru-RU" sz="1800">
                  <a:solidFill>
                    <a:schemeClr val="dk1"/>
                  </a:solidFill>
                  <a:latin typeface="Calibri"/>
                  <a:ea typeface="Calibri"/>
                  <a:cs typeface="Calibri"/>
                  <a:sym typeface="Calibri"/>
                </a:rPr>
                <a:t>h</a:t>
              </a:r>
              <a:r>
                <a:rPr b="1" baseline="-25000" lang="ru-RU" sz="1800">
                  <a:solidFill>
                    <a:schemeClr val="dk1"/>
                  </a:solidFill>
                  <a:latin typeface="Calibri"/>
                  <a:ea typeface="Calibri"/>
                  <a:cs typeface="Calibri"/>
                  <a:sym typeface="Calibri"/>
                </a:rPr>
                <a:t>0</a:t>
              </a:r>
              <a:endParaRPr b="1" baseline="-25000" sz="1800">
                <a:solidFill>
                  <a:schemeClr val="dk1"/>
                </a:solidFill>
                <a:latin typeface="Calibri"/>
                <a:ea typeface="Calibri"/>
                <a:cs typeface="Calibri"/>
                <a:sym typeface="Calibri"/>
              </a:endParaRPr>
            </a:p>
          </p:txBody>
        </p:sp>
        <p:sp>
          <p:nvSpPr>
            <p:cNvPr id="291" name="Google Shape;291;p14"/>
            <p:cNvSpPr txBox="1"/>
            <p:nvPr/>
          </p:nvSpPr>
          <p:spPr>
            <a:xfrm>
              <a:off x="6432550" y="5638800"/>
              <a:ext cx="684803" cy="45873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ru-RU" sz="1800">
                  <a:solidFill>
                    <a:schemeClr val="dk1"/>
                  </a:solidFill>
                  <a:latin typeface="Calibri"/>
                  <a:ea typeface="Calibri"/>
                  <a:cs typeface="Calibri"/>
                  <a:sym typeface="Calibri"/>
                </a:rPr>
                <a:t>h</a:t>
              </a:r>
              <a:r>
                <a:rPr b="1" baseline="-25000" lang="ru-RU" sz="1800">
                  <a:solidFill>
                    <a:schemeClr val="dk1"/>
                  </a:solidFill>
                  <a:latin typeface="Calibri"/>
                  <a:ea typeface="Calibri"/>
                  <a:cs typeface="Calibri"/>
                  <a:sym typeface="Calibri"/>
                </a:rPr>
                <a:t>1</a:t>
              </a:r>
              <a:r>
                <a:rPr b="1" lang="ru-RU" sz="1800">
                  <a:solidFill>
                    <a:schemeClr val="dk1"/>
                  </a:solidFill>
                  <a:latin typeface="Calibri"/>
                  <a:ea typeface="Calibri"/>
                  <a:cs typeface="Calibri"/>
                  <a:sym typeface="Calibri"/>
                </a:rPr>
                <a:t>&gt;h</a:t>
              </a:r>
              <a:r>
                <a:rPr b="1" baseline="-25000" lang="ru-RU" sz="1800">
                  <a:solidFill>
                    <a:schemeClr val="dk1"/>
                  </a:solidFill>
                  <a:latin typeface="Calibri"/>
                  <a:ea typeface="Calibri"/>
                  <a:cs typeface="Calibri"/>
                  <a:sym typeface="Calibri"/>
                </a:rPr>
                <a:t>0</a:t>
              </a:r>
              <a:endParaRPr b="1" baseline="-25000" sz="1800">
                <a:solidFill>
                  <a:schemeClr val="dk1"/>
                </a:solidFill>
                <a:latin typeface="Calibri"/>
                <a:ea typeface="Calibri"/>
                <a:cs typeface="Calibri"/>
                <a:sym typeface="Calibri"/>
              </a:endParaRPr>
            </a:p>
          </p:txBody>
        </p:sp>
        <p:sp>
          <p:nvSpPr>
            <p:cNvPr id="292" name="Google Shape;292;p14"/>
            <p:cNvSpPr txBox="1"/>
            <p:nvPr/>
          </p:nvSpPr>
          <p:spPr>
            <a:xfrm>
              <a:off x="5789613" y="2166938"/>
              <a:ext cx="164147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ru-RU" sz="2400">
                  <a:solidFill>
                    <a:schemeClr val="dk1"/>
                  </a:solidFill>
                  <a:latin typeface="Calibri"/>
                  <a:ea typeface="Calibri"/>
                  <a:cs typeface="Calibri"/>
                  <a:sym typeface="Calibri"/>
                </a:rPr>
                <a:t>Протокол</a:t>
              </a:r>
              <a:endParaRPr/>
            </a:p>
          </p:txBody>
        </p:sp>
        <p:sp>
          <p:nvSpPr>
            <p:cNvPr id="293" name="Google Shape;293;p14"/>
            <p:cNvSpPr txBox="1"/>
            <p:nvPr/>
          </p:nvSpPr>
          <p:spPr>
            <a:xfrm>
              <a:off x="4519613" y="5289550"/>
              <a:ext cx="3365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1800">
                  <a:solidFill>
                    <a:schemeClr val="dk1"/>
                  </a:solidFill>
                  <a:latin typeface="Calibri"/>
                  <a:ea typeface="Calibri"/>
                  <a:cs typeface="Calibri"/>
                  <a:sym typeface="Calibri"/>
                </a:rPr>
                <a:t>X</a:t>
              </a:r>
              <a:endParaRPr sz="1800">
                <a:solidFill>
                  <a:schemeClr val="dk1"/>
                </a:solidFill>
                <a:latin typeface="Calibri"/>
                <a:ea typeface="Calibri"/>
                <a:cs typeface="Calibri"/>
                <a:sym typeface="Calibri"/>
              </a:endParaRPr>
            </a:p>
          </p:txBody>
        </p:sp>
        <p:sp>
          <p:nvSpPr>
            <p:cNvPr id="294" name="Google Shape;294;p14"/>
            <p:cNvSpPr txBox="1"/>
            <p:nvPr/>
          </p:nvSpPr>
          <p:spPr>
            <a:xfrm>
              <a:off x="1682750" y="2644775"/>
              <a:ext cx="3365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1800">
                  <a:solidFill>
                    <a:schemeClr val="dk1"/>
                  </a:solidFill>
                  <a:latin typeface="Calibri"/>
                  <a:ea typeface="Calibri"/>
                  <a:cs typeface="Calibri"/>
                  <a:sym typeface="Calibri"/>
                </a:rPr>
                <a:t>Y</a:t>
              </a:r>
              <a:endParaRPr sz="1800">
                <a:solidFill>
                  <a:schemeClr val="dk1"/>
                </a:solidFill>
                <a:latin typeface="Calibri"/>
                <a:ea typeface="Calibri"/>
                <a:cs typeface="Calibri"/>
                <a:sym typeface="Calibri"/>
              </a:endParaRPr>
            </a:p>
          </p:txBody>
        </p:sp>
        <p:sp>
          <p:nvSpPr>
            <p:cNvPr id="295" name="Google Shape;295;p14"/>
            <p:cNvSpPr txBox="1"/>
            <p:nvPr/>
          </p:nvSpPr>
          <p:spPr>
            <a:xfrm>
              <a:off x="7773988" y="5349875"/>
              <a:ext cx="3365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1800">
                  <a:solidFill>
                    <a:schemeClr val="dk1"/>
                  </a:solidFill>
                  <a:latin typeface="Calibri"/>
                  <a:ea typeface="Calibri"/>
                  <a:cs typeface="Calibri"/>
                  <a:sym typeface="Calibri"/>
                </a:rPr>
                <a:t>X</a:t>
              </a:r>
              <a:endParaRPr sz="1800">
                <a:solidFill>
                  <a:schemeClr val="dk1"/>
                </a:solidFill>
                <a:latin typeface="Calibri"/>
                <a:ea typeface="Calibri"/>
                <a:cs typeface="Calibri"/>
                <a:sym typeface="Calibri"/>
              </a:endParaRPr>
            </a:p>
          </p:txBody>
        </p:sp>
        <p:sp>
          <p:nvSpPr>
            <p:cNvPr id="296" name="Google Shape;296;p14"/>
            <p:cNvSpPr txBox="1"/>
            <p:nvPr/>
          </p:nvSpPr>
          <p:spPr>
            <a:xfrm>
              <a:off x="4932363" y="2679700"/>
              <a:ext cx="3365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1800">
                  <a:solidFill>
                    <a:schemeClr val="dk1"/>
                  </a:solidFill>
                  <a:latin typeface="Calibri"/>
                  <a:ea typeface="Calibri"/>
                  <a:cs typeface="Calibri"/>
                  <a:sym typeface="Calibri"/>
                </a:rPr>
                <a:t>Y</a:t>
              </a:r>
              <a:endParaRPr sz="1800">
                <a:solidFill>
                  <a:schemeClr val="dk1"/>
                </a:solidFill>
                <a:latin typeface="Calibri"/>
                <a:ea typeface="Calibri"/>
                <a:cs typeface="Calibri"/>
                <a:sym typeface="Calibri"/>
              </a:endParaRPr>
            </a:p>
          </p:txBody>
        </p:sp>
      </p:grpSp>
      <p:sp>
        <p:nvSpPr>
          <p:cNvPr id="297" name="Google Shape;297;p14"/>
          <p:cNvSpPr/>
          <p:nvPr/>
        </p:nvSpPr>
        <p:spPr>
          <a:xfrm>
            <a:off x="477441" y="5276333"/>
            <a:ext cx="9246393" cy="132343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000">
                <a:solidFill>
                  <a:schemeClr val="dk1"/>
                </a:solidFill>
                <a:latin typeface="Arial"/>
                <a:ea typeface="Arial"/>
                <a:cs typeface="Arial"/>
                <a:sym typeface="Arial"/>
              </a:rPr>
              <a:t>Изучаем какой-то объект и его характеристики.</a:t>
            </a:r>
            <a:endParaRPr/>
          </a:p>
          <a:p>
            <a:pPr indent="0" lvl="0" marL="0" marR="0" rtl="0" algn="l">
              <a:spcBef>
                <a:spcPts val="0"/>
              </a:spcBef>
              <a:spcAft>
                <a:spcPts val="0"/>
              </a:spcAft>
              <a:buNone/>
            </a:pPr>
            <a:r>
              <a:rPr lang="ru-RU" sz="2000">
                <a:solidFill>
                  <a:schemeClr val="dk1"/>
                </a:solidFill>
                <a:latin typeface="Arial"/>
                <a:ea typeface="Arial"/>
                <a:cs typeface="Arial"/>
                <a:sym typeface="Arial"/>
              </a:rPr>
              <a:t>Изначально наши знания об объекте могут быть нулевыми. Постепенно протокол исследований заполняется фактами, но пока предсказать по этим фактам ничего нельзя.</a:t>
            </a:r>
            <a:endParaRPr/>
          </a:p>
        </p:txBody>
      </p:sp>
      <p:sp>
        <p:nvSpPr>
          <p:cNvPr id="298" name="Google Shape;298;p14"/>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15"/>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305" name="Google Shape;305;p15"/>
          <p:cNvSpPr txBox="1"/>
          <p:nvPr>
            <p:ph idx="4294967295" type="title"/>
          </p:nvPr>
        </p:nvSpPr>
        <p:spPr>
          <a:xfrm>
            <a:off x="1480047" y="229867"/>
            <a:ext cx="6935787" cy="78105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hlink"/>
              </a:buClr>
              <a:buSzPct val="98425"/>
              <a:buFont typeface="Calibri"/>
              <a:buNone/>
            </a:pPr>
            <a:r>
              <a:rPr b="1" lang="ru-RU">
                <a:solidFill>
                  <a:schemeClr val="hlink"/>
                </a:solidFill>
              </a:rPr>
              <a:t>Процесс познания</a:t>
            </a:r>
            <a:endParaRPr/>
          </a:p>
        </p:txBody>
      </p:sp>
      <p:sp>
        <p:nvSpPr>
          <p:cNvPr id="306" name="Google Shape;306;p15"/>
          <p:cNvSpPr txBox="1"/>
          <p:nvPr>
            <p:ph idx="4294967295" type="body"/>
          </p:nvPr>
        </p:nvSpPr>
        <p:spPr>
          <a:xfrm>
            <a:off x="3683249" y="4230365"/>
            <a:ext cx="6064248" cy="20335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325"/>
              <a:buFont typeface="Calibri"/>
              <a:buNone/>
            </a:pPr>
            <a:r>
              <a:t/>
            </a:r>
            <a:endParaRPr/>
          </a:p>
          <a:p>
            <a:pPr indent="0" lvl="0" marL="0" rtl="0" algn="l">
              <a:spcBef>
                <a:spcPts val="665"/>
              </a:spcBef>
              <a:spcAft>
                <a:spcPts val="0"/>
              </a:spcAft>
              <a:buClr>
                <a:schemeClr val="dk1"/>
              </a:buClr>
              <a:buSzPts val="3325"/>
              <a:buFont typeface="Calibri"/>
              <a:buNone/>
            </a:pPr>
            <a:r>
              <a:t/>
            </a:r>
            <a:endParaRPr/>
          </a:p>
        </p:txBody>
      </p:sp>
      <p:sp>
        <p:nvSpPr>
          <p:cNvPr id="307" name="Google Shape;307;p15"/>
          <p:cNvSpPr txBox="1"/>
          <p:nvPr/>
        </p:nvSpPr>
        <p:spPr>
          <a:xfrm>
            <a:off x="4519861" y="1268091"/>
            <a:ext cx="16129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ru-RU" sz="2000">
                <a:solidFill>
                  <a:schemeClr val="dk1"/>
                </a:solidFill>
                <a:latin typeface="Calibri"/>
                <a:ea typeface="Calibri"/>
                <a:cs typeface="Calibri"/>
                <a:sym typeface="Calibri"/>
              </a:rPr>
              <a:t>Протокол 1</a:t>
            </a:r>
            <a:endParaRPr b="1" sz="2000">
              <a:solidFill>
                <a:schemeClr val="dk1"/>
              </a:solidFill>
              <a:latin typeface="Calibri"/>
              <a:ea typeface="Calibri"/>
              <a:cs typeface="Calibri"/>
              <a:sym typeface="Calibri"/>
            </a:endParaRPr>
          </a:p>
        </p:txBody>
      </p:sp>
      <p:sp>
        <p:nvSpPr>
          <p:cNvPr id="308" name="Google Shape;308;p15"/>
          <p:cNvSpPr txBox="1"/>
          <p:nvPr/>
        </p:nvSpPr>
        <p:spPr>
          <a:xfrm>
            <a:off x="7028111" y="1241103"/>
            <a:ext cx="16129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ru-RU" sz="2000">
                <a:solidFill>
                  <a:schemeClr val="dk1"/>
                </a:solidFill>
                <a:latin typeface="Calibri"/>
                <a:ea typeface="Calibri"/>
                <a:cs typeface="Calibri"/>
                <a:sym typeface="Calibri"/>
              </a:rPr>
              <a:t>Протокол 2</a:t>
            </a:r>
            <a:endParaRPr b="1" sz="2000">
              <a:solidFill>
                <a:schemeClr val="dk1"/>
              </a:solidFill>
              <a:latin typeface="Calibri"/>
              <a:ea typeface="Calibri"/>
              <a:cs typeface="Calibri"/>
              <a:sym typeface="Calibri"/>
            </a:endParaRPr>
          </a:p>
        </p:txBody>
      </p:sp>
      <p:grpSp>
        <p:nvGrpSpPr>
          <p:cNvPr id="309" name="Google Shape;309;p15"/>
          <p:cNvGrpSpPr/>
          <p:nvPr/>
        </p:nvGrpSpPr>
        <p:grpSpPr>
          <a:xfrm>
            <a:off x="962273" y="1618928"/>
            <a:ext cx="8142288" cy="4716463"/>
            <a:chOff x="697" y="1178"/>
            <a:chExt cx="5129" cy="2971"/>
          </a:xfrm>
        </p:grpSpPr>
        <p:sp>
          <p:nvSpPr>
            <p:cNvPr id="310" name="Google Shape;310;p15"/>
            <p:cNvSpPr/>
            <p:nvPr/>
          </p:nvSpPr>
          <p:spPr>
            <a:xfrm>
              <a:off x="876" y="1218"/>
              <a:ext cx="1451" cy="1117"/>
            </a:xfrm>
            <a:prstGeom prst="rect">
              <a:avLst/>
            </a:prstGeom>
            <a:noFill/>
            <a:ln cap="flat" cmpd="sng" w="25400">
              <a:solidFill>
                <a:srgbClr val="384B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1" name="Google Shape;311;p15"/>
            <p:cNvSpPr txBox="1"/>
            <p:nvPr/>
          </p:nvSpPr>
          <p:spPr>
            <a:xfrm>
              <a:off x="4626" y="1882"/>
              <a:ext cx="203" cy="32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800">
                  <a:solidFill>
                    <a:schemeClr val="dk1"/>
                  </a:solidFill>
                  <a:latin typeface="Calibri"/>
                  <a:ea typeface="Calibri"/>
                  <a:cs typeface="Calibri"/>
                  <a:sym typeface="Calibri"/>
                </a:rPr>
                <a:t>*</a:t>
              </a:r>
              <a:endParaRPr/>
            </a:p>
          </p:txBody>
        </p:sp>
        <p:sp>
          <p:nvSpPr>
            <p:cNvPr id="312" name="Google Shape;312;p15"/>
            <p:cNvSpPr txBox="1"/>
            <p:nvPr/>
          </p:nvSpPr>
          <p:spPr>
            <a:xfrm>
              <a:off x="2676" y="2047"/>
              <a:ext cx="203" cy="32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800">
                  <a:solidFill>
                    <a:schemeClr val="dk1"/>
                  </a:solidFill>
                  <a:latin typeface="Calibri"/>
                  <a:ea typeface="Calibri"/>
                  <a:cs typeface="Calibri"/>
                  <a:sym typeface="Calibri"/>
                </a:rPr>
                <a:t>*</a:t>
              </a:r>
              <a:endParaRPr/>
            </a:p>
          </p:txBody>
        </p:sp>
        <p:sp>
          <p:nvSpPr>
            <p:cNvPr id="313" name="Google Shape;313;p15"/>
            <p:cNvSpPr txBox="1"/>
            <p:nvPr/>
          </p:nvSpPr>
          <p:spPr>
            <a:xfrm>
              <a:off x="4240" y="2122"/>
              <a:ext cx="203" cy="32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800">
                  <a:solidFill>
                    <a:schemeClr val="dk1"/>
                  </a:solidFill>
                  <a:latin typeface="Calibri"/>
                  <a:ea typeface="Calibri"/>
                  <a:cs typeface="Calibri"/>
                  <a:sym typeface="Calibri"/>
                </a:rPr>
                <a:t>*</a:t>
              </a:r>
              <a:endParaRPr/>
            </a:p>
          </p:txBody>
        </p:sp>
        <p:sp>
          <p:nvSpPr>
            <p:cNvPr id="314" name="Google Shape;314;p15"/>
            <p:cNvSpPr txBox="1"/>
            <p:nvPr/>
          </p:nvSpPr>
          <p:spPr>
            <a:xfrm>
              <a:off x="3753" y="1231"/>
              <a:ext cx="203" cy="32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800">
                  <a:solidFill>
                    <a:schemeClr val="dk1"/>
                  </a:solidFill>
                  <a:latin typeface="Calibri"/>
                  <a:ea typeface="Calibri"/>
                  <a:cs typeface="Calibri"/>
                  <a:sym typeface="Calibri"/>
                </a:rPr>
                <a:t>*</a:t>
              </a:r>
              <a:endParaRPr/>
            </a:p>
          </p:txBody>
        </p:sp>
        <p:sp>
          <p:nvSpPr>
            <p:cNvPr id="315" name="Google Shape;315;p15"/>
            <p:cNvSpPr txBox="1"/>
            <p:nvPr/>
          </p:nvSpPr>
          <p:spPr>
            <a:xfrm>
              <a:off x="4974" y="1596"/>
              <a:ext cx="203" cy="32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800">
                  <a:solidFill>
                    <a:schemeClr val="dk1"/>
                  </a:solidFill>
                  <a:latin typeface="Calibri"/>
                  <a:ea typeface="Calibri"/>
                  <a:cs typeface="Calibri"/>
                  <a:sym typeface="Calibri"/>
                </a:rPr>
                <a:t>*</a:t>
              </a:r>
              <a:endParaRPr/>
            </a:p>
          </p:txBody>
        </p:sp>
        <p:sp>
          <p:nvSpPr>
            <p:cNvPr id="316" name="Google Shape;316;p15"/>
            <p:cNvSpPr/>
            <p:nvPr/>
          </p:nvSpPr>
          <p:spPr>
            <a:xfrm>
              <a:off x="2554" y="1224"/>
              <a:ext cx="1491" cy="1117"/>
            </a:xfrm>
            <a:prstGeom prst="rect">
              <a:avLst/>
            </a:prstGeom>
            <a:noFill/>
            <a:ln cap="flat" cmpd="sng" w="25400">
              <a:solidFill>
                <a:srgbClr val="384B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7" name="Google Shape;317;p15"/>
            <p:cNvSpPr txBox="1"/>
            <p:nvPr/>
          </p:nvSpPr>
          <p:spPr>
            <a:xfrm>
              <a:off x="4312" y="2083"/>
              <a:ext cx="203" cy="32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800">
                  <a:solidFill>
                    <a:schemeClr val="dk1"/>
                  </a:solidFill>
                  <a:latin typeface="Calibri"/>
                  <a:ea typeface="Calibri"/>
                  <a:cs typeface="Calibri"/>
                  <a:sym typeface="Calibri"/>
                </a:rPr>
                <a:t>*</a:t>
              </a:r>
              <a:endParaRPr/>
            </a:p>
          </p:txBody>
        </p:sp>
        <p:sp>
          <p:nvSpPr>
            <p:cNvPr id="318" name="Google Shape;318;p15"/>
            <p:cNvSpPr txBox="1"/>
            <p:nvPr/>
          </p:nvSpPr>
          <p:spPr>
            <a:xfrm>
              <a:off x="5210" y="1432"/>
              <a:ext cx="203" cy="32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800">
                  <a:solidFill>
                    <a:schemeClr val="dk1"/>
                  </a:solidFill>
                  <a:latin typeface="Calibri"/>
                  <a:ea typeface="Calibri"/>
                  <a:cs typeface="Calibri"/>
                  <a:sym typeface="Calibri"/>
                </a:rPr>
                <a:t>*</a:t>
              </a:r>
              <a:endParaRPr/>
            </a:p>
          </p:txBody>
        </p:sp>
        <p:sp>
          <p:nvSpPr>
            <p:cNvPr id="319" name="Google Shape;319;p15"/>
            <p:cNvSpPr txBox="1"/>
            <p:nvPr/>
          </p:nvSpPr>
          <p:spPr>
            <a:xfrm>
              <a:off x="5515" y="1178"/>
              <a:ext cx="203" cy="32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800">
                  <a:solidFill>
                    <a:schemeClr val="dk1"/>
                  </a:solidFill>
                  <a:latin typeface="Calibri"/>
                  <a:ea typeface="Calibri"/>
                  <a:cs typeface="Calibri"/>
                  <a:sym typeface="Calibri"/>
                </a:rPr>
                <a:t>*</a:t>
              </a:r>
              <a:endParaRPr/>
            </a:p>
          </p:txBody>
        </p:sp>
        <p:sp>
          <p:nvSpPr>
            <p:cNvPr id="320" name="Google Shape;320;p15"/>
            <p:cNvSpPr txBox="1"/>
            <p:nvPr/>
          </p:nvSpPr>
          <p:spPr>
            <a:xfrm>
              <a:off x="2948" y="1882"/>
              <a:ext cx="203" cy="32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800">
                  <a:solidFill>
                    <a:schemeClr val="dk1"/>
                  </a:solidFill>
                  <a:latin typeface="Calibri"/>
                  <a:ea typeface="Calibri"/>
                  <a:cs typeface="Calibri"/>
                  <a:sym typeface="Calibri"/>
                </a:rPr>
                <a:t>*</a:t>
              </a:r>
              <a:endParaRPr/>
            </a:p>
          </p:txBody>
        </p:sp>
        <p:sp>
          <p:nvSpPr>
            <p:cNvPr id="321" name="Google Shape;321;p15"/>
            <p:cNvSpPr txBox="1"/>
            <p:nvPr/>
          </p:nvSpPr>
          <p:spPr>
            <a:xfrm>
              <a:off x="4794" y="1717"/>
              <a:ext cx="203" cy="32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800">
                  <a:solidFill>
                    <a:schemeClr val="dk1"/>
                  </a:solidFill>
                  <a:latin typeface="Calibri"/>
                  <a:ea typeface="Calibri"/>
                  <a:cs typeface="Calibri"/>
                  <a:sym typeface="Calibri"/>
                </a:rPr>
                <a:t>*</a:t>
              </a:r>
              <a:endParaRPr/>
            </a:p>
          </p:txBody>
        </p:sp>
        <p:sp>
          <p:nvSpPr>
            <p:cNvPr id="322" name="Google Shape;322;p15"/>
            <p:cNvSpPr txBox="1"/>
            <p:nvPr/>
          </p:nvSpPr>
          <p:spPr>
            <a:xfrm>
              <a:off x="1529" y="2478"/>
              <a:ext cx="284"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ru-RU" sz="1800">
                  <a:solidFill>
                    <a:schemeClr val="dk1"/>
                  </a:solidFill>
                  <a:latin typeface="Calibri"/>
                  <a:ea typeface="Calibri"/>
                  <a:cs typeface="Calibri"/>
                  <a:sym typeface="Calibri"/>
                </a:rPr>
                <a:t>h0</a:t>
              </a:r>
              <a:endParaRPr b="1" sz="1800">
                <a:solidFill>
                  <a:schemeClr val="dk1"/>
                </a:solidFill>
                <a:latin typeface="Calibri"/>
                <a:ea typeface="Calibri"/>
                <a:cs typeface="Calibri"/>
                <a:sym typeface="Calibri"/>
              </a:endParaRPr>
            </a:p>
          </p:txBody>
        </p:sp>
        <p:sp>
          <p:nvSpPr>
            <p:cNvPr id="323" name="Google Shape;323;p15"/>
            <p:cNvSpPr txBox="1"/>
            <p:nvPr/>
          </p:nvSpPr>
          <p:spPr>
            <a:xfrm>
              <a:off x="3071" y="2576"/>
              <a:ext cx="536"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ru-RU" sz="1800">
                  <a:solidFill>
                    <a:schemeClr val="dk1"/>
                  </a:solidFill>
                  <a:latin typeface="Calibri"/>
                  <a:ea typeface="Calibri"/>
                  <a:cs typeface="Calibri"/>
                  <a:sym typeface="Calibri"/>
                </a:rPr>
                <a:t>h1&gt;h0</a:t>
              </a:r>
              <a:endParaRPr b="1" sz="1800">
                <a:solidFill>
                  <a:schemeClr val="dk1"/>
                </a:solidFill>
                <a:latin typeface="Calibri"/>
                <a:ea typeface="Calibri"/>
                <a:cs typeface="Calibri"/>
                <a:sym typeface="Calibri"/>
              </a:endParaRPr>
            </a:p>
          </p:txBody>
        </p:sp>
        <p:sp>
          <p:nvSpPr>
            <p:cNvPr id="324" name="Google Shape;324;p15"/>
            <p:cNvSpPr txBox="1"/>
            <p:nvPr/>
          </p:nvSpPr>
          <p:spPr>
            <a:xfrm>
              <a:off x="2154" y="2335"/>
              <a:ext cx="212"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ru-RU" sz="1800">
                  <a:solidFill>
                    <a:schemeClr val="dk1"/>
                  </a:solidFill>
                  <a:latin typeface="Calibri"/>
                  <a:ea typeface="Calibri"/>
                  <a:cs typeface="Calibri"/>
                  <a:sym typeface="Calibri"/>
                </a:rPr>
                <a:t>X</a:t>
              </a:r>
              <a:endParaRPr b="1" sz="1800">
                <a:solidFill>
                  <a:schemeClr val="dk1"/>
                </a:solidFill>
                <a:latin typeface="Calibri"/>
                <a:ea typeface="Calibri"/>
                <a:cs typeface="Calibri"/>
                <a:sym typeface="Calibri"/>
              </a:endParaRPr>
            </a:p>
          </p:txBody>
        </p:sp>
        <p:sp>
          <p:nvSpPr>
            <p:cNvPr id="325" name="Google Shape;325;p15"/>
            <p:cNvSpPr txBox="1"/>
            <p:nvPr/>
          </p:nvSpPr>
          <p:spPr>
            <a:xfrm>
              <a:off x="727" y="1200"/>
              <a:ext cx="212"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ru-RU" sz="1800">
                  <a:solidFill>
                    <a:schemeClr val="dk1"/>
                  </a:solidFill>
                  <a:latin typeface="Calibri"/>
                  <a:ea typeface="Calibri"/>
                  <a:cs typeface="Calibri"/>
                  <a:sym typeface="Calibri"/>
                </a:rPr>
                <a:t>Y</a:t>
              </a:r>
              <a:endParaRPr b="1" sz="1800">
                <a:solidFill>
                  <a:schemeClr val="dk1"/>
                </a:solidFill>
                <a:latin typeface="Calibri"/>
                <a:ea typeface="Calibri"/>
                <a:cs typeface="Calibri"/>
                <a:sym typeface="Calibri"/>
              </a:endParaRPr>
            </a:p>
          </p:txBody>
        </p:sp>
        <p:sp>
          <p:nvSpPr>
            <p:cNvPr id="326" name="Google Shape;326;p15"/>
            <p:cNvSpPr txBox="1"/>
            <p:nvPr/>
          </p:nvSpPr>
          <p:spPr>
            <a:xfrm>
              <a:off x="3899" y="2343"/>
              <a:ext cx="212"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ru-RU" sz="1800">
                  <a:solidFill>
                    <a:schemeClr val="dk1"/>
                  </a:solidFill>
                  <a:latin typeface="Calibri"/>
                  <a:ea typeface="Calibri"/>
                  <a:cs typeface="Calibri"/>
                  <a:sym typeface="Calibri"/>
                </a:rPr>
                <a:t>X</a:t>
              </a:r>
              <a:endParaRPr b="1" sz="1800">
                <a:solidFill>
                  <a:schemeClr val="dk1"/>
                </a:solidFill>
                <a:latin typeface="Calibri"/>
                <a:ea typeface="Calibri"/>
                <a:cs typeface="Calibri"/>
                <a:sym typeface="Calibri"/>
              </a:endParaRPr>
            </a:p>
          </p:txBody>
        </p:sp>
        <p:sp>
          <p:nvSpPr>
            <p:cNvPr id="327" name="Google Shape;327;p15"/>
            <p:cNvSpPr txBox="1"/>
            <p:nvPr/>
          </p:nvSpPr>
          <p:spPr>
            <a:xfrm>
              <a:off x="2406" y="1199"/>
              <a:ext cx="212"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ru-RU" sz="1800">
                  <a:solidFill>
                    <a:schemeClr val="dk1"/>
                  </a:solidFill>
                  <a:latin typeface="Calibri"/>
                  <a:ea typeface="Calibri"/>
                  <a:cs typeface="Calibri"/>
                  <a:sym typeface="Calibri"/>
                </a:rPr>
                <a:t>Y</a:t>
              </a:r>
              <a:endParaRPr b="1" sz="1800">
                <a:solidFill>
                  <a:schemeClr val="dk1"/>
                </a:solidFill>
                <a:latin typeface="Calibri"/>
                <a:ea typeface="Calibri"/>
                <a:cs typeface="Calibri"/>
                <a:sym typeface="Calibri"/>
              </a:endParaRPr>
            </a:p>
          </p:txBody>
        </p:sp>
        <p:sp>
          <p:nvSpPr>
            <p:cNvPr id="328" name="Google Shape;328;p15"/>
            <p:cNvSpPr/>
            <p:nvPr/>
          </p:nvSpPr>
          <p:spPr>
            <a:xfrm>
              <a:off x="4252" y="1210"/>
              <a:ext cx="1491" cy="1117"/>
            </a:xfrm>
            <a:prstGeom prst="rect">
              <a:avLst/>
            </a:prstGeom>
            <a:noFill/>
            <a:ln cap="flat" cmpd="sng" w="25400">
              <a:solidFill>
                <a:srgbClr val="384B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29" name="Google Shape;329;p15"/>
            <p:cNvCxnSpPr/>
            <p:nvPr/>
          </p:nvCxnSpPr>
          <p:spPr>
            <a:xfrm>
              <a:off x="2593" y="1252"/>
              <a:ext cx="446" cy="436"/>
            </a:xfrm>
            <a:prstGeom prst="straightConnector1">
              <a:avLst/>
            </a:prstGeom>
            <a:noFill/>
            <a:ln cap="flat" cmpd="sng" w="15875">
              <a:solidFill>
                <a:schemeClr val="hlink"/>
              </a:solidFill>
              <a:prstDash val="solid"/>
              <a:round/>
              <a:headEnd len="med" w="med" type="none"/>
              <a:tailEnd len="med" w="med" type="none"/>
            </a:ln>
          </p:spPr>
        </p:cxnSp>
        <p:cxnSp>
          <p:nvCxnSpPr>
            <p:cNvPr id="330" name="Google Shape;330;p15"/>
            <p:cNvCxnSpPr/>
            <p:nvPr/>
          </p:nvCxnSpPr>
          <p:spPr>
            <a:xfrm>
              <a:off x="3063" y="1252"/>
              <a:ext cx="236" cy="232"/>
            </a:xfrm>
            <a:prstGeom prst="straightConnector1">
              <a:avLst/>
            </a:prstGeom>
            <a:noFill/>
            <a:ln cap="flat" cmpd="sng" w="15875">
              <a:solidFill>
                <a:schemeClr val="hlink"/>
              </a:solidFill>
              <a:prstDash val="solid"/>
              <a:round/>
              <a:headEnd len="med" w="med" type="none"/>
              <a:tailEnd len="med" w="med" type="none"/>
            </a:ln>
          </p:spPr>
        </p:cxnSp>
        <p:cxnSp>
          <p:nvCxnSpPr>
            <p:cNvPr id="331" name="Google Shape;331;p15"/>
            <p:cNvCxnSpPr/>
            <p:nvPr/>
          </p:nvCxnSpPr>
          <p:spPr>
            <a:xfrm rot="10800000">
              <a:off x="4262" y="1200"/>
              <a:ext cx="594" cy="561"/>
            </a:xfrm>
            <a:prstGeom prst="straightConnector1">
              <a:avLst/>
            </a:prstGeom>
            <a:noFill/>
            <a:ln cap="flat" cmpd="sng" w="15875">
              <a:solidFill>
                <a:schemeClr val="hlink"/>
              </a:solidFill>
              <a:prstDash val="solid"/>
              <a:round/>
              <a:headEnd len="med" w="med" type="none"/>
              <a:tailEnd len="med" w="med" type="none"/>
            </a:ln>
          </p:spPr>
        </p:cxnSp>
        <p:cxnSp>
          <p:nvCxnSpPr>
            <p:cNvPr id="332" name="Google Shape;332;p15"/>
            <p:cNvCxnSpPr/>
            <p:nvPr/>
          </p:nvCxnSpPr>
          <p:spPr>
            <a:xfrm flipH="1">
              <a:off x="2554" y="1252"/>
              <a:ext cx="1053" cy="831"/>
            </a:xfrm>
            <a:prstGeom prst="straightConnector1">
              <a:avLst/>
            </a:prstGeom>
            <a:noFill/>
            <a:ln cap="flat" cmpd="sng" w="15875">
              <a:solidFill>
                <a:schemeClr val="hlink"/>
              </a:solidFill>
              <a:prstDash val="solid"/>
              <a:round/>
              <a:headEnd len="med" w="med" type="none"/>
              <a:tailEnd len="med" w="med" type="none"/>
            </a:ln>
          </p:spPr>
        </p:cxnSp>
        <p:cxnSp>
          <p:nvCxnSpPr>
            <p:cNvPr id="333" name="Google Shape;333;p15"/>
            <p:cNvCxnSpPr/>
            <p:nvPr/>
          </p:nvCxnSpPr>
          <p:spPr>
            <a:xfrm>
              <a:off x="4856" y="1231"/>
              <a:ext cx="293" cy="276"/>
            </a:xfrm>
            <a:prstGeom prst="straightConnector1">
              <a:avLst/>
            </a:prstGeom>
            <a:noFill/>
            <a:ln cap="flat" cmpd="sng" w="15875">
              <a:solidFill>
                <a:schemeClr val="hlink"/>
              </a:solidFill>
              <a:prstDash val="solid"/>
              <a:round/>
              <a:headEnd len="med" w="med" type="none"/>
              <a:tailEnd len="med" w="med" type="none"/>
            </a:ln>
          </p:spPr>
        </p:cxnSp>
        <p:cxnSp>
          <p:nvCxnSpPr>
            <p:cNvPr id="334" name="Google Shape;334;p15"/>
            <p:cNvCxnSpPr/>
            <p:nvPr/>
          </p:nvCxnSpPr>
          <p:spPr>
            <a:xfrm rot="10800000">
              <a:off x="2554" y="1657"/>
              <a:ext cx="237" cy="229"/>
            </a:xfrm>
            <a:prstGeom prst="straightConnector1">
              <a:avLst/>
            </a:prstGeom>
            <a:noFill/>
            <a:ln cap="flat" cmpd="sng" w="15875">
              <a:solidFill>
                <a:schemeClr val="hlink"/>
              </a:solidFill>
              <a:prstDash val="solid"/>
              <a:round/>
              <a:headEnd len="med" w="med" type="none"/>
              <a:tailEnd len="med" w="med" type="none"/>
            </a:ln>
          </p:spPr>
        </p:cxnSp>
        <p:cxnSp>
          <p:nvCxnSpPr>
            <p:cNvPr id="335" name="Google Shape;335;p15"/>
            <p:cNvCxnSpPr/>
            <p:nvPr/>
          </p:nvCxnSpPr>
          <p:spPr>
            <a:xfrm flipH="1">
              <a:off x="3063" y="1577"/>
              <a:ext cx="982" cy="758"/>
            </a:xfrm>
            <a:prstGeom prst="straightConnector1">
              <a:avLst/>
            </a:prstGeom>
            <a:noFill/>
            <a:ln cap="flat" cmpd="sng" w="15875">
              <a:solidFill>
                <a:schemeClr val="hlink"/>
              </a:solidFill>
              <a:prstDash val="solid"/>
              <a:round/>
              <a:headEnd len="med" w="med" type="none"/>
              <a:tailEnd len="med" w="med" type="none"/>
            </a:ln>
          </p:spPr>
        </p:cxnSp>
        <p:cxnSp>
          <p:nvCxnSpPr>
            <p:cNvPr id="336" name="Google Shape;336;p15"/>
            <p:cNvCxnSpPr/>
            <p:nvPr/>
          </p:nvCxnSpPr>
          <p:spPr>
            <a:xfrm>
              <a:off x="3607" y="1886"/>
              <a:ext cx="438" cy="441"/>
            </a:xfrm>
            <a:prstGeom prst="straightConnector1">
              <a:avLst/>
            </a:prstGeom>
            <a:noFill/>
            <a:ln cap="flat" cmpd="sng" w="15875">
              <a:solidFill>
                <a:schemeClr val="hlink"/>
              </a:solidFill>
              <a:prstDash val="solid"/>
              <a:round/>
              <a:headEnd len="med" w="med" type="none"/>
              <a:tailEnd len="med" w="med" type="none"/>
            </a:ln>
          </p:spPr>
        </p:cxnSp>
        <p:cxnSp>
          <p:nvCxnSpPr>
            <p:cNvPr id="337" name="Google Shape;337;p15"/>
            <p:cNvCxnSpPr/>
            <p:nvPr/>
          </p:nvCxnSpPr>
          <p:spPr>
            <a:xfrm rot="10800000">
              <a:off x="3356" y="2119"/>
              <a:ext cx="251" cy="224"/>
            </a:xfrm>
            <a:prstGeom prst="straightConnector1">
              <a:avLst/>
            </a:prstGeom>
            <a:noFill/>
            <a:ln cap="flat" cmpd="sng" w="15875">
              <a:solidFill>
                <a:schemeClr val="hlink"/>
              </a:solidFill>
              <a:prstDash val="solid"/>
              <a:round/>
              <a:headEnd len="med" w="med" type="none"/>
              <a:tailEnd len="med" w="med" type="none"/>
            </a:ln>
          </p:spPr>
        </p:cxnSp>
        <p:cxnSp>
          <p:nvCxnSpPr>
            <p:cNvPr id="338" name="Google Shape;338;p15"/>
            <p:cNvCxnSpPr/>
            <p:nvPr/>
          </p:nvCxnSpPr>
          <p:spPr>
            <a:xfrm>
              <a:off x="3868" y="1761"/>
              <a:ext cx="193" cy="195"/>
            </a:xfrm>
            <a:prstGeom prst="straightConnector1">
              <a:avLst/>
            </a:prstGeom>
            <a:noFill/>
            <a:ln cap="flat" cmpd="sng" w="15875">
              <a:solidFill>
                <a:schemeClr val="hlink"/>
              </a:solidFill>
              <a:prstDash val="solid"/>
              <a:round/>
              <a:headEnd len="med" w="med" type="none"/>
              <a:tailEnd len="med" w="med" type="none"/>
            </a:ln>
          </p:spPr>
        </p:cxnSp>
        <p:cxnSp>
          <p:nvCxnSpPr>
            <p:cNvPr id="339" name="Google Shape;339;p15"/>
            <p:cNvCxnSpPr/>
            <p:nvPr/>
          </p:nvCxnSpPr>
          <p:spPr>
            <a:xfrm rot="10800000">
              <a:off x="2554" y="1882"/>
              <a:ext cx="1537" cy="0"/>
            </a:xfrm>
            <a:prstGeom prst="straightConnector1">
              <a:avLst/>
            </a:prstGeom>
            <a:noFill/>
            <a:ln cap="flat" cmpd="sng" w="15875">
              <a:solidFill>
                <a:schemeClr val="hlink"/>
              </a:solidFill>
              <a:prstDash val="dash"/>
              <a:round/>
              <a:headEnd len="med" w="med" type="none"/>
              <a:tailEnd len="med" w="med" type="none"/>
            </a:ln>
          </p:spPr>
        </p:cxnSp>
        <p:sp>
          <p:nvSpPr>
            <p:cNvPr id="340" name="Google Shape;340;p15"/>
            <p:cNvSpPr txBox="1"/>
            <p:nvPr/>
          </p:nvSpPr>
          <p:spPr>
            <a:xfrm>
              <a:off x="4890" y="1648"/>
              <a:ext cx="203" cy="32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800">
                  <a:solidFill>
                    <a:schemeClr val="dk1"/>
                  </a:solidFill>
                  <a:latin typeface="Calibri"/>
                  <a:ea typeface="Calibri"/>
                  <a:cs typeface="Calibri"/>
                  <a:sym typeface="Calibri"/>
                </a:rPr>
                <a:t>*</a:t>
              </a:r>
              <a:endParaRPr/>
            </a:p>
          </p:txBody>
        </p:sp>
        <p:sp>
          <p:nvSpPr>
            <p:cNvPr id="341" name="Google Shape;341;p15"/>
            <p:cNvSpPr txBox="1"/>
            <p:nvPr/>
          </p:nvSpPr>
          <p:spPr>
            <a:xfrm>
              <a:off x="4512" y="1955"/>
              <a:ext cx="203" cy="32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800">
                  <a:solidFill>
                    <a:schemeClr val="dk1"/>
                  </a:solidFill>
                  <a:latin typeface="Calibri"/>
                  <a:ea typeface="Calibri"/>
                  <a:cs typeface="Calibri"/>
                  <a:sym typeface="Calibri"/>
                </a:rPr>
                <a:t>*</a:t>
              </a:r>
              <a:endParaRPr/>
            </a:p>
          </p:txBody>
        </p:sp>
        <p:sp>
          <p:nvSpPr>
            <p:cNvPr id="342" name="Google Shape;342;p15"/>
            <p:cNvSpPr txBox="1"/>
            <p:nvPr/>
          </p:nvSpPr>
          <p:spPr>
            <a:xfrm>
              <a:off x="5390" y="1311"/>
              <a:ext cx="203" cy="32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800">
                  <a:solidFill>
                    <a:schemeClr val="dk1"/>
                  </a:solidFill>
                  <a:latin typeface="Calibri"/>
                  <a:ea typeface="Calibri"/>
                  <a:cs typeface="Calibri"/>
                  <a:sym typeface="Calibri"/>
                </a:rPr>
                <a:t>*</a:t>
              </a:r>
              <a:endParaRPr/>
            </a:p>
          </p:txBody>
        </p:sp>
        <p:cxnSp>
          <p:nvCxnSpPr>
            <p:cNvPr id="343" name="Google Shape;343;p15"/>
            <p:cNvCxnSpPr/>
            <p:nvPr/>
          </p:nvCxnSpPr>
          <p:spPr>
            <a:xfrm flipH="1">
              <a:off x="4414" y="1343"/>
              <a:ext cx="1331" cy="996"/>
            </a:xfrm>
            <a:prstGeom prst="straightConnector1">
              <a:avLst/>
            </a:prstGeom>
            <a:noFill/>
            <a:ln cap="flat" cmpd="sng" w="15875">
              <a:solidFill>
                <a:schemeClr val="hlink"/>
              </a:solidFill>
              <a:prstDash val="solid"/>
              <a:round/>
              <a:headEnd len="med" w="med" type="none"/>
              <a:tailEnd len="med" w="med" type="none"/>
            </a:ln>
          </p:spPr>
        </p:cxnSp>
        <p:cxnSp>
          <p:nvCxnSpPr>
            <p:cNvPr id="344" name="Google Shape;344;p15"/>
            <p:cNvCxnSpPr/>
            <p:nvPr/>
          </p:nvCxnSpPr>
          <p:spPr>
            <a:xfrm flipH="1">
              <a:off x="4262" y="1199"/>
              <a:ext cx="1358" cy="978"/>
            </a:xfrm>
            <a:prstGeom prst="straightConnector1">
              <a:avLst/>
            </a:prstGeom>
            <a:noFill/>
            <a:ln cap="flat" cmpd="sng" w="15875">
              <a:solidFill>
                <a:schemeClr val="hlink"/>
              </a:solidFill>
              <a:prstDash val="solid"/>
              <a:round/>
              <a:headEnd len="med" w="med" type="none"/>
              <a:tailEnd len="med" w="med" type="none"/>
            </a:ln>
          </p:spPr>
        </p:cxnSp>
        <p:cxnSp>
          <p:nvCxnSpPr>
            <p:cNvPr id="345" name="Google Shape;345;p15"/>
            <p:cNvCxnSpPr/>
            <p:nvPr/>
          </p:nvCxnSpPr>
          <p:spPr>
            <a:xfrm rot="10800000">
              <a:off x="876" y="1882"/>
              <a:ext cx="1413" cy="4"/>
            </a:xfrm>
            <a:prstGeom prst="straightConnector1">
              <a:avLst/>
            </a:prstGeom>
            <a:noFill/>
            <a:ln cap="flat" cmpd="sng" w="15875">
              <a:solidFill>
                <a:schemeClr val="hlink"/>
              </a:solidFill>
              <a:prstDash val="dash"/>
              <a:round/>
              <a:headEnd len="med" w="med" type="none"/>
              <a:tailEnd len="med" w="med" type="none"/>
            </a:ln>
          </p:spPr>
        </p:cxnSp>
        <p:cxnSp>
          <p:nvCxnSpPr>
            <p:cNvPr id="346" name="Google Shape;346;p15"/>
            <p:cNvCxnSpPr/>
            <p:nvPr/>
          </p:nvCxnSpPr>
          <p:spPr>
            <a:xfrm rot="10800000">
              <a:off x="4247" y="1828"/>
              <a:ext cx="1496" cy="18"/>
            </a:xfrm>
            <a:prstGeom prst="straightConnector1">
              <a:avLst/>
            </a:prstGeom>
            <a:noFill/>
            <a:ln cap="flat" cmpd="sng" w="15875">
              <a:solidFill>
                <a:schemeClr val="hlink"/>
              </a:solidFill>
              <a:prstDash val="dash"/>
              <a:round/>
              <a:headEnd len="med" w="med" type="none"/>
              <a:tailEnd len="med" w="med" type="none"/>
            </a:ln>
          </p:spPr>
        </p:cxnSp>
        <p:cxnSp>
          <p:nvCxnSpPr>
            <p:cNvPr id="347" name="Google Shape;347;p15"/>
            <p:cNvCxnSpPr/>
            <p:nvPr/>
          </p:nvCxnSpPr>
          <p:spPr>
            <a:xfrm rot="10800000">
              <a:off x="2808" y="1857"/>
              <a:ext cx="0" cy="470"/>
            </a:xfrm>
            <a:prstGeom prst="straightConnector1">
              <a:avLst/>
            </a:prstGeom>
            <a:noFill/>
            <a:ln cap="flat" cmpd="sng" w="15875">
              <a:solidFill>
                <a:schemeClr val="hlink"/>
              </a:solidFill>
              <a:prstDash val="dash"/>
              <a:round/>
              <a:headEnd len="med" w="med" type="none"/>
              <a:tailEnd len="med" w="med" type="none"/>
            </a:ln>
          </p:spPr>
        </p:cxnSp>
        <p:cxnSp>
          <p:nvCxnSpPr>
            <p:cNvPr id="348" name="Google Shape;348;p15"/>
            <p:cNvCxnSpPr/>
            <p:nvPr/>
          </p:nvCxnSpPr>
          <p:spPr>
            <a:xfrm rot="10800000">
              <a:off x="3664" y="1886"/>
              <a:ext cx="0" cy="435"/>
            </a:xfrm>
            <a:prstGeom prst="straightConnector1">
              <a:avLst/>
            </a:prstGeom>
            <a:noFill/>
            <a:ln cap="flat" cmpd="sng" w="15875">
              <a:solidFill>
                <a:schemeClr val="hlink"/>
              </a:solidFill>
              <a:prstDash val="dash"/>
              <a:round/>
              <a:headEnd len="med" w="med" type="none"/>
              <a:tailEnd len="med" w="med" type="none"/>
            </a:ln>
          </p:spPr>
        </p:cxnSp>
        <p:cxnSp>
          <p:nvCxnSpPr>
            <p:cNvPr id="349" name="Google Shape;349;p15"/>
            <p:cNvCxnSpPr/>
            <p:nvPr/>
          </p:nvCxnSpPr>
          <p:spPr>
            <a:xfrm rot="10800000">
              <a:off x="4741" y="1841"/>
              <a:ext cx="0" cy="486"/>
            </a:xfrm>
            <a:prstGeom prst="straightConnector1">
              <a:avLst/>
            </a:prstGeom>
            <a:noFill/>
            <a:ln cap="flat" cmpd="sng" w="15875">
              <a:solidFill>
                <a:schemeClr val="hlink"/>
              </a:solidFill>
              <a:prstDash val="dash"/>
              <a:round/>
              <a:headEnd len="med" w="med" type="none"/>
              <a:tailEnd len="med" w="med" type="none"/>
            </a:ln>
          </p:spPr>
        </p:cxnSp>
        <p:cxnSp>
          <p:nvCxnSpPr>
            <p:cNvPr id="350" name="Google Shape;350;p15"/>
            <p:cNvCxnSpPr/>
            <p:nvPr/>
          </p:nvCxnSpPr>
          <p:spPr>
            <a:xfrm rot="10800000">
              <a:off x="5088" y="1811"/>
              <a:ext cx="0" cy="481"/>
            </a:xfrm>
            <a:prstGeom prst="straightConnector1">
              <a:avLst/>
            </a:prstGeom>
            <a:noFill/>
            <a:ln cap="flat" cmpd="sng" w="15875">
              <a:solidFill>
                <a:schemeClr val="hlink"/>
              </a:solidFill>
              <a:prstDash val="dash"/>
              <a:round/>
              <a:headEnd len="med" w="med" type="none"/>
              <a:tailEnd len="med" w="med" type="none"/>
            </a:ln>
          </p:spPr>
        </p:cxnSp>
        <p:sp>
          <p:nvSpPr>
            <p:cNvPr id="351" name="Google Shape;351;p15"/>
            <p:cNvSpPr/>
            <p:nvPr/>
          </p:nvSpPr>
          <p:spPr>
            <a:xfrm rot="-5400000">
              <a:off x="3116" y="1979"/>
              <a:ext cx="255" cy="857"/>
            </a:xfrm>
            <a:prstGeom prst="leftBrace">
              <a:avLst>
                <a:gd fmla="val 8324" name="adj1"/>
                <a:gd fmla="val 50000" name="adj2"/>
              </a:avLst>
            </a:prstGeom>
            <a:noFill/>
            <a:ln cap="flat" cmpd="sng" w="15875">
              <a:solidFill>
                <a:schemeClr val="hlink"/>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5"/>
            <p:cNvSpPr txBox="1"/>
            <p:nvPr/>
          </p:nvSpPr>
          <p:spPr>
            <a:xfrm>
              <a:off x="2805" y="2276"/>
              <a:ext cx="845" cy="9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53" name="Google Shape;353;p15"/>
            <p:cNvSpPr/>
            <p:nvPr/>
          </p:nvSpPr>
          <p:spPr>
            <a:xfrm rot="-5400000">
              <a:off x="4781" y="2234"/>
              <a:ext cx="256" cy="358"/>
            </a:xfrm>
            <a:prstGeom prst="leftBrace">
              <a:avLst>
                <a:gd fmla="val 8300" name="adj1"/>
                <a:gd fmla="val 54023" name="adj2"/>
              </a:avLst>
            </a:prstGeom>
            <a:noFill/>
            <a:ln cap="flat" cmpd="sng" w="15875">
              <a:solidFill>
                <a:schemeClr val="hlink"/>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5"/>
            <p:cNvSpPr txBox="1"/>
            <p:nvPr/>
          </p:nvSpPr>
          <p:spPr>
            <a:xfrm>
              <a:off x="4730" y="2276"/>
              <a:ext cx="346" cy="91"/>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55" name="Google Shape;355;p15"/>
            <p:cNvSpPr txBox="1"/>
            <p:nvPr/>
          </p:nvSpPr>
          <p:spPr>
            <a:xfrm>
              <a:off x="4657" y="2576"/>
              <a:ext cx="536"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ru-RU" sz="1800">
                  <a:solidFill>
                    <a:schemeClr val="dk1"/>
                  </a:solidFill>
                  <a:latin typeface="Calibri"/>
                  <a:ea typeface="Calibri"/>
                  <a:cs typeface="Calibri"/>
                  <a:sym typeface="Calibri"/>
                </a:rPr>
                <a:t>h2&gt;h1</a:t>
              </a:r>
              <a:endParaRPr b="1" sz="1800">
                <a:solidFill>
                  <a:schemeClr val="dk1"/>
                </a:solidFill>
                <a:latin typeface="Calibri"/>
                <a:ea typeface="Calibri"/>
                <a:cs typeface="Calibri"/>
                <a:sym typeface="Calibri"/>
              </a:endParaRPr>
            </a:p>
          </p:txBody>
        </p:sp>
        <p:sp>
          <p:nvSpPr>
            <p:cNvPr id="356" name="Google Shape;356;p15"/>
            <p:cNvSpPr/>
            <p:nvPr/>
          </p:nvSpPr>
          <p:spPr>
            <a:xfrm rot="-5400000">
              <a:off x="1519" y="1727"/>
              <a:ext cx="203" cy="1413"/>
            </a:xfrm>
            <a:prstGeom prst="leftBrace">
              <a:avLst>
                <a:gd fmla="val 8314" name="adj1"/>
                <a:gd fmla="val 50000" name="adj2"/>
              </a:avLst>
            </a:prstGeom>
            <a:noFill/>
            <a:ln cap="flat" cmpd="sng" w="15875">
              <a:solidFill>
                <a:schemeClr val="hlink"/>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5"/>
            <p:cNvSpPr txBox="1"/>
            <p:nvPr/>
          </p:nvSpPr>
          <p:spPr>
            <a:xfrm>
              <a:off x="900" y="2330"/>
              <a:ext cx="1403" cy="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58" name="Google Shape;358;p15"/>
            <p:cNvSpPr txBox="1"/>
            <p:nvPr/>
          </p:nvSpPr>
          <p:spPr>
            <a:xfrm>
              <a:off x="4075" y="1200"/>
              <a:ext cx="212"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ru-RU" sz="1800">
                  <a:solidFill>
                    <a:schemeClr val="dk1"/>
                  </a:solidFill>
                  <a:latin typeface="Calibri"/>
                  <a:ea typeface="Calibri"/>
                  <a:cs typeface="Calibri"/>
                  <a:sym typeface="Calibri"/>
                </a:rPr>
                <a:t>Y</a:t>
              </a:r>
              <a:endParaRPr b="1" sz="1800">
                <a:solidFill>
                  <a:schemeClr val="dk1"/>
                </a:solidFill>
                <a:latin typeface="Calibri"/>
                <a:ea typeface="Calibri"/>
                <a:cs typeface="Calibri"/>
                <a:sym typeface="Calibri"/>
              </a:endParaRPr>
            </a:p>
          </p:txBody>
        </p:sp>
        <p:sp>
          <p:nvSpPr>
            <p:cNvPr id="359" name="Google Shape;359;p15"/>
            <p:cNvSpPr txBox="1"/>
            <p:nvPr/>
          </p:nvSpPr>
          <p:spPr>
            <a:xfrm>
              <a:off x="5614" y="2308"/>
              <a:ext cx="212"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ru-RU" sz="1800">
                  <a:solidFill>
                    <a:schemeClr val="dk1"/>
                  </a:solidFill>
                  <a:latin typeface="Calibri"/>
                  <a:ea typeface="Calibri"/>
                  <a:cs typeface="Calibri"/>
                  <a:sym typeface="Calibri"/>
                </a:rPr>
                <a:t>X</a:t>
              </a:r>
              <a:endParaRPr b="1" sz="1800">
                <a:solidFill>
                  <a:schemeClr val="dk1"/>
                </a:solidFill>
                <a:latin typeface="Calibri"/>
                <a:ea typeface="Calibri"/>
                <a:cs typeface="Calibri"/>
                <a:sym typeface="Calibri"/>
              </a:endParaRPr>
            </a:p>
          </p:txBody>
        </p:sp>
        <p:cxnSp>
          <p:nvCxnSpPr>
            <p:cNvPr id="360" name="Google Shape;360;p15"/>
            <p:cNvCxnSpPr/>
            <p:nvPr/>
          </p:nvCxnSpPr>
          <p:spPr>
            <a:xfrm>
              <a:off x="4278" y="1641"/>
              <a:ext cx="297" cy="315"/>
            </a:xfrm>
            <a:prstGeom prst="straightConnector1">
              <a:avLst/>
            </a:prstGeom>
            <a:noFill/>
            <a:ln cap="flat" cmpd="sng" w="15875">
              <a:solidFill>
                <a:schemeClr val="hlink"/>
              </a:solidFill>
              <a:prstDash val="solid"/>
              <a:round/>
              <a:headEnd len="med" w="med" type="none"/>
              <a:tailEnd len="med" w="med" type="none"/>
            </a:ln>
          </p:spPr>
        </p:cxnSp>
        <p:cxnSp>
          <p:nvCxnSpPr>
            <p:cNvPr id="361" name="Google Shape;361;p15"/>
            <p:cNvCxnSpPr>
              <a:stCxn id="359" idx="0"/>
            </p:cNvCxnSpPr>
            <p:nvPr/>
          </p:nvCxnSpPr>
          <p:spPr>
            <a:xfrm rot="10800000">
              <a:off x="5120" y="1708"/>
              <a:ext cx="600" cy="600"/>
            </a:xfrm>
            <a:prstGeom prst="straightConnector1">
              <a:avLst/>
            </a:prstGeom>
            <a:noFill/>
            <a:ln cap="flat" cmpd="sng" w="15875">
              <a:solidFill>
                <a:schemeClr val="hlink"/>
              </a:solidFill>
              <a:prstDash val="solid"/>
              <a:round/>
              <a:headEnd len="med" w="med" type="none"/>
              <a:tailEnd len="med" w="med" type="none"/>
            </a:ln>
          </p:spPr>
        </p:cxnSp>
        <p:cxnSp>
          <p:nvCxnSpPr>
            <p:cNvPr id="362" name="Google Shape;362;p15"/>
            <p:cNvCxnSpPr/>
            <p:nvPr/>
          </p:nvCxnSpPr>
          <p:spPr>
            <a:xfrm>
              <a:off x="4823" y="2062"/>
              <a:ext cx="297" cy="259"/>
            </a:xfrm>
            <a:prstGeom prst="straightConnector1">
              <a:avLst/>
            </a:prstGeom>
            <a:noFill/>
            <a:ln cap="flat" cmpd="sng" w="15875">
              <a:solidFill>
                <a:schemeClr val="hlink"/>
              </a:solidFill>
              <a:prstDash val="solid"/>
              <a:round/>
              <a:headEnd len="med" w="med" type="none"/>
              <a:tailEnd len="med" w="med" type="none"/>
            </a:ln>
          </p:spPr>
        </p:cxnSp>
        <p:cxnSp>
          <p:nvCxnSpPr>
            <p:cNvPr id="363" name="Google Shape;363;p15"/>
            <p:cNvCxnSpPr/>
            <p:nvPr/>
          </p:nvCxnSpPr>
          <p:spPr>
            <a:xfrm>
              <a:off x="5445" y="1530"/>
              <a:ext cx="298" cy="316"/>
            </a:xfrm>
            <a:prstGeom prst="straightConnector1">
              <a:avLst/>
            </a:prstGeom>
            <a:noFill/>
            <a:ln cap="flat" cmpd="sng" w="15875">
              <a:solidFill>
                <a:schemeClr val="hlink"/>
              </a:solidFill>
              <a:prstDash val="solid"/>
              <a:round/>
              <a:headEnd len="med" w="med" type="none"/>
              <a:tailEnd len="med" w="med" type="none"/>
            </a:ln>
          </p:spPr>
        </p:cxnSp>
        <p:sp>
          <p:nvSpPr>
            <p:cNvPr id="364" name="Google Shape;364;p15"/>
            <p:cNvSpPr/>
            <p:nvPr/>
          </p:nvSpPr>
          <p:spPr>
            <a:xfrm>
              <a:off x="896" y="2710"/>
              <a:ext cx="1452" cy="1117"/>
            </a:xfrm>
            <a:prstGeom prst="rect">
              <a:avLst/>
            </a:prstGeom>
            <a:noFill/>
            <a:ln cap="flat" cmpd="sng" w="25400">
              <a:solidFill>
                <a:srgbClr val="384B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65" name="Google Shape;365;p15"/>
            <p:cNvCxnSpPr/>
            <p:nvPr/>
          </p:nvCxnSpPr>
          <p:spPr>
            <a:xfrm flipH="1">
              <a:off x="896" y="2710"/>
              <a:ext cx="1452" cy="1117"/>
            </a:xfrm>
            <a:prstGeom prst="straightConnector1">
              <a:avLst/>
            </a:prstGeom>
            <a:noFill/>
            <a:ln cap="flat" cmpd="sng" w="34925">
              <a:solidFill>
                <a:schemeClr val="hlink"/>
              </a:solidFill>
              <a:prstDash val="solid"/>
              <a:round/>
              <a:headEnd len="med" w="med" type="none"/>
              <a:tailEnd len="med" w="med" type="none"/>
            </a:ln>
          </p:spPr>
        </p:cxnSp>
        <p:sp>
          <p:nvSpPr>
            <p:cNvPr id="366" name="Google Shape;366;p15"/>
            <p:cNvSpPr txBox="1"/>
            <p:nvPr/>
          </p:nvSpPr>
          <p:spPr>
            <a:xfrm>
              <a:off x="1485" y="3918"/>
              <a:ext cx="548"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ru-RU" sz="1800">
                  <a:solidFill>
                    <a:schemeClr val="dk1"/>
                  </a:solidFill>
                  <a:latin typeface="Calibri"/>
                  <a:ea typeface="Calibri"/>
                  <a:cs typeface="Calibri"/>
                  <a:sym typeface="Calibri"/>
                </a:rPr>
                <a:t>H max</a:t>
              </a:r>
              <a:endParaRPr b="1" sz="1800">
                <a:solidFill>
                  <a:schemeClr val="dk1"/>
                </a:solidFill>
                <a:latin typeface="Calibri"/>
                <a:ea typeface="Calibri"/>
                <a:cs typeface="Calibri"/>
                <a:sym typeface="Calibri"/>
              </a:endParaRPr>
            </a:p>
          </p:txBody>
        </p:sp>
        <p:sp>
          <p:nvSpPr>
            <p:cNvPr id="367" name="Google Shape;367;p15"/>
            <p:cNvSpPr txBox="1"/>
            <p:nvPr/>
          </p:nvSpPr>
          <p:spPr>
            <a:xfrm>
              <a:off x="697" y="2673"/>
              <a:ext cx="212"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ru-RU" sz="1800">
                  <a:solidFill>
                    <a:schemeClr val="dk1"/>
                  </a:solidFill>
                  <a:latin typeface="Calibri"/>
                  <a:ea typeface="Calibri"/>
                  <a:cs typeface="Calibri"/>
                  <a:sym typeface="Calibri"/>
                </a:rPr>
                <a:t>Y</a:t>
              </a:r>
              <a:endParaRPr b="1" sz="1800">
                <a:solidFill>
                  <a:schemeClr val="dk1"/>
                </a:solidFill>
                <a:latin typeface="Calibri"/>
                <a:ea typeface="Calibri"/>
                <a:cs typeface="Calibri"/>
                <a:sym typeface="Calibri"/>
              </a:endParaRPr>
            </a:p>
          </p:txBody>
        </p:sp>
        <p:sp>
          <p:nvSpPr>
            <p:cNvPr id="368" name="Google Shape;368;p15"/>
            <p:cNvSpPr txBox="1"/>
            <p:nvPr/>
          </p:nvSpPr>
          <p:spPr>
            <a:xfrm>
              <a:off x="1707" y="3247"/>
              <a:ext cx="582"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ru-RU" sz="2000">
                  <a:solidFill>
                    <a:schemeClr val="dk1"/>
                  </a:solidFill>
                  <a:latin typeface="Calibri"/>
                  <a:ea typeface="Calibri"/>
                  <a:cs typeface="Calibri"/>
                  <a:sym typeface="Calibri"/>
                </a:rPr>
                <a:t>Y=f(X)</a:t>
              </a:r>
              <a:endParaRPr b="1" sz="2000">
                <a:solidFill>
                  <a:schemeClr val="dk1"/>
                </a:solidFill>
                <a:latin typeface="Calibri"/>
                <a:ea typeface="Calibri"/>
                <a:cs typeface="Calibri"/>
                <a:sym typeface="Calibri"/>
              </a:endParaRPr>
            </a:p>
          </p:txBody>
        </p:sp>
      </p:grpSp>
      <p:sp>
        <p:nvSpPr>
          <p:cNvPr id="369" name="Google Shape;369;p15"/>
          <p:cNvSpPr/>
          <p:nvPr/>
        </p:nvSpPr>
        <p:spPr>
          <a:xfrm>
            <a:off x="3554661" y="2520628"/>
            <a:ext cx="287337" cy="358775"/>
          </a:xfrm>
          <a:prstGeom prst="rightArrow">
            <a:avLst>
              <a:gd fmla="val 50000" name="adj1"/>
              <a:gd fmla="val 25000" name="adj2"/>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370" name="Google Shape;370;p15"/>
          <p:cNvSpPr/>
          <p:nvPr/>
        </p:nvSpPr>
        <p:spPr>
          <a:xfrm>
            <a:off x="6256586" y="2520628"/>
            <a:ext cx="287337" cy="358775"/>
          </a:xfrm>
          <a:prstGeom prst="rightArrow">
            <a:avLst>
              <a:gd fmla="val 50000" name="adj1"/>
              <a:gd fmla="val 25000" name="adj2"/>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371" name="Google Shape;371;p15"/>
          <p:cNvSpPr/>
          <p:nvPr/>
        </p:nvSpPr>
        <p:spPr>
          <a:xfrm>
            <a:off x="9026773" y="2520628"/>
            <a:ext cx="287338" cy="358775"/>
          </a:xfrm>
          <a:prstGeom prst="rightArrow">
            <a:avLst>
              <a:gd fmla="val 50000" name="adj1"/>
              <a:gd fmla="val 25000" name="adj2"/>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372" name="Google Shape;372;p15"/>
          <p:cNvSpPr/>
          <p:nvPr/>
        </p:nvSpPr>
        <p:spPr>
          <a:xfrm>
            <a:off x="890836" y="4679628"/>
            <a:ext cx="287337" cy="358775"/>
          </a:xfrm>
          <a:prstGeom prst="rightArrow">
            <a:avLst>
              <a:gd fmla="val 50000" name="adj1"/>
              <a:gd fmla="val 25000" name="adj2"/>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373" name="Google Shape;373;p15"/>
          <p:cNvSpPr/>
          <p:nvPr/>
        </p:nvSpPr>
        <p:spPr>
          <a:xfrm>
            <a:off x="3812630" y="4398641"/>
            <a:ext cx="5776911" cy="19389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000">
                <a:solidFill>
                  <a:schemeClr val="dk1"/>
                </a:solidFill>
                <a:latin typeface="Arial"/>
                <a:ea typeface="Arial"/>
                <a:cs typeface="Arial"/>
                <a:sym typeface="Arial"/>
              </a:rPr>
              <a:t>Набирая все больше данных, мы получаем возможность уточнить гипотезу – сузить область допустимых значений.</a:t>
            </a:r>
            <a:endParaRPr/>
          </a:p>
          <a:p>
            <a:pPr indent="0" lvl="0" marL="0" marR="0" rtl="0" algn="l">
              <a:spcBef>
                <a:spcPts val="0"/>
              </a:spcBef>
              <a:spcAft>
                <a:spcPts val="0"/>
              </a:spcAft>
              <a:buNone/>
            </a:pPr>
            <a:r>
              <a:rPr lang="ru-RU" sz="2000">
                <a:solidFill>
                  <a:schemeClr val="dk1"/>
                </a:solidFill>
                <a:latin typeface="Arial"/>
                <a:ea typeface="Arial"/>
                <a:cs typeface="Arial"/>
                <a:sym typeface="Arial"/>
              </a:rPr>
              <a:t>И, в конце концов приходим к функциональной зависимости, которая позволит получать прогнозируемый результат.</a:t>
            </a:r>
            <a:endParaRPr/>
          </a:p>
        </p:txBody>
      </p:sp>
      <p:sp>
        <p:nvSpPr>
          <p:cNvPr id="374" name="Google Shape;374;p15"/>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16"/>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380" name="Google Shape;380;p16"/>
          <p:cNvSpPr txBox="1"/>
          <p:nvPr>
            <p:ph idx="4294967295" type="title"/>
          </p:nvPr>
        </p:nvSpPr>
        <p:spPr>
          <a:xfrm>
            <a:off x="0" y="285750"/>
            <a:ext cx="9248775" cy="11874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hlink"/>
              </a:buClr>
              <a:buSzPts val="4500"/>
              <a:buFont typeface="Calibri"/>
              <a:buNone/>
            </a:pPr>
            <a:r>
              <a:rPr b="1" lang="ru-RU">
                <a:solidFill>
                  <a:schemeClr val="hlink"/>
                </a:solidFill>
              </a:rPr>
              <a:t>Эмпирическая гипотеза</a:t>
            </a:r>
            <a:endParaRPr/>
          </a:p>
        </p:txBody>
      </p:sp>
      <p:sp>
        <p:nvSpPr>
          <p:cNvPr id="381" name="Google Shape;381;p16"/>
          <p:cNvSpPr txBox="1"/>
          <p:nvPr>
            <p:ph idx="4294967295" type="body"/>
          </p:nvPr>
        </p:nvSpPr>
        <p:spPr>
          <a:xfrm>
            <a:off x="601663" y="1499866"/>
            <a:ext cx="9074150" cy="4892675"/>
          </a:xfrm>
          <a:prstGeom prst="rect">
            <a:avLst/>
          </a:prstGeom>
          <a:solidFill>
            <a:srgbClr val="FFFFFF"/>
          </a:solidFill>
          <a:ln>
            <a:noFill/>
          </a:ln>
        </p:spPr>
        <p:txBody>
          <a:bodyPr anchorCtr="0" anchor="t" bIns="45700" lIns="91425" spcFirstLastPara="1" rIns="91425" wrap="square" tIns="45700">
            <a:normAutofit/>
          </a:bodyPr>
          <a:lstStyle/>
          <a:p>
            <a:pPr indent="-90488" lvl="0" marL="90488" rtl="0" algn="l">
              <a:spcBef>
                <a:spcPts val="0"/>
              </a:spcBef>
              <a:spcAft>
                <a:spcPts val="0"/>
              </a:spcAft>
              <a:buClr>
                <a:schemeClr val="dk1"/>
              </a:buClr>
              <a:buSzPts val="2700"/>
              <a:buFont typeface="Calibri"/>
              <a:buNone/>
            </a:pPr>
            <a:r>
              <a:rPr lang="ru-RU" sz="2700"/>
              <a:t>Эмпирическая гипотеза </a:t>
            </a:r>
            <a:r>
              <a:rPr i="1" lang="ru-RU" sz="2700"/>
              <a:t>h</a:t>
            </a:r>
            <a:r>
              <a:rPr lang="ru-RU" sz="2700"/>
              <a:t> - утверждение, которое говорит о том, </a:t>
            </a:r>
            <a:endParaRPr/>
          </a:p>
          <a:p>
            <a:pPr indent="-285750" lvl="1" marL="742950" rtl="0" algn="l">
              <a:spcBef>
                <a:spcPts val="440"/>
              </a:spcBef>
              <a:spcAft>
                <a:spcPts val="0"/>
              </a:spcAft>
              <a:buClr>
                <a:schemeClr val="dk1"/>
              </a:buClr>
              <a:buSzPts val="2200"/>
              <a:buChar char="–"/>
            </a:pPr>
            <a:r>
              <a:rPr lang="ru-RU" sz="2200"/>
              <a:t>что мы изучаем (</a:t>
            </a:r>
            <a:r>
              <a:rPr lang="ru-RU" sz="2200">
                <a:solidFill>
                  <a:srgbClr val="FF0000"/>
                </a:solidFill>
              </a:rPr>
              <a:t>W</a:t>
            </a:r>
            <a:r>
              <a:rPr lang="ru-RU" sz="2200"/>
              <a:t>), </a:t>
            </a:r>
            <a:endParaRPr/>
          </a:p>
          <a:p>
            <a:pPr indent="-285750" lvl="1" marL="742950" rtl="0" algn="l">
              <a:spcBef>
                <a:spcPts val="440"/>
              </a:spcBef>
              <a:spcAft>
                <a:spcPts val="0"/>
              </a:spcAft>
              <a:buClr>
                <a:schemeClr val="dk1"/>
              </a:buClr>
              <a:buSzPts val="2200"/>
              <a:buChar char="–"/>
            </a:pPr>
            <a:r>
              <a:rPr lang="ru-RU" sz="2200"/>
              <a:t>чем измеряем свойства (</a:t>
            </a:r>
            <a:r>
              <a:rPr lang="ru-RU" sz="2200">
                <a:solidFill>
                  <a:srgbClr val="FF0000"/>
                </a:solidFill>
              </a:rPr>
              <a:t>О</a:t>
            </a:r>
            <a:r>
              <a:rPr lang="ru-RU" sz="2200"/>
              <a:t>), </a:t>
            </a:r>
            <a:endParaRPr/>
          </a:p>
          <a:p>
            <a:pPr indent="-285750" lvl="1" marL="742950" rtl="0" algn="l">
              <a:spcBef>
                <a:spcPts val="440"/>
              </a:spcBef>
              <a:spcAft>
                <a:spcPts val="0"/>
              </a:spcAft>
              <a:buClr>
                <a:schemeClr val="dk1"/>
              </a:buClr>
              <a:buSzPts val="2200"/>
              <a:buChar char="–"/>
            </a:pPr>
            <a:r>
              <a:rPr lang="ru-RU" sz="2200"/>
              <a:t>как записываются результаты (</a:t>
            </a:r>
            <a:r>
              <a:rPr lang="ru-RU" sz="2200">
                <a:solidFill>
                  <a:srgbClr val="FF0000"/>
                </a:solidFill>
              </a:rPr>
              <a:t>V</a:t>
            </a:r>
            <a:r>
              <a:rPr lang="ru-RU" sz="2200"/>
              <a:t>)  - (выбор языка записи) и</a:t>
            </a:r>
            <a:endParaRPr/>
          </a:p>
          <a:p>
            <a:pPr indent="-285750" lvl="1" marL="742950" rtl="0" algn="l">
              <a:spcBef>
                <a:spcPts val="440"/>
              </a:spcBef>
              <a:spcAft>
                <a:spcPts val="0"/>
              </a:spcAft>
              <a:buClr>
                <a:schemeClr val="dk1"/>
              </a:buClr>
              <a:buSzPts val="2200"/>
              <a:buChar char="–"/>
            </a:pPr>
            <a:r>
              <a:rPr lang="ru-RU" sz="2200"/>
              <a:t>какие результаты, как  нам кажется, не встретятся в будущих протоколах (</a:t>
            </a:r>
            <a:r>
              <a:rPr lang="ru-RU" sz="2200">
                <a:solidFill>
                  <a:srgbClr val="FF0000"/>
                </a:solidFill>
              </a:rPr>
              <a:t>Т</a:t>
            </a:r>
            <a:r>
              <a:rPr lang="ru-RU" sz="2200"/>
              <a:t>), т.е сама гипотеза:</a:t>
            </a:r>
            <a:endParaRPr/>
          </a:p>
          <a:p>
            <a:pPr indent="-146050" lvl="1" marL="742950" rtl="0" algn="l">
              <a:spcBef>
                <a:spcPts val="440"/>
              </a:spcBef>
              <a:spcAft>
                <a:spcPts val="0"/>
              </a:spcAft>
              <a:buClr>
                <a:schemeClr val="dk1"/>
              </a:buClr>
              <a:buSzPts val="2200"/>
              <a:buNone/>
            </a:pPr>
            <a:r>
              <a:t/>
            </a:r>
            <a:endParaRPr sz="2200"/>
          </a:p>
          <a:p>
            <a:pPr indent="-285750" lvl="1" marL="742950" rtl="0" algn="l">
              <a:spcBef>
                <a:spcPts val="700"/>
              </a:spcBef>
              <a:spcAft>
                <a:spcPts val="0"/>
              </a:spcAft>
              <a:buClr>
                <a:srgbClr val="FF0000"/>
              </a:buClr>
              <a:buSzPts val="3500"/>
              <a:buChar char="–"/>
            </a:pPr>
            <a:r>
              <a:rPr lang="ru-RU" sz="3500">
                <a:solidFill>
                  <a:srgbClr val="FF0000"/>
                </a:solidFill>
              </a:rPr>
              <a:t>                  h=&lt;W,O,V,T&gt;</a:t>
            </a:r>
            <a:endParaRPr sz="2000"/>
          </a:p>
        </p:txBody>
      </p:sp>
      <p:sp>
        <p:nvSpPr>
          <p:cNvPr id="382" name="Google Shape;382;p16"/>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17"/>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389" name="Google Shape;389;p17"/>
          <p:cNvSpPr txBox="1"/>
          <p:nvPr>
            <p:ph idx="4294967295" type="title"/>
          </p:nvPr>
        </p:nvSpPr>
        <p:spPr>
          <a:xfrm>
            <a:off x="0" y="285750"/>
            <a:ext cx="9248775" cy="11874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hlink"/>
              </a:buClr>
              <a:buSzPts val="4500"/>
              <a:buFont typeface="Calibri"/>
              <a:buNone/>
            </a:pPr>
            <a:r>
              <a:rPr b="1" lang="ru-RU">
                <a:solidFill>
                  <a:schemeClr val="hlink"/>
                </a:solidFill>
              </a:rPr>
              <a:t>Фальсификация гипотез</a:t>
            </a:r>
            <a:endParaRPr/>
          </a:p>
        </p:txBody>
      </p:sp>
      <p:sp>
        <p:nvSpPr>
          <p:cNvPr id="390" name="Google Shape;390;p17"/>
          <p:cNvSpPr txBox="1"/>
          <p:nvPr>
            <p:ph idx="4294967295" type="body"/>
          </p:nvPr>
        </p:nvSpPr>
        <p:spPr>
          <a:xfrm>
            <a:off x="514350" y="1618928"/>
            <a:ext cx="9248775" cy="4703762"/>
          </a:xfrm>
          <a:prstGeom prst="rect">
            <a:avLst/>
          </a:prstGeom>
          <a:solidFill>
            <a:srgbClr val="FFFFFF"/>
          </a:solidFill>
          <a:ln>
            <a:noFill/>
          </a:ln>
        </p:spPr>
        <p:txBody>
          <a:bodyPr anchorCtr="0" anchor="t" bIns="45700" lIns="91425" spcFirstLastPara="1" rIns="91425" wrap="square" tIns="45700">
            <a:normAutofit/>
          </a:bodyPr>
          <a:lstStyle/>
          <a:p>
            <a:pPr indent="-90488" lvl="0" marL="90488" rtl="0" algn="l">
              <a:spcBef>
                <a:spcPts val="0"/>
              </a:spcBef>
              <a:spcAft>
                <a:spcPts val="0"/>
              </a:spcAft>
              <a:buClr>
                <a:schemeClr val="dk1"/>
              </a:buClr>
              <a:buSzPts val="2800"/>
              <a:buFont typeface="Calibri"/>
              <a:buNone/>
            </a:pPr>
            <a:r>
              <a:rPr lang="ru-RU" sz="2800"/>
              <a:t>Гипотезу нельзя доказать, но можно опровергнуть.</a:t>
            </a:r>
            <a:endParaRPr/>
          </a:p>
          <a:p>
            <a:pPr indent="-285750" lvl="1" marL="742950" rtl="0" algn="l">
              <a:spcBef>
                <a:spcPts val="480"/>
              </a:spcBef>
              <a:spcAft>
                <a:spcPts val="0"/>
              </a:spcAft>
              <a:buClr>
                <a:schemeClr val="dk1"/>
              </a:buClr>
              <a:buSzPts val="2400"/>
              <a:buFont typeface="Calibri"/>
              <a:buNone/>
            </a:pPr>
            <a:r>
              <a:rPr lang="ru-RU" sz="2400"/>
              <a:t>  </a:t>
            </a:r>
            <a:r>
              <a:rPr b="1" i="1" lang="ru-RU" sz="2000"/>
              <a:t>«Тот факт, что сегодня взошло солнце вовсе не говорит о том, что оно взойдет завтра» Людвиг Витгенштейн</a:t>
            </a:r>
            <a:endParaRPr sz="2000"/>
          </a:p>
          <a:p>
            <a:pPr indent="-90488" lvl="0" marL="90488" rtl="0" algn="l">
              <a:spcBef>
                <a:spcPts val="560"/>
              </a:spcBef>
              <a:spcAft>
                <a:spcPts val="0"/>
              </a:spcAft>
              <a:buClr>
                <a:schemeClr val="dk1"/>
              </a:buClr>
              <a:buSzPts val="2800"/>
              <a:buFont typeface="Calibri"/>
              <a:buNone/>
            </a:pPr>
            <a:r>
              <a:t/>
            </a:r>
            <a:endParaRPr sz="2800"/>
          </a:p>
          <a:p>
            <a:pPr indent="-90488" lvl="0" marL="90488" rtl="0" algn="l">
              <a:spcBef>
                <a:spcPts val="560"/>
              </a:spcBef>
              <a:spcAft>
                <a:spcPts val="0"/>
              </a:spcAft>
              <a:buClr>
                <a:schemeClr val="dk1"/>
              </a:buClr>
              <a:buSzPts val="2800"/>
              <a:buFont typeface="Calibri"/>
              <a:buNone/>
            </a:pPr>
            <a:r>
              <a:rPr lang="ru-RU" sz="2800"/>
              <a:t>Что делать, если эксперимент опровергает гипотезу? </a:t>
            </a:r>
            <a:endParaRPr/>
          </a:p>
          <a:p>
            <a:pPr indent="-285750" lvl="1" marL="742950" rtl="0" algn="l">
              <a:spcBef>
                <a:spcPts val="480"/>
              </a:spcBef>
              <a:spcAft>
                <a:spcPts val="0"/>
              </a:spcAft>
              <a:buClr>
                <a:schemeClr val="dk1"/>
              </a:buClr>
              <a:buSzPts val="2400"/>
              <a:buFont typeface="Calibri"/>
              <a:buNone/>
            </a:pPr>
            <a:r>
              <a:rPr lang="ru-RU" sz="2400"/>
              <a:t>Во-первых нужно убедиться, что в ходе эксперимента не было ошибок. Если их не было, то приходится согласиться с тем, что гипотеза не верна, и нужно формулировать другую гипотезу, которая включала бы в число допустимых протоколов и тот протокол, который опроверг прежнюю гипотезу.  </a:t>
            </a:r>
            <a:endParaRPr/>
          </a:p>
        </p:txBody>
      </p:sp>
      <p:sp>
        <p:nvSpPr>
          <p:cNvPr id="391" name="Google Shape;391;p17"/>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18"/>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398" name="Google Shape;398;p18"/>
          <p:cNvSpPr txBox="1"/>
          <p:nvPr>
            <p:ph idx="4294967295" type="title"/>
          </p:nvPr>
        </p:nvSpPr>
        <p:spPr>
          <a:xfrm>
            <a:off x="0" y="285750"/>
            <a:ext cx="7943850" cy="70643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hlink"/>
              </a:buClr>
              <a:buSzPct val="98425"/>
              <a:buFont typeface="Calibri"/>
              <a:buNone/>
            </a:pPr>
            <a:r>
              <a:rPr b="1" lang="ru-RU">
                <a:solidFill>
                  <a:schemeClr val="hlink"/>
                </a:solidFill>
              </a:rPr>
              <a:t>Характеристики гипотез</a:t>
            </a:r>
            <a:endParaRPr/>
          </a:p>
        </p:txBody>
      </p:sp>
      <p:sp>
        <p:nvSpPr>
          <p:cNvPr id="399" name="Google Shape;399;p18"/>
          <p:cNvSpPr txBox="1"/>
          <p:nvPr>
            <p:ph idx="4294967295" type="body"/>
          </p:nvPr>
        </p:nvSpPr>
        <p:spPr>
          <a:xfrm>
            <a:off x="601663" y="1242726"/>
            <a:ext cx="9432925" cy="5111750"/>
          </a:xfrm>
          <a:prstGeom prst="rect">
            <a:avLst/>
          </a:prstGeom>
          <a:noFill/>
          <a:ln>
            <a:noFill/>
          </a:ln>
        </p:spPr>
        <p:txBody>
          <a:bodyPr anchorCtr="0" anchor="t" bIns="45700" lIns="91425" spcFirstLastPara="1" rIns="91425" wrap="square" tIns="45700">
            <a:normAutofit/>
          </a:bodyPr>
          <a:lstStyle/>
          <a:p>
            <a:pPr indent="-146050" lvl="0" marL="90488" rtl="0" algn="l">
              <a:spcBef>
                <a:spcPts val="0"/>
              </a:spcBef>
              <a:spcAft>
                <a:spcPts val="0"/>
              </a:spcAft>
              <a:buClr>
                <a:schemeClr val="hlink"/>
              </a:buClr>
              <a:buSzPts val="2300"/>
              <a:buFont typeface="Noto Sans Symbols"/>
              <a:buChar char="✔"/>
            </a:pPr>
            <a:r>
              <a:rPr lang="ru-RU" sz="2300"/>
              <a:t> Потенциальная опровержимость Q     </a:t>
            </a:r>
            <a:endParaRPr/>
          </a:p>
          <a:p>
            <a:pPr indent="-146050" lvl="0" marL="90488" rtl="0" algn="l">
              <a:spcBef>
                <a:spcPts val="460"/>
              </a:spcBef>
              <a:spcAft>
                <a:spcPts val="0"/>
              </a:spcAft>
              <a:buClr>
                <a:schemeClr val="hlink"/>
              </a:buClr>
              <a:buSzPts val="2300"/>
              <a:buFont typeface="Noto Sans Symbols"/>
              <a:buChar char="✔"/>
            </a:pPr>
            <a:r>
              <a:rPr lang="ru-RU" sz="2300"/>
              <a:t> Степень подтвержденности (Р) -  </a:t>
            </a:r>
            <a:r>
              <a:rPr lang="ru-RU" sz="2300">
                <a:solidFill>
                  <a:srgbClr val="0070C0"/>
                </a:solidFill>
              </a:rPr>
              <a:t>чем больше подтверждений, тем больше веры в гипотезу.  </a:t>
            </a:r>
            <a:endParaRPr/>
          </a:p>
          <a:p>
            <a:pPr indent="-146050" lvl="0" marL="90488" rtl="0" algn="l">
              <a:spcBef>
                <a:spcPts val="460"/>
              </a:spcBef>
              <a:spcAft>
                <a:spcPts val="0"/>
              </a:spcAft>
              <a:buClr>
                <a:schemeClr val="hlink"/>
              </a:buClr>
              <a:buSzPts val="2300"/>
              <a:buFont typeface="Noto Sans Symbols"/>
              <a:buChar char="✔"/>
            </a:pPr>
            <a:r>
              <a:rPr lang="ru-RU" sz="2300"/>
              <a:t> Степень объясненности (R) - </a:t>
            </a:r>
            <a:r>
              <a:rPr lang="ru-RU" sz="2300">
                <a:solidFill>
                  <a:srgbClr val="0070C0"/>
                </a:solidFill>
              </a:rPr>
              <a:t>Если нет объясненности гипотезы – она не является абсолютно доказанной.</a:t>
            </a:r>
            <a:endParaRPr sz="1900">
              <a:solidFill>
                <a:srgbClr val="0070C0"/>
              </a:solidFill>
            </a:endParaRPr>
          </a:p>
          <a:p>
            <a:pPr indent="-146050" lvl="0" marL="90488" rtl="0" algn="l">
              <a:spcBef>
                <a:spcPts val="460"/>
              </a:spcBef>
              <a:spcAft>
                <a:spcPts val="0"/>
              </a:spcAft>
              <a:buClr>
                <a:schemeClr val="hlink"/>
              </a:buClr>
              <a:buSzPts val="2300"/>
              <a:buFont typeface="Noto Sans Symbols"/>
              <a:buChar char="✔"/>
            </a:pPr>
            <a:r>
              <a:rPr lang="ru-RU" sz="2300"/>
              <a:t> Форма, в которой  представлена гипотеза:-простота (S) </a:t>
            </a:r>
            <a:endParaRPr sz="2300"/>
          </a:p>
          <a:p>
            <a:pPr indent="-146050" lvl="0" marL="90488" rtl="0" algn="l">
              <a:spcBef>
                <a:spcPts val="460"/>
              </a:spcBef>
              <a:spcAft>
                <a:spcPts val="0"/>
              </a:spcAft>
              <a:buClr>
                <a:schemeClr val="hlink"/>
              </a:buClr>
              <a:buSzPts val="2300"/>
              <a:buFont typeface="Noto Sans Symbols"/>
              <a:buChar char="✔"/>
            </a:pPr>
            <a:r>
              <a:rPr lang="ru-RU" sz="2300"/>
              <a:t> изящество или  красота  формулировки (B) - </a:t>
            </a:r>
            <a:r>
              <a:rPr lang="ru-RU" sz="2300">
                <a:solidFill>
                  <a:srgbClr val="0070C0"/>
                </a:solidFill>
              </a:rPr>
              <a:t>пример – структура ДНК</a:t>
            </a:r>
            <a:r>
              <a:rPr lang="ru-RU" sz="1900">
                <a:solidFill>
                  <a:srgbClr val="0070C0"/>
                </a:solidFill>
              </a:rPr>
              <a:t>.</a:t>
            </a:r>
            <a:endParaRPr sz="1900">
              <a:solidFill>
                <a:srgbClr val="0070C0"/>
              </a:solidFill>
            </a:endParaRPr>
          </a:p>
          <a:p>
            <a:pPr indent="-90488" lvl="0" marL="90488" rtl="0" algn="l">
              <a:spcBef>
                <a:spcPts val="460"/>
              </a:spcBef>
              <a:spcAft>
                <a:spcPts val="0"/>
              </a:spcAft>
              <a:buClr>
                <a:schemeClr val="hlink"/>
              </a:buClr>
              <a:buSzPts val="2300"/>
              <a:buFont typeface="Noto Sans Symbols"/>
              <a:buNone/>
            </a:pPr>
            <a:r>
              <a:rPr lang="ru-RU" sz="2300"/>
              <a:t>   Т.е.  мы  имеем  дело  всегда  с  объектом </a:t>
            </a:r>
            <a:endParaRPr sz="2300"/>
          </a:p>
          <a:p>
            <a:pPr indent="1258888" lvl="0" marL="90488" rtl="0" algn="l">
              <a:spcBef>
                <a:spcPts val="660"/>
              </a:spcBef>
              <a:spcAft>
                <a:spcPts val="0"/>
              </a:spcAft>
              <a:buClr>
                <a:schemeClr val="hlink"/>
              </a:buClr>
              <a:buSzPts val="2300"/>
              <a:buFont typeface="Noto Sans Symbols"/>
              <a:buNone/>
            </a:pPr>
            <a:r>
              <a:rPr lang="ru-RU" sz="2300"/>
              <a:t>                     </a:t>
            </a:r>
            <a:r>
              <a:rPr lang="ru-RU" sz="3100">
                <a:solidFill>
                  <a:srgbClr val="FF0000"/>
                </a:solidFill>
              </a:rPr>
              <a:t>Z = &lt;h,Q,P,R,S,B&gt;</a:t>
            </a:r>
            <a:r>
              <a:rPr lang="ru-RU">
                <a:solidFill>
                  <a:srgbClr val="FF0000"/>
                </a:solidFill>
              </a:rPr>
              <a:t>  </a:t>
            </a:r>
            <a:endParaRPr>
              <a:solidFill>
                <a:srgbClr val="FF0000"/>
              </a:solidFill>
            </a:endParaRPr>
          </a:p>
          <a:p>
            <a:pPr indent="-90488" lvl="0" marL="90488" rtl="0" algn="l">
              <a:spcBef>
                <a:spcPts val="480"/>
              </a:spcBef>
              <a:spcAft>
                <a:spcPts val="0"/>
              </a:spcAft>
              <a:buClr>
                <a:schemeClr val="hlink"/>
              </a:buClr>
              <a:buSzPts val="2300"/>
              <a:buFont typeface="Noto Sans Symbols"/>
              <a:buNone/>
            </a:pPr>
            <a:r>
              <a:rPr lang="ru-RU" sz="2300"/>
              <a:t> </a:t>
            </a:r>
            <a:r>
              <a:rPr lang="ru-RU" sz="2400"/>
              <a:t>Этот  объект Z, т.е. гипотезу с ее характеристиками,  мы  и  называем  </a:t>
            </a:r>
            <a:r>
              <a:rPr b="1" i="1" lang="ru-RU" sz="2400"/>
              <a:t>эмпирической закономерностью.</a:t>
            </a:r>
            <a:endParaRPr/>
          </a:p>
        </p:txBody>
      </p:sp>
      <p:sp>
        <p:nvSpPr>
          <p:cNvPr id="400" name="Google Shape;400;p18"/>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19"/>
          <p:cNvSpPr/>
          <p:nvPr/>
        </p:nvSpPr>
        <p:spPr>
          <a:xfrm>
            <a:off x="242888" y="322784"/>
            <a:ext cx="9791700" cy="6552679"/>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406" name="Google Shape;406;p19"/>
          <p:cNvSpPr/>
          <p:nvPr/>
        </p:nvSpPr>
        <p:spPr>
          <a:xfrm>
            <a:off x="890588" y="469900"/>
            <a:ext cx="8351837" cy="647700"/>
          </a:xfrm>
          <a:prstGeom prst="roundRect">
            <a:avLst>
              <a:gd fmla="val 37582" name="adj"/>
            </a:avLst>
          </a:prstGeom>
          <a:solidFill>
            <a:srgbClr val="FFFFFF">
              <a:alpha val="78823"/>
            </a:srgbClr>
          </a:solidFill>
          <a:ln>
            <a:noFill/>
          </a:ln>
        </p:spPr>
        <p:txBody>
          <a:bodyPr anchorCtr="0" anchor="ctr" bIns="49700" lIns="99425" spcFirstLastPara="1" rIns="99425" wrap="square" tIns="49700">
            <a:noAutofit/>
          </a:bodyPr>
          <a:lstStyle/>
          <a:p>
            <a:pPr indent="0" lvl="0" marL="0" marR="0" rtl="0" algn="ctr">
              <a:spcBef>
                <a:spcPts val="0"/>
              </a:spcBef>
              <a:spcAft>
                <a:spcPts val="0"/>
              </a:spcAft>
              <a:buNone/>
            </a:pPr>
            <a:r>
              <a:rPr b="1" lang="ru-RU" sz="3600">
                <a:solidFill>
                  <a:schemeClr val="hlink"/>
                </a:solidFill>
                <a:latin typeface="Arial"/>
                <a:ea typeface="Arial"/>
                <a:cs typeface="Arial"/>
                <a:sym typeface="Arial"/>
              </a:rPr>
              <a:t>Схема усиления гипотез</a:t>
            </a:r>
            <a:endParaRPr sz="3500">
              <a:solidFill>
                <a:schemeClr val="lt1"/>
              </a:solidFill>
              <a:latin typeface="Arial"/>
              <a:ea typeface="Arial"/>
              <a:cs typeface="Arial"/>
              <a:sym typeface="Arial"/>
            </a:endParaRPr>
          </a:p>
        </p:txBody>
      </p:sp>
      <p:sp>
        <p:nvSpPr>
          <p:cNvPr id="407" name="Google Shape;407;p19"/>
          <p:cNvSpPr/>
          <p:nvPr/>
        </p:nvSpPr>
        <p:spPr>
          <a:xfrm>
            <a:off x="530919" y="1292391"/>
            <a:ext cx="9216331" cy="5289996"/>
          </a:xfrm>
          <a:prstGeom prst="roundRect">
            <a:avLst>
              <a:gd fmla="val 16667" name="adj"/>
            </a:avLst>
          </a:prstGeom>
          <a:solidFill>
            <a:srgbClr val="DDF4FC"/>
          </a:solidFill>
          <a:ln cap="flat" cmpd="sng" w="9525">
            <a:solidFill>
              <a:srgbClr val="A3E74C"/>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pic>
        <p:nvPicPr>
          <p:cNvPr id="408" name="Google Shape;408;p19"/>
          <p:cNvPicPr preferRelativeResize="0"/>
          <p:nvPr/>
        </p:nvPicPr>
        <p:blipFill rotWithShape="1">
          <a:blip r:embed="rId3">
            <a:alphaModFix/>
          </a:blip>
          <a:srcRect b="0" l="0" r="0" t="0"/>
          <a:stretch/>
        </p:blipFill>
        <p:spPr>
          <a:xfrm>
            <a:off x="-45839" y="1114425"/>
            <a:ext cx="5786809" cy="3199029"/>
          </a:xfrm>
          <a:prstGeom prst="rect">
            <a:avLst/>
          </a:prstGeom>
          <a:noFill/>
          <a:ln>
            <a:noFill/>
          </a:ln>
        </p:spPr>
      </p:pic>
      <p:pic>
        <p:nvPicPr>
          <p:cNvPr id="409" name="Google Shape;409;p19"/>
          <p:cNvPicPr preferRelativeResize="0"/>
          <p:nvPr/>
        </p:nvPicPr>
        <p:blipFill rotWithShape="1">
          <a:blip r:embed="rId4">
            <a:alphaModFix/>
          </a:blip>
          <a:srcRect b="0" l="0" r="0" t="0"/>
          <a:stretch/>
        </p:blipFill>
        <p:spPr>
          <a:xfrm>
            <a:off x="4497387" y="2425072"/>
            <a:ext cx="5249863" cy="4065587"/>
          </a:xfrm>
          <a:prstGeom prst="rect">
            <a:avLst/>
          </a:prstGeom>
          <a:noFill/>
          <a:ln>
            <a:noFill/>
          </a:ln>
        </p:spPr>
      </p:pic>
      <p:sp>
        <p:nvSpPr>
          <p:cNvPr id="410" name="Google Shape;410;p19"/>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20"/>
          <p:cNvSpPr/>
          <p:nvPr/>
        </p:nvSpPr>
        <p:spPr>
          <a:xfrm>
            <a:off x="242888" y="466204"/>
            <a:ext cx="9791700" cy="63373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416" name="Google Shape;416;p20"/>
          <p:cNvSpPr txBox="1"/>
          <p:nvPr>
            <p:ph idx="4294967295" type="title"/>
          </p:nvPr>
        </p:nvSpPr>
        <p:spPr>
          <a:xfrm>
            <a:off x="0" y="285750"/>
            <a:ext cx="9248775" cy="1187450"/>
          </a:xfrm>
          <a:prstGeom prst="rect">
            <a:avLst/>
          </a:prstGeom>
          <a:noFill/>
          <a:ln>
            <a:noFill/>
          </a:ln>
        </p:spPr>
        <p:txBody>
          <a:bodyPr anchorCtr="0" anchor="ctr" bIns="49700" lIns="99425" spcFirstLastPara="1" rIns="99425" wrap="square" tIns="49700">
            <a:normAutofit/>
          </a:bodyPr>
          <a:lstStyle/>
          <a:p>
            <a:pPr indent="0" lvl="0" marL="0" rtl="0" algn="ctr">
              <a:spcBef>
                <a:spcPts val="0"/>
              </a:spcBef>
              <a:spcAft>
                <a:spcPts val="0"/>
              </a:spcAft>
              <a:buClr>
                <a:schemeClr val="dk1"/>
              </a:buClr>
              <a:buSzPts val="3100"/>
              <a:buFont typeface="Calibri"/>
              <a:buNone/>
            </a:pPr>
            <a:r>
              <a:rPr b="1" lang="ru-RU" sz="3100"/>
              <a:t>Что делают Data Scientists?</a:t>
            </a:r>
            <a:endParaRPr b="1" sz="3100"/>
          </a:p>
        </p:txBody>
      </p:sp>
      <p:pic>
        <p:nvPicPr>
          <p:cNvPr descr="http://spectrum.ieee.org/img/data%20scientist-1348780097431.jpg" id="417" name="Google Shape;417;p20"/>
          <p:cNvPicPr preferRelativeResize="0"/>
          <p:nvPr/>
        </p:nvPicPr>
        <p:blipFill rotWithShape="1">
          <a:blip r:embed="rId3">
            <a:alphaModFix/>
          </a:blip>
          <a:srcRect b="0" l="0" r="0" t="0"/>
          <a:stretch/>
        </p:blipFill>
        <p:spPr>
          <a:xfrm>
            <a:off x="7100637" y="3634854"/>
            <a:ext cx="2791653" cy="2604294"/>
          </a:xfrm>
          <a:prstGeom prst="rect">
            <a:avLst/>
          </a:prstGeom>
          <a:noFill/>
          <a:ln>
            <a:noFill/>
          </a:ln>
        </p:spPr>
      </p:pic>
      <p:sp>
        <p:nvSpPr>
          <p:cNvPr id="418" name="Google Shape;418;p20"/>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419" name="Google Shape;419;p20"/>
          <p:cNvSpPr/>
          <p:nvPr/>
        </p:nvSpPr>
        <p:spPr>
          <a:xfrm>
            <a:off x="715722" y="1522195"/>
            <a:ext cx="6391481" cy="501675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000">
                <a:solidFill>
                  <a:schemeClr val="dk1"/>
                </a:solidFill>
                <a:latin typeface="Arial"/>
                <a:ea typeface="Arial"/>
                <a:cs typeface="Arial"/>
                <a:sym typeface="Arial"/>
              </a:rPr>
              <a:t>"Пока работает интернет-магазин, накапливаются данные: сохраняются логи пользователей: кто и с каким IP заходил на наш сайт, что он делал, какие страницы и в какой последовательности смотрел, какие товары в итоге выбрал, мы сохраняем все складские движения и так далее. </a:t>
            </a:r>
            <a:endParaRPr sz="2000">
              <a:solidFill>
                <a:schemeClr val="dk1"/>
              </a:solidFill>
              <a:latin typeface="Arial"/>
              <a:ea typeface="Arial"/>
              <a:cs typeface="Arial"/>
              <a:sym typeface="Arial"/>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ru-RU" sz="2000">
                <a:solidFill>
                  <a:schemeClr val="dk1"/>
                </a:solidFill>
                <a:latin typeface="Arial"/>
                <a:ea typeface="Arial"/>
                <a:cs typeface="Arial"/>
                <a:sym typeface="Arial"/>
              </a:rPr>
              <a:t>Когда у нас накопилось достаточно много информации, наша задача поддержания этого интернет-магазина в режиме эффективного функционирования фактически является задачей анализа данных, которая разбивается на много различных подзадач. Например, задача прогнозирования спроса, потому что каждый товар нам надо не просто покупать, а закупать в каком-то определенном количестве."</a:t>
            </a:r>
            <a:endParaRPr sz="2000">
              <a:solidFill>
                <a:schemeClr val="dk1"/>
              </a:solidFill>
              <a:latin typeface="Arial"/>
              <a:ea typeface="Arial"/>
              <a:cs typeface="Arial"/>
              <a:sym typeface="Arial"/>
            </a:endParaRPr>
          </a:p>
        </p:txBody>
      </p:sp>
      <p:sp>
        <p:nvSpPr>
          <p:cNvPr id="420" name="Google Shape;420;p20"/>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21"/>
          <p:cNvSpPr/>
          <p:nvPr/>
        </p:nvSpPr>
        <p:spPr>
          <a:xfrm>
            <a:off x="242888" y="322263"/>
            <a:ext cx="9791700" cy="63373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426" name="Google Shape;426;p21"/>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427" name="Google Shape;427;p21"/>
          <p:cNvSpPr/>
          <p:nvPr/>
        </p:nvSpPr>
        <p:spPr>
          <a:xfrm>
            <a:off x="442772" y="1204620"/>
            <a:ext cx="6712189"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400">
                <a:solidFill>
                  <a:schemeClr val="dk1"/>
                </a:solidFill>
                <a:latin typeface="Arial"/>
                <a:ea typeface="Arial"/>
                <a:cs typeface="Arial"/>
                <a:sym typeface="Arial"/>
              </a:rPr>
              <a:t>Авиакомпания </a:t>
            </a:r>
            <a:r>
              <a:rPr b="1" lang="ru-RU" sz="2400">
                <a:solidFill>
                  <a:schemeClr val="dk1"/>
                </a:solidFill>
                <a:latin typeface="Arial"/>
                <a:ea typeface="Arial"/>
                <a:cs typeface="Arial"/>
                <a:sym typeface="Arial"/>
              </a:rPr>
              <a:t>British Airways</a:t>
            </a:r>
            <a:r>
              <a:rPr lang="ru-RU" sz="2400">
                <a:solidFill>
                  <a:schemeClr val="dk1"/>
                </a:solidFill>
                <a:latin typeface="Arial"/>
                <a:ea typeface="Arial"/>
                <a:cs typeface="Arial"/>
                <a:sym typeface="Arial"/>
              </a:rPr>
              <a:t> собрала большой массив клиентской информации </a:t>
            </a:r>
            <a:endParaRPr/>
          </a:p>
          <a:p>
            <a:pPr indent="0" lvl="0" marL="0" marR="0" rtl="0" algn="l">
              <a:spcBef>
                <a:spcPts val="0"/>
              </a:spcBef>
              <a:spcAft>
                <a:spcPts val="0"/>
              </a:spcAft>
              <a:buNone/>
            </a:pPr>
            <a:r>
              <a:rPr lang="ru-RU" sz="2400">
                <a:solidFill>
                  <a:schemeClr val="dk1"/>
                </a:solidFill>
                <a:latin typeface="Arial"/>
                <a:ea typeface="Arial"/>
                <a:cs typeface="Arial"/>
                <a:sym typeface="Arial"/>
              </a:rPr>
              <a:t>при помощи программы лояльности Executive Club и своего вебсайта и поместила этот массив в систему обработки данных. </a:t>
            </a:r>
            <a:endParaRPr/>
          </a:p>
        </p:txBody>
      </p:sp>
      <p:pic>
        <p:nvPicPr>
          <p:cNvPr id="428" name="Google Shape;428;p21"/>
          <p:cNvPicPr preferRelativeResize="0"/>
          <p:nvPr/>
        </p:nvPicPr>
        <p:blipFill rotWithShape="1">
          <a:blip r:embed="rId3">
            <a:alphaModFix/>
          </a:blip>
          <a:srcRect b="0" l="0" r="0" t="0"/>
          <a:stretch/>
        </p:blipFill>
        <p:spPr>
          <a:xfrm>
            <a:off x="6624286" y="1200755"/>
            <a:ext cx="3410301" cy="1788866"/>
          </a:xfrm>
          <a:prstGeom prst="rect">
            <a:avLst/>
          </a:prstGeom>
          <a:noFill/>
          <a:ln>
            <a:noFill/>
          </a:ln>
        </p:spPr>
      </p:pic>
      <p:sp>
        <p:nvSpPr>
          <p:cNvPr id="429" name="Google Shape;429;p21"/>
          <p:cNvSpPr txBox="1"/>
          <p:nvPr/>
        </p:nvSpPr>
        <p:spPr>
          <a:xfrm>
            <a:off x="514350" y="3512944"/>
            <a:ext cx="9520237" cy="30469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400">
                <a:solidFill>
                  <a:schemeClr val="dk1"/>
                </a:solidFill>
                <a:latin typeface="Arial"/>
                <a:ea typeface="Arial"/>
                <a:cs typeface="Arial"/>
                <a:sym typeface="Arial"/>
              </a:rPr>
              <a:t>Полученные результаты использованы в программе </a:t>
            </a:r>
            <a:r>
              <a:rPr b="1" lang="ru-RU" sz="2400">
                <a:solidFill>
                  <a:schemeClr val="dk1"/>
                </a:solidFill>
                <a:latin typeface="Arial"/>
                <a:ea typeface="Arial"/>
                <a:cs typeface="Arial"/>
                <a:sym typeface="Arial"/>
              </a:rPr>
              <a:t>Know Me</a:t>
            </a:r>
            <a:r>
              <a:rPr lang="ru-RU" sz="2400">
                <a:solidFill>
                  <a:schemeClr val="dk1"/>
                </a:solidFill>
                <a:latin typeface="Arial"/>
                <a:ea typeface="Arial"/>
                <a:cs typeface="Arial"/>
                <a:sym typeface="Arial"/>
              </a:rPr>
              <a:t>, цель которой — лучше понимать потребности пассажиров. В рамках программы BA предоставляет наиболее лояльным клиентам различные преференции и бонусы, изучает вероятные проблемы, которые возникают у путешественников, и находит пути их решения, анализирует потребности клиентов для предоставления им самых релевантных предложений. </a:t>
            </a:r>
            <a:endParaRPr/>
          </a:p>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430" name="Google Shape;430;p21"/>
          <p:cNvSpPr/>
          <p:nvPr/>
        </p:nvSpPr>
        <p:spPr>
          <a:xfrm>
            <a:off x="818257" y="394792"/>
            <a:ext cx="8604957" cy="661947"/>
          </a:xfrm>
          <a:prstGeom prst="roundRect">
            <a:avLst>
              <a:gd fmla="val 45749" name="adj"/>
            </a:avLst>
          </a:prstGeom>
          <a:solidFill>
            <a:srgbClr val="FFFFFF">
              <a:alpha val="52549"/>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ru-RU" sz="2800">
                <a:solidFill>
                  <a:schemeClr val="dk1"/>
                </a:solidFill>
                <a:latin typeface="Arial"/>
                <a:ea typeface="Arial"/>
                <a:cs typeface="Arial"/>
                <a:sym typeface="Arial"/>
              </a:rPr>
              <a:t>Примеры эффективного использования</a:t>
            </a:r>
            <a:endParaRPr b="0" i="0" sz="2800" u="none" cap="none" strike="noStrike">
              <a:solidFill>
                <a:schemeClr val="dk1"/>
              </a:solidFill>
              <a:latin typeface="Arial"/>
              <a:ea typeface="Arial"/>
              <a:cs typeface="Arial"/>
              <a:sym typeface="Arial"/>
            </a:endParaRPr>
          </a:p>
        </p:txBody>
      </p:sp>
      <p:sp>
        <p:nvSpPr>
          <p:cNvPr id="431" name="Google Shape;431;p21"/>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22"/>
          <p:cNvSpPr/>
          <p:nvPr/>
        </p:nvSpPr>
        <p:spPr>
          <a:xfrm>
            <a:off x="242888" y="322263"/>
            <a:ext cx="9791700" cy="63373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437" name="Google Shape;437;p22"/>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438" name="Google Shape;438;p22"/>
          <p:cNvSpPr/>
          <p:nvPr/>
        </p:nvSpPr>
        <p:spPr>
          <a:xfrm>
            <a:off x="579661" y="1410617"/>
            <a:ext cx="9361040" cy="4524315"/>
          </a:xfrm>
          <a:prstGeom prst="rect">
            <a:avLst/>
          </a:prstGeom>
          <a:noFill/>
          <a:ln>
            <a:noFill/>
          </a:ln>
        </p:spPr>
        <p:txBody>
          <a:bodyPr anchorCtr="0" anchor="t" bIns="45700" lIns="91425" spcFirstLastPara="1" rIns="91425" wrap="square" tIns="45700">
            <a:spAutoFit/>
          </a:bodyPr>
          <a:lstStyle/>
          <a:p>
            <a:pPr indent="449263" lvl="0" marL="0" marR="0" rtl="0" algn="l">
              <a:spcBef>
                <a:spcPts val="0"/>
              </a:spcBef>
              <a:spcAft>
                <a:spcPts val="0"/>
              </a:spcAft>
              <a:buNone/>
            </a:pPr>
            <a:r>
              <a:rPr lang="ru-RU" sz="2400">
                <a:solidFill>
                  <a:schemeClr val="dk1"/>
                </a:solidFill>
                <a:latin typeface="Arial"/>
                <a:ea typeface="Arial"/>
                <a:cs typeface="Arial"/>
                <a:sym typeface="Arial"/>
              </a:rPr>
              <a:t>Вся информация собирается и анализируется в реальном времени, поступая через стойки регистрации и залы ожидания. Если по каким-либо причинам багаж пассажира не оказался на борту того же самолета, то в течение 10 минут после приземления на его телефон приходит текстовое уведомление. </a:t>
            </a:r>
            <a:endParaRPr/>
          </a:p>
          <a:p>
            <a:pPr indent="449263" lvl="0" marL="0" marR="0" rtl="0" algn="l">
              <a:spcBef>
                <a:spcPts val="0"/>
              </a:spcBef>
              <a:spcAft>
                <a:spcPts val="0"/>
              </a:spcAft>
              <a:buNone/>
            </a:pPr>
            <a:r>
              <a:rPr lang="ru-RU" sz="2400">
                <a:solidFill>
                  <a:schemeClr val="dk1"/>
                </a:solidFill>
                <a:latin typeface="Arial"/>
                <a:ea typeface="Arial"/>
                <a:cs typeface="Arial"/>
                <a:sym typeface="Arial"/>
              </a:rPr>
              <a:t>Авиакомпания собирает в реальном времени всю необходимую информацию для поиска потерянного багажа, так что последний автоматически отправляется в пункт назначения следующим же рейсом. Пассажиру при этом не нужно самостоятельно искать багаж или заполнять какие-либо заявления в аэропорту — он экономит время и нервы. </a:t>
            </a:r>
            <a:br>
              <a:rPr lang="ru-RU" sz="2400">
                <a:solidFill>
                  <a:schemeClr val="dk1"/>
                </a:solidFill>
                <a:latin typeface="Arial"/>
                <a:ea typeface="Arial"/>
                <a:cs typeface="Arial"/>
                <a:sym typeface="Arial"/>
              </a:rPr>
            </a:br>
            <a:endParaRPr sz="2400">
              <a:solidFill>
                <a:schemeClr val="dk1"/>
              </a:solidFill>
              <a:latin typeface="Arial"/>
              <a:ea typeface="Arial"/>
              <a:cs typeface="Arial"/>
              <a:sym typeface="Arial"/>
            </a:endParaRPr>
          </a:p>
        </p:txBody>
      </p:sp>
      <p:sp>
        <p:nvSpPr>
          <p:cNvPr id="439" name="Google Shape;439;p22"/>
          <p:cNvSpPr/>
          <p:nvPr/>
        </p:nvSpPr>
        <p:spPr>
          <a:xfrm>
            <a:off x="818257" y="394792"/>
            <a:ext cx="8604957" cy="661947"/>
          </a:xfrm>
          <a:prstGeom prst="roundRect">
            <a:avLst>
              <a:gd fmla="val 45749" name="adj"/>
            </a:avLst>
          </a:prstGeom>
          <a:solidFill>
            <a:srgbClr val="FFFFFF">
              <a:alpha val="52549"/>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ru-RU" sz="2800">
                <a:solidFill>
                  <a:schemeClr val="dk1"/>
                </a:solidFill>
                <a:latin typeface="Arial"/>
                <a:ea typeface="Arial"/>
                <a:cs typeface="Arial"/>
                <a:sym typeface="Arial"/>
              </a:rPr>
              <a:t>Примеры эффективного использования</a:t>
            </a:r>
            <a:endParaRPr b="0" i="0" sz="2800" u="none" cap="none" strike="noStrike">
              <a:solidFill>
                <a:schemeClr val="dk1"/>
              </a:solidFill>
              <a:latin typeface="Arial"/>
              <a:ea typeface="Arial"/>
              <a:cs typeface="Arial"/>
              <a:sym typeface="Arial"/>
            </a:endParaRPr>
          </a:p>
        </p:txBody>
      </p:sp>
      <p:sp>
        <p:nvSpPr>
          <p:cNvPr id="440" name="Google Shape;440;p22"/>
          <p:cNvSpPr/>
          <p:nvPr/>
        </p:nvSpPr>
        <p:spPr>
          <a:xfrm>
            <a:off x="1042003" y="6288811"/>
            <a:ext cx="770485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1600">
                <a:solidFill>
                  <a:schemeClr val="dk1"/>
                </a:solidFill>
                <a:latin typeface="Arial"/>
                <a:ea typeface="Arial"/>
                <a:cs typeface="Arial"/>
                <a:sym typeface="Arial"/>
              </a:rPr>
              <a:t>http://buyingbusinesstravel.com.ru/articles/bolshaya-gonka-za-bolshimi-dannymi/</a:t>
            </a:r>
            <a:endParaRPr/>
          </a:p>
        </p:txBody>
      </p:sp>
      <p:sp>
        <p:nvSpPr>
          <p:cNvPr id="441" name="Google Shape;441;p22"/>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23"/>
          <p:cNvSpPr/>
          <p:nvPr/>
        </p:nvSpPr>
        <p:spPr>
          <a:xfrm>
            <a:off x="242888" y="322263"/>
            <a:ext cx="9791700" cy="63373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pic>
        <p:nvPicPr>
          <p:cNvPr id="449" name="Google Shape;449;p23"/>
          <p:cNvPicPr preferRelativeResize="0"/>
          <p:nvPr>
            <p:ph idx="4294967295" type="body"/>
          </p:nvPr>
        </p:nvPicPr>
        <p:blipFill rotWithShape="1">
          <a:blip r:embed="rId3">
            <a:alphaModFix/>
          </a:blip>
          <a:srcRect b="0" l="0" r="0" t="0"/>
          <a:stretch/>
        </p:blipFill>
        <p:spPr>
          <a:xfrm>
            <a:off x="1178297" y="801718"/>
            <a:ext cx="6877050" cy="5927725"/>
          </a:xfrm>
          <a:prstGeom prst="rect">
            <a:avLst/>
          </a:prstGeom>
          <a:noFill/>
          <a:ln>
            <a:noFill/>
          </a:ln>
          <a:effectLst>
            <a:outerShdw blurRad="292100" rotWithShape="0" algn="tl" dir="2700000" dist="139700">
              <a:srgbClr val="333333">
                <a:alpha val="64705"/>
              </a:srgbClr>
            </a:outerShdw>
          </a:effectLst>
        </p:spPr>
      </p:pic>
      <p:sp>
        <p:nvSpPr>
          <p:cNvPr id="450" name="Google Shape;450;p23"/>
          <p:cNvSpPr txBox="1"/>
          <p:nvPr/>
        </p:nvSpPr>
        <p:spPr>
          <a:xfrm>
            <a:off x="577850" y="6811963"/>
            <a:ext cx="4240213" cy="236537"/>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950" cap="none">
              <a:solidFill>
                <a:schemeClr val="dk1"/>
              </a:solidFill>
              <a:latin typeface="Calibri"/>
              <a:ea typeface="Calibri"/>
              <a:cs typeface="Calibri"/>
              <a:sym typeface="Calibri"/>
            </a:endParaRPr>
          </a:p>
        </p:txBody>
      </p:sp>
      <p:sp>
        <p:nvSpPr>
          <p:cNvPr id="451" name="Google Shape;451;p23"/>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452" name="Google Shape;452;p23"/>
          <p:cNvSpPr/>
          <p:nvPr/>
        </p:nvSpPr>
        <p:spPr>
          <a:xfrm>
            <a:off x="3554413" y="249208"/>
            <a:ext cx="2861681" cy="40011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ru-RU" sz="2000">
                <a:solidFill>
                  <a:schemeClr val="dk1"/>
                </a:solidFill>
                <a:latin typeface="Arial"/>
                <a:ea typeface="Arial"/>
                <a:cs typeface="Arial"/>
                <a:sym typeface="Arial"/>
              </a:rPr>
              <a:t>Примеры аналитики</a:t>
            </a:r>
            <a:r>
              <a:rPr lang="ru-RU" sz="2000">
                <a:solidFill>
                  <a:schemeClr val="dk1"/>
                </a:solidFill>
                <a:latin typeface="Arial"/>
                <a:ea typeface="Arial"/>
                <a:cs typeface="Arial"/>
                <a:sym typeface="Arial"/>
              </a:rPr>
              <a:t> </a:t>
            </a:r>
            <a:endParaRPr/>
          </a:p>
        </p:txBody>
      </p:sp>
      <p:graphicFrame>
        <p:nvGraphicFramePr>
          <p:cNvPr id="453" name="Google Shape;453;p23"/>
          <p:cNvGraphicFramePr/>
          <p:nvPr/>
        </p:nvGraphicFramePr>
        <p:xfrm>
          <a:off x="242888" y="595314"/>
          <a:ext cx="3000000" cy="3000000"/>
        </p:xfrm>
        <a:graphic>
          <a:graphicData uri="http://schemas.openxmlformats.org/drawingml/2006/table">
            <a:tbl>
              <a:tblPr bandRow="1" firstCol="1" firstRow="1">
                <a:noFill/>
                <a:tableStyleId>{8B791199-9649-4A3A-BD92-4492640ED8CE}</a:tableStyleId>
              </a:tblPr>
              <a:tblGrid>
                <a:gridCol w="3188625"/>
                <a:gridCol w="6459750"/>
              </a:tblGrid>
              <a:tr h="254000">
                <a:tc gridSpan="2">
                  <a:txBody>
                    <a:bodyPr/>
                    <a:lstStyle/>
                    <a:p>
                      <a:pPr indent="0" lvl="0" marL="0" marR="0" rtl="0" algn="l">
                        <a:spcBef>
                          <a:spcPts val="0"/>
                        </a:spcBef>
                        <a:spcAft>
                          <a:spcPts val="0"/>
                        </a:spcAft>
                        <a:buNone/>
                      </a:pPr>
                      <a:r>
                        <a:rPr lang="ru-RU" sz="2000" u="none" cap="none" strike="noStrike">
                          <a:solidFill>
                            <a:schemeClr val="dk1"/>
                          </a:solidFill>
                        </a:rPr>
                        <a:t>Таблица 1. Примеры использования методов интеллектуального анализа данных в финансовых приложениях и маркетинговом анализе</a:t>
                      </a:r>
                      <a:endParaRPr sz="3200" u="none" cap="none" strike="noStrike">
                        <a:solidFill>
                          <a:schemeClr val="dk1"/>
                        </a:solidFill>
                        <a:latin typeface="Times New Roman"/>
                        <a:ea typeface="Times New Roman"/>
                        <a:cs typeface="Times New Roman"/>
                        <a:sym typeface="Times New Roman"/>
                      </a:endParaRPr>
                    </a:p>
                  </a:txBody>
                  <a:tcPr marT="9525" marB="9525" marR="9525" marL="9525">
                    <a:solidFill>
                      <a:schemeClr val="lt2"/>
                    </a:solidFill>
                  </a:tcPr>
                </a:tc>
                <a:tc hMerge="1"/>
              </a:tr>
              <a:tr h="254000">
                <a:tc>
                  <a:txBody>
                    <a:bodyPr/>
                    <a:lstStyle/>
                    <a:p>
                      <a:pPr indent="0" lvl="0" marL="176213" marR="0" rtl="0" algn="l">
                        <a:spcBef>
                          <a:spcPts val="0"/>
                        </a:spcBef>
                        <a:spcAft>
                          <a:spcPts val="0"/>
                        </a:spcAft>
                        <a:buNone/>
                      </a:pPr>
                      <a:r>
                        <a:rPr lang="ru-RU" sz="2000" u="none" cap="none" strike="noStrike">
                          <a:solidFill>
                            <a:schemeClr val="dk1"/>
                          </a:solidFill>
                        </a:rPr>
                        <a:t>Приложение (организация)</a:t>
                      </a:r>
                      <a:endParaRPr sz="3200" u="none" cap="none" strike="noStrike">
                        <a:solidFill>
                          <a:schemeClr val="dk1"/>
                        </a:solidFill>
                        <a:latin typeface="Times New Roman"/>
                        <a:ea typeface="Times New Roman"/>
                        <a:cs typeface="Times New Roman"/>
                        <a:sym typeface="Times New Roman"/>
                      </a:endParaRPr>
                    </a:p>
                  </a:txBody>
                  <a:tcPr marT="9525" marB="9525" marR="9525" marL="9525">
                    <a:solidFill>
                      <a:schemeClr val="lt2"/>
                    </a:solidFill>
                  </a:tcPr>
                </a:tc>
                <a:tc>
                  <a:txBody>
                    <a:bodyPr/>
                    <a:lstStyle/>
                    <a:p>
                      <a:pPr indent="176213" lvl="0" marL="0" marR="0" rtl="0" algn="l">
                        <a:spcBef>
                          <a:spcPts val="0"/>
                        </a:spcBef>
                        <a:spcAft>
                          <a:spcPts val="0"/>
                        </a:spcAft>
                        <a:buNone/>
                      </a:pPr>
                      <a:r>
                        <a:rPr lang="ru-RU" sz="2000" u="none" cap="none" strike="noStrike">
                          <a:solidFill>
                            <a:schemeClr val="dk1"/>
                          </a:solidFill>
                        </a:rPr>
                        <a:t>Описание</a:t>
                      </a:r>
                      <a:endParaRPr sz="3200" u="none" cap="none" strike="noStrike">
                        <a:solidFill>
                          <a:schemeClr val="dk1"/>
                        </a:solidFill>
                        <a:latin typeface="Times New Roman"/>
                        <a:ea typeface="Times New Roman"/>
                        <a:cs typeface="Times New Roman"/>
                        <a:sym typeface="Times New Roman"/>
                      </a:endParaRPr>
                    </a:p>
                  </a:txBody>
                  <a:tcPr marT="9525" marB="9525" marR="9525" marL="9525"/>
                </a:tc>
              </a:tr>
              <a:tr h="254000">
                <a:tc>
                  <a:txBody>
                    <a:bodyPr/>
                    <a:lstStyle/>
                    <a:p>
                      <a:pPr indent="0" lvl="0" marL="176213" marR="0" rtl="0" algn="l">
                        <a:spcBef>
                          <a:spcPts val="0"/>
                        </a:spcBef>
                        <a:spcAft>
                          <a:spcPts val="0"/>
                        </a:spcAft>
                        <a:buNone/>
                      </a:pPr>
                      <a:r>
                        <a:rPr lang="ru-RU" sz="2000" u="none" cap="none" strike="noStrike">
                          <a:solidFill>
                            <a:schemeClr val="dk1"/>
                          </a:solidFill>
                        </a:rPr>
                        <a:t>FALCON (HNC Software, Inc.)</a:t>
                      </a:r>
                      <a:endParaRPr sz="3200" u="none" cap="none" strike="noStrike">
                        <a:solidFill>
                          <a:schemeClr val="dk1"/>
                        </a:solidFill>
                        <a:latin typeface="Times New Roman"/>
                        <a:ea typeface="Times New Roman"/>
                        <a:cs typeface="Times New Roman"/>
                        <a:sym typeface="Times New Roman"/>
                      </a:endParaRPr>
                    </a:p>
                  </a:txBody>
                  <a:tcPr marT="9525" marB="9525" marR="9525" marL="9525">
                    <a:solidFill>
                      <a:schemeClr val="lt2"/>
                    </a:solidFill>
                  </a:tcPr>
                </a:tc>
                <a:tc>
                  <a:txBody>
                    <a:bodyPr/>
                    <a:lstStyle/>
                    <a:p>
                      <a:pPr indent="176213" lvl="0" marL="0" marR="0" rtl="0" algn="l">
                        <a:spcBef>
                          <a:spcPts val="0"/>
                        </a:spcBef>
                        <a:spcAft>
                          <a:spcPts val="0"/>
                        </a:spcAft>
                        <a:buNone/>
                      </a:pPr>
                      <a:r>
                        <a:rPr lang="ru-RU" sz="2000" u="none" cap="none" strike="noStrike">
                          <a:solidFill>
                            <a:schemeClr val="dk1"/>
                          </a:solidFill>
                        </a:rPr>
                        <a:t>Инструментальное средство для оперативного выявления злоупотреблений с кредитными карточками; более 100 организаций-пользователей отмечают сокращение числа нарушений на 20-30%.</a:t>
                      </a:r>
                      <a:endParaRPr sz="3200" u="none" cap="none" strike="noStrike">
                        <a:solidFill>
                          <a:schemeClr val="dk1"/>
                        </a:solidFill>
                        <a:latin typeface="Times New Roman"/>
                        <a:ea typeface="Times New Roman"/>
                        <a:cs typeface="Times New Roman"/>
                        <a:sym typeface="Times New Roman"/>
                      </a:endParaRPr>
                    </a:p>
                  </a:txBody>
                  <a:tcPr marT="9525" marB="9525" marR="9525" marL="9525"/>
                </a:tc>
              </a:tr>
              <a:tr h="254000">
                <a:tc>
                  <a:txBody>
                    <a:bodyPr/>
                    <a:lstStyle/>
                    <a:p>
                      <a:pPr indent="0" lvl="0" marL="176213" marR="0" rtl="0" algn="l">
                        <a:spcBef>
                          <a:spcPts val="0"/>
                        </a:spcBef>
                        <a:spcAft>
                          <a:spcPts val="0"/>
                        </a:spcAft>
                        <a:buNone/>
                      </a:pPr>
                      <a:r>
                        <a:rPr lang="ru-RU" sz="2000" u="none" cap="none" strike="noStrike">
                          <a:solidFill>
                            <a:schemeClr val="dk1"/>
                          </a:solidFill>
                        </a:rPr>
                        <a:t>Классификатор дебиторских счетов (Internal Revenue Service)</a:t>
                      </a:r>
                      <a:endParaRPr sz="3200" u="none" cap="none" strike="noStrike">
                        <a:solidFill>
                          <a:schemeClr val="dk1"/>
                        </a:solidFill>
                        <a:latin typeface="Times New Roman"/>
                        <a:ea typeface="Times New Roman"/>
                        <a:cs typeface="Times New Roman"/>
                        <a:sym typeface="Times New Roman"/>
                      </a:endParaRPr>
                    </a:p>
                  </a:txBody>
                  <a:tcPr marT="9525" marB="9525" marR="9525" marL="9525">
                    <a:solidFill>
                      <a:schemeClr val="lt2"/>
                    </a:solidFill>
                  </a:tcPr>
                </a:tc>
                <a:tc>
                  <a:txBody>
                    <a:bodyPr/>
                    <a:lstStyle/>
                    <a:p>
                      <a:pPr indent="273050" lvl="0" marL="0" marR="0" rtl="0" algn="l">
                        <a:spcBef>
                          <a:spcPts val="0"/>
                        </a:spcBef>
                        <a:spcAft>
                          <a:spcPts val="0"/>
                        </a:spcAft>
                        <a:buNone/>
                      </a:pPr>
                      <a:r>
                        <a:rPr lang="ru-RU" sz="2000" u="none" cap="none" strike="noStrike">
                          <a:solidFill>
                            <a:schemeClr val="dk1"/>
                          </a:solidFill>
                        </a:rPr>
                        <a:t>Выявление счетов потенциально платежеспособных дебиторов на основе анализа больших объемов архивных данных по уплате налогов. </a:t>
                      </a:r>
                      <a:endParaRPr sz="3200" u="none" cap="none" strike="noStrike">
                        <a:solidFill>
                          <a:schemeClr val="dk1"/>
                        </a:solidFill>
                        <a:latin typeface="Times New Roman"/>
                        <a:ea typeface="Times New Roman"/>
                        <a:cs typeface="Times New Roman"/>
                        <a:sym typeface="Times New Roman"/>
                      </a:endParaRPr>
                    </a:p>
                  </a:txBody>
                  <a:tcPr marT="9525" marB="9525" marR="9525" marL="9525"/>
                </a:tc>
              </a:tr>
              <a:tr h="254000">
                <a:tc>
                  <a:txBody>
                    <a:bodyPr/>
                    <a:lstStyle/>
                    <a:p>
                      <a:pPr indent="0" lvl="0" marL="185738" marR="0" rtl="0" algn="l">
                        <a:spcBef>
                          <a:spcPts val="0"/>
                        </a:spcBef>
                        <a:spcAft>
                          <a:spcPts val="0"/>
                        </a:spcAft>
                        <a:buNone/>
                      </a:pPr>
                      <a:r>
                        <a:rPr lang="ru-RU" sz="2000" u="none" cap="none" strike="noStrike">
                          <a:solidFill>
                            <a:schemeClr val="dk1"/>
                          </a:solidFill>
                        </a:rPr>
                        <a:t>Повышение качества архивной финансовой информации (Lockheed)</a:t>
                      </a:r>
                      <a:endParaRPr sz="3200" u="none" cap="none" strike="noStrike">
                        <a:solidFill>
                          <a:schemeClr val="dk1"/>
                        </a:solidFill>
                        <a:latin typeface="Times New Roman"/>
                        <a:ea typeface="Times New Roman"/>
                        <a:cs typeface="Times New Roman"/>
                        <a:sym typeface="Times New Roman"/>
                      </a:endParaRPr>
                    </a:p>
                  </a:txBody>
                  <a:tcPr marT="9525" marB="9525" marR="9525" marL="9525">
                    <a:solidFill>
                      <a:schemeClr val="lt2"/>
                    </a:solidFill>
                  </a:tcPr>
                </a:tc>
                <a:tc>
                  <a:txBody>
                    <a:bodyPr/>
                    <a:lstStyle/>
                    <a:p>
                      <a:pPr indent="176213" lvl="0" marL="0" marR="0" rtl="0" algn="l">
                        <a:spcBef>
                          <a:spcPts val="0"/>
                        </a:spcBef>
                        <a:spcAft>
                          <a:spcPts val="0"/>
                        </a:spcAft>
                        <a:buNone/>
                      </a:pPr>
                      <a:r>
                        <a:rPr lang="ru-RU" sz="2000" u="none" cap="none" strike="noStrike">
                          <a:solidFill>
                            <a:schemeClr val="dk1"/>
                          </a:solidFill>
                        </a:rPr>
                        <a:t>Выявление закономерностей (в виде правил вывода) в архивных финансовых данных для использования в моделях прогнозирования, системах поддержки принятия решений по инвестированию и т.д.</a:t>
                      </a:r>
                      <a:endParaRPr sz="3200" u="none" cap="none" strike="noStrike">
                        <a:solidFill>
                          <a:schemeClr val="dk1"/>
                        </a:solidFill>
                        <a:latin typeface="Times New Roman"/>
                        <a:ea typeface="Times New Roman"/>
                        <a:cs typeface="Times New Roman"/>
                        <a:sym typeface="Times New Roman"/>
                      </a:endParaRPr>
                    </a:p>
                  </a:txBody>
                  <a:tcPr marT="9525" marB="9525" marR="9525" marL="9525"/>
                </a:tc>
              </a:tr>
              <a:tr h="254000">
                <a:tc>
                  <a:txBody>
                    <a:bodyPr/>
                    <a:lstStyle/>
                    <a:p>
                      <a:pPr indent="0" lvl="0" marL="185738" marR="0" rtl="0" algn="l">
                        <a:spcBef>
                          <a:spcPts val="0"/>
                        </a:spcBef>
                        <a:spcAft>
                          <a:spcPts val="0"/>
                        </a:spcAft>
                        <a:buNone/>
                      </a:pPr>
                      <a:r>
                        <a:rPr lang="ru-RU" sz="2000" u="none" cap="none" strike="noStrike">
                          <a:solidFill>
                            <a:schemeClr val="dk1"/>
                          </a:solidFill>
                        </a:rPr>
                        <a:t>Верификация данных по курсам валют (Reuters)</a:t>
                      </a:r>
                      <a:endParaRPr sz="3200" u="none" cap="none" strike="noStrike">
                        <a:solidFill>
                          <a:schemeClr val="dk1"/>
                        </a:solidFill>
                        <a:latin typeface="Times New Roman"/>
                        <a:ea typeface="Times New Roman"/>
                        <a:cs typeface="Times New Roman"/>
                        <a:sym typeface="Times New Roman"/>
                      </a:endParaRPr>
                    </a:p>
                  </a:txBody>
                  <a:tcPr marT="9525" marB="9525" marR="9525" marL="9525">
                    <a:solidFill>
                      <a:schemeClr val="lt2"/>
                    </a:solidFill>
                  </a:tcPr>
                </a:tc>
                <a:tc>
                  <a:txBody>
                    <a:bodyPr/>
                    <a:lstStyle/>
                    <a:p>
                      <a:pPr indent="176213" lvl="0" marL="0" marR="0" rtl="0" algn="l">
                        <a:spcBef>
                          <a:spcPts val="0"/>
                        </a:spcBef>
                        <a:spcAft>
                          <a:spcPts val="0"/>
                        </a:spcAft>
                        <a:buNone/>
                      </a:pPr>
                      <a:r>
                        <a:rPr lang="ru-RU" sz="2000" u="none" cap="none" strike="noStrike">
                          <a:solidFill>
                            <a:schemeClr val="dk1"/>
                          </a:solidFill>
                        </a:rPr>
                        <a:t>Система выявления ошибок в оперативно поступающих данных по курсам валют. С помощью нейронных сетей и индуктивного вывода правил строятся приблизительные прогнозы, которые сравниваются с поступающими данными. Большие отклонения рассматриваются как возможные ошибки.</a:t>
                      </a:r>
                      <a:endParaRPr sz="3200" u="none" cap="none" strike="noStrike">
                        <a:solidFill>
                          <a:schemeClr val="dk1"/>
                        </a:solidFill>
                        <a:latin typeface="Times New Roman"/>
                        <a:ea typeface="Times New Roman"/>
                        <a:cs typeface="Times New Roman"/>
                        <a:sym typeface="Times New Roman"/>
                      </a:endParaRPr>
                    </a:p>
                  </a:txBody>
                  <a:tcPr marT="9525" marB="9525" marR="9525" marL="9525"/>
                </a:tc>
              </a:tr>
            </a:tbl>
          </a:graphicData>
        </a:graphic>
      </p:graphicFrame>
      <p:sp>
        <p:nvSpPr>
          <p:cNvPr id="454" name="Google Shape;454;p23"/>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200">
                <a:solidFill>
                  <a:schemeClr val="dk1"/>
                </a:solidFill>
              </a:rPr>
              <a:t>‹#›</a:t>
            </a:fld>
            <a:endParaRPr sz="12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24"/>
          <p:cNvSpPr/>
          <p:nvPr/>
        </p:nvSpPr>
        <p:spPr>
          <a:xfrm>
            <a:off x="242888" y="322263"/>
            <a:ext cx="9791700" cy="63373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462" name="Google Shape;462;p24"/>
          <p:cNvSpPr txBox="1"/>
          <p:nvPr/>
        </p:nvSpPr>
        <p:spPr>
          <a:xfrm>
            <a:off x="577850" y="6811963"/>
            <a:ext cx="4240213" cy="236537"/>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950" cap="none">
              <a:solidFill>
                <a:schemeClr val="dk1"/>
              </a:solidFill>
              <a:latin typeface="Calibri"/>
              <a:ea typeface="Calibri"/>
              <a:cs typeface="Calibri"/>
              <a:sym typeface="Calibri"/>
            </a:endParaRPr>
          </a:p>
        </p:txBody>
      </p:sp>
      <p:sp>
        <p:nvSpPr>
          <p:cNvPr id="463" name="Google Shape;463;p24"/>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464" name="Google Shape;464;p24"/>
          <p:cNvSpPr/>
          <p:nvPr/>
        </p:nvSpPr>
        <p:spPr>
          <a:xfrm>
            <a:off x="3554413" y="249208"/>
            <a:ext cx="2861681" cy="40011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ru-RU" sz="2000">
                <a:solidFill>
                  <a:schemeClr val="dk1"/>
                </a:solidFill>
                <a:latin typeface="Arial"/>
                <a:ea typeface="Arial"/>
                <a:cs typeface="Arial"/>
                <a:sym typeface="Arial"/>
              </a:rPr>
              <a:t>Примеры аналитики</a:t>
            </a:r>
            <a:r>
              <a:rPr lang="ru-RU" sz="2000">
                <a:solidFill>
                  <a:schemeClr val="dk1"/>
                </a:solidFill>
                <a:latin typeface="Arial"/>
                <a:ea typeface="Arial"/>
                <a:cs typeface="Arial"/>
                <a:sym typeface="Arial"/>
              </a:rPr>
              <a:t> </a:t>
            </a:r>
            <a:endParaRPr/>
          </a:p>
        </p:txBody>
      </p:sp>
      <p:graphicFrame>
        <p:nvGraphicFramePr>
          <p:cNvPr id="465" name="Google Shape;465;p24"/>
          <p:cNvGraphicFramePr/>
          <p:nvPr/>
        </p:nvGraphicFramePr>
        <p:xfrm>
          <a:off x="242888" y="914472"/>
          <a:ext cx="3000000" cy="3000000"/>
        </p:xfrm>
        <a:graphic>
          <a:graphicData uri="http://schemas.openxmlformats.org/drawingml/2006/table">
            <a:tbl>
              <a:tblPr bandRow="1" firstCol="1" firstRow="1">
                <a:noFill/>
                <a:tableStyleId>{8B791199-9649-4A3A-BD92-4492640ED8CE}</a:tableStyleId>
              </a:tblPr>
              <a:tblGrid>
                <a:gridCol w="3212300"/>
                <a:gridCol w="6507725"/>
              </a:tblGrid>
              <a:tr h="228600">
                <a:tc>
                  <a:txBody>
                    <a:bodyPr/>
                    <a:lstStyle/>
                    <a:p>
                      <a:pPr indent="0" lvl="0" marL="176213" marR="0" rtl="0" algn="l">
                        <a:spcBef>
                          <a:spcPts val="0"/>
                        </a:spcBef>
                        <a:spcAft>
                          <a:spcPts val="0"/>
                        </a:spcAft>
                        <a:buNone/>
                      </a:pPr>
                      <a:r>
                        <a:rPr lang="ru-RU" sz="1800" u="none" cap="none" strike="noStrike">
                          <a:solidFill>
                            <a:schemeClr val="dk1"/>
                          </a:solidFill>
                          <a:latin typeface="Times New Roman"/>
                          <a:ea typeface="Times New Roman"/>
                          <a:cs typeface="Times New Roman"/>
                          <a:sym typeface="Times New Roman"/>
                        </a:rPr>
                        <a:t>Прогнозирование невыплат в сделках с недвижимостью (Leeds)</a:t>
                      </a:r>
                      <a:endParaRPr sz="2800" u="none" cap="none" strike="noStrike">
                        <a:solidFill>
                          <a:schemeClr val="dk1"/>
                        </a:solidFill>
                        <a:latin typeface="Times New Roman"/>
                        <a:ea typeface="Times New Roman"/>
                        <a:cs typeface="Times New Roman"/>
                        <a:sym typeface="Times New Roman"/>
                      </a:endParaRPr>
                    </a:p>
                  </a:txBody>
                  <a:tcPr marT="9525" marB="9525" marR="9525" marL="9525">
                    <a:solidFill>
                      <a:schemeClr val="lt2"/>
                    </a:solidFill>
                  </a:tcPr>
                </a:tc>
                <a:tc>
                  <a:txBody>
                    <a:bodyPr/>
                    <a:lstStyle/>
                    <a:p>
                      <a:pPr indent="176213" lvl="0" marL="0" marR="0" rtl="0" algn="l">
                        <a:spcBef>
                          <a:spcPts val="0"/>
                        </a:spcBef>
                        <a:spcAft>
                          <a:spcPts val="0"/>
                        </a:spcAft>
                        <a:buNone/>
                      </a:pPr>
                      <a:r>
                        <a:rPr lang="ru-RU" sz="1800" u="none" cap="none" strike="noStrike">
                          <a:solidFill>
                            <a:schemeClr val="dk1"/>
                          </a:solidFill>
                          <a:latin typeface="Times New Roman"/>
                          <a:ea typeface="Times New Roman"/>
                          <a:cs typeface="Times New Roman"/>
                          <a:sym typeface="Times New Roman"/>
                        </a:rPr>
                        <a:t>Анализ архивных данных по сделкам с недвижимостью и выявление паттернов, соответствующих проблемным сделкам, заканчивающимся невыплатами. Выявленные закономерности используются для оценки риска при заключении новых сделок.</a:t>
                      </a:r>
                      <a:endParaRPr sz="2800" u="none" cap="none" strike="noStrike">
                        <a:solidFill>
                          <a:schemeClr val="dk1"/>
                        </a:solidFill>
                        <a:latin typeface="Times New Roman"/>
                        <a:ea typeface="Times New Roman"/>
                        <a:cs typeface="Times New Roman"/>
                        <a:sym typeface="Times New Roman"/>
                      </a:endParaRPr>
                    </a:p>
                  </a:txBody>
                  <a:tcPr marT="9525" marB="9525" marR="9525" marL="9525">
                    <a:solidFill>
                      <a:schemeClr val="lt2"/>
                    </a:solidFill>
                  </a:tcPr>
                </a:tc>
              </a:tr>
              <a:tr h="228600">
                <a:tc>
                  <a:txBody>
                    <a:bodyPr/>
                    <a:lstStyle/>
                    <a:p>
                      <a:pPr indent="0" lvl="0" marL="96838" marR="0" rtl="0" algn="l">
                        <a:spcBef>
                          <a:spcPts val="0"/>
                        </a:spcBef>
                        <a:spcAft>
                          <a:spcPts val="0"/>
                        </a:spcAft>
                        <a:buNone/>
                      </a:pPr>
                      <a:r>
                        <a:rPr lang="ru-RU" sz="1800" u="none" cap="none" strike="noStrike">
                          <a:solidFill>
                            <a:schemeClr val="dk1"/>
                          </a:solidFill>
                          <a:latin typeface="Times New Roman"/>
                          <a:ea typeface="Times New Roman"/>
                          <a:cs typeface="Times New Roman"/>
                          <a:sym typeface="Times New Roman"/>
                        </a:rPr>
                        <a:t>Маркетинговые исследования (Dickinson Direct)</a:t>
                      </a:r>
                      <a:endParaRPr sz="2800" u="none" cap="none" strike="noStrike">
                        <a:solidFill>
                          <a:schemeClr val="dk1"/>
                        </a:solidFill>
                        <a:latin typeface="Times New Roman"/>
                        <a:ea typeface="Times New Roman"/>
                        <a:cs typeface="Times New Roman"/>
                        <a:sym typeface="Times New Roman"/>
                      </a:endParaRPr>
                    </a:p>
                  </a:txBody>
                  <a:tcPr marT="9525" marB="9525" marR="9525" marL="9525">
                    <a:solidFill>
                      <a:schemeClr val="lt2"/>
                    </a:solidFill>
                  </a:tcPr>
                </a:tc>
                <a:tc>
                  <a:txBody>
                    <a:bodyPr/>
                    <a:lstStyle/>
                    <a:p>
                      <a:pPr indent="96838" lvl="0" marL="0" marR="0" rtl="0" algn="l">
                        <a:spcBef>
                          <a:spcPts val="0"/>
                        </a:spcBef>
                        <a:spcAft>
                          <a:spcPts val="0"/>
                        </a:spcAft>
                        <a:buNone/>
                      </a:pPr>
                      <a:r>
                        <a:rPr lang="ru-RU" sz="1800" u="none" cap="none" strike="noStrike">
                          <a:solidFill>
                            <a:schemeClr val="dk1"/>
                          </a:solidFill>
                          <a:latin typeface="Times New Roman"/>
                          <a:ea typeface="Times New Roman"/>
                          <a:cs typeface="Times New Roman"/>
                          <a:sym typeface="Times New Roman"/>
                        </a:rPr>
                        <a:t>Определение характеристик типичных покупателей продукции компании для выявления новых потенциальных клиентов (профилирование клиентов).</a:t>
                      </a:r>
                      <a:endParaRPr sz="2800" u="none" cap="none" strike="noStrike">
                        <a:solidFill>
                          <a:schemeClr val="dk1"/>
                        </a:solidFill>
                        <a:latin typeface="Times New Roman"/>
                        <a:ea typeface="Times New Roman"/>
                        <a:cs typeface="Times New Roman"/>
                        <a:sym typeface="Times New Roman"/>
                      </a:endParaRPr>
                    </a:p>
                  </a:txBody>
                  <a:tcPr marT="9525" marB="9525" marR="9525" marL="9525"/>
                </a:tc>
              </a:tr>
              <a:tr h="228600">
                <a:tc>
                  <a:txBody>
                    <a:bodyPr/>
                    <a:lstStyle/>
                    <a:p>
                      <a:pPr indent="0" lvl="0" marL="176213" marR="0" rtl="0" algn="l">
                        <a:spcBef>
                          <a:spcPts val="0"/>
                        </a:spcBef>
                        <a:spcAft>
                          <a:spcPts val="0"/>
                        </a:spcAft>
                        <a:buNone/>
                      </a:pPr>
                      <a:r>
                        <a:rPr lang="ru-RU" sz="1800" u="none" cap="none" strike="noStrike">
                          <a:solidFill>
                            <a:schemeClr val="dk1"/>
                          </a:solidFill>
                          <a:latin typeface="Times New Roman"/>
                          <a:ea typeface="Times New Roman"/>
                          <a:cs typeface="Times New Roman"/>
                          <a:sym typeface="Times New Roman"/>
                        </a:rPr>
                        <a:t>Маркетинговые исследования (Reader's Digest Canada)</a:t>
                      </a:r>
                      <a:endParaRPr sz="2800" u="none" cap="none" strike="noStrike">
                        <a:solidFill>
                          <a:schemeClr val="dk1"/>
                        </a:solidFill>
                        <a:latin typeface="Times New Roman"/>
                        <a:ea typeface="Times New Roman"/>
                        <a:cs typeface="Times New Roman"/>
                        <a:sym typeface="Times New Roman"/>
                      </a:endParaRPr>
                    </a:p>
                  </a:txBody>
                  <a:tcPr marT="9525" marB="9525" marR="9525" marL="9525">
                    <a:solidFill>
                      <a:schemeClr val="lt2"/>
                    </a:solidFill>
                  </a:tcPr>
                </a:tc>
                <a:tc>
                  <a:txBody>
                    <a:bodyPr/>
                    <a:lstStyle/>
                    <a:p>
                      <a:pPr indent="176213" lvl="0" marL="0" marR="0" rtl="0" algn="l">
                        <a:spcBef>
                          <a:spcPts val="0"/>
                        </a:spcBef>
                        <a:spcAft>
                          <a:spcPts val="0"/>
                        </a:spcAft>
                        <a:buNone/>
                      </a:pPr>
                      <a:r>
                        <a:rPr lang="ru-RU" sz="1800" u="none" cap="none" strike="noStrike">
                          <a:solidFill>
                            <a:schemeClr val="dk1"/>
                          </a:solidFill>
                          <a:latin typeface="Times New Roman"/>
                          <a:ea typeface="Times New Roman"/>
                          <a:cs typeface="Times New Roman"/>
                          <a:sym typeface="Times New Roman"/>
                        </a:rPr>
                        <a:t>Выявление основных сегментов рынка и наиболее благоприятных подмножеств, а также исследование зависимостей между основными показателями и характеристиками сегментов.</a:t>
                      </a:r>
                      <a:endParaRPr sz="2800" u="none" cap="none" strike="noStrike">
                        <a:solidFill>
                          <a:schemeClr val="dk1"/>
                        </a:solidFill>
                        <a:latin typeface="Times New Roman"/>
                        <a:ea typeface="Times New Roman"/>
                        <a:cs typeface="Times New Roman"/>
                        <a:sym typeface="Times New Roman"/>
                      </a:endParaRPr>
                    </a:p>
                  </a:txBody>
                  <a:tcPr marT="9525" marB="9525" marR="9525" marL="9525"/>
                </a:tc>
              </a:tr>
              <a:tr h="228600">
                <a:tc>
                  <a:txBody>
                    <a:bodyPr/>
                    <a:lstStyle/>
                    <a:p>
                      <a:pPr indent="0" lvl="0" marL="176213" marR="0" rtl="0" algn="l">
                        <a:spcBef>
                          <a:spcPts val="0"/>
                        </a:spcBef>
                        <a:spcAft>
                          <a:spcPts val="0"/>
                        </a:spcAft>
                        <a:buNone/>
                      </a:pPr>
                      <a:r>
                        <a:rPr lang="ru-RU" sz="1800" u="none" cap="none" strike="noStrike">
                          <a:solidFill>
                            <a:schemeClr val="dk1"/>
                          </a:solidFill>
                          <a:latin typeface="Times New Roman"/>
                          <a:ea typeface="Times New Roman"/>
                          <a:cs typeface="Times New Roman"/>
                          <a:sym typeface="Times New Roman"/>
                        </a:rPr>
                        <a:t>Выявление потенциальных покупателей автомобильных стерео систем (Washington Auto Audio, Inc.) </a:t>
                      </a:r>
                      <a:endParaRPr sz="2800" u="none" cap="none" strike="noStrike">
                        <a:solidFill>
                          <a:schemeClr val="dk1"/>
                        </a:solidFill>
                        <a:latin typeface="Times New Roman"/>
                        <a:ea typeface="Times New Roman"/>
                        <a:cs typeface="Times New Roman"/>
                        <a:sym typeface="Times New Roman"/>
                      </a:endParaRPr>
                    </a:p>
                  </a:txBody>
                  <a:tcPr marT="9525" marB="9525" marR="9525" marL="9525">
                    <a:solidFill>
                      <a:schemeClr val="lt2"/>
                    </a:solidFill>
                  </a:tcPr>
                </a:tc>
                <a:tc>
                  <a:txBody>
                    <a:bodyPr/>
                    <a:lstStyle/>
                    <a:p>
                      <a:pPr indent="176213" lvl="0" marL="0" marR="0" rtl="0" algn="l">
                        <a:spcBef>
                          <a:spcPts val="0"/>
                        </a:spcBef>
                        <a:spcAft>
                          <a:spcPts val="0"/>
                        </a:spcAft>
                        <a:buNone/>
                      </a:pPr>
                      <a:r>
                        <a:rPr lang="ru-RU" sz="1800" u="none" cap="none" strike="noStrike">
                          <a:solidFill>
                            <a:schemeClr val="dk1"/>
                          </a:solidFill>
                          <a:latin typeface="Times New Roman"/>
                          <a:ea typeface="Times New Roman"/>
                          <a:cs typeface="Times New Roman"/>
                          <a:sym typeface="Times New Roman"/>
                        </a:rPr>
                        <a:t>Анализ демографической базы данных, содержащей информацию о 14000 реальных и потенциальных клиентов, позволил за 90 секунд получить 3 довольно надежных индикатора для прогноза спроса на продукцию и услуги компании. Аналогичные результаты были получены в результате традиционного исследования, выполненного одной из консалтинговых компаний, причем это исследование обошлось фирме на порядок дороже, чем автоматизированная система интеллектуального анализа данных.</a:t>
                      </a:r>
                      <a:endParaRPr sz="2800" u="none" cap="none" strike="noStrike">
                        <a:solidFill>
                          <a:schemeClr val="dk1"/>
                        </a:solidFill>
                        <a:latin typeface="Times New Roman"/>
                        <a:ea typeface="Times New Roman"/>
                        <a:cs typeface="Times New Roman"/>
                        <a:sym typeface="Times New Roman"/>
                      </a:endParaRPr>
                    </a:p>
                  </a:txBody>
                  <a:tcPr marT="9525" marB="9525" marR="9525" marL="9525"/>
                </a:tc>
              </a:tr>
            </a:tbl>
          </a:graphicData>
        </a:graphic>
      </p:graphicFrame>
      <p:sp>
        <p:nvSpPr>
          <p:cNvPr id="466" name="Google Shape;466;p24"/>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25"/>
          <p:cNvSpPr txBox="1"/>
          <p:nvPr>
            <p:ph idx="4294967295" type="ctrTitle"/>
          </p:nvPr>
        </p:nvSpPr>
        <p:spPr>
          <a:xfrm>
            <a:off x="0" y="800100"/>
            <a:ext cx="9090025" cy="3484563"/>
          </a:xfrm>
          <a:prstGeom prst="rect">
            <a:avLst/>
          </a:prstGeom>
          <a:noFill/>
          <a:ln>
            <a:noFill/>
          </a:ln>
        </p:spPr>
        <p:txBody>
          <a:bodyPr anchorCtr="0" anchor="b" bIns="45700" lIns="91425" spcFirstLastPara="1" rIns="91425" wrap="square" tIns="45700">
            <a:normAutofit/>
          </a:bodyPr>
          <a:lstStyle/>
          <a:p>
            <a:pPr indent="0" lvl="0" marL="0" marR="0" rtl="0" algn="ctr">
              <a:lnSpc>
                <a:spcPct val="80000"/>
              </a:lnSpc>
              <a:spcBef>
                <a:spcPts val="0"/>
              </a:spcBef>
              <a:spcAft>
                <a:spcPts val="0"/>
              </a:spcAft>
              <a:buClr>
                <a:schemeClr val="dk1"/>
              </a:buClr>
              <a:buSzPts val="4900"/>
              <a:buFont typeface="Calibri"/>
              <a:buNone/>
            </a:pPr>
            <a:r>
              <a:rPr b="0" i="0" lang="ru-RU" sz="4900" u="none" cap="none" strike="noStrike">
                <a:solidFill>
                  <a:schemeClr val="dk1"/>
                </a:solidFill>
                <a:latin typeface="Calibri"/>
                <a:ea typeface="Calibri"/>
                <a:cs typeface="Calibri"/>
                <a:sym typeface="Calibri"/>
              </a:rPr>
              <a:t>Big Data.</a:t>
            </a:r>
            <a:br>
              <a:rPr b="0" i="0" lang="ru-RU" sz="4900" u="none" cap="none" strike="noStrike">
                <a:solidFill>
                  <a:schemeClr val="dk1"/>
                </a:solidFill>
                <a:latin typeface="Calibri"/>
                <a:ea typeface="Calibri"/>
                <a:cs typeface="Calibri"/>
                <a:sym typeface="Calibri"/>
              </a:rPr>
            </a:br>
            <a:r>
              <a:rPr b="0" i="0" lang="ru-RU" sz="4900" u="none" cap="none" strike="noStrike">
                <a:solidFill>
                  <a:schemeClr val="dk1"/>
                </a:solidFill>
                <a:latin typeface="Calibri"/>
                <a:ea typeface="Calibri"/>
                <a:cs typeface="Calibri"/>
                <a:sym typeface="Calibri"/>
              </a:rPr>
              <a:t>Статистическое обучение</a:t>
            </a:r>
            <a:br>
              <a:rPr b="0" i="0" lang="ru-RU" sz="4900" u="none" cap="none" strike="noStrike">
                <a:solidFill>
                  <a:schemeClr val="dk1"/>
                </a:solidFill>
                <a:latin typeface="Calibri"/>
                <a:ea typeface="Calibri"/>
                <a:cs typeface="Calibri"/>
                <a:sym typeface="Calibri"/>
              </a:rPr>
            </a:br>
            <a:endParaRPr b="0" i="0" sz="4900" u="none" cap="none" strike="noStrike">
              <a:solidFill>
                <a:schemeClr val="dk1"/>
              </a:solidFill>
              <a:latin typeface="Calibri"/>
              <a:ea typeface="Calibri"/>
              <a:cs typeface="Calibri"/>
              <a:sym typeface="Calibri"/>
            </a:endParaRPr>
          </a:p>
        </p:txBody>
      </p:sp>
      <p:sp>
        <p:nvSpPr>
          <p:cNvPr id="474" name="Google Shape;474;p25"/>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26"/>
          <p:cNvSpPr/>
          <p:nvPr/>
        </p:nvSpPr>
        <p:spPr>
          <a:xfrm>
            <a:off x="242888" y="322263"/>
            <a:ext cx="9791700" cy="63373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480" name="Google Shape;480;p26"/>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481" name="Google Shape;481;p26"/>
          <p:cNvSpPr/>
          <p:nvPr/>
        </p:nvSpPr>
        <p:spPr>
          <a:xfrm>
            <a:off x="818257" y="394792"/>
            <a:ext cx="8604957" cy="661947"/>
          </a:xfrm>
          <a:prstGeom prst="roundRect">
            <a:avLst>
              <a:gd fmla="val 45749" name="adj"/>
            </a:avLst>
          </a:prstGeom>
          <a:solidFill>
            <a:srgbClr val="FFFFFF">
              <a:alpha val="52549"/>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ru-RU" sz="2800">
                <a:solidFill>
                  <a:schemeClr val="dk1"/>
                </a:solidFill>
                <a:latin typeface="Arial"/>
                <a:ea typeface="Arial"/>
                <a:cs typeface="Arial"/>
                <a:sym typeface="Arial"/>
              </a:rPr>
              <a:t>Что такое статистическое обучение?</a:t>
            </a:r>
            <a:endParaRPr/>
          </a:p>
        </p:txBody>
      </p:sp>
      <p:sp>
        <p:nvSpPr>
          <p:cNvPr id="482" name="Google Shape;482;p26"/>
          <p:cNvSpPr txBox="1"/>
          <p:nvPr/>
        </p:nvSpPr>
        <p:spPr>
          <a:xfrm>
            <a:off x="412306" y="916172"/>
            <a:ext cx="9695749" cy="606565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Calibri"/>
              <a:buNone/>
            </a:pPr>
            <a:r>
              <a:rPr b="1" i="1" lang="ru-RU" sz="2400">
                <a:solidFill>
                  <a:schemeClr val="dk1"/>
                </a:solidFill>
                <a:latin typeface="Calibri"/>
                <a:ea typeface="Calibri"/>
                <a:cs typeface="Calibri"/>
                <a:sym typeface="Calibri"/>
              </a:rPr>
              <a:t>Пример</a:t>
            </a:r>
            <a:endParaRPr/>
          </a:p>
          <a:p>
            <a:pPr indent="0" lvl="1" marL="434975" marR="0" rtl="0" algn="l">
              <a:spcBef>
                <a:spcPts val="440"/>
              </a:spcBef>
              <a:spcAft>
                <a:spcPts val="0"/>
              </a:spcAft>
              <a:buClr>
                <a:schemeClr val="dk1"/>
              </a:buClr>
              <a:buSzPts val="2200"/>
              <a:buFont typeface="Calibri"/>
              <a:buNone/>
            </a:pPr>
            <a:r>
              <a:rPr b="0" i="0" lang="ru-RU" sz="2200" u="none" cap="none" strike="noStrike">
                <a:solidFill>
                  <a:schemeClr val="dk1"/>
                </a:solidFill>
                <a:latin typeface="Calibri"/>
                <a:ea typeface="Calibri"/>
                <a:cs typeface="Calibri"/>
                <a:sym typeface="Calibri"/>
              </a:rPr>
              <a:t>мы являемся консультантами-статистиками, нанятыми некоторым клиентом для разработки рекомендаций по повышению продаж определенного продукта. Набор данных </a:t>
            </a:r>
            <a:r>
              <a:rPr b="0" i="1" lang="ru-RU" sz="2200" u="none" cap="none" strike="noStrike">
                <a:solidFill>
                  <a:srgbClr val="0B769C"/>
                </a:solidFill>
                <a:latin typeface="Calibri"/>
                <a:ea typeface="Calibri"/>
                <a:cs typeface="Calibri"/>
                <a:sym typeface="Calibri"/>
              </a:rPr>
              <a:t>Advertising</a:t>
            </a:r>
            <a:r>
              <a:rPr b="0" i="0" lang="ru-RU" sz="2200" u="none" cap="none" strike="noStrike">
                <a:solidFill>
                  <a:schemeClr val="dk1"/>
                </a:solidFill>
                <a:latin typeface="Calibri"/>
                <a:ea typeface="Calibri"/>
                <a:cs typeface="Calibri"/>
                <a:sym typeface="Calibri"/>
              </a:rPr>
              <a:t> включает сведения по продажам (</a:t>
            </a:r>
            <a:r>
              <a:rPr b="0" i="1" lang="ru-RU" sz="2200" u="none" cap="none" strike="noStrike">
                <a:solidFill>
                  <a:srgbClr val="0B769C"/>
                </a:solidFill>
                <a:latin typeface="Calibri"/>
                <a:ea typeface="Calibri"/>
                <a:cs typeface="Calibri"/>
                <a:sym typeface="Calibri"/>
              </a:rPr>
              <a:t>sales</a:t>
            </a:r>
            <a:r>
              <a:rPr b="0" i="0" lang="ru-RU" sz="2200" u="none" cap="none" strike="noStrike">
                <a:solidFill>
                  <a:schemeClr val="dk1"/>
                </a:solidFill>
                <a:latin typeface="Calibri"/>
                <a:ea typeface="Calibri"/>
                <a:cs typeface="Calibri"/>
                <a:sym typeface="Calibri"/>
              </a:rPr>
              <a:t>) этого продукта в 200 различных регионах, а также по величине регионального бюджета на рекламу продукта в средствах массовой информации (СМИ) трех видов: </a:t>
            </a:r>
            <a:r>
              <a:rPr b="1" i="1" lang="ru-RU" sz="2200" u="none" cap="none" strike="noStrike">
                <a:solidFill>
                  <a:schemeClr val="dk1"/>
                </a:solidFill>
                <a:latin typeface="Calibri"/>
                <a:ea typeface="Calibri"/>
                <a:cs typeface="Calibri"/>
                <a:sym typeface="Calibri"/>
              </a:rPr>
              <a:t>телевидение (TV), радио (radio) и газеты (newspaper). </a:t>
            </a:r>
            <a:endParaRPr b="1" i="1" sz="2200" u="none" cap="none" strike="noStrike">
              <a:solidFill>
                <a:schemeClr val="dk1"/>
              </a:solidFill>
              <a:latin typeface="Calibri"/>
              <a:ea typeface="Calibri"/>
              <a:cs typeface="Calibri"/>
              <a:sym typeface="Calibri"/>
            </a:endParaRPr>
          </a:p>
          <a:p>
            <a:pPr indent="0" lvl="0" marL="0" marR="0" rtl="0" algn="l">
              <a:spcBef>
                <a:spcPts val="440"/>
              </a:spcBef>
              <a:spcAft>
                <a:spcPts val="0"/>
              </a:spcAft>
              <a:buClr>
                <a:schemeClr val="dk1"/>
              </a:buClr>
              <a:buSzPts val="2200"/>
              <a:buFont typeface="Calibri"/>
              <a:buNone/>
            </a:pPr>
            <a:r>
              <a:rPr lang="ru-RU" sz="2200">
                <a:solidFill>
                  <a:schemeClr val="dk1"/>
                </a:solidFill>
                <a:latin typeface="Calibri"/>
                <a:ea typeface="Calibri"/>
                <a:cs typeface="Calibri"/>
                <a:sym typeface="Calibri"/>
              </a:rPr>
              <a:t>Эти данные представлены на рис. 1. Наш клиент не имеет прямой возможности увеличить продажи, но может контролировать затраты на рекламу в каждом из трех типов СМИ. </a:t>
            </a:r>
            <a:endParaRPr/>
          </a:p>
          <a:p>
            <a:pPr indent="449263" lvl="0" marL="0" marR="0" rtl="0" algn="l">
              <a:spcBef>
                <a:spcPts val="440"/>
              </a:spcBef>
              <a:spcAft>
                <a:spcPts val="0"/>
              </a:spcAft>
              <a:buClr>
                <a:schemeClr val="dk1"/>
              </a:buClr>
              <a:buSzPts val="2200"/>
              <a:buFont typeface="Calibri"/>
              <a:buNone/>
            </a:pPr>
            <a:r>
              <a:rPr lang="ru-RU" sz="2200">
                <a:solidFill>
                  <a:schemeClr val="dk1"/>
                </a:solidFill>
                <a:latin typeface="Calibri"/>
                <a:ea typeface="Calibri"/>
                <a:cs typeface="Calibri"/>
                <a:sym typeface="Calibri"/>
              </a:rPr>
              <a:t>Следовательно, если мы обнаружим связь между затратами на рекламу и продажами, то сможем дать рекомендации нашему клиенту по корректированию бюджета на рекламу, что опосредованно приведет к увеличению продаж. Т.е, наша цель - разработка модели, которую можно будет использовать для верных предсказаний продаж на основе данных по бюджету для трех типов СМИ.</a:t>
            </a:r>
            <a:endParaRPr/>
          </a:p>
        </p:txBody>
      </p:sp>
      <p:sp>
        <p:nvSpPr>
          <p:cNvPr id="483" name="Google Shape;483;p26"/>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27"/>
          <p:cNvSpPr/>
          <p:nvPr/>
        </p:nvSpPr>
        <p:spPr>
          <a:xfrm>
            <a:off x="242888" y="322263"/>
            <a:ext cx="9791700" cy="63373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489" name="Google Shape;489;p27"/>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490" name="Google Shape;490;p27"/>
          <p:cNvSpPr/>
          <p:nvPr/>
        </p:nvSpPr>
        <p:spPr>
          <a:xfrm>
            <a:off x="818257" y="394792"/>
            <a:ext cx="8604957" cy="661947"/>
          </a:xfrm>
          <a:prstGeom prst="roundRect">
            <a:avLst>
              <a:gd fmla="val 45749" name="adj"/>
            </a:avLst>
          </a:prstGeom>
          <a:solidFill>
            <a:srgbClr val="FFFFFF">
              <a:alpha val="52549"/>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ru-RU" sz="2800">
                <a:solidFill>
                  <a:schemeClr val="dk1"/>
                </a:solidFill>
                <a:latin typeface="Arial"/>
                <a:ea typeface="Arial"/>
                <a:cs typeface="Arial"/>
                <a:sym typeface="Arial"/>
              </a:rPr>
              <a:t>Что такое статистическое обучение?</a:t>
            </a:r>
            <a:endParaRPr/>
          </a:p>
        </p:txBody>
      </p:sp>
      <p:sp>
        <p:nvSpPr>
          <p:cNvPr id="491" name="Google Shape;491;p27"/>
          <p:cNvSpPr txBox="1"/>
          <p:nvPr/>
        </p:nvSpPr>
        <p:spPr>
          <a:xfrm>
            <a:off x="558028" y="4103179"/>
            <a:ext cx="9406951" cy="2594730"/>
          </a:xfrm>
          <a:prstGeom prst="rect">
            <a:avLst/>
          </a:prstGeom>
          <a:noFill/>
          <a:ln>
            <a:noFill/>
          </a:ln>
        </p:spPr>
        <p:txBody>
          <a:bodyPr anchorCtr="0" anchor="t" bIns="45700" lIns="91425" spcFirstLastPara="1" rIns="91425" wrap="square" tIns="45700">
            <a:noAutofit/>
          </a:bodyPr>
          <a:lstStyle/>
          <a:p>
            <a:pPr indent="-373063" lvl="0" marL="373063" marR="0" rtl="0" algn="l">
              <a:spcBef>
                <a:spcPts val="0"/>
              </a:spcBef>
              <a:spcAft>
                <a:spcPts val="0"/>
              </a:spcAft>
              <a:buClr>
                <a:srgbClr val="0B769C"/>
              </a:buClr>
              <a:buSzPts val="2200"/>
              <a:buFont typeface="Calibri"/>
              <a:buChar char="•"/>
            </a:pPr>
            <a:r>
              <a:rPr i="1" lang="ru-RU" sz="2200">
                <a:solidFill>
                  <a:srgbClr val="0B769C"/>
                </a:solidFill>
                <a:latin typeface="Calibri"/>
                <a:ea typeface="Calibri"/>
                <a:cs typeface="Calibri"/>
                <a:sym typeface="Calibri"/>
              </a:rPr>
              <a:t>входные переменные </a:t>
            </a:r>
            <a:r>
              <a:rPr lang="ru-RU" sz="2200">
                <a:solidFill>
                  <a:schemeClr val="dk1"/>
                </a:solidFill>
                <a:latin typeface="Calibri"/>
                <a:ea typeface="Calibri"/>
                <a:cs typeface="Calibri"/>
                <a:sym typeface="Calibri"/>
              </a:rPr>
              <a:t>—</a:t>
            </a:r>
            <a:r>
              <a:rPr i="1" lang="ru-RU" sz="2200">
                <a:solidFill>
                  <a:schemeClr val="dk1"/>
                </a:solidFill>
                <a:latin typeface="Calibri"/>
                <a:ea typeface="Calibri"/>
                <a:cs typeface="Calibri"/>
                <a:sym typeface="Calibri"/>
              </a:rPr>
              <a:t> </a:t>
            </a:r>
            <a:r>
              <a:rPr lang="ru-RU" sz="2200">
                <a:solidFill>
                  <a:schemeClr val="dk1"/>
                </a:solidFill>
                <a:latin typeface="Calibri"/>
                <a:ea typeface="Calibri"/>
                <a:cs typeface="Calibri"/>
                <a:sym typeface="Calibri"/>
              </a:rPr>
              <a:t>уровни бюджета на рекламу в разных СМИ, </a:t>
            </a:r>
            <a:endParaRPr/>
          </a:p>
          <a:p>
            <a:pPr indent="-373063" lvl="0" marL="373063" marR="0" rtl="0" algn="l">
              <a:spcBef>
                <a:spcPts val="440"/>
              </a:spcBef>
              <a:spcAft>
                <a:spcPts val="0"/>
              </a:spcAft>
              <a:buClr>
                <a:schemeClr val="dk1"/>
              </a:buClr>
              <a:buSzPts val="2200"/>
              <a:buFont typeface="Calibri"/>
              <a:buChar char="•"/>
            </a:pPr>
            <a:r>
              <a:rPr lang="ru-RU" sz="2200">
                <a:solidFill>
                  <a:schemeClr val="dk1"/>
                </a:solidFill>
                <a:latin typeface="Calibri"/>
                <a:ea typeface="Calibri"/>
                <a:cs typeface="Calibri"/>
                <a:sym typeface="Calibri"/>
              </a:rPr>
              <a:t>sales — </a:t>
            </a:r>
            <a:r>
              <a:rPr i="1" lang="ru-RU" sz="2200">
                <a:solidFill>
                  <a:srgbClr val="0B769C"/>
                </a:solidFill>
                <a:latin typeface="Calibri"/>
                <a:ea typeface="Calibri"/>
                <a:cs typeface="Calibri"/>
                <a:sym typeface="Calibri"/>
              </a:rPr>
              <a:t>выходная переменная</a:t>
            </a:r>
            <a:r>
              <a:rPr i="1" lang="ru-RU" sz="2200">
                <a:solidFill>
                  <a:schemeClr val="dk1"/>
                </a:solidFill>
                <a:latin typeface="Calibri"/>
                <a:ea typeface="Calibri"/>
                <a:cs typeface="Calibri"/>
                <a:sym typeface="Calibri"/>
              </a:rPr>
              <a:t>.</a:t>
            </a:r>
            <a:r>
              <a:rPr lang="ru-RU" sz="2200">
                <a:solidFill>
                  <a:schemeClr val="dk1"/>
                </a:solidFill>
                <a:latin typeface="Calibri"/>
                <a:ea typeface="Calibri"/>
                <a:cs typeface="Calibri"/>
                <a:sym typeface="Calibri"/>
              </a:rPr>
              <a:t> </a:t>
            </a:r>
            <a:endParaRPr/>
          </a:p>
          <a:p>
            <a:pPr indent="630238" lvl="0" marL="0" marR="0" rtl="0" algn="l">
              <a:spcBef>
                <a:spcPts val="440"/>
              </a:spcBef>
              <a:spcAft>
                <a:spcPts val="0"/>
              </a:spcAft>
              <a:buClr>
                <a:schemeClr val="dk1"/>
              </a:buClr>
              <a:buSzPts val="2200"/>
              <a:buFont typeface="Calibri"/>
              <a:buNone/>
            </a:pPr>
            <a:r>
              <a:rPr i="1" lang="ru-RU" sz="2200">
                <a:solidFill>
                  <a:schemeClr val="dk1"/>
                </a:solidFill>
                <a:latin typeface="Calibri"/>
                <a:ea typeface="Calibri"/>
                <a:cs typeface="Calibri"/>
                <a:sym typeface="Calibri"/>
              </a:rPr>
              <a:t>Х</a:t>
            </a:r>
            <a:r>
              <a:rPr baseline="-25000" i="1" lang="ru-RU" sz="2200">
                <a:solidFill>
                  <a:schemeClr val="dk1"/>
                </a:solidFill>
                <a:latin typeface="Calibri"/>
                <a:ea typeface="Calibri"/>
                <a:cs typeface="Calibri"/>
                <a:sym typeface="Calibri"/>
              </a:rPr>
              <a:t>1</a:t>
            </a:r>
            <a:r>
              <a:rPr i="1" lang="ru-RU" sz="2200">
                <a:solidFill>
                  <a:schemeClr val="dk1"/>
                </a:solidFill>
                <a:latin typeface="Calibri"/>
                <a:ea typeface="Calibri"/>
                <a:cs typeface="Calibri"/>
                <a:sym typeface="Calibri"/>
              </a:rPr>
              <a:t> </a:t>
            </a:r>
            <a:r>
              <a:rPr lang="ru-RU" sz="2200">
                <a:solidFill>
                  <a:schemeClr val="dk1"/>
                </a:solidFill>
                <a:latin typeface="Calibri"/>
                <a:ea typeface="Calibri"/>
                <a:cs typeface="Calibri"/>
                <a:sym typeface="Calibri"/>
              </a:rPr>
              <a:t>обозначает бюджет TV, </a:t>
            </a:r>
            <a:r>
              <a:rPr i="1" lang="ru-RU" sz="2200">
                <a:solidFill>
                  <a:schemeClr val="dk1"/>
                </a:solidFill>
                <a:latin typeface="Calibri"/>
                <a:ea typeface="Calibri"/>
                <a:cs typeface="Calibri"/>
                <a:sym typeface="Calibri"/>
              </a:rPr>
              <a:t>Х</a:t>
            </a:r>
            <a:r>
              <a:rPr baseline="-25000" i="1" lang="ru-RU" sz="2200">
                <a:solidFill>
                  <a:schemeClr val="dk1"/>
                </a:solidFill>
                <a:latin typeface="Calibri"/>
                <a:ea typeface="Calibri"/>
                <a:cs typeface="Calibri"/>
                <a:sym typeface="Calibri"/>
              </a:rPr>
              <a:t>2</a:t>
            </a:r>
            <a:r>
              <a:rPr lang="ru-RU" sz="2200">
                <a:solidFill>
                  <a:schemeClr val="dk1"/>
                </a:solidFill>
                <a:latin typeface="Calibri"/>
                <a:ea typeface="Calibri"/>
                <a:cs typeface="Calibri"/>
                <a:sym typeface="Calibri"/>
              </a:rPr>
              <a:t> — бюджет radio, а </a:t>
            </a:r>
            <a:r>
              <a:rPr i="1" lang="ru-RU" sz="2200">
                <a:solidFill>
                  <a:schemeClr val="dk1"/>
                </a:solidFill>
                <a:latin typeface="Calibri"/>
                <a:ea typeface="Calibri"/>
                <a:cs typeface="Calibri"/>
                <a:sym typeface="Calibri"/>
              </a:rPr>
              <a:t>Х</a:t>
            </a:r>
            <a:r>
              <a:rPr baseline="-25000" i="1" lang="ru-RU" sz="2200">
                <a:solidFill>
                  <a:schemeClr val="dk1"/>
                </a:solidFill>
                <a:latin typeface="Calibri"/>
                <a:ea typeface="Calibri"/>
                <a:cs typeface="Calibri"/>
                <a:sym typeface="Calibri"/>
              </a:rPr>
              <a:t>3</a:t>
            </a:r>
            <a:r>
              <a:rPr lang="ru-RU" sz="2200">
                <a:solidFill>
                  <a:schemeClr val="dk1"/>
                </a:solidFill>
                <a:latin typeface="Calibri"/>
                <a:ea typeface="Calibri"/>
                <a:cs typeface="Calibri"/>
                <a:sym typeface="Calibri"/>
              </a:rPr>
              <a:t> — бюджет newspaper. Входные переменные известны под разными названиями — </a:t>
            </a:r>
            <a:r>
              <a:rPr i="1" lang="ru-RU" sz="2200">
                <a:solidFill>
                  <a:srgbClr val="0B769C"/>
                </a:solidFill>
                <a:latin typeface="Calibri"/>
                <a:ea typeface="Calibri"/>
                <a:cs typeface="Calibri"/>
                <a:sym typeface="Calibri"/>
              </a:rPr>
              <a:t>предикторы</a:t>
            </a:r>
            <a:r>
              <a:rPr lang="ru-RU" sz="2200">
                <a:solidFill>
                  <a:schemeClr val="dk1"/>
                </a:solidFill>
                <a:latin typeface="Calibri"/>
                <a:ea typeface="Calibri"/>
                <a:cs typeface="Calibri"/>
                <a:sym typeface="Calibri"/>
              </a:rPr>
              <a:t>, </a:t>
            </a:r>
            <a:r>
              <a:rPr i="1" lang="ru-RU" sz="2200">
                <a:solidFill>
                  <a:srgbClr val="0B769C"/>
                </a:solidFill>
                <a:latin typeface="Calibri"/>
                <a:ea typeface="Calibri"/>
                <a:cs typeface="Calibri"/>
                <a:sym typeface="Calibri"/>
              </a:rPr>
              <a:t>независимые переменные</a:t>
            </a:r>
            <a:r>
              <a:rPr lang="ru-RU" sz="2200">
                <a:solidFill>
                  <a:schemeClr val="dk1"/>
                </a:solidFill>
                <a:latin typeface="Calibri"/>
                <a:ea typeface="Calibri"/>
                <a:cs typeface="Calibri"/>
                <a:sym typeface="Calibri"/>
              </a:rPr>
              <a:t>, </a:t>
            </a:r>
            <a:r>
              <a:rPr i="1" lang="ru-RU" sz="2200">
                <a:solidFill>
                  <a:srgbClr val="0B769C"/>
                </a:solidFill>
                <a:latin typeface="Calibri"/>
                <a:ea typeface="Calibri"/>
                <a:cs typeface="Calibri"/>
                <a:sym typeface="Calibri"/>
              </a:rPr>
              <a:t>признаки</a:t>
            </a:r>
            <a:r>
              <a:rPr lang="ru-RU" sz="2200">
                <a:solidFill>
                  <a:schemeClr val="dk1"/>
                </a:solidFill>
                <a:latin typeface="Calibri"/>
                <a:ea typeface="Calibri"/>
                <a:cs typeface="Calibri"/>
                <a:sym typeface="Calibri"/>
              </a:rPr>
              <a:t>, или иногда просто </a:t>
            </a:r>
            <a:r>
              <a:rPr i="1" lang="ru-RU" sz="2200">
                <a:solidFill>
                  <a:srgbClr val="0B769C"/>
                </a:solidFill>
                <a:latin typeface="Calibri"/>
                <a:ea typeface="Calibri"/>
                <a:cs typeface="Calibri"/>
                <a:sym typeface="Calibri"/>
              </a:rPr>
              <a:t>переменные</a:t>
            </a:r>
            <a:r>
              <a:rPr i="1" lang="ru-RU" sz="2200">
                <a:solidFill>
                  <a:schemeClr val="dk1"/>
                </a:solidFill>
                <a:latin typeface="Calibri"/>
                <a:ea typeface="Calibri"/>
                <a:cs typeface="Calibri"/>
                <a:sym typeface="Calibri"/>
              </a:rPr>
              <a:t>.</a:t>
            </a:r>
            <a:r>
              <a:rPr lang="ru-RU" sz="2200">
                <a:solidFill>
                  <a:schemeClr val="dk1"/>
                </a:solidFill>
                <a:latin typeface="Calibri"/>
                <a:ea typeface="Calibri"/>
                <a:cs typeface="Calibri"/>
                <a:sym typeface="Calibri"/>
              </a:rPr>
              <a:t> Выходную переменную — в данном случае sales — часто называют </a:t>
            </a:r>
            <a:r>
              <a:rPr i="1" lang="ru-RU" sz="2200">
                <a:solidFill>
                  <a:srgbClr val="0B769C"/>
                </a:solidFill>
                <a:latin typeface="Calibri"/>
                <a:ea typeface="Calibri"/>
                <a:cs typeface="Calibri"/>
                <a:sym typeface="Calibri"/>
              </a:rPr>
              <a:t>откликом</a:t>
            </a:r>
            <a:r>
              <a:rPr lang="ru-RU" sz="2200">
                <a:solidFill>
                  <a:schemeClr val="dk1"/>
                </a:solidFill>
                <a:latin typeface="Calibri"/>
                <a:ea typeface="Calibri"/>
                <a:cs typeface="Calibri"/>
                <a:sym typeface="Calibri"/>
              </a:rPr>
              <a:t>, или </a:t>
            </a:r>
            <a:r>
              <a:rPr i="1" lang="ru-RU" sz="2200">
                <a:solidFill>
                  <a:srgbClr val="0B769C"/>
                </a:solidFill>
                <a:latin typeface="Calibri"/>
                <a:ea typeface="Calibri"/>
                <a:cs typeface="Calibri"/>
                <a:sym typeface="Calibri"/>
              </a:rPr>
              <a:t>зависимой переменной</a:t>
            </a:r>
            <a:r>
              <a:rPr lang="ru-RU" sz="2200">
                <a:solidFill>
                  <a:schemeClr val="dk1"/>
                </a:solidFill>
                <a:latin typeface="Calibri"/>
                <a:ea typeface="Calibri"/>
                <a:cs typeface="Calibri"/>
                <a:sym typeface="Calibri"/>
              </a:rPr>
              <a:t>, и обычно обозначают при помощи символа </a:t>
            </a:r>
            <a:r>
              <a:rPr i="1" lang="ru-RU" sz="2200">
                <a:solidFill>
                  <a:schemeClr val="dk1"/>
                </a:solidFill>
                <a:latin typeface="Calibri"/>
                <a:ea typeface="Calibri"/>
                <a:cs typeface="Calibri"/>
                <a:sym typeface="Calibri"/>
              </a:rPr>
              <a:t>Y.</a:t>
            </a:r>
            <a:r>
              <a:rPr lang="ru-RU" sz="2200">
                <a:solidFill>
                  <a:schemeClr val="dk1"/>
                </a:solidFill>
                <a:latin typeface="Calibri"/>
                <a:ea typeface="Calibri"/>
                <a:cs typeface="Calibri"/>
                <a:sym typeface="Calibri"/>
              </a:rPr>
              <a:t> </a:t>
            </a:r>
            <a:endParaRPr/>
          </a:p>
        </p:txBody>
      </p:sp>
      <p:pic>
        <p:nvPicPr>
          <p:cNvPr id="492" name="Google Shape;492;p27"/>
          <p:cNvPicPr preferRelativeResize="0"/>
          <p:nvPr/>
        </p:nvPicPr>
        <p:blipFill rotWithShape="1">
          <a:blip r:embed="rId3">
            <a:alphaModFix/>
          </a:blip>
          <a:srcRect b="0" l="0" r="0" t="0"/>
          <a:stretch/>
        </p:blipFill>
        <p:spPr>
          <a:xfrm>
            <a:off x="2114401" y="1206845"/>
            <a:ext cx="5857444" cy="2356300"/>
          </a:xfrm>
          <a:prstGeom prst="rect">
            <a:avLst/>
          </a:prstGeom>
          <a:noFill/>
          <a:ln>
            <a:noFill/>
          </a:ln>
        </p:spPr>
      </p:pic>
      <p:sp>
        <p:nvSpPr>
          <p:cNvPr id="493" name="Google Shape;493;p27"/>
          <p:cNvSpPr/>
          <p:nvPr/>
        </p:nvSpPr>
        <p:spPr>
          <a:xfrm>
            <a:off x="1181969" y="3616079"/>
            <a:ext cx="7722307"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ru-RU" sz="1600">
                <a:solidFill>
                  <a:schemeClr val="dk1"/>
                </a:solidFill>
                <a:latin typeface="Arial"/>
                <a:ea typeface="Arial"/>
                <a:cs typeface="Arial"/>
                <a:sym typeface="Arial"/>
              </a:rPr>
              <a:t>Рис.1. Набор данных </a:t>
            </a:r>
            <a:r>
              <a:rPr b="1" i="1" lang="ru-RU" sz="1600">
                <a:solidFill>
                  <a:srgbClr val="0B769C"/>
                </a:solidFill>
                <a:latin typeface="Arial"/>
                <a:ea typeface="Arial"/>
                <a:cs typeface="Arial"/>
                <a:sym typeface="Arial"/>
              </a:rPr>
              <a:t>Advertising</a:t>
            </a:r>
            <a:r>
              <a:rPr b="1" lang="ru-RU" sz="1600">
                <a:solidFill>
                  <a:schemeClr val="dk1"/>
                </a:solidFill>
                <a:latin typeface="Arial"/>
                <a:ea typeface="Arial"/>
                <a:cs typeface="Arial"/>
                <a:sym typeface="Arial"/>
              </a:rPr>
              <a:t> включает сведения по продажам (</a:t>
            </a:r>
            <a:r>
              <a:rPr b="1" i="1" lang="ru-RU" sz="1600">
                <a:solidFill>
                  <a:srgbClr val="0B769C"/>
                </a:solidFill>
                <a:latin typeface="Arial"/>
                <a:ea typeface="Arial"/>
                <a:cs typeface="Arial"/>
                <a:sym typeface="Arial"/>
              </a:rPr>
              <a:t>sales</a:t>
            </a:r>
            <a:r>
              <a:rPr b="1" lang="ru-RU" sz="1600">
                <a:solidFill>
                  <a:schemeClr val="dk1"/>
                </a:solidFill>
                <a:latin typeface="Arial"/>
                <a:ea typeface="Arial"/>
                <a:cs typeface="Arial"/>
                <a:sym typeface="Arial"/>
              </a:rPr>
              <a:t>) </a:t>
            </a:r>
            <a:endParaRPr b="1" sz="1600">
              <a:solidFill>
                <a:schemeClr val="dk1"/>
              </a:solidFill>
              <a:latin typeface="Arial"/>
              <a:ea typeface="Arial"/>
              <a:cs typeface="Arial"/>
              <a:sym typeface="Arial"/>
            </a:endParaRPr>
          </a:p>
        </p:txBody>
      </p:sp>
      <p:sp>
        <p:nvSpPr>
          <p:cNvPr id="494" name="Google Shape;494;p27"/>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cxnSp>
        <p:nvCxnSpPr>
          <p:cNvPr id="495" name="Google Shape;495;p27"/>
          <p:cNvCxnSpPr/>
          <p:nvPr/>
        </p:nvCxnSpPr>
        <p:spPr>
          <a:xfrm>
            <a:off x="7907304" y="3232693"/>
            <a:ext cx="712613" cy="0"/>
          </a:xfrm>
          <a:prstGeom prst="straightConnector1">
            <a:avLst/>
          </a:prstGeom>
          <a:noFill/>
          <a:ln cap="flat" cmpd="sng" w="9525">
            <a:solidFill>
              <a:srgbClr val="4962C5"/>
            </a:solidFill>
            <a:prstDash val="solid"/>
            <a:round/>
            <a:headEnd len="sm" w="sm" type="none"/>
            <a:tailEnd len="med" w="med" type="triangle"/>
          </a:ln>
        </p:spPr>
      </p:cxnSp>
      <p:sp>
        <p:nvSpPr>
          <p:cNvPr id="496" name="Google Shape;496;p27"/>
          <p:cNvSpPr/>
          <p:nvPr/>
        </p:nvSpPr>
        <p:spPr>
          <a:xfrm>
            <a:off x="7810500" y="2764261"/>
            <a:ext cx="1266038" cy="4154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ru-RU" sz="1000">
                <a:solidFill>
                  <a:schemeClr val="dk1"/>
                </a:solidFill>
                <a:latin typeface="Arial"/>
                <a:ea typeface="Arial"/>
                <a:cs typeface="Arial"/>
                <a:sym typeface="Arial"/>
              </a:rPr>
              <a:t>уровни бюджета на рекламу </a:t>
            </a:r>
            <a:endParaRPr/>
          </a:p>
        </p:txBody>
      </p:sp>
      <p:cxnSp>
        <p:nvCxnSpPr>
          <p:cNvPr id="497" name="Google Shape;497;p27"/>
          <p:cNvCxnSpPr/>
          <p:nvPr/>
        </p:nvCxnSpPr>
        <p:spPr>
          <a:xfrm rot="10800000">
            <a:off x="2512541" y="1056740"/>
            <a:ext cx="0" cy="346164"/>
          </a:xfrm>
          <a:prstGeom prst="straightConnector1">
            <a:avLst/>
          </a:prstGeom>
          <a:noFill/>
          <a:ln cap="flat" cmpd="sng" w="9525">
            <a:solidFill>
              <a:srgbClr val="4962C5"/>
            </a:solidFill>
            <a:prstDash val="solid"/>
            <a:round/>
            <a:headEnd len="sm" w="sm" type="none"/>
            <a:tailEnd len="med" w="med" type="triangle"/>
          </a:ln>
        </p:spPr>
      </p:cxnSp>
      <p:sp>
        <p:nvSpPr>
          <p:cNvPr id="498" name="Google Shape;498;p27"/>
          <p:cNvSpPr/>
          <p:nvPr/>
        </p:nvSpPr>
        <p:spPr>
          <a:xfrm>
            <a:off x="1793700" y="995184"/>
            <a:ext cx="71884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ru-RU" sz="1000">
                <a:solidFill>
                  <a:schemeClr val="dk1"/>
                </a:solidFill>
                <a:latin typeface="Arial"/>
                <a:ea typeface="Arial"/>
                <a:cs typeface="Arial"/>
                <a:sym typeface="Arial"/>
              </a:rPr>
              <a:t>Уровень продаж</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28"/>
          <p:cNvSpPr/>
          <p:nvPr/>
        </p:nvSpPr>
        <p:spPr>
          <a:xfrm>
            <a:off x="242888" y="322263"/>
            <a:ext cx="9791700" cy="63373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504" name="Google Shape;504;p28"/>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505" name="Google Shape;505;p28"/>
          <p:cNvSpPr/>
          <p:nvPr/>
        </p:nvSpPr>
        <p:spPr>
          <a:xfrm>
            <a:off x="836258" y="141865"/>
            <a:ext cx="8604957" cy="661947"/>
          </a:xfrm>
          <a:prstGeom prst="roundRect">
            <a:avLst>
              <a:gd fmla="val 45749" name="adj"/>
            </a:avLst>
          </a:prstGeom>
          <a:solidFill>
            <a:srgbClr val="FFFFFF">
              <a:alpha val="52549"/>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ru-RU" sz="2800">
                <a:solidFill>
                  <a:schemeClr val="dk1"/>
                </a:solidFill>
                <a:latin typeface="Arial"/>
                <a:ea typeface="Arial"/>
                <a:cs typeface="Arial"/>
                <a:sym typeface="Arial"/>
              </a:rPr>
              <a:t>Что такое статистическое обучение?</a:t>
            </a:r>
            <a:endParaRPr/>
          </a:p>
        </p:txBody>
      </p:sp>
      <p:sp>
        <p:nvSpPr>
          <p:cNvPr id="506" name="Google Shape;506;p28"/>
          <p:cNvSpPr txBox="1"/>
          <p:nvPr/>
        </p:nvSpPr>
        <p:spPr>
          <a:xfrm>
            <a:off x="242887" y="1524247"/>
            <a:ext cx="9933080" cy="4880534"/>
          </a:xfrm>
          <a:prstGeom prst="rect">
            <a:avLst/>
          </a:prstGeom>
          <a:solidFill>
            <a:srgbClr val="DDF4FC"/>
          </a:solidFill>
          <a:ln>
            <a:noFill/>
          </a:ln>
        </p:spPr>
        <p:txBody>
          <a:bodyPr anchorCtr="0" anchor="t" bIns="45700" lIns="91425" spcFirstLastPara="1" rIns="91425" wrap="square" tIns="45700">
            <a:noAutofit/>
          </a:bodyPr>
          <a:lstStyle/>
          <a:p>
            <a:pPr indent="-373063" lvl="0" marL="373063" marR="0" rtl="0" algn="l">
              <a:spcBef>
                <a:spcPts val="0"/>
              </a:spcBef>
              <a:spcAft>
                <a:spcPts val="0"/>
              </a:spcAft>
              <a:buClr>
                <a:schemeClr val="dk1"/>
              </a:buClr>
              <a:buSzPts val="2200"/>
              <a:buFont typeface="Calibri"/>
              <a:buChar char="•"/>
            </a:pPr>
            <a:r>
              <a:rPr lang="ru-RU" sz="2200">
                <a:solidFill>
                  <a:schemeClr val="dk1"/>
                </a:solidFill>
                <a:latin typeface="Calibri"/>
                <a:ea typeface="Calibri"/>
                <a:cs typeface="Calibri"/>
                <a:sym typeface="Calibri"/>
              </a:rPr>
              <a:t>В качестве более общего случая представьте, что мы наблюдаем некоторый количественный отклик </a:t>
            </a:r>
            <a:r>
              <a:rPr i="1" lang="ru-RU" sz="2200">
                <a:solidFill>
                  <a:schemeClr val="dk1"/>
                </a:solidFill>
                <a:latin typeface="Calibri"/>
                <a:ea typeface="Calibri"/>
                <a:cs typeface="Calibri"/>
                <a:sym typeface="Calibri"/>
              </a:rPr>
              <a:t>Y</a:t>
            </a:r>
            <a:r>
              <a:rPr lang="ru-RU" sz="2200">
                <a:solidFill>
                  <a:schemeClr val="dk1"/>
                </a:solidFill>
                <a:latin typeface="Calibri"/>
                <a:ea typeface="Calibri"/>
                <a:cs typeface="Calibri"/>
                <a:sym typeface="Calibri"/>
              </a:rPr>
              <a:t>  для </a:t>
            </a:r>
            <a:r>
              <a:rPr i="1" lang="ru-RU" sz="2200">
                <a:solidFill>
                  <a:schemeClr val="dk1"/>
                </a:solidFill>
                <a:latin typeface="Calibri"/>
                <a:ea typeface="Calibri"/>
                <a:cs typeface="Calibri"/>
                <a:sym typeface="Calibri"/>
              </a:rPr>
              <a:t>р</a:t>
            </a:r>
            <a:r>
              <a:rPr lang="ru-RU" sz="2200">
                <a:solidFill>
                  <a:schemeClr val="dk1"/>
                </a:solidFill>
                <a:latin typeface="Calibri"/>
                <a:ea typeface="Calibri"/>
                <a:cs typeface="Calibri"/>
                <a:sym typeface="Calibri"/>
              </a:rPr>
              <a:t> отдельных предикторов X</a:t>
            </a:r>
            <a:r>
              <a:rPr baseline="-25000" lang="ru-RU" sz="2200">
                <a:solidFill>
                  <a:schemeClr val="dk1"/>
                </a:solidFill>
                <a:latin typeface="Calibri"/>
                <a:ea typeface="Calibri"/>
                <a:cs typeface="Calibri"/>
                <a:sym typeface="Calibri"/>
              </a:rPr>
              <a:t>1</a:t>
            </a:r>
            <a:r>
              <a:rPr lang="ru-RU" sz="2200">
                <a:solidFill>
                  <a:schemeClr val="dk1"/>
                </a:solidFill>
                <a:latin typeface="Calibri"/>
                <a:ea typeface="Calibri"/>
                <a:cs typeface="Calibri"/>
                <a:sym typeface="Calibri"/>
              </a:rPr>
              <a:t>,X</a:t>
            </a:r>
            <a:r>
              <a:rPr baseline="-25000" lang="ru-RU" sz="2200">
                <a:solidFill>
                  <a:schemeClr val="dk1"/>
                </a:solidFill>
                <a:latin typeface="Calibri"/>
                <a:ea typeface="Calibri"/>
                <a:cs typeface="Calibri"/>
                <a:sym typeface="Calibri"/>
              </a:rPr>
              <a:t>2</a:t>
            </a:r>
            <a:r>
              <a:rPr lang="ru-RU" sz="2200">
                <a:solidFill>
                  <a:schemeClr val="dk1"/>
                </a:solidFill>
                <a:latin typeface="Calibri"/>
                <a:ea typeface="Calibri"/>
                <a:cs typeface="Calibri"/>
                <a:sym typeface="Calibri"/>
              </a:rPr>
              <a:t>,... </a:t>
            </a:r>
            <a:r>
              <a:rPr i="1" lang="ru-RU" sz="2200">
                <a:solidFill>
                  <a:schemeClr val="dk1"/>
                </a:solidFill>
                <a:latin typeface="Calibri"/>
                <a:ea typeface="Calibri"/>
                <a:cs typeface="Calibri"/>
                <a:sym typeface="Calibri"/>
              </a:rPr>
              <a:t>Х</a:t>
            </a:r>
            <a:r>
              <a:rPr baseline="-25000" i="1" lang="ru-RU" sz="2200">
                <a:solidFill>
                  <a:schemeClr val="dk1"/>
                </a:solidFill>
                <a:latin typeface="Calibri"/>
                <a:ea typeface="Calibri"/>
                <a:cs typeface="Calibri"/>
                <a:sym typeface="Calibri"/>
              </a:rPr>
              <a:t>р</a:t>
            </a:r>
            <a:r>
              <a:rPr i="1" lang="ru-RU" sz="2200">
                <a:solidFill>
                  <a:schemeClr val="dk1"/>
                </a:solidFill>
                <a:latin typeface="Calibri"/>
                <a:ea typeface="Calibri"/>
                <a:cs typeface="Calibri"/>
                <a:sym typeface="Calibri"/>
              </a:rPr>
              <a:t>.</a:t>
            </a:r>
            <a:r>
              <a:rPr lang="ru-RU" sz="2200">
                <a:solidFill>
                  <a:schemeClr val="dk1"/>
                </a:solidFill>
                <a:latin typeface="Calibri"/>
                <a:ea typeface="Calibri"/>
                <a:cs typeface="Calibri"/>
                <a:sym typeface="Calibri"/>
              </a:rPr>
              <a:t> </a:t>
            </a:r>
            <a:endParaRPr/>
          </a:p>
          <a:p>
            <a:pPr indent="-373063" lvl="0" marL="373063" marR="0" rtl="0" algn="l">
              <a:spcBef>
                <a:spcPts val="440"/>
              </a:spcBef>
              <a:spcAft>
                <a:spcPts val="0"/>
              </a:spcAft>
              <a:buClr>
                <a:schemeClr val="dk1"/>
              </a:buClr>
              <a:buSzPts val="2200"/>
              <a:buFont typeface="Calibri"/>
              <a:buChar char="•"/>
            </a:pPr>
            <a:r>
              <a:rPr lang="ru-RU" sz="2200">
                <a:solidFill>
                  <a:schemeClr val="dk1"/>
                </a:solidFill>
                <a:latin typeface="Calibri"/>
                <a:ea typeface="Calibri"/>
                <a:cs typeface="Calibri"/>
                <a:sym typeface="Calibri"/>
              </a:rPr>
              <a:t>Мы делаем предположение о том, что существует определенная связь между </a:t>
            </a:r>
            <a:r>
              <a:rPr i="1" lang="ru-RU" sz="2200">
                <a:solidFill>
                  <a:schemeClr val="dk1"/>
                </a:solidFill>
                <a:latin typeface="Calibri"/>
                <a:ea typeface="Calibri"/>
                <a:cs typeface="Calibri"/>
                <a:sym typeface="Calibri"/>
              </a:rPr>
              <a:t>Y</a:t>
            </a:r>
            <a:r>
              <a:rPr lang="ru-RU" sz="2200">
                <a:solidFill>
                  <a:schemeClr val="dk1"/>
                </a:solidFill>
                <a:latin typeface="Calibri"/>
                <a:ea typeface="Calibri"/>
                <a:cs typeface="Calibri"/>
                <a:sym typeface="Calibri"/>
              </a:rPr>
              <a:t> и </a:t>
            </a:r>
            <a:r>
              <a:rPr i="1" lang="ru-RU" sz="2200">
                <a:solidFill>
                  <a:schemeClr val="dk1"/>
                </a:solidFill>
                <a:latin typeface="Calibri"/>
                <a:ea typeface="Calibri"/>
                <a:cs typeface="Calibri"/>
                <a:sym typeface="Calibri"/>
              </a:rPr>
              <a:t>X = {</a:t>
            </a:r>
            <a:r>
              <a:rPr lang="ru-RU" sz="2200">
                <a:solidFill>
                  <a:schemeClr val="dk1"/>
                </a:solidFill>
                <a:latin typeface="Calibri"/>
                <a:ea typeface="Calibri"/>
                <a:cs typeface="Calibri"/>
                <a:sym typeface="Calibri"/>
              </a:rPr>
              <a:t>X</a:t>
            </a:r>
            <a:r>
              <a:rPr baseline="-25000" lang="ru-RU" sz="2200">
                <a:solidFill>
                  <a:schemeClr val="dk1"/>
                </a:solidFill>
                <a:latin typeface="Calibri"/>
                <a:ea typeface="Calibri"/>
                <a:cs typeface="Calibri"/>
                <a:sym typeface="Calibri"/>
              </a:rPr>
              <a:t>1</a:t>
            </a:r>
            <a:r>
              <a:rPr lang="ru-RU" sz="2200">
                <a:solidFill>
                  <a:schemeClr val="dk1"/>
                </a:solidFill>
                <a:latin typeface="Calibri"/>
                <a:ea typeface="Calibri"/>
                <a:cs typeface="Calibri"/>
                <a:sym typeface="Calibri"/>
              </a:rPr>
              <a:t>,X</a:t>
            </a:r>
            <a:r>
              <a:rPr baseline="-25000" lang="ru-RU" sz="2200">
                <a:solidFill>
                  <a:schemeClr val="dk1"/>
                </a:solidFill>
                <a:latin typeface="Calibri"/>
                <a:ea typeface="Calibri"/>
                <a:cs typeface="Calibri"/>
                <a:sym typeface="Calibri"/>
              </a:rPr>
              <a:t>2</a:t>
            </a:r>
            <a:r>
              <a:rPr lang="ru-RU" sz="2200">
                <a:solidFill>
                  <a:schemeClr val="dk1"/>
                </a:solidFill>
                <a:latin typeface="Calibri"/>
                <a:ea typeface="Calibri"/>
                <a:cs typeface="Calibri"/>
                <a:sym typeface="Calibri"/>
              </a:rPr>
              <a:t>,... </a:t>
            </a:r>
            <a:r>
              <a:rPr i="1" lang="ru-RU" sz="2200">
                <a:solidFill>
                  <a:schemeClr val="dk1"/>
                </a:solidFill>
                <a:latin typeface="Calibri"/>
                <a:ea typeface="Calibri"/>
                <a:cs typeface="Calibri"/>
                <a:sym typeface="Calibri"/>
              </a:rPr>
              <a:t>Х</a:t>
            </a:r>
            <a:r>
              <a:rPr baseline="-25000" i="1" lang="ru-RU" sz="2200">
                <a:solidFill>
                  <a:schemeClr val="dk1"/>
                </a:solidFill>
                <a:latin typeface="Calibri"/>
                <a:ea typeface="Calibri"/>
                <a:cs typeface="Calibri"/>
                <a:sym typeface="Calibri"/>
              </a:rPr>
              <a:t>р</a:t>
            </a:r>
            <a:r>
              <a:rPr i="1" lang="ru-RU" sz="2200">
                <a:solidFill>
                  <a:schemeClr val="dk1"/>
                </a:solidFill>
                <a:latin typeface="Calibri"/>
                <a:ea typeface="Calibri"/>
                <a:cs typeface="Calibri"/>
                <a:sym typeface="Calibri"/>
              </a:rPr>
              <a:t>}</a:t>
            </a:r>
            <a:r>
              <a:rPr lang="ru-RU" sz="2200">
                <a:solidFill>
                  <a:schemeClr val="dk1"/>
                </a:solidFill>
                <a:latin typeface="Calibri"/>
                <a:ea typeface="Calibri"/>
                <a:cs typeface="Calibri"/>
                <a:sym typeface="Calibri"/>
              </a:rPr>
              <a:t>, которую в очень общей форме можно записать как</a:t>
            </a:r>
            <a:endParaRPr sz="2200">
              <a:solidFill>
                <a:schemeClr val="dk1"/>
              </a:solidFill>
              <a:latin typeface="Calibri"/>
              <a:ea typeface="Calibri"/>
              <a:cs typeface="Calibri"/>
              <a:sym typeface="Calibri"/>
            </a:endParaRPr>
          </a:p>
          <a:p>
            <a:pPr indent="0" lvl="0" marL="0" marR="0" rtl="0" algn="ctr">
              <a:spcBef>
                <a:spcPts val="480"/>
              </a:spcBef>
              <a:spcAft>
                <a:spcPts val="0"/>
              </a:spcAft>
              <a:buClr>
                <a:schemeClr val="dk1"/>
              </a:buClr>
              <a:buSzPts val="2200"/>
              <a:buFont typeface="Calibri"/>
              <a:buNone/>
            </a:pPr>
            <a:r>
              <a:rPr lang="ru-RU" sz="2200">
                <a:solidFill>
                  <a:schemeClr val="dk1"/>
                </a:solidFill>
                <a:latin typeface="Calibri"/>
                <a:ea typeface="Calibri"/>
                <a:cs typeface="Calibri"/>
                <a:sym typeface="Calibri"/>
              </a:rPr>
              <a:t>	</a:t>
            </a:r>
            <a:r>
              <a:rPr b="1" i="1" lang="ru-RU" sz="2400">
                <a:solidFill>
                  <a:srgbClr val="0B769C"/>
                </a:solidFill>
                <a:latin typeface="Calibri"/>
                <a:ea typeface="Calibri"/>
                <a:cs typeface="Calibri"/>
                <a:sym typeface="Calibri"/>
              </a:rPr>
              <a:t>Y=f(X)+ε                            </a:t>
            </a:r>
            <a:r>
              <a:rPr lang="ru-RU" sz="2400">
                <a:solidFill>
                  <a:schemeClr val="dk1"/>
                </a:solidFill>
                <a:latin typeface="Calibri"/>
                <a:ea typeface="Calibri"/>
                <a:cs typeface="Calibri"/>
                <a:sym typeface="Calibri"/>
              </a:rPr>
              <a:t>(1)                         </a:t>
            </a:r>
            <a:endParaRPr sz="2200">
              <a:solidFill>
                <a:schemeClr val="dk1"/>
              </a:solidFill>
              <a:latin typeface="Calibri"/>
              <a:ea typeface="Calibri"/>
              <a:cs typeface="Calibri"/>
              <a:sym typeface="Calibri"/>
            </a:endParaRPr>
          </a:p>
          <a:p>
            <a:pPr indent="0" lvl="0" marL="0" marR="0" rtl="0" algn="ctr">
              <a:spcBef>
                <a:spcPts val="440"/>
              </a:spcBef>
              <a:spcAft>
                <a:spcPts val="0"/>
              </a:spcAft>
              <a:buClr>
                <a:schemeClr val="dk1"/>
              </a:buClr>
              <a:buSzPts val="2200"/>
              <a:buFont typeface="Calibri"/>
              <a:buNone/>
            </a:pPr>
            <a:r>
              <a:t/>
            </a:r>
            <a:endParaRPr sz="2200">
              <a:solidFill>
                <a:schemeClr val="dk1"/>
              </a:solidFill>
              <a:latin typeface="Calibri"/>
              <a:ea typeface="Calibri"/>
              <a:cs typeface="Calibri"/>
              <a:sym typeface="Calibri"/>
            </a:endParaRPr>
          </a:p>
          <a:p>
            <a:pPr indent="-373063" lvl="0" marL="373063" marR="0" rtl="0" algn="l">
              <a:spcBef>
                <a:spcPts val="440"/>
              </a:spcBef>
              <a:spcAft>
                <a:spcPts val="0"/>
              </a:spcAft>
              <a:buClr>
                <a:schemeClr val="dk1"/>
              </a:buClr>
              <a:buSzPts val="2200"/>
              <a:buFont typeface="Calibri"/>
              <a:buChar char="•"/>
            </a:pPr>
            <a:r>
              <a:rPr lang="ru-RU" sz="2200">
                <a:solidFill>
                  <a:schemeClr val="dk1"/>
                </a:solidFill>
                <a:latin typeface="Calibri"/>
                <a:ea typeface="Calibri"/>
                <a:cs typeface="Calibri"/>
                <a:sym typeface="Calibri"/>
              </a:rPr>
              <a:t>Здесь </a:t>
            </a:r>
            <a:r>
              <a:rPr b="1" i="1" lang="ru-RU" sz="2200">
                <a:solidFill>
                  <a:schemeClr val="dk1"/>
                </a:solidFill>
                <a:latin typeface="Calibri"/>
                <a:ea typeface="Calibri"/>
                <a:cs typeface="Calibri"/>
                <a:sym typeface="Calibri"/>
              </a:rPr>
              <a:t>f</a:t>
            </a:r>
            <a:r>
              <a:rPr i="1" lang="ru-RU" sz="2200">
                <a:solidFill>
                  <a:schemeClr val="dk1"/>
                </a:solidFill>
                <a:latin typeface="Calibri"/>
                <a:ea typeface="Calibri"/>
                <a:cs typeface="Calibri"/>
                <a:sym typeface="Calibri"/>
              </a:rPr>
              <a:t> </a:t>
            </a:r>
            <a:r>
              <a:rPr lang="ru-RU" sz="2200">
                <a:solidFill>
                  <a:schemeClr val="dk1"/>
                </a:solidFill>
                <a:latin typeface="Calibri"/>
                <a:ea typeface="Calibri"/>
                <a:cs typeface="Calibri"/>
                <a:sym typeface="Calibri"/>
              </a:rPr>
              <a:t>— это некоторая фиксированная, но неизвестная функция от </a:t>
            </a:r>
            <a:r>
              <a:rPr b="1" lang="ru-RU" sz="2200">
                <a:solidFill>
                  <a:schemeClr val="dk1"/>
                </a:solidFill>
                <a:latin typeface="Calibri"/>
                <a:ea typeface="Calibri"/>
                <a:cs typeface="Calibri"/>
                <a:sym typeface="Calibri"/>
              </a:rPr>
              <a:t>X</a:t>
            </a:r>
            <a:r>
              <a:rPr b="1" baseline="-25000" lang="ru-RU" sz="2200">
                <a:solidFill>
                  <a:schemeClr val="dk1"/>
                </a:solidFill>
                <a:latin typeface="Calibri"/>
                <a:ea typeface="Calibri"/>
                <a:cs typeface="Calibri"/>
                <a:sym typeface="Calibri"/>
              </a:rPr>
              <a:t>1</a:t>
            </a:r>
            <a:r>
              <a:rPr b="1" lang="ru-RU" sz="2200">
                <a:solidFill>
                  <a:schemeClr val="dk1"/>
                </a:solidFill>
                <a:latin typeface="Calibri"/>
                <a:ea typeface="Calibri"/>
                <a:cs typeface="Calibri"/>
                <a:sym typeface="Calibri"/>
              </a:rPr>
              <a:t>,X</a:t>
            </a:r>
            <a:r>
              <a:rPr b="1" baseline="-25000" lang="ru-RU" sz="2200">
                <a:solidFill>
                  <a:schemeClr val="dk1"/>
                </a:solidFill>
                <a:latin typeface="Calibri"/>
                <a:ea typeface="Calibri"/>
                <a:cs typeface="Calibri"/>
                <a:sym typeface="Calibri"/>
              </a:rPr>
              <a:t>2</a:t>
            </a:r>
            <a:r>
              <a:rPr b="1" lang="ru-RU" sz="2200">
                <a:solidFill>
                  <a:schemeClr val="dk1"/>
                </a:solidFill>
                <a:latin typeface="Calibri"/>
                <a:ea typeface="Calibri"/>
                <a:cs typeface="Calibri"/>
                <a:sym typeface="Calibri"/>
              </a:rPr>
              <a:t>,... </a:t>
            </a:r>
            <a:r>
              <a:rPr b="1" i="1" lang="ru-RU" sz="2200">
                <a:solidFill>
                  <a:schemeClr val="dk1"/>
                </a:solidFill>
                <a:latin typeface="Calibri"/>
                <a:ea typeface="Calibri"/>
                <a:cs typeface="Calibri"/>
                <a:sym typeface="Calibri"/>
              </a:rPr>
              <a:t>Х</a:t>
            </a:r>
            <a:r>
              <a:rPr b="1" baseline="-25000" i="1" lang="ru-RU" sz="2200">
                <a:solidFill>
                  <a:schemeClr val="dk1"/>
                </a:solidFill>
                <a:latin typeface="Calibri"/>
                <a:ea typeface="Calibri"/>
                <a:cs typeface="Calibri"/>
                <a:sym typeface="Calibri"/>
              </a:rPr>
              <a:t>р</a:t>
            </a:r>
            <a:r>
              <a:rPr b="1" i="1" lang="ru-RU" sz="2200">
                <a:solidFill>
                  <a:schemeClr val="dk1"/>
                </a:solidFill>
                <a:latin typeface="Calibri"/>
                <a:ea typeface="Calibri"/>
                <a:cs typeface="Calibri"/>
                <a:sym typeface="Calibri"/>
              </a:rPr>
              <a:t>,</a:t>
            </a:r>
            <a:r>
              <a:rPr lang="ru-RU" sz="2200">
                <a:solidFill>
                  <a:schemeClr val="dk1"/>
                </a:solidFill>
                <a:latin typeface="Calibri"/>
                <a:ea typeface="Calibri"/>
                <a:cs typeface="Calibri"/>
                <a:sym typeface="Calibri"/>
              </a:rPr>
              <a:t> а </a:t>
            </a:r>
            <a:r>
              <a:rPr b="1" lang="ru-RU" sz="2200">
                <a:solidFill>
                  <a:schemeClr val="dk1"/>
                </a:solidFill>
                <a:latin typeface="Calibri"/>
                <a:ea typeface="Calibri"/>
                <a:cs typeface="Calibri"/>
                <a:sym typeface="Calibri"/>
              </a:rPr>
              <a:t>ε </a:t>
            </a:r>
            <a:r>
              <a:rPr lang="ru-RU" sz="2200">
                <a:solidFill>
                  <a:schemeClr val="dk1"/>
                </a:solidFill>
                <a:latin typeface="Calibri"/>
                <a:ea typeface="Calibri"/>
                <a:cs typeface="Calibri"/>
                <a:sym typeface="Calibri"/>
              </a:rPr>
              <a:t>— </a:t>
            </a:r>
            <a:r>
              <a:rPr i="1" lang="ru-RU" sz="2200">
                <a:solidFill>
                  <a:schemeClr val="dk1"/>
                </a:solidFill>
                <a:latin typeface="Calibri"/>
                <a:ea typeface="Calibri"/>
                <a:cs typeface="Calibri"/>
                <a:sym typeface="Calibri"/>
              </a:rPr>
              <a:t>ошибка</a:t>
            </a:r>
            <a:r>
              <a:rPr lang="ru-RU" sz="2200">
                <a:solidFill>
                  <a:schemeClr val="dk1"/>
                </a:solidFill>
                <a:latin typeface="Calibri"/>
                <a:ea typeface="Calibri"/>
                <a:cs typeface="Calibri"/>
                <a:sym typeface="Calibri"/>
              </a:rPr>
              <a:t>, которая не зависит от </a:t>
            </a:r>
            <a:r>
              <a:rPr i="1" lang="ru-RU" sz="2200">
                <a:solidFill>
                  <a:schemeClr val="dk1"/>
                </a:solidFill>
                <a:latin typeface="Calibri"/>
                <a:ea typeface="Calibri"/>
                <a:cs typeface="Calibri"/>
                <a:sym typeface="Calibri"/>
              </a:rPr>
              <a:t>X</a:t>
            </a:r>
            <a:r>
              <a:rPr lang="ru-RU" sz="2200">
                <a:solidFill>
                  <a:schemeClr val="dk1"/>
                </a:solidFill>
                <a:latin typeface="Calibri"/>
                <a:ea typeface="Calibri"/>
                <a:cs typeface="Calibri"/>
                <a:sym typeface="Calibri"/>
              </a:rPr>
              <a:t> и имеет нулевое среднее значение. В таком представлении </a:t>
            </a:r>
            <a:r>
              <a:rPr b="1" i="1" lang="ru-RU" sz="2200">
                <a:solidFill>
                  <a:schemeClr val="dk1"/>
                </a:solidFill>
                <a:latin typeface="Calibri"/>
                <a:ea typeface="Calibri"/>
                <a:cs typeface="Calibri"/>
                <a:sym typeface="Calibri"/>
              </a:rPr>
              <a:t>f</a:t>
            </a:r>
            <a:r>
              <a:rPr lang="ru-RU" sz="2200">
                <a:solidFill>
                  <a:schemeClr val="dk1"/>
                </a:solidFill>
                <a:latin typeface="Calibri"/>
                <a:ea typeface="Calibri"/>
                <a:cs typeface="Calibri"/>
                <a:sym typeface="Calibri"/>
              </a:rPr>
              <a:t> выражает </a:t>
            </a:r>
            <a:r>
              <a:rPr i="1" lang="ru-RU" sz="2200">
                <a:solidFill>
                  <a:schemeClr val="dk1"/>
                </a:solidFill>
                <a:latin typeface="Calibri"/>
                <a:ea typeface="Calibri"/>
                <a:cs typeface="Calibri"/>
                <a:sym typeface="Calibri"/>
              </a:rPr>
              <a:t>систематическую</a:t>
            </a:r>
            <a:r>
              <a:rPr lang="ru-RU" sz="2200">
                <a:solidFill>
                  <a:schemeClr val="dk1"/>
                </a:solidFill>
                <a:latin typeface="Calibri"/>
                <a:ea typeface="Calibri"/>
                <a:cs typeface="Calibri"/>
                <a:sym typeface="Calibri"/>
              </a:rPr>
              <a:t> информацию о </a:t>
            </a:r>
            <a:r>
              <a:rPr b="1" i="1" lang="ru-RU" sz="2200">
                <a:solidFill>
                  <a:schemeClr val="dk1"/>
                </a:solidFill>
                <a:latin typeface="Calibri"/>
                <a:ea typeface="Calibri"/>
                <a:cs typeface="Calibri"/>
                <a:sym typeface="Calibri"/>
              </a:rPr>
              <a:t>Y</a:t>
            </a:r>
            <a:r>
              <a:rPr i="1" lang="ru-RU" sz="2200">
                <a:solidFill>
                  <a:schemeClr val="dk1"/>
                </a:solidFill>
                <a:latin typeface="Calibri"/>
                <a:ea typeface="Calibri"/>
                <a:cs typeface="Calibri"/>
                <a:sym typeface="Calibri"/>
              </a:rPr>
              <a:t>,</a:t>
            </a:r>
            <a:r>
              <a:rPr lang="ru-RU" sz="2200">
                <a:solidFill>
                  <a:schemeClr val="dk1"/>
                </a:solidFill>
                <a:latin typeface="Calibri"/>
                <a:ea typeface="Calibri"/>
                <a:cs typeface="Calibri"/>
                <a:sym typeface="Calibri"/>
              </a:rPr>
              <a:t> содержащуюся в </a:t>
            </a:r>
            <a:r>
              <a:rPr b="1" i="1" lang="ru-RU" sz="2200">
                <a:solidFill>
                  <a:schemeClr val="dk1"/>
                </a:solidFill>
                <a:latin typeface="Calibri"/>
                <a:ea typeface="Calibri"/>
                <a:cs typeface="Calibri"/>
                <a:sym typeface="Calibri"/>
              </a:rPr>
              <a:t>X</a:t>
            </a:r>
            <a:r>
              <a:rPr i="1" lang="ru-RU" sz="2200">
                <a:solidFill>
                  <a:schemeClr val="dk1"/>
                </a:solidFill>
                <a:latin typeface="Calibri"/>
                <a:ea typeface="Calibri"/>
                <a:cs typeface="Calibri"/>
                <a:sym typeface="Calibri"/>
              </a:rPr>
              <a:t>.</a:t>
            </a:r>
            <a:endParaRPr/>
          </a:p>
          <a:p>
            <a:pPr indent="-373063" lvl="0" marL="373063" marR="0" rtl="0" algn="l">
              <a:spcBef>
                <a:spcPts val="480"/>
              </a:spcBef>
              <a:spcAft>
                <a:spcPts val="0"/>
              </a:spcAft>
              <a:buClr>
                <a:srgbClr val="0B769C"/>
              </a:buClr>
              <a:buSzPts val="2400"/>
              <a:buFont typeface="Calibri"/>
              <a:buChar char="•"/>
            </a:pPr>
            <a:r>
              <a:rPr b="1" i="1" lang="ru-RU" sz="2400">
                <a:solidFill>
                  <a:srgbClr val="0B769C"/>
                </a:solidFill>
                <a:latin typeface="Calibri"/>
                <a:ea typeface="Calibri"/>
                <a:cs typeface="Calibri"/>
                <a:sym typeface="Calibri"/>
              </a:rPr>
              <a:t>Формула (1) является наиболее общим видом модели статистического обучения.</a:t>
            </a:r>
            <a:endParaRPr b="1" sz="2400">
              <a:solidFill>
                <a:srgbClr val="0B769C"/>
              </a:solidFill>
              <a:latin typeface="Calibri"/>
              <a:ea typeface="Calibri"/>
              <a:cs typeface="Calibri"/>
              <a:sym typeface="Calibri"/>
            </a:endParaRPr>
          </a:p>
          <a:p>
            <a:pPr indent="0" lvl="0" marL="0" marR="0" rtl="0" algn="l">
              <a:spcBef>
                <a:spcPts val="440"/>
              </a:spcBef>
              <a:spcAft>
                <a:spcPts val="0"/>
              </a:spcAft>
              <a:buClr>
                <a:schemeClr val="dk1"/>
              </a:buClr>
              <a:buSzPts val="2200"/>
              <a:buFont typeface="Calibri"/>
              <a:buNone/>
            </a:pPr>
            <a:r>
              <a:t/>
            </a:r>
            <a:endParaRPr sz="2200">
              <a:solidFill>
                <a:schemeClr val="dk1"/>
              </a:solidFill>
              <a:latin typeface="Calibri"/>
              <a:ea typeface="Calibri"/>
              <a:cs typeface="Calibri"/>
              <a:sym typeface="Calibri"/>
            </a:endParaRPr>
          </a:p>
        </p:txBody>
      </p:sp>
      <p:sp>
        <p:nvSpPr>
          <p:cNvPr id="507" name="Google Shape;507;p28"/>
          <p:cNvSpPr/>
          <p:nvPr/>
        </p:nvSpPr>
        <p:spPr>
          <a:xfrm>
            <a:off x="1394320" y="869356"/>
            <a:ext cx="748883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ru-RU" sz="2000">
                <a:solidFill>
                  <a:srgbClr val="0B769C"/>
                </a:solidFill>
                <a:latin typeface="Arial"/>
                <a:ea typeface="Arial"/>
                <a:cs typeface="Arial"/>
                <a:sym typeface="Arial"/>
              </a:rPr>
              <a:t>Общий вид модели статистического обучения</a:t>
            </a:r>
            <a:endParaRPr sz="2000">
              <a:solidFill>
                <a:schemeClr val="dk1"/>
              </a:solidFill>
              <a:latin typeface="Arial"/>
              <a:ea typeface="Arial"/>
              <a:cs typeface="Arial"/>
              <a:sym typeface="Arial"/>
            </a:endParaRPr>
          </a:p>
        </p:txBody>
      </p:sp>
      <p:sp>
        <p:nvSpPr>
          <p:cNvPr id="508" name="Google Shape;508;p28"/>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29"/>
          <p:cNvSpPr/>
          <p:nvPr/>
        </p:nvSpPr>
        <p:spPr>
          <a:xfrm>
            <a:off x="224884" y="360572"/>
            <a:ext cx="9791700" cy="6514939"/>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514" name="Google Shape;514;p29"/>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515" name="Google Shape;515;p29"/>
          <p:cNvSpPr/>
          <p:nvPr/>
        </p:nvSpPr>
        <p:spPr>
          <a:xfrm>
            <a:off x="818254" y="244728"/>
            <a:ext cx="8604957" cy="661947"/>
          </a:xfrm>
          <a:prstGeom prst="roundRect">
            <a:avLst>
              <a:gd fmla="val 45749" name="adj"/>
            </a:avLst>
          </a:prstGeom>
          <a:solidFill>
            <a:srgbClr val="FFFFFF">
              <a:alpha val="52549"/>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ru-RU" sz="2800">
                <a:solidFill>
                  <a:schemeClr val="dk1"/>
                </a:solidFill>
                <a:latin typeface="Arial"/>
                <a:ea typeface="Arial"/>
                <a:cs typeface="Arial"/>
                <a:sym typeface="Arial"/>
              </a:rPr>
              <a:t>Что такое статистическое обучение?</a:t>
            </a:r>
            <a:endParaRPr/>
          </a:p>
        </p:txBody>
      </p:sp>
      <p:sp>
        <p:nvSpPr>
          <p:cNvPr id="516" name="Google Shape;516;p29"/>
          <p:cNvSpPr/>
          <p:nvPr/>
        </p:nvSpPr>
        <p:spPr>
          <a:xfrm>
            <a:off x="224884" y="963365"/>
            <a:ext cx="9791700" cy="891539"/>
          </a:xfrm>
          <a:prstGeom prst="rect">
            <a:avLst/>
          </a:prstGeom>
          <a:noFill/>
          <a:ln>
            <a:noFill/>
          </a:ln>
        </p:spPr>
        <p:txBody>
          <a:bodyPr anchorCtr="0" anchor="t" bIns="45700" lIns="91425" spcFirstLastPara="1" rIns="91425" wrap="square" tIns="45700">
            <a:noAutofit/>
          </a:bodyPr>
          <a:lstStyle/>
          <a:p>
            <a:pPr indent="-373063" lvl="0" marL="373063" marR="0" rtl="0" algn="l">
              <a:spcBef>
                <a:spcPts val="0"/>
              </a:spcBef>
              <a:spcAft>
                <a:spcPts val="0"/>
              </a:spcAft>
              <a:buClr>
                <a:schemeClr val="dk1"/>
              </a:buClr>
              <a:buSzPts val="2200"/>
              <a:buFont typeface="Calibri"/>
              <a:buChar char="•"/>
            </a:pPr>
            <a:r>
              <a:rPr lang="ru-RU" sz="2200">
                <a:solidFill>
                  <a:schemeClr val="dk1"/>
                </a:solidFill>
                <a:latin typeface="Calibri"/>
                <a:ea typeface="Calibri"/>
                <a:cs typeface="Calibri"/>
                <a:sym typeface="Calibri"/>
              </a:rPr>
              <a:t>В качестве другого примера рассмотрим данные для 30 человек из таблицы</a:t>
            </a:r>
            <a:r>
              <a:rPr i="1" lang="ru-RU" sz="2200">
                <a:solidFill>
                  <a:srgbClr val="0B769C"/>
                </a:solidFill>
                <a:latin typeface="Calibri"/>
                <a:ea typeface="Calibri"/>
                <a:cs typeface="Calibri"/>
                <a:sym typeface="Calibri"/>
              </a:rPr>
              <a:t> Income</a:t>
            </a:r>
            <a:r>
              <a:rPr lang="ru-RU" sz="2200">
                <a:solidFill>
                  <a:schemeClr val="dk1"/>
                </a:solidFill>
                <a:latin typeface="Calibri"/>
                <a:ea typeface="Calibri"/>
                <a:cs typeface="Calibri"/>
                <a:sym typeface="Calibri"/>
              </a:rPr>
              <a:t>, отражающие зависимость дохода (</a:t>
            </a:r>
            <a:r>
              <a:rPr i="1" lang="ru-RU" sz="2200">
                <a:solidFill>
                  <a:srgbClr val="0B769C"/>
                </a:solidFill>
                <a:latin typeface="Calibri"/>
                <a:ea typeface="Calibri"/>
                <a:cs typeface="Calibri"/>
                <a:sym typeface="Calibri"/>
              </a:rPr>
              <a:t>income</a:t>
            </a:r>
            <a:r>
              <a:rPr lang="ru-RU" sz="2200">
                <a:solidFill>
                  <a:schemeClr val="dk1"/>
                </a:solidFill>
                <a:latin typeface="Calibri"/>
                <a:ea typeface="Calibri"/>
                <a:cs typeface="Calibri"/>
                <a:sym typeface="Calibri"/>
              </a:rPr>
              <a:t>) от количества лет, затраченных этими людьми на образование (</a:t>
            </a:r>
            <a:r>
              <a:rPr i="1" lang="ru-RU" sz="2200">
                <a:solidFill>
                  <a:srgbClr val="0B769C"/>
                </a:solidFill>
                <a:latin typeface="Calibri"/>
                <a:ea typeface="Calibri"/>
                <a:cs typeface="Calibri"/>
                <a:sym typeface="Calibri"/>
              </a:rPr>
              <a:t>years</a:t>
            </a:r>
            <a:r>
              <a:rPr lang="ru-RU" sz="2200">
                <a:solidFill>
                  <a:schemeClr val="dk1"/>
                </a:solidFill>
                <a:latin typeface="Calibri"/>
                <a:ea typeface="Calibri"/>
                <a:cs typeface="Calibri"/>
                <a:sym typeface="Calibri"/>
              </a:rPr>
              <a:t> </a:t>
            </a:r>
            <a:r>
              <a:rPr i="1" lang="ru-RU" sz="2200">
                <a:solidFill>
                  <a:srgbClr val="0B769C"/>
                </a:solidFill>
                <a:latin typeface="Calibri"/>
                <a:ea typeface="Calibri"/>
                <a:cs typeface="Calibri"/>
                <a:sym typeface="Calibri"/>
              </a:rPr>
              <a:t>of education</a:t>
            </a:r>
            <a:r>
              <a:rPr lang="ru-RU" sz="2200">
                <a:solidFill>
                  <a:schemeClr val="dk1"/>
                </a:solidFill>
                <a:latin typeface="Calibri"/>
                <a:ea typeface="Calibri"/>
                <a:cs typeface="Calibri"/>
                <a:sym typeface="Calibri"/>
              </a:rPr>
              <a:t>; рис. 2). </a:t>
            </a:r>
            <a:endParaRPr/>
          </a:p>
          <a:p>
            <a:pPr indent="-233363" lvl="0" marL="373063" marR="0" rtl="0" algn="l">
              <a:spcBef>
                <a:spcPts val="440"/>
              </a:spcBef>
              <a:spcAft>
                <a:spcPts val="0"/>
              </a:spcAft>
              <a:buClr>
                <a:schemeClr val="dk1"/>
              </a:buClr>
              <a:buSzPts val="2200"/>
              <a:buFont typeface="Arial"/>
              <a:buNone/>
            </a:pPr>
            <a:r>
              <a:t/>
            </a:r>
            <a:endParaRPr sz="2200">
              <a:solidFill>
                <a:schemeClr val="dk1"/>
              </a:solidFill>
              <a:latin typeface="Calibri"/>
              <a:ea typeface="Calibri"/>
              <a:cs typeface="Calibri"/>
              <a:sym typeface="Calibri"/>
            </a:endParaRPr>
          </a:p>
          <a:p>
            <a:pPr indent="-233363" lvl="0" marL="373063" marR="0" rtl="0" algn="l">
              <a:spcBef>
                <a:spcPts val="440"/>
              </a:spcBef>
              <a:spcAft>
                <a:spcPts val="0"/>
              </a:spcAft>
              <a:buClr>
                <a:schemeClr val="dk1"/>
              </a:buClr>
              <a:buSzPts val="2200"/>
              <a:buFont typeface="Arial"/>
              <a:buNone/>
            </a:pPr>
            <a:r>
              <a:t/>
            </a:r>
            <a:endParaRPr sz="2200">
              <a:solidFill>
                <a:schemeClr val="dk1"/>
              </a:solidFill>
              <a:latin typeface="Calibri"/>
              <a:ea typeface="Calibri"/>
              <a:cs typeface="Calibri"/>
              <a:sym typeface="Calibri"/>
            </a:endParaRPr>
          </a:p>
          <a:p>
            <a:pPr indent="-233363" lvl="0" marL="373063" marR="0" rtl="0" algn="l">
              <a:spcBef>
                <a:spcPts val="440"/>
              </a:spcBef>
              <a:spcAft>
                <a:spcPts val="0"/>
              </a:spcAft>
              <a:buClr>
                <a:schemeClr val="dk1"/>
              </a:buClr>
              <a:buSzPts val="2200"/>
              <a:buFont typeface="Arial"/>
              <a:buNone/>
            </a:pPr>
            <a:r>
              <a:t/>
            </a:r>
            <a:endParaRPr sz="2200">
              <a:solidFill>
                <a:schemeClr val="dk1"/>
              </a:solidFill>
              <a:latin typeface="Calibri"/>
              <a:ea typeface="Calibri"/>
              <a:cs typeface="Calibri"/>
              <a:sym typeface="Calibri"/>
            </a:endParaRPr>
          </a:p>
          <a:p>
            <a:pPr indent="-233363" lvl="0" marL="373063" marR="0" rtl="0" algn="l">
              <a:spcBef>
                <a:spcPts val="440"/>
              </a:spcBef>
              <a:spcAft>
                <a:spcPts val="0"/>
              </a:spcAft>
              <a:buClr>
                <a:schemeClr val="dk1"/>
              </a:buClr>
              <a:buSzPts val="2200"/>
              <a:buFont typeface="Arial"/>
              <a:buNone/>
            </a:pPr>
            <a:r>
              <a:t/>
            </a:r>
            <a:endParaRPr sz="2200">
              <a:solidFill>
                <a:schemeClr val="dk1"/>
              </a:solidFill>
              <a:latin typeface="Calibri"/>
              <a:ea typeface="Calibri"/>
              <a:cs typeface="Calibri"/>
              <a:sym typeface="Calibri"/>
            </a:endParaRPr>
          </a:p>
          <a:p>
            <a:pPr indent="-233363" lvl="0" marL="373063" marR="0" rtl="0" algn="l">
              <a:spcBef>
                <a:spcPts val="440"/>
              </a:spcBef>
              <a:spcAft>
                <a:spcPts val="0"/>
              </a:spcAft>
              <a:buClr>
                <a:schemeClr val="dk1"/>
              </a:buClr>
              <a:buSzPts val="2200"/>
              <a:buFont typeface="Arial"/>
              <a:buNone/>
            </a:pPr>
            <a:r>
              <a:t/>
            </a:r>
            <a:endParaRPr sz="2200">
              <a:solidFill>
                <a:schemeClr val="dk1"/>
              </a:solidFill>
              <a:latin typeface="Calibri"/>
              <a:ea typeface="Calibri"/>
              <a:cs typeface="Calibri"/>
              <a:sym typeface="Calibri"/>
            </a:endParaRPr>
          </a:p>
          <a:p>
            <a:pPr indent="-233363" lvl="0" marL="373063" marR="0" rtl="0" algn="l">
              <a:spcBef>
                <a:spcPts val="440"/>
              </a:spcBef>
              <a:spcAft>
                <a:spcPts val="0"/>
              </a:spcAft>
              <a:buClr>
                <a:schemeClr val="dk1"/>
              </a:buClr>
              <a:buSzPts val="2200"/>
              <a:buFont typeface="Arial"/>
              <a:buNone/>
            </a:pPr>
            <a:r>
              <a:t/>
            </a:r>
            <a:endParaRPr sz="2200">
              <a:solidFill>
                <a:schemeClr val="dk1"/>
              </a:solidFill>
              <a:latin typeface="Calibri"/>
              <a:ea typeface="Calibri"/>
              <a:cs typeface="Calibri"/>
              <a:sym typeface="Calibri"/>
            </a:endParaRPr>
          </a:p>
          <a:p>
            <a:pPr indent="0" lvl="0" marL="0" marR="0" rtl="0" algn="l">
              <a:spcBef>
                <a:spcPts val="440"/>
              </a:spcBef>
              <a:spcAft>
                <a:spcPts val="0"/>
              </a:spcAft>
              <a:buNone/>
            </a:pPr>
            <a:r>
              <a:t/>
            </a:r>
            <a:endParaRPr sz="2200">
              <a:solidFill>
                <a:schemeClr val="dk1"/>
              </a:solidFill>
              <a:latin typeface="Calibri"/>
              <a:ea typeface="Calibri"/>
              <a:cs typeface="Calibri"/>
              <a:sym typeface="Calibri"/>
            </a:endParaRPr>
          </a:p>
        </p:txBody>
      </p:sp>
      <p:pic>
        <p:nvPicPr>
          <p:cNvPr id="517" name="Google Shape;517;p29"/>
          <p:cNvPicPr preferRelativeResize="0"/>
          <p:nvPr/>
        </p:nvPicPr>
        <p:blipFill rotWithShape="1">
          <a:blip r:embed="rId3">
            <a:alphaModFix/>
          </a:blip>
          <a:srcRect b="0" l="0" r="0" t="0"/>
          <a:stretch/>
        </p:blipFill>
        <p:spPr>
          <a:xfrm>
            <a:off x="2898278" y="2137573"/>
            <a:ext cx="4480917" cy="2285511"/>
          </a:xfrm>
          <a:prstGeom prst="rect">
            <a:avLst/>
          </a:prstGeom>
          <a:noFill/>
          <a:ln>
            <a:noFill/>
          </a:ln>
        </p:spPr>
      </p:pic>
      <p:sp>
        <p:nvSpPr>
          <p:cNvPr id="518" name="Google Shape;518;p29"/>
          <p:cNvSpPr/>
          <p:nvPr/>
        </p:nvSpPr>
        <p:spPr>
          <a:xfrm>
            <a:off x="3580860" y="4481006"/>
            <a:ext cx="335863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ru-RU" sz="1600">
                <a:solidFill>
                  <a:schemeClr val="dk1"/>
                </a:solidFill>
                <a:latin typeface="Arial"/>
                <a:ea typeface="Arial"/>
                <a:cs typeface="Arial"/>
                <a:sym typeface="Arial"/>
              </a:rPr>
              <a:t>Рис.2. Набор данных </a:t>
            </a:r>
            <a:r>
              <a:rPr b="1" i="1" lang="ru-RU" sz="1600">
                <a:solidFill>
                  <a:srgbClr val="0B769C"/>
                </a:solidFill>
                <a:latin typeface="Arial"/>
                <a:ea typeface="Arial"/>
                <a:cs typeface="Arial"/>
                <a:sym typeface="Arial"/>
              </a:rPr>
              <a:t>Income</a:t>
            </a:r>
            <a:endParaRPr b="1" i="1" sz="1600">
              <a:solidFill>
                <a:schemeClr val="dk1"/>
              </a:solidFill>
              <a:latin typeface="Arial"/>
              <a:ea typeface="Arial"/>
              <a:cs typeface="Arial"/>
              <a:sym typeface="Arial"/>
            </a:endParaRPr>
          </a:p>
        </p:txBody>
      </p:sp>
      <p:sp>
        <p:nvSpPr>
          <p:cNvPr id="519" name="Google Shape;519;p29"/>
          <p:cNvSpPr/>
          <p:nvPr/>
        </p:nvSpPr>
        <p:spPr>
          <a:xfrm>
            <a:off x="168450" y="4834342"/>
            <a:ext cx="9904567" cy="1938992"/>
          </a:xfrm>
          <a:prstGeom prst="rect">
            <a:avLst/>
          </a:prstGeom>
          <a:noFill/>
          <a:ln>
            <a:noFill/>
          </a:ln>
        </p:spPr>
        <p:txBody>
          <a:bodyPr anchorCtr="0" anchor="t" bIns="45700" lIns="91425" spcFirstLastPara="1" rIns="91425" wrap="square" tIns="45700">
            <a:spAutoFit/>
          </a:bodyPr>
          <a:lstStyle/>
          <a:p>
            <a:pPr indent="-373063" lvl="0" marL="373063" marR="0" rtl="0" algn="l">
              <a:spcBef>
                <a:spcPts val="0"/>
              </a:spcBef>
              <a:spcAft>
                <a:spcPts val="0"/>
              </a:spcAft>
              <a:buClr>
                <a:schemeClr val="dk1"/>
              </a:buClr>
              <a:buSzPts val="2000"/>
              <a:buFont typeface="Arial"/>
              <a:buChar char="•"/>
            </a:pPr>
            <a:r>
              <a:rPr lang="ru-RU" sz="2000">
                <a:solidFill>
                  <a:schemeClr val="dk1"/>
                </a:solidFill>
                <a:latin typeface="Arial"/>
                <a:ea typeface="Arial"/>
                <a:cs typeface="Arial"/>
                <a:sym typeface="Arial"/>
              </a:rPr>
              <a:t>График предполагает, что мы могли бы предсказать доход на основе длительности обучения. Однако функция, связывающая входную переменную с выходной переменной, в общем случае неизвестна. В такой ситуации мы должны оценить </a:t>
            </a:r>
            <a:r>
              <a:rPr b="1" i="1" lang="ru-RU" sz="2000">
                <a:solidFill>
                  <a:schemeClr val="dk1"/>
                </a:solidFill>
                <a:latin typeface="Arial"/>
                <a:ea typeface="Arial"/>
                <a:cs typeface="Arial"/>
                <a:sym typeface="Arial"/>
              </a:rPr>
              <a:t>f</a:t>
            </a:r>
            <a:r>
              <a:rPr b="1" lang="ru-RU" sz="2000">
                <a:solidFill>
                  <a:schemeClr val="dk1"/>
                </a:solidFill>
                <a:latin typeface="Arial"/>
                <a:ea typeface="Arial"/>
                <a:cs typeface="Arial"/>
                <a:sym typeface="Arial"/>
              </a:rPr>
              <a:t> </a:t>
            </a:r>
            <a:r>
              <a:rPr lang="ru-RU" sz="2000">
                <a:solidFill>
                  <a:schemeClr val="dk1"/>
                </a:solidFill>
                <a:latin typeface="Arial"/>
                <a:ea typeface="Arial"/>
                <a:cs typeface="Arial"/>
                <a:sym typeface="Arial"/>
              </a:rPr>
              <a:t>на основе имеющихся наблюдений. Поскольку таблица </a:t>
            </a:r>
            <a:r>
              <a:rPr i="1" lang="ru-RU" sz="2000">
                <a:solidFill>
                  <a:srgbClr val="0B769C"/>
                </a:solidFill>
                <a:latin typeface="Arial"/>
                <a:ea typeface="Arial"/>
                <a:cs typeface="Arial"/>
                <a:sym typeface="Arial"/>
              </a:rPr>
              <a:t>Income</a:t>
            </a:r>
            <a:r>
              <a:rPr lang="ru-RU" sz="2000">
                <a:solidFill>
                  <a:schemeClr val="dk1"/>
                </a:solidFill>
                <a:latin typeface="Arial"/>
                <a:ea typeface="Arial"/>
                <a:cs typeface="Arial"/>
                <a:sym typeface="Arial"/>
              </a:rPr>
              <a:t> содержит имитированные данные, то  </a:t>
            </a:r>
            <a:r>
              <a:rPr b="1" i="1" lang="ru-RU" sz="2000">
                <a:solidFill>
                  <a:schemeClr val="dk1"/>
                </a:solidFill>
                <a:latin typeface="Arial"/>
                <a:ea typeface="Arial"/>
                <a:cs typeface="Arial"/>
                <a:sym typeface="Arial"/>
              </a:rPr>
              <a:t>f</a:t>
            </a:r>
            <a:r>
              <a:rPr b="1" lang="ru-RU" sz="2000">
                <a:solidFill>
                  <a:schemeClr val="dk1"/>
                </a:solidFill>
                <a:latin typeface="Arial"/>
                <a:ea typeface="Arial"/>
                <a:cs typeface="Arial"/>
                <a:sym typeface="Arial"/>
              </a:rPr>
              <a:t> </a:t>
            </a:r>
            <a:r>
              <a:rPr lang="ru-RU" sz="2000">
                <a:solidFill>
                  <a:schemeClr val="dk1"/>
                </a:solidFill>
                <a:latin typeface="Arial"/>
                <a:ea typeface="Arial"/>
                <a:cs typeface="Arial"/>
                <a:sym typeface="Arial"/>
              </a:rPr>
              <a:t> известна и показана на рис. 2 в виде кривой синего цвета. Вертикальные отрезки соответствуют ошибкам </a:t>
            </a:r>
            <a:r>
              <a:rPr b="1" i="1" lang="ru-RU" sz="2000">
                <a:solidFill>
                  <a:schemeClr val="dk1"/>
                </a:solidFill>
                <a:latin typeface="Arial"/>
                <a:ea typeface="Arial"/>
                <a:cs typeface="Arial"/>
                <a:sym typeface="Arial"/>
              </a:rPr>
              <a:t>ε</a:t>
            </a:r>
            <a:r>
              <a:rPr lang="ru-RU" sz="2000">
                <a:solidFill>
                  <a:schemeClr val="dk1"/>
                </a:solidFill>
                <a:latin typeface="Arial"/>
                <a:ea typeface="Arial"/>
                <a:cs typeface="Arial"/>
                <a:sym typeface="Arial"/>
              </a:rPr>
              <a:t>. </a:t>
            </a:r>
            <a:endParaRPr/>
          </a:p>
        </p:txBody>
      </p:sp>
      <p:sp>
        <p:nvSpPr>
          <p:cNvPr id="520" name="Google Shape;520;p29"/>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30"/>
          <p:cNvSpPr/>
          <p:nvPr/>
        </p:nvSpPr>
        <p:spPr>
          <a:xfrm>
            <a:off x="242888" y="322263"/>
            <a:ext cx="9791700" cy="63373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526" name="Google Shape;526;p30"/>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527" name="Google Shape;527;p30"/>
          <p:cNvSpPr/>
          <p:nvPr/>
        </p:nvSpPr>
        <p:spPr>
          <a:xfrm>
            <a:off x="818257" y="394792"/>
            <a:ext cx="8604957" cy="661947"/>
          </a:xfrm>
          <a:prstGeom prst="roundRect">
            <a:avLst>
              <a:gd fmla="val 45749" name="adj"/>
            </a:avLst>
          </a:prstGeom>
          <a:solidFill>
            <a:srgbClr val="FFFFFF">
              <a:alpha val="52549"/>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ru-RU" sz="2800">
                <a:solidFill>
                  <a:schemeClr val="dk1"/>
                </a:solidFill>
                <a:latin typeface="Arial"/>
                <a:ea typeface="Arial"/>
                <a:cs typeface="Arial"/>
                <a:sym typeface="Arial"/>
              </a:rPr>
              <a:t>Что такое статистическое обучение?</a:t>
            </a:r>
            <a:endParaRPr/>
          </a:p>
        </p:txBody>
      </p:sp>
      <p:sp>
        <p:nvSpPr>
          <p:cNvPr id="528" name="Google Shape;528;p30"/>
          <p:cNvSpPr/>
          <p:nvPr/>
        </p:nvSpPr>
        <p:spPr>
          <a:xfrm>
            <a:off x="386209" y="1129268"/>
            <a:ext cx="6076095" cy="5112568"/>
          </a:xfrm>
          <a:prstGeom prst="rect">
            <a:avLst/>
          </a:prstGeom>
          <a:noFill/>
          <a:ln>
            <a:noFill/>
          </a:ln>
        </p:spPr>
        <p:txBody>
          <a:bodyPr anchorCtr="0" anchor="t" bIns="45700" lIns="91425" spcFirstLastPara="1" rIns="91425" wrap="square" tIns="45700">
            <a:noAutofit/>
          </a:bodyPr>
          <a:lstStyle/>
          <a:p>
            <a:pPr indent="-373063" lvl="0" marL="373063" marR="0" rtl="0" algn="l">
              <a:spcBef>
                <a:spcPts val="0"/>
              </a:spcBef>
              <a:spcAft>
                <a:spcPts val="0"/>
              </a:spcAft>
              <a:buClr>
                <a:schemeClr val="dk1"/>
              </a:buClr>
              <a:buSzPts val="2200"/>
              <a:buFont typeface="Calibri"/>
              <a:buChar char="•"/>
            </a:pPr>
            <a:r>
              <a:rPr lang="ru-RU" sz="2200">
                <a:solidFill>
                  <a:schemeClr val="dk1"/>
                </a:solidFill>
                <a:latin typeface="Calibri"/>
                <a:ea typeface="Calibri"/>
                <a:cs typeface="Calibri"/>
                <a:sym typeface="Calibri"/>
              </a:rPr>
              <a:t>Заметим, что некоторые из 30 наблюдений лежат выше голубой линии, а некоторые — ниже, но в целом </a:t>
            </a:r>
            <a:r>
              <a:rPr b="1" i="1" lang="ru-RU" sz="2200">
                <a:solidFill>
                  <a:srgbClr val="0B769C"/>
                </a:solidFill>
                <a:latin typeface="Calibri"/>
                <a:ea typeface="Calibri"/>
                <a:cs typeface="Calibri"/>
                <a:sym typeface="Calibri"/>
              </a:rPr>
              <a:t>среднее значение ошибок примерно равно нулю.</a:t>
            </a:r>
            <a:endParaRPr/>
          </a:p>
          <a:p>
            <a:pPr indent="-233363" lvl="0" marL="373063" marR="0" rtl="0" algn="l">
              <a:spcBef>
                <a:spcPts val="440"/>
              </a:spcBef>
              <a:spcAft>
                <a:spcPts val="0"/>
              </a:spcAft>
              <a:buClr>
                <a:schemeClr val="dk1"/>
              </a:buClr>
              <a:buSzPts val="2200"/>
              <a:buFont typeface="Arial"/>
              <a:buNone/>
            </a:pPr>
            <a:r>
              <a:t/>
            </a:r>
            <a:endParaRPr b="1" i="1" sz="2200">
              <a:solidFill>
                <a:srgbClr val="0B769C"/>
              </a:solidFill>
              <a:latin typeface="Calibri"/>
              <a:ea typeface="Calibri"/>
              <a:cs typeface="Calibri"/>
              <a:sym typeface="Calibri"/>
            </a:endParaRPr>
          </a:p>
          <a:p>
            <a:pPr indent="-233363" lvl="0" marL="373063" marR="0" rtl="0" algn="l">
              <a:spcBef>
                <a:spcPts val="440"/>
              </a:spcBef>
              <a:spcAft>
                <a:spcPts val="0"/>
              </a:spcAft>
              <a:buClr>
                <a:schemeClr val="dk1"/>
              </a:buClr>
              <a:buSzPts val="2200"/>
              <a:buFont typeface="Arial"/>
              <a:buNone/>
            </a:pPr>
            <a:r>
              <a:t/>
            </a:r>
            <a:endParaRPr b="1" i="1" sz="2200">
              <a:solidFill>
                <a:srgbClr val="0B769C"/>
              </a:solidFill>
              <a:latin typeface="Calibri"/>
              <a:ea typeface="Calibri"/>
              <a:cs typeface="Calibri"/>
              <a:sym typeface="Calibri"/>
            </a:endParaRPr>
          </a:p>
          <a:p>
            <a:pPr indent="-373063" lvl="0" marL="373063" marR="0" rtl="0" algn="l">
              <a:spcBef>
                <a:spcPts val="440"/>
              </a:spcBef>
              <a:spcAft>
                <a:spcPts val="0"/>
              </a:spcAft>
              <a:buClr>
                <a:schemeClr val="dk1"/>
              </a:buClr>
              <a:buSzPts val="2200"/>
              <a:buFont typeface="Calibri"/>
              <a:buChar char="•"/>
            </a:pPr>
            <a:r>
              <a:rPr lang="ru-RU" sz="2200">
                <a:solidFill>
                  <a:schemeClr val="dk1"/>
                </a:solidFill>
                <a:latin typeface="Calibri"/>
                <a:ea typeface="Calibri"/>
                <a:cs typeface="Calibri"/>
                <a:sym typeface="Calibri"/>
              </a:rPr>
              <a:t>В общем случае функция </a:t>
            </a:r>
            <a:r>
              <a:rPr b="1" i="1" lang="ru-RU" sz="2200">
                <a:solidFill>
                  <a:schemeClr val="dk1"/>
                </a:solidFill>
                <a:latin typeface="Calibri"/>
                <a:ea typeface="Calibri"/>
                <a:cs typeface="Calibri"/>
                <a:sym typeface="Calibri"/>
              </a:rPr>
              <a:t>f</a:t>
            </a:r>
            <a:r>
              <a:rPr lang="ru-RU" sz="2200">
                <a:solidFill>
                  <a:schemeClr val="dk1"/>
                </a:solidFill>
                <a:latin typeface="Calibri"/>
                <a:ea typeface="Calibri"/>
                <a:cs typeface="Calibri"/>
                <a:sym typeface="Calibri"/>
              </a:rPr>
              <a:t> может включать более одной входной переменной. На рис. 3  </a:t>
            </a:r>
            <a:r>
              <a:rPr i="1" lang="ru-RU" sz="2200">
                <a:solidFill>
                  <a:srgbClr val="0B769C"/>
                </a:solidFill>
                <a:latin typeface="Calibri"/>
                <a:ea typeface="Calibri"/>
                <a:cs typeface="Calibri"/>
                <a:sym typeface="Calibri"/>
              </a:rPr>
              <a:t>income</a:t>
            </a:r>
            <a:r>
              <a:rPr lang="ru-RU" sz="2200">
                <a:solidFill>
                  <a:schemeClr val="dk1"/>
                </a:solidFill>
                <a:latin typeface="Calibri"/>
                <a:ea typeface="Calibri"/>
                <a:cs typeface="Calibri"/>
                <a:sym typeface="Calibri"/>
              </a:rPr>
              <a:t>  -  функция от длительности обучения и стажа (</a:t>
            </a:r>
            <a:r>
              <a:rPr i="1" lang="ru-RU" sz="2200">
                <a:solidFill>
                  <a:srgbClr val="0B769C"/>
                </a:solidFill>
                <a:latin typeface="Calibri"/>
                <a:ea typeface="Calibri"/>
                <a:cs typeface="Calibri"/>
                <a:sym typeface="Calibri"/>
              </a:rPr>
              <a:t>seniority</a:t>
            </a:r>
            <a:r>
              <a:rPr lang="ru-RU" sz="2200">
                <a:solidFill>
                  <a:schemeClr val="dk1"/>
                </a:solidFill>
                <a:latin typeface="Calibri"/>
                <a:ea typeface="Calibri"/>
                <a:cs typeface="Calibri"/>
                <a:sym typeface="Calibri"/>
              </a:rPr>
              <a:t>). Здесь </a:t>
            </a:r>
            <a:r>
              <a:rPr b="1" i="1" lang="ru-RU" sz="2200">
                <a:solidFill>
                  <a:schemeClr val="dk1"/>
                </a:solidFill>
                <a:latin typeface="Calibri"/>
                <a:ea typeface="Calibri"/>
                <a:cs typeface="Calibri"/>
                <a:sym typeface="Calibri"/>
              </a:rPr>
              <a:t>f</a:t>
            </a:r>
            <a:r>
              <a:rPr lang="ru-RU" sz="2200">
                <a:solidFill>
                  <a:schemeClr val="dk1"/>
                </a:solidFill>
                <a:latin typeface="Calibri"/>
                <a:ea typeface="Calibri"/>
                <a:cs typeface="Calibri"/>
                <a:sym typeface="Calibri"/>
              </a:rPr>
              <a:t> представляет собой двумерную плоскость, которую мы должны оценить на основе имеющихся данных.</a:t>
            </a:r>
            <a:endParaRPr/>
          </a:p>
        </p:txBody>
      </p:sp>
      <p:pic>
        <p:nvPicPr>
          <p:cNvPr id="529" name="Google Shape;529;p30"/>
          <p:cNvPicPr preferRelativeResize="0"/>
          <p:nvPr/>
        </p:nvPicPr>
        <p:blipFill rotWithShape="1">
          <a:blip r:embed="rId3">
            <a:alphaModFix/>
          </a:blip>
          <a:srcRect b="0" l="0" r="0" t="0"/>
          <a:stretch/>
        </p:blipFill>
        <p:spPr>
          <a:xfrm>
            <a:off x="6462305" y="3372497"/>
            <a:ext cx="3572282" cy="2878839"/>
          </a:xfrm>
          <a:prstGeom prst="rect">
            <a:avLst/>
          </a:prstGeom>
          <a:noFill/>
          <a:ln>
            <a:noFill/>
          </a:ln>
        </p:spPr>
      </p:pic>
      <p:sp>
        <p:nvSpPr>
          <p:cNvPr id="530" name="Google Shape;530;p30"/>
          <p:cNvSpPr/>
          <p:nvPr/>
        </p:nvSpPr>
        <p:spPr>
          <a:xfrm>
            <a:off x="4346649" y="6170733"/>
            <a:ext cx="5687938" cy="338554"/>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ru-RU" sz="1600">
                <a:solidFill>
                  <a:schemeClr val="dk1"/>
                </a:solidFill>
                <a:latin typeface="Arial"/>
                <a:ea typeface="Arial"/>
                <a:cs typeface="Arial"/>
                <a:sym typeface="Arial"/>
              </a:rPr>
              <a:t>Рис.3. Набор данных </a:t>
            </a:r>
            <a:r>
              <a:rPr b="1" i="1" lang="ru-RU" sz="1600">
                <a:solidFill>
                  <a:srgbClr val="0B769C"/>
                </a:solidFill>
                <a:latin typeface="Arial"/>
                <a:ea typeface="Arial"/>
                <a:cs typeface="Arial"/>
                <a:sym typeface="Arial"/>
              </a:rPr>
              <a:t>Income </a:t>
            </a:r>
            <a:r>
              <a:rPr b="1" i="1" lang="ru-RU" sz="1600">
                <a:solidFill>
                  <a:schemeClr val="dk1"/>
                </a:solidFill>
                <a:latin typeface="Arial"/>
                <a:ea typeface="Arial"/>
                <a:cs typeface="Arial"/>
                <a:sym typeface="Arial"/>
              </a:rPr>
              <a:t>от двух переменных</a:t>
            </a:r>
            <a:endParaRPr/>
          </a:p>
        </p:txBody>
      </p:sp>
      <p:sp>
        <p:nvSpPr>
          <p:cNvPr id="531" name="Google Shape;531;p30"/>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pic>
        <p:nvPicPr>
          <p:cNvPr id="532" name="Google Shape;532;p30"/>
          <p:cNvPicPr preferRelativeResize="0"/>
          <p:nvPr/>
        </p:nvPicPr>
        <p:blipFill rotWithShape="1">
          <a:blip r:embed="rId4">
            <a:alphaModFix/>
          </a:blip>
          <a:srcRect b="0" l="0" r="0" t="0"/>
          <a:stretch/>
        </p:blipFill>
        <p:spPr>
          <a:xfrm>
            <a:off x="6650571" y="1094740"/>
            <a:ext cx="2159546" cy="2271892"/>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31"/>
          <p:cNvSpPr/>
          <p:nvPr/>
        </p:nvSpPr>
        <p:spPr>
          <a:xfrm>
            <a:off x="242888" y="322263"/>
            <a:ext cx="9791700" cy="63373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538" name="Google Shape;538;p31"/>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539" name="Google Shape;539;p31"/>
          <p:cNvSpPr/>
          <p:nvPr/>
        </p:nvSpPr>
        <p:spPr>
          <a:xfrm>
            <a:off x="818257" y="394792"/>
            <a:ext cx="8604957" cy="661947"/>
          </a:xfrm>
          <a:prstGeom prst="roundRect">
            <a:avLst>
              <a:gd fmla="val 45749" name="adj"/>
            </a:avLst>
          </a:prstGeom>
          <a:solidFill>
            <a:srgbClr val="FFFFFF">
              <a:alpha val="52549"/>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ru-RU" sz="2800">
                <a:solidFill>
                  <a:schemeClr val="dk1"/>
                </a:solidFill>
                <a:latin typeface="Arial"/>
                <a:ea typeface="Arial"/>
                <a:cs typeface="Arial"/>
                <a:sym typeface="Arial"/>
              </a:rPr>
              <a:t>Классификация задач Data Mining </a:t>
            </a:r>
            <a:br>
              <a:rPr b="1" lang="ru-RU" sz="2800">
                <a:solidFill>
                  <a:schemeClr val="dk1"/>
                </a:solidFill>
                <a:latin typeface="Arial"/>
                <a:ea typeface="Arial"/>
                <a:cs typeface="Arial"/>
                <a:sym typeface="Arial"/>
              </a:rPr>
            </a:br>
            <a:endParaRPr b="1" sz="2800">
              <a:solidFill>
                <a:schemeClr val="dk1"/>
              </a:solidFill>
              <a:latin typeface="Arial"/>
              <a:ea typeface="Arial"/>
              <a:cs typeface="Arial"/>
              <a:sym typeface="Arial"/>
            </a:endParaRPr>
          </a:p>
        </p:txBody>
      </p:sp>
      <p:sp>
        <p:nvSpPr>
          <p:cNvPr id="540" name="Google Shape;540;p31"/>
          <p:cNvSpPr/>
          <p:nvPr/>
        </p:nvSpPr>
        <p:spPr>
          <a:xfrm>
            <a:off x="425662" y="3067452"/>
            <a:ext cx="9669036" cy="3338159"/>
          </a:xfrm>
          <a:prstGeom prst="rect">
            <a:avLst/>
          </a:prstGeom>
          <a:noFill/>
          <a:ln>
            <a:noFill/>
          </a:ln>
        </p:spPr>
        <p:txBody>
          <a:bodyPr anchorCtr="0" anchor="t" bIns="45700" lIns="91425" spcFirstLastPara="1" rIns="91425" wrap="square" tIns="45700">
            <a:noAutofit/>
          </a:bodyPr>
          <a:lstStyle/>
          <a:p>
            <a:pPr indent="-373063" lvl="0" marL="373063" marR="0" rtl="0" algn="l">
              <a:spcBef>
                <a:spcPts val="0"/>
              </a:spcBef>
              <a:spcAft>
                <a:spcPts val="0"/>
              </a:spcAft>
              <a:buClr>
                <a:schemeClr val="dk1"/>
              </a:buClr>
              <a:buSzPts val="2000"/>
              <a:buFont typeface="Arial"/>
              <a:buChar char="•"/>
            </a:pPr>
            <a:r>
              <a:rPr lang="ru-RU" sz="2000">
                <a:solidFill>
                  <a:schemeClr val="dk1"/>
                </a:solidFill>
                <a:latin typeface="Arial"/>
                <a:ea typeface="Arial"/>
                <a:cs typeface="Arial"/>
                <a:sym typeface="Arial"/>
              </a:rPr>
              <a:t>Решение </a:t>
            </a:r>
            <a:r>
              <a:rPr b="1" i="1" lang="ru-RU" sz="2000">
                <a:solidFill>
                  <a:srgbClr val="0B769C"/>
                </a:solidFill>
                <a:latin typeface="Arial"/>
                <a:ea typeface="Arial"/>
                <a:cs typeface="Arial"/>
                <a:sym typeface="Arial"/>
              </a:rPr>
              <a:t>предсказательных (predictive) </a:t>
            </a:r>
            <a:r>
              <a:rPr lang="ru-RU" sz="2000">
                <a:solidFill>
                  <a:schemeClr val="dk1"/>
                </a:solidFill>
                <a:latin typeface="Arial"/>
                <a:ea typeface="Arial"/>
                <a:cs typeface="Arial"/>
                <a:sym typeface="Arial"/>
              </a:rPr>
              <a:t>задач разбивается на два этапа:</a:t>
            </a:r>
            <a:endParaRPr/>
          </a:p>
          <a:p>
            <a:pPr indent="-457200" lvl="1" marL="914400" marR="0" rtl="0" algn="l">
              <a:spcBef>
                <a:spcPts val="400"/>
              </a:spcBef>
              <a:spcAft>
                <a:spcPts val="0"/>
              </a:spcAft>
              <a:buClr>
                <a:schemeClr val="dk1"/>
              </a:buClr>
              <a:buSzPts val="2000"/>
              <a:buFont typeface="Calibri"/>
              <a:buAutoNum type="arabicPeriod"/>
            </a:pPr>
            <a:r>
              <a:rPr b="0" i="0" lang="ru-RU" sz="2000" u="none" cap="none" strike="noStrike">
                <a:solidFill>
                  <a:schemeClr val="dk1"/>
                </a:solidFill>
                <a:latin typeface="Arial"/>
                <a:ea typeface="Arial"/>
                <a:cs typeface="Arial"/>
                <a:sym typeface="Arial"/>
              </a:rPr>
              <a:t>На первом этапе на основании набора данных с известными результатами строится модель. </a:t>
            </a:r>
            <a:endParaRPr/>
          </a:p>
          <a:p>
            <a:pPr indent="-457200" lvl="1" marL="914400" marR="0" rtl="0" algn="l">
              <a:spcBef>
                <a:spcPts val="400"/>
              </a:spcBef>
              <a:spcAft>
                <a:spcPts val="0"/>
              </a:spcAft>
              <a:buClr>
                <a:schemeClr val="dk1"/>
              </a:buClr>
              <a:buSzPts val="2000"/>
              <a:buFont typeface="Calibri"/>
              <a:buAutoNum type="arabicPeriod"/>
            </a:pPr>
            <a:r>
              <a:rPr b="0" i="0" lang="ru-RU" sz="2000" u="none" cap="none" strike="noStrike">
                <a:solidFill>
                  <a:schemeClr val="dk1"/>
                </a:solidFill>
                <a:latin typeface="Arial"/>
                <a:ea typeface="Arial"/>
                <a:cs typeface="Arial"/>
                <a:sym typeface="Arial"/>
              </a:rPr>
              <a:t>На втором этапе она используется для предсказания результатов на основании новых наборов данных. </a:t>
            </a:r>
            <a:endParaRPr/>
          </a:p>
          <a:p>
            <a:pPr indent="0" lvl="0" marL="0" marR="0" rtl="0" algn="l">
              <a:spcBef>
                <a:spcPts val="400"/>
              </a:spcBef>
              <a:spcAft>
                <a:spcPts val="0"/>
              </a:spcAft>
              <a:buNone/>
            </a:pPr>
            <a:r>
              <a:rPr lang="ru-RU" sz="2000">
                <a:solidFill>
                  <a:schemeClr val="dk1"/>
                </a:solidFill>
                <a:latin typeface="Arial"/>
                <a:ea typeface="Arial"/>
                <a:cs typeface="Arial"/>
                <a:sym typeface="Arial"/>
              </a:rPr>
              <a:t>При этом, естественно, требуется, чтобы построенные модели работали максимально точно. К данному виду задач относят задачи </a:t>
            </a:r>
            <a:r>
              <a:rPr lang="ru-RU" sz="2000">
                <a:solidFill>
                  <a:srgbClr val="0000FF"/>
                </a:solidFill>
                <a:latin typeface="Arial"/>
                <a:ea typeface="Arial"/>
                <a:cs typeface="Arial"/>
                <a:sym typeface="Arial"/>
              </a:rPr>
              <a:t>классификации и регрессии.</a:t>
            </a:r>
            <a:r>
              <a:rPr lang="ru-RU" sz="2000">
                <a:solidFill>
                  <a:schemeClr val="dk1"/>
                </a:solidFill>
                <a:latin typeface="Arial"/>
                <a:ea typeface="Arial"/>
                <a:cs typeface="Arial"/>
                <a:sym typeface="Arial"/>
              </a:rPr>
              <a:t> Сюда можно отнести и задачу </a:t>
            </a:r>
            <a:r>
              <a:rPr lang="ru-RU" sz="2000">
                <a:solidFill>
                  <a:srgbClr val="0000FF"/>
                </a:solidFill>
                <a:latin typeface="Arial"/>
                <a:ea typeface="Arial"/>
                <a:cs typeface="Arial"/>
                <a:sym typeface="Arial"/>
              </a:rPr>
              <a:t>поиска ассоциативных правил</a:t>
            </a:r>
            <a:r>
              <a:rPr lang="ru-RU" sz="2000">
                <a:solidFill>
                  <a:schemeClr val="dk1"/>
                </a:solidFill>
                <a:latin typeface="Arial"/>
                <a:ea typeface="Arial"/>
                <a:cs typeface="Arial"/>
                <a:sym typeface="Arial"/>
              </a:rPr>
              <a:t>, если результаты ее решения могут быть использованы для предсказания появления некоторых событий. </a:t>
            </a:r>
            <a:br>
              <a:rPr lang="ru-RU" sz="2000">
                <a:solidFill>
                  <a:schemeClr val="dk1"/>
                </a:solidFill>
                <a:latin typeface="Arial"/>
                <a:ea typeface="Arial"/>
                <a:cs typeface="Arial"/>
                <a:sym typeface="Arial"/>
              </a:rPr>
            </a:br>
            <a:endParaRPr sz="2000">
              <a:solidFill>
                <a:schemeClr val="dk1"/>
              </a:solidFill>
              <a:latin typeface="Calibri"/>
              <a:ea typeface="Calibri"/>
              <a:cs typeface="Calibri"/>
              <a:sym typeface="Calibri"/>
            </a:endParaRPr>
          </a:p>
        </p:txBody>
      </p:sp>
      <p:sp>
        <p:nvSpPr>
          <p:cNvPr id="541" name="Google Shape;541;p31"/>
          <p:cNvSpPr/>
          <p:nvPr/>
        </p:nvSpPr>
        <p:spPr>
          <a:xfrm>
            <a:off x="447515" y="1129268"/>
            <a:ext cx="9382444" cy="136618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ru-RU" sz="2000">
                <a:solidFill>
                  <a:srgbClr val="0B769C"/>
                </a:solidFill>
                <a:latin typeface="Arial"/>
                <a:ea typeface="Arial"/>
                <a:cs typeface="Arial"/>
                <a:sym typeface="Arial"/>
              </a:rPr>
              <a:t>Под статистическим обучением понимают совокупность методов для оценивания f, которые выражаются формулой (1):</a:t>
            </a:r>
            <a:endParaRPr/>
          </a:p>
          <a:p>
            <a:pPr indent="0" lvl="0" marL="0" marR="0" rtl="0" algn="ctr">
              <a:spcBef>
                <a:spcPts val="480"/>
              </a:spcBef>
              <a:spcAft>
                <a:spcPts val="0"/>
              </a:spcAft>
              <a:buNone/>
            </a:pPr>
            <a:r>
              <a:rPr b="1" i="1" lang="ru-RU" sz="2400">
                <a:solidFill>
                  <a:srgbClr val="0B769C"/>
                </a:solidFill>
                <a:latin typeface="Arial"/>
                <a:ea typeface="Arial"/>
                <a:cs typeface="Arial"/>
                <a:sym typeface="Arial"/>
              </a:rPr>
              <a:t>Y=f(X)+ε</a:t>
            </a:r>
            <a:r>
              <a:rPr b="1" i="1" lang="ru-RU" sz="2400">
                <a:solidFill>
                  <a:srgbClr val="0000FF"/>
                </a:solidFill>
                <a:latin typeface="Calibri"/>
                <a:ea typeface="Calibri"/>
                <a:cs typeface="Calibri"/>
                <a:sym typeface="Calibri"/>
              </a:rPr>
              <a:t> .</a:t>
            </a:r>
            <a:endParaRPr/>
          </a:p>
        </p:txBody>
      </p:sp>
      <p:sp>
        <p:nvSpPr>
          <p:cNvPr id="542" name="Google Shape;542;p31"/>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
        <p:nvSpPr>
          <p:cNvPr id="543" name="Google Shape;543;p31"/>
          <p:cNvSpPr txBox="1"/>
          <p:nvPr/>
        </p:nvSpPr>
        <p:spPr>
          <a:xfrm>
            <a:off x="484934" y="2237713"/>
            <a:ext cx="9620720"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200">
                <a:solidFill>
                  <a:schemeClr val="dk1"/>
                </a:solidFill>
                <a:latin typeface="Calibri"/>
                <a:ea typeface="Calibri"/>
                <a:cs typeface="Calibri"/>
                <a:sym typeface="Calibri"/>
              </a:rPr>
              <a:t>Существуют две основные причины, по которым мы хотели бы оценить</a:t>
            </a:r>
            <a:r>
              <a:rPr b="1" i="1" lang="ru-RU" sz="2200">
                <a:solidFill>
                  <a:schemeClr val="dk1"/>
                </a:solidFill>
                <a:latin typeface="Arial"/>
                <a:ea typeface="Arial"/>
                <a:cs typeface="Arial"/>
                <a:sym typeface="Arial"/>
              </a:rPr>
              <a:t> f</a:t>
            </a:r>
            <a:r>
              <a:rPr lang="ru-RU" sz="2200">
                <a:solidFill>
                  <a:schemeClr val="dk1"/>
                </a:solidFill>
                <a:latin typeface="Arial"/>
                <a:ea typeface="Arial"/>
                <a:cs typeface="Arial"/>
                <a:sym typeface="Arial"/>
              </a:rPr>
              <a:t> </a:t>
            </a:r>
            <a:r>
              <a:rPr lang="ru-RU" sz="2200">
                <a:solidFill>
                  <a:schemeClr val="dk1"/>
                </a:solidFill>
                <a:latin typeface="Calibri"/>
                <a:ea typeface="Calibri"/>
                <a:cs typeface="Calibri"/>
                <a:sym typeface="Calibri"/>
              </a:rPr>
              <a:t>: </a:t>
            </a:r>
            <a:r>
              <a:rPr b="1" i="1" lang="ru-RU" sz="2200">
                <a:solidFill>
                  <a:srgbClr val="0B769C"/>
                </a:solidFill>
                <a:latin typeface="Calibri"/>
                <a:ea typeface="Calibri"/>
                <a:cs typeface="Calibri"/>
                <a:sym typeface="Calibri"/>
              </a:rPr>
              <a:t>предсказание и статистический вывод (описание)</a:t>
            </a:r>
            <a:r>
              <a:rPr lang="ru-RU" sz="2200">
                <a:solidFill>
                  <a:schemeClr val="dk1"/>
                </a:solidFill>
                <a:latin typeface="Calibri"/>
                <a:ea typeface="Calibri"/>
                <a:cs typeface="Calibri"/>
                <a:sym typeface="Calibri"/>
              </a:rPr>
              <a:t>. </a:t>
            </a:r>
            <a:endParaRPr/>
          </a:p>
        </p:txBody>
      </p:sp>
      <p:sp>
        <p:nvSpPr>
          <p:cNvPr id="544" name="Google Shape;544;p31"/>
          <p:cNvSpPr/>
          <p:nvPr/>
        </p:nvSpPr>
        <p:spPr>
          <a:xfrm>
            <a:off x="242888" y="1056739"/>
            <a:ext cx="9862766" cy="2010713"/>
          </a:xfrm>
          <a:prstGeom prst="rect">
            <a:avLst/>
          </a:prstGeom>
          <a:no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lt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32"/>
          <p:cNvSpPr/>
          <p:nvPr/>
        </p:nvSpPr>
        <p:spPr>
          <a:xfrm>
            <a:off x="242888" y="322263"/>
            <a:ext cx="9791700" cy="63373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550" name="Google Shape;550;p32"/>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551" name="Google Shape;551;p32"/>
          <p:cNvSpPr/>
          <p:nvPr/>
        </p:nvSpPr>
        <p:spPr>
          <a:xfrm>
            <a:off x="836259" y="499115"/>
            <a:ext cx="8604957" cy="661947"/>
          </a:xfrm>
          <a:prstGeom prst="roundRect">
            <a:avLst>
              <a:gd fmla="val 45749" name="adj"/>
            </a:avLst>
          </a:prstGeom>
          <a:solidFill>
            <a:srgbClr val="FFFFFF">
              <a:alpha val="52549"/>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ru-RU" sz="2800">
                <a:solidFill>
                  <a:schemeClr val="dk1"/>
                </a:solidFill>
                <a:latin typeface="Arial"/>
                <a:ea typeface="Arial"/>
                <a:cs typeface="Arial"/>
                <a:sym typeface="Arial"/>
              </a:rPr>
              <a:t>Классификация задач Data Mining</a:t>
            </a:r>
            <a:endParaRPr b="1" sz="2800">
              <a:solidFill>
                <a:schemeClr val="dk1"/>
              </a:solidFill>
              <a:latin typeface="Arial"/>
              <a:ea typeface="Arial"/>
              <a:cs typeface="Arial"/>
              <a:sym typeface="Arial"/>
            </a:endParaRPr>
          </a:p>
        </p:txBody>
      </p:sp>
      <p:sp>
        <p:nvSpPr>
          <p:cNvPr id="552" name="Google Shape;552;p32"/>
          <p:cNvSpPr/>
          <p:nvPr/>
        </p:nvSpPr>
        <p:spPr>
          <a:xfrm>
            <a:off x="270807" y="1913935"/>
            <a:ext cx="9476442" cy="2873346"/>
          </a:xfrm>
          <a:prstGeom prst="rect">
            <a:avLst/>
          </a:prstGeom>
          <a:noFill/>
          <a:ln>
            <a:noFill/>
          </a:ln>
        </p:spPr>
        <p:txBody>
          <a:bodyPr anchorCtr="0" anchor="t" bIns="45700" lIns="91425" spcFirstLastPara="1" rIns="91425" wrap="square" tIns="45700">
            <a:noAutofit/>
          </a:bodyPr>
          <a:lstStyle/>
          <a:p>
            <a:pPr indent="-373063" lvl="0" marL="373063" marR="0" rtl="0" algn="l">
              <a:spcBef>
                <a:spcPts val="0"/>
              </a:spcBef>
              <a:spcAft>
                <a:spcPts val="0"/>
              </a:spcAft>
              <a:buClr>
                <a:srgbClr val="0B769C"/>
              </a:buClr>
              <a:buSzPts val="2200"/>
              <a:buFont typeface="Arial"/>
              <a:buChar char="•"/>
            </a:pPr>
            <a:r>
              <a:rPr b="1" i="1" lang="ru-RU" sz="2200">
                <a:solidFill>
                  <a:srgbClr val="0B769C"/>
                </a:solidFill>
                <a:latin typeface="Arial"/>
                <a:ea typeface="Arial"/>
                <a:cs typeface="Arial"/>
                <a:sym typeface="Arial"/>
              </a:rPr>
              <a:t>Описательные (descriptive) </a:t>
            </a:r>
            <a:r>
              <a:rPr lang="ru-RU" sz="2200">
                <a:solidFill>
                  <a:schemeClr val="dk1"/>
                </a:solidFill>
                <a:latin typeface="Arial"/>
                <a:ea typeface="Arial"/>
                <a:cs typeface="Arial"/>
                <a:sym typeface="Arial"/>
              </a:rPr>
              <a:t>задачи  (</a:t>
            </a:r>
            <a:r>
              <a:rPr b="1" i="1" lang="ru-RU" sz="2200">
                <a:solidFill>
                  <a:srgbClr val="0B769C"/>
                </a:solidFill>
                <a:latin typeface="Arial"/>
                <a:ea typeface="Arial"/>
                <a:cs typeface="Arial"/>
                <a:sym typeface="Arial"/>
              </a:rPr>
              <a:t>статистический вывод </a:t>
            </a:r>
            <a:r>
              <a:rPr lang="ru-RU" sz="2200">
                <a:solidFill>
                  <a:schemeClr val="dk1"/>
                </a:solidFill>
                <a:latin typeface="Arial"/>
                <a:ea typeface="Arial"/>
                <a:cs typeface="Arial"/>
                <a:sym typeface="Arial"/>
              </a:rPr>
              <a:t>) уделяют внимание улучшению понимания анализируемых данных. Ключевой момент в таких моделях — легкость и прозрачность результатов для восприятия человеком. Возможно, обнаруженные закономерности будут специфической чертой именно конкретных исследуемых данных и больше нигде не встретятся, но это все равно может быть полезно и потому должно быть известно. К такому виду задач относятся </a:t>
            </a:r>
            <a:r>
              <a:rPr lang="ru-RU" sz="2200">
                <a:solidFill>
                  <a:srgbClr val="0000FF"/>
                </a:solidFill>
                <a:latin typeface="Arial"/>
                <a:ea typeface="Arial"/>
                <a:cs typeface="Arial"/>
                <a:sym typeface="Arial"/>
              </a:rPr>
              <a:t>кластеризация и поиск ассоциативных правил.</a:t>
            </a:r>
            <a:endParaRPr sz="2200">
              <a:solidFill>
                <a:srgbClr val="0000FF"/>
              </a:solidFill>
              <a:latin typeface="Calibri"/>
              <a:ea typeface="Calibri"/>
              <a:cs typeface="Calibri"/>
              <a:sym typeface="Calibri"/>
            </a:endParaRPr>
          </a:p>
        </p:txBody>
      </p:sp>
      <p:sp>
        <p:nvSpPr>
          <p:cNvPr id="553" name="Google Shape;553;p32"/>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33"/>
          <p:cNvSpPr/>
          <p:nvPr/>
        </p:nvSpPr>
        <p:spPr>
          <a:xfrm>
            <a:off x="242888" y="322262"/>
            <a:ext cx="9791700" cy="6625257"/>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559" name="Google Shape;559;p33"/>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560" name="Google Shape;560;p33"/>
          <p:cNvSpPr/>
          <p:nvPr/>
        </p:nvSpPr>
        <p:spPr>
          <a:xfrm>
            <a:off x="245332" y="1140036"/>
            <a:ext cx="9789256" cy="56889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ru-RU" sz="2000">
                <a:solidFill>
                  <a:srgbClr val="0B769C"/>
                </a:solidFill>
                <a:latin typeface="Arial"/>
                <a:ea typeface="Arial"/>
                <a:cs typeface="Arial"/>
                <a:sym typeface="Arial"/>
              </a:rPr>
              <a:t>Предсказание</a:t>
            </a:r>
            <a:endParaRPr sz="2000">
              <a:solidFill>
                <a:schemeClr val="dk1"/>
              </a:solidFill>
              <a:latin typeface="Calibri"/>
              <a:ea typeface="Calibri"/>
              <a:cs typeface="Calibri"/>
              <a:sym typeface="Calibri"/>
            </a:endParaRPr>
          </a:p>
        </p:txBody>
      </p:sp>
      <p:sp>
        <p:nvSpPr>
          <p:cNvPr id="561" name="Google Shape;561;p33"/>
          <p:cNvSpPr/>
          <p:nvPr/>
        </p:nvSpPr>
        <p:spPr>
          <a:xfrm>
            <a:off x="386209" y="1550977"/>
            <a:ext cx="9648379" cy="532453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000">
                <a:solidFill>
                  <a:srgbClr val="000000"/>
                </a:solidFill>
                <a:latin typeface="Bookman Old Style"/>
                <a:ea typeface="Bookman Old Style"/>
                <a:cs typeface="Bookman Old Style"/>
                <a:sym typeface="Bookman Old Style"/>
              </a:rPr>
              <a:t>Во многих ситуациях набор входных переменных </a:t>
            </a:r>
            <a:r>
              <a:rPr i="1" lang="ru-RU" sz="2000">
                <a:solidFill>
                  <a:srgbClr val="000000"/>
                </a:solidFill>
                <a:latin typeface="Bookman Old Style"/>
                <a:ea typeface="Bookman Old Style"/>
                <a:cs typeface="Bookman Old Style"/>
                <a:sym typeface="Bookman Old Style"/>
              </a:rPr>
              <a:t>X</a:t>
            </a:r>
            <a:r>
              <a:rPr lang="ru-RU" sz="2000">
                <a:solidFill>
                  <a:srgbClr val="000000"/>
                </a:solidFill>
                <a:latin typeface="Bookman Old Style"/>
                <a:ea typeface="Bookman Old Style"/>
                <a:cs typeface="Bookman Old Style"/>
                <a:sym typeface="Bookman Old Style"/>
              </a:rPr>
              <a:t> легко доступен, однако получить выходную переменную У не так просто. Благодаря тому, что ошибки имеют нулевое среднее значение, при таком сценарии мы можем предсказать </a:t>
            </a:r>
            <a:r>
              <a:rPr i="1" lang="ru-RU" sz="2000">
                <a:solidFill>
                  <a:srgbClr val="000000"/>
                </a:solidFill>
                <a:latin typeface="Bookman Old Style"/>
                <a:ea typeface="Bookman Old Style"/>
                <a:cs typeface="Bookman Old Style"/>
                <a:sym typeface="Bookman Old Style"/>
              </a:rPr>
              <a:t>Y с</a:t>
            </a:r>
            <a:r>
              <a:rPr lang="ru-RU" sz="2000">
                <a:solidFill>
                  <a:srgbClr val="000000"/>
                </a:solidFill>
                <a:latin typeface="Bookman Old Style"/>
                <a:ea typeface="Bookman Old Style"/>
                <a:cs typeface="Bookman Old Style"/>
                <a:sym typeface="Bookman Old Style"/>
              </a:rPr>
              <a:t> помощью</a:t>
            </a:r>
            <a:endParaRPr/>
          </a:p>
          <a:p>
            <a:pPr indent="0" lvl="0" marL="0" marR="0" rtl="0" algn="r">
              <a:spcBef>
                <a:spcPts val="0"/>
              </a:spcBef>
              <a:spcAft>
                <a:spcPts val="0"/>
              </a:spcAft>
              <a:buNone/>
            </a:pPr>
            <a:r>
              <a:rPr lang="ru-RU" sz="2000">
                <a:solidFill>
                  <a:srgbClr val="000000"/>
                </a:solidFill>
                <a:latin typeface="Georgia"/>
                <a:ea typeface="Georgia"/>
                <a:cs typeface="Georgia"/>
                <a:sym typeface="Georgia"/>
              </a:rPr>
              <a:t>(2)</a:t>
            </a:r>
            <a:endParaRPr sz="20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000">
              <a:solidFill>
                <a:srgbClr val="000000"/>
              </a:solidFill>
              <a:latin typeface="Bookman Old Style"/>
              <a:ea typeface="Bookman Old Style"/>
              <a:cs typeface="Bookman Old Style"/>
              <a:sym typeface="Bookman Old Style"/>
            </a:endParaRPr>
          </a:p>
          <a:p>
            <a:pPr indent="0" lvl="0" marL="0" marR="0" rtl="0" algn="l">
              <a:spcBef>
                <a:spcPts val="0"/>
              </a:spcBef>
              <a:spcAft>
                <a:spcPts val="0"/>
              </a:spcAft>
              <a:buNone/>
            </a:pPr>
            <a:r>
              <a:rPr lang="ru-RU" sz="2000">
                <a:solidFill>
                  <a:srgbClr val="000000"/>
                </a:solidFill>
                <a:latin typeface="Bookman Old Style"/>
                <a:ea typeface="Bookman Old Style"/>
                <a:cs typeface="Bookman Old Style"/>
                <a:sym typeface="Bookman Old Style"/>
              </a:rPr>
              <a:t>где     представляет собой нашу оценку </a:t>
            </a:r>
            <a:r>
              <a:rPr b="1" i="1" lang="ru-RU" sz="2000">
                <a:solidFill>
                  <a:srgbClr val="000000"/>
                </a:solidFill>
                <a:latin typeface="Bookman Old Style"/>
                <a:ea typeface="Bookman Old Style"/>
                <a:cs typeface="Bookman Old Style"/>
                <a:sym typeface="Bookman Old Style"/>
              </a:rPr>
              <a:t>f</a:t>
            </a:r>
            <a:r>
              <a:rPr lang="ru-RU" sz="2000">
                <a:solidFill>
                  <a:srgbClr val="000000"/>
                </a:solidFill>
                <a:latin typeface="Bookman Old Style"/>
                <a:ea typeface="Bookman Old Style"/>
                <a:cs typeface="Bookman Old Style"/>
                <a:sym typeface="Bookman Old Style"/>
              </a:rPr>
              <a:t>, а </a:t>
            </a:r>
            <a:r>
              <a:rPr b="1" i="1" lang="ru-RU" sz="2000">
                <a:solidFill>
                  <a:srgbClr val="000000"/>
                </a:solidFill>
                <a:latin typeface="Bookman Old Style"/>
                <a:ea typeface="Bookman Old Style"/>
                <a:cs typeface="Bookman Old Style"/>
                <a:sym typeface="Bookman Old Style"/>
              </a:rPr>
              <a:t>Ŷ</a:t>
            </a:r>
            <a:r>
              <a:rPr lang="ru-RU" sz="2000">
                <a:solidFill>
                  <a:srgbClr val="000000"/>
                </a:solidFill>
                <a:latin typeface="Bookman Old Style"/>
                <a:ea typeface="Bookman Old Style"/>
                <a:cs typeface="Bookman Old Style"/>
                <a:sym typeface="Bookman Old Style"/>
              </a:rPr>
              <a:t>   — предсказанное значение Y. В подобной ситуации модель (2) часто рассматривают как </a:t>
            </a:r>
            <a:r>
              <a:rPr i="1" lang="ru-RU" sz="2000">
                <a:solidFill>
                  <a:srgbClr val="000000"/>
                </a:solidFill>
                <a:latin typeface="Bookman Old Style"/>
                <a:ea typeface="Bookman Old Style"/>
                <a:cs typeface="Bookman Old Style"/>
                <a:sym typeface="Bookman Old Style"/>
              </a:rPr>
              <a:t>черный ящик</a:t>
            </a:r>
            <a:r>
              <a:rPr lang="ru-RU" sz="2000">
                <a:solidFill>
                  <a:srgbClr val="000000"/>
                </a:solidFill>
                <a:latin typeface="Bookman Old Style"/>
                <a:ea typeface="Bookman Old Style"/>
                <a:cs typeface="Bookman Old Style"/>
                <a:sym typeface="Bookman Old Style"/>
              </a:rPr>
              <a:t>, в том смысле, что если    обеспечивает верные предсказания Y, то точная форма этой функции для нас не важна.</a:t>
            </a:r>
            <a:endParaRPr sz="20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rPr lang="ru-RU" sz="2000">
                <a:solidFill>
                  <a:srgbClr val="000000"/>
                </a:solidFill>
                <a:latin typeface="Bookman Old Style"/>
                <a:ea typeface="Bookman Old Style"/>
                <a:cs typeface="Bookman Old Style"/>
                <a:sym typeface="Bookman Old Style"/>
              </a:rPr>
              <a:t>Предположим, что </a:t>
            </a:r>
            <a:r>
              <a:rPr i="1" lang="ru-RU" sz="2000">
                <a:solidFill>
                  <a:srgbClr val="000000"/>
                </a:solidFill>
                <a:latin typeface="Bookman Old Style"/>
                <a:ea typeface="Bookman Old Style"/>
                <a:cs typeface="Bookman Old Style"/>
                <a:sym typeface="Bookman Old Style"/>
              </a:rPr>
              <a:t>Х</a:t>
            </a:r>
            <a:r>
              <a:rPr baseline="-25000" i="1" lang="ru-RU" sz="2000">
                <a:solidFill>
                  <a:srgbClr val="000000"/>
                </a:solidFill>
                <a:latin typeface="Bookman Old Style"/>
                <a:ea typeface="Bookman Old Style"/>
                <a:cs typeface="Bookman Old Style"/>
                <a:sym typeface="Bookman Old Style"/>
              </a:rPr>
              <a:t>1</a:t>
            </a:r>
            <a:r>
              <a:rPr i="1" lang="ru-RU" sz="2000">
                <a:solidFill>
                  <a:srgbClr val="000000"/>
                </a:solidFill>
                <a:latin typeface="Bookman Old Style"/>
                <a:ea typeface="Bookman Old Style"/>
                <a:cs typeface="Bookman Old Style"/>
                <a:sym typeface="Bookman Old Style"/>
              </a:rPr>
              <a:t>,... ,Х</a:t>
            </a:r>
            <a:r>
              <a:rPr baseline="-25000" i="1" lang="ru-RU" sz="2000">
                <a:solidFill>
                  <a:srgbClr val="000000"/>
                </a:solidFill>
                <a:latin typeface="Bookman Old Style"/>
                <a:ea typeface="Bookman Old Style"/>
                <a:cs typeface="Bookman Old Style"/>
                <a:sym typeface="Bookman Old Style"/>
              </a:rPr>
              <a:t>Р</a:t>
            </a:r>
            <a:r>
              <a:rPr lang="ru-RU" sz="2000">
                <a:solidFill>
                  <a:srgbClr val="000000"/>
                </a:solidFill>
                <a:latin typeface="Bookman Old Style"/>
                <a:ea typeface="Bookman Old Style"/>
                <a:cs typeface="Bookman Old Style"/>
                <a:sym typeface="Bookman Old Style"/>
              </a:rPr>
              <a:t> являются характеристиками образца крови пациента, которые легко измерить в лаборатории, а Y — это переменная, отражающая риск того, что пациент проявит резко негативную реакцию на определенный лекарственный препарат. Предсказав Y по </a:t>
            </a:r>
            <a:r>
              <a:rPr i="1" lang="ru-RU" sz="2000">
                <a:solidFill>
                  <a:srgbClr val="000000"/>
                </a:solidFill>
                <a:latin typeface="Bookman Old Style"/>
                <a:ea typeface="Bookman Old Style"/>
                <a:cs typeface="Bookman Old Style"/>
                <a:sym typeface="Bookman Old Style"/>
              </a:rPr>
              <a:t>X,</a:t>
            </a:r>
            <a:r>
              <a:rPr lang="ru-RU" sz="2000">
                <a:solidFill>
                  <a:srgbClr val="000000"/>
                </a:solidFill>
                <a:latin typeface="Bookman Old Style"/>
                <a:ea typeface="Bookman Old Style"/>
                <a:cs typeface="Bookman Old Style"/>
                <a:sym typeface="Bookman Old Style"/>
              </a:rPr>
              <a:t> мы сможем избежать назначения данного препарата пациентам с высоким риском негативной реакции, т. е.  пациентам с высокими значениями оценок Y.</a:t>
            </a:r>
            <a:endParaRPr/>
          </a:p>
        </p:txBody>
      </p:sp>
      <p:pic>
        <p:nvPicPr>
          <p:cNvPr id="562" name="Google Shape;562;p33"/>
          <p:cNvPicPr preferRelativeResize="0"/>
          <p:nvPr/>
        </p:nvPicPr>
        <p:blipFill rotWithShape="1">
          <a:blip r:embed="rId3">
            <a:alphaModFix/>
          </a:blip>
          <a:srcRect b="0" l="0" r="0" t="0"/>
          <a:stretch/>
        </p:blipFill>
        <p:spPr>
          <a:xfrm>
            <a:off x="4202633" y="2847406"/>
            <a:ext cx="1574850" cy="449957"/>
          </a:xfrm>
          <a:prstGeom prst="rect">
            <a:avLst/>
          </a:prstGeom>
          <a:noFill/>
          <a:ln>
            <a:noFill/>
          </a:ln>
        </p:spPr>
      </p:pic>
      <p:pic>
        <p:nvPicPr>
          <p:cNvPr id="563" name="Google Shape;563;p33"/>
          <p:cNvPicPr preferRelativeResize="0"/>
          <p:nvPr/>
        </p:nvPicPr>
        <p:blipFill rotWithShape="1">
          <a:blip r:embed="rId4">
            <a:alphaModFix/>
          </a:blip>
          <a:srcRect b="0" l="0" r="0" t="0"/>
          <a:stretch/>
        </p:blipFill>
        <p:spPr>
          <a:xfrm>
            <a:off x="962273" y="3413094"/>
            <a:ext cx="190500" cy="352425"/>
          </a:xfrm>
          <a:prstGeom prst="rect">
            <a:avLst/>
          </a:prstGeom>
          <a:noFill/>
          <a:ln>
            <a:noFill/>
          </a:ln>
        </p:spPr>
      </p:pic>
      <p:pic>
        <p:nvPicPr>
          <p:cNvPr id="564" name="Google Shape;564;p33"/>
          <p:cNvPicPr preferRelativeResize="0"/>
          <p:nvPr/>
        </p:nvPicPr>
        <p:blipFill rotWithShape="1">
          <a:blip r:embed="rId4">
            <a:alphaModFix/>
          </a:blip>
          <a:srcRect b="0" l="0" r="0" t="0"/>
          <a:stretch/>
        </p:blipFill>
        <p:spPr>
          <a:xfrm>
            <a:off x="5354760" y="3986590"/>
            <a:ext cx="238189" cy="440650"/>
          </a:xfrm>
          <a:prstGeom prst="rect">
            <a:avLst/>
          </a:prstGeom>
          <a:noFill/>
          <a:ln>
            <a:noFill/>
          </a:ln>
        </p:spPr>
      </p:pic>
      <p:sp>
        <p:nvSpPr>
          <p:cNvPr id="565" name="Google Shape;565;p33"/>
          <p:cNvSpPr/>
          <p:nvPr/>
        </p:nvSpPr>
        <p:spPr>
          <a:xfrm>
            <a:off x="818257" y="394792"/>
            <a:ext cx="8604957" cy="661947"/>
          </a:xfrm>
          <a:prstGeom prst="roundRect">
            <a:avLst>
              <a:gd fmla="val 45749" name="adj"/>
            </a:avLst>
          </a:prstGeom>
          <a:solidFill>
            <a:srgbClr val="FFFFFF">
              <a:alpha val="52549"/>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ru-RU" sz="2800">
                <a:solidFill>
                  <a:schemeClr val="dk1"/>
                </a:solidFill>
                <a:latin typeface="Arial"/>
                <a:ea typeface="Arial"/>
                <a:cs typeface="Arial"/>
                <a:sym typeface="Arial"/>
              </a:rPr>
              <a:t>Задачи Data Mining</a:t>
            </a:r>
            <a:endParaRPr b="1" sz="2800">
              <a:solidFill>
                <a:schemeClr val="dk1"/>
              </a:solidFill>
              <a:latin typeface="Arial"/>
              <a:ea typeface="Arial"/>
              <a:cs typeface="Arial"/>
              <a:sym typeface="Arial"/>
            </a:endParaRPr>
          </a:p>
        </p:txBody>
      </p:sp>
      <p:sp>
        <p:nvSpPr>
          <p:cNvPr id="566" name="Google Shape;566;p33"/>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34"/>
          <p:cNvSpPr/>
          <p:nvPr/>
        </p:nvSpPr>
        <p:spPr>
          <a:xfrm>
            <a:off x="242888" y="322262"/>
            <a:ext cx="9791700" cy="6625257"/>
          </a:xfrm>
          <a:prstGeom prst="roundRect">
            <a:avLst>
              <a:gd fmla="val 16667" name="adj"/>
            </a:avLst>
          </a:prstGeom>
          <a:solidFill>
            <a:srgbClr val="FFFFFF">
              <a:alpha val="60784"/>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572" name="Google Shape;572;p34"/>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573" name="Google Shape;573;p34"/>
          <p:cNvSpPr/>
          <p:nvPr/>
        </p:nvSpPr>
        <p:spPr>
          <a:xfrm>
            <a:off x="818257" y="394792"/>
            <a:ext cx="8604957" cy="661947"/>
          </a:xfrm>
          <a:prstGeom prst="roundRect">
            <a:avLst>
              <a:gd fmla="val 45749" name="adj"/>
            </a:avLst>
          </a:prstGeom>
          <a:solidFill>
            <a:srgbClr val="FFFFFF">
              <a:alpha val="52549"/>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ru-RU" sz="2800">
                <a:solidFill>
                  <a:schemeClr val="dk1"/>
                </a:solidFill>
                <a:latin typeface="Arial"/>
                <a:ea typeface="Arial"/>
                <a:cs typeface="Arial"/>
                <a:sym typeface="Arial"/>
              </a:rPr>
              <a:t>Задачи Data Mining</a:t>
            </a:r>
            <a:endParaRPr b="1" sz="2800">
              <a:solidFill>
                <a:schemeClr val="dk1"/>
              </a:solidFill>
              <a:latin typeface="Arial"/>
              <a:ea typeface="Arial"/>
              <a:cs typeface="Arial"/>
              <a:sym typeface="Arial"/>
            </a:endParaRPr>
          </a:p>
        </p:txBody>
      </p:sp>
      <p:sp>
        <p:nvSpPr>
          <p:cNvPr id="574" name="Google Shape;574;p34"/>
          <p:cNvSpPr/>
          <p:nvPr/>
        </p:nvSpPr>
        <p:spPr>
          <a:xfrm>
            <a:off x="452314" y="924753"/>
            <a:ext cx="9429910" cy="56889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ru-RU" sz="2000">
                <a:solidFill>
                  <a:srgbClr val="0B769C"/>
                </a:solidFill>
                <a:latin typeface="Arial"/>
                <a:ea typeface="Arial"/>
                <a:cs typeface="Arial"/>
                <a:sym typeface="Arial"/>
              </a:rPr>
              <a:t>Предсказание</a:t>
            </a:r>
            <a:endParaRPr sz="2000">
              <a:solidFill>
                <a:schemeClr val="dk1"/>
              </a:solidFill>
              <a:latin typeface="Calibri"/>
              <a:ea typeface="Calibri"/>
              <a:cs typeface="Calibri"/>
              <a:sym typeface="Calibri"/>
            </a:endParaRPr>
          </a:p>
        </p:txBody>
      </p:sp>
      <p:sp>
        <p:nvSpPr>
          <p:cNvPr id="575" name="Google Shape;575;p34"/>
          <p:cNvSpPr/>
          <p:nvPr/>
        </p:nvSpPr>
        <p:spPr>
          <a:xfrm>
            <a:off x="435991" y="1315208"/>
            <a:ext cx="9648379" cy="563231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000">
                <a:solidFill>
                  <a:srgbClr val="000000"/>
                </a:solidFill>
                <a:latin typeface="Bookman Old Style"/>
                <a:ea typeface="Bookman Old Style"/>
                <a:cs typeface="Bookman Old Style"/>
                <a:sym typeface="Bookman Old Style"/>
              </a:rPr>
              <a:t>Точность </a:t>
            </a:r>
            <a:r>
              <a:rPr b="1" i="1" lang="ru-RU" sz="2000">
                <a:solidFill>
                  <a:srgbClr val="000000"/>
                </a:solidFill>
                <a:latin typeface="Bookman Old Style"/>
                <a:ea typeface="Bookman Old Style"/>
                <a:cs typeface="Bookman Old Style"/>
                <a:sym typeface="Bookman Old Style"/>
              </a:rPr>
              <a:t>Ŷ</a:t>
            </a:r>
            <a:r>
              <a:rPr lang="ru-RU" sz="2000">
                <a:solidFill>
                  <a:srgbClr val="000000"/>
                </a:solidFill>
                <a:latin typeface="Bookman Old Style"/>
                <a:ea typeface="Bookman Old Style"/>
                <a:cs typeface="Bookman Old Style"/>
                <a:sym typeface="Bookman Old Style"/>
              </a:rPr>
              <a:t> в качестве предсказанного значения </a:t>
            </a:r>
            <a:r>
              <a:rPr b="1" i="1" lang="ru-RU" sz="2000">
                <a:solidFill>
                  <a:srgbClr val="000000"/>
                </a:solidFill>
                <a:latin typeface="Bookman Old Style"/>
                <a:ea typeface="Bookman Old Style"/>
                <a:cs typeface="Bookman Old Style"/>
                <a:sym typeface="Bookman Old Style"/>
              </a:rPr>
              <a:t>Y</a:t>
            </a:r>
            <a:r>
              <a:rPr lang="ru-RU" sz="2000">
                <a:solidFill>
                  <a:srgbClr val="000000"/>
                </a:solidFill>
                <a:latin typeface="Bookman Old Style"/>
                <a:ea typeface="Bookman Old Style"/>
                <a:cs typeface="Bookman Old Style"/>
                <a:sym typeface="Bookman Old Style"/>
              </a:rPr>
              <a:t> зависит от двух величин, которые мы будем называть </a:t>
            </a:r>
            <a:r>
              <a:rPr i="1" lang="ru-RU" sz="2000">
                <a:solidFill>
                  <a:srgbClr val="0B769C"/>
                </a:solidFill>
                <a:latin typeface="Bookman Old Style"/>
                <a:ea typeface="Bookman Old Style"/>
                <a:cs typeface="Bookman Old Style"/>
                <a:sym typeface="Bookman Old Style"/>
              </a:rPr>
              <a:t>устранимой ошибкой </a:t>
            </a:r>
            <a:r>
              <a:rPr lang="ru-RU" sz="2000">
                <a:solidFill>
                  <a:srgbClr val="000000"/>
                </a:solidFill>
                <a:latin typeface="Bookman Old Style"/>
                <a:ea typeface="Bookman Old Style"/>
                <a:cs typeface="Bookman Old Style"/>
                <a:sym typeface="Bookman Old Style"/>
              </a:rPr>
              <a:t>и </a:t>
            </a:r>
            <a:r>
              <a:rPr i="1" lang="ru-RU" sz="2000">
                <a:solidFill>
                  <a:srgbClr val="0B769C"/>
                </a:solidFill>
                <a:latin typeface="Bookman Old Style"/>
                <a:ea typeface="Bookman Old Style"/>
                <a:cs typeface="Bookman Old Style"/>
                <a:sym typeface="Bookman Old Style"/>
              </a:rPr>
              <a:t>неустранимой ошибкой</a:t>
            </a:r>
            <a:r>
              <a:rPr lang="ru-RU" sz="2000">
                <a:solidFill>
                  <a:srgbClr val="000000"/>
                </a:solidFill>
                <a:latin typeface="Bookman Old Style"/>
                <a:ea typeface="Bookman Old Style"/>
                <a:cs typeface="Bookman Old Style"/>
                <a:sym typeface="Bookman Old Style"/>
              </a:rPr>
              <a:t>. </a:t>
            </a:r>
            <a:endParaRPr sz="2000">
              <a:solidFill>
                <a:srgbClr val="000000"/>
              </a:solidFill>
              <a:latin typeface="Bookman Old Style"/>
              <a:ea typeface="Bookman Old Style"/>
              <a:cs typeface="Bookman Old Style"/>
              <a:sym typeface="Bookman Old Style"/>
            </a:endParaRPr>
          </a:p>
          <a:p>
            <a:pPr indent="0" lvl="0" marL="0" marR="0" rtl="0" algn="l">
              <a:spcBef>
                <a:spcPts val="0"/>
              </a:spcBef>
              <a:spcAft>
                <a:spcPts val="0"/>
              </a:spcAft>
              <a:buNone/>
            </a:pPr>
            <a:r>
              <a:rPr lang="ru-RU" sz="2000">
                <a:solidFill>
                  <a:srgbClr val="000000"/>
                </a:solidFill>
                <a:latin typeface="Bookman Old Style"/>
                <a:ea typeface="Bookman Old Style"/>
                <a:cs typeface="Bookman Old Style"/>
                <a:sym typeface="Bookman Old Style"/>
              </a:rPr>
              <a:t>Обычно    не будет идеальной оценкой </a:t>
            </a:r>
            <a:r>
              <a:rPr b="1" i="1" lang="ru-RU" sz="2000">
                <a:solidFill>
                  <a:srgbClr val="000000"/>
                </a:solidFill>
                <a:latin typeface="Bookman Old Style"/>
                <a:ea typeface="Bookman Old Style"/>
                <a:cs typeface="Bookman Old Style"/>
                <a:sym typeface="Bookman Old Style"/>
              </a:rPr>
              <a:t>f</a:t>
            </a:r>
            <a:r>
              <a:rPr lang="ru-RU" sz="2000">
                <a:solidFill>
                  <a:srgbClr val="000000"/>
                </a:solidFill>
                <a:latin typeface="Bookman Old Style"/>
                <a:ea typeface="Bookman Old Style"/>
                <a:cs typeface="Bookman Old Style"/>
                <a:sym typeface="Bookman Old Style"/>
              </a:rPr>
              <a:t>, и эта неточность приведет к возникновению некоторой ошибки. Такая ошибка является </a:t>
            </a:r>
            <a:r>
              <a:rPr i="1" lang="ru-RU" sz="2000">
                <a:solidFill>
                  <a:srgbClr val="0B769C"/>
                </a:solidFill>
                <a:latin typeface="Bookman Old Style"/>
                <a:ea typeface="Bookman Old Style"/>
                <a:cs typeface="Bookman Old Style"/>
                <a:sym typeface="Bookman Old Style"/>
              </a:rPr>
              <a:t>устранимой</a:t>
            </a:r>
            <a:r>
              <a:rPr lang="ru-RU" sz="2000">
                <a:solidFill>
                  <a:srgbClr val="000000"/>
                </a:solidFill>
                <a:latin typeface="Bookman Old Style"/>
                <a:ea typeface="Bookman Old Style"/>
                <a:cs typeface="Bookman Old Style"/>
                <a:sym typeface="Bookman Old Style"/>
              </a:rPr>
              <a:t>, поскольку потенциально мы можем улучшить точность    , используя более подходящий статистический метод для оценивания </a:t>
            </a:r>
            <a:r>
              <a:rPr b="1" i="1" lang="ru-RU" sz="2000">
                <a:solidFill>
                  <a:srgbClr val="000000"/>
                </a:solidFill>
                <a:latin typeface="Bookman Old Style"/>
                <a:ea typeface="Bookman Old Style"/>
                <a:cs typeface="Bookman Old Style"/>
                <a:sym typeface="Bookman Old Style"/>
              </a:rPr>
              <a:t>f</a:t>
            </a:r>
            <a:r>
              <a:rPr lang="ru-RU" sz="2000">
                <a:solidFill>
                  <a:srgbClr val="000000"/>
                </a:solidFill>
                <a:latin typeface="Bookman Old Style"/>
                <a:ea typeface="Bookman Old Style"/>
                <a:cs typeface="Bookman Old Style"/>
                <a:sym typeface="Bookman Old Style"/>
              </a:rPr>
              <a:t>. Но даже если бы имелась возможность достичь настолько идеальной оценки </a:t>
            </a:r>
            <a:r>
              <a:rPr b="1" i="1" lang="ru-RU" sz="2000">
                <a:solidFill>
                  <a:srgbClr val="000000"/>
                </a:solidFill>
                <a:latin typeface="Bookman Old Style"/>
                <a:ea typeface="Bookman Old Style"/>
                <a:cs typeface="Bookman Old Style"/>
                <a:sym typeface="Bookman Old Style"/>
              </a:rPr>
              <a:t>f</a:t>
            </a:r>
            <a:r>
              <a:rPr lang="ru-RU" sz="2000">
                <a:solidFill>
                  <a:srgbClr val="000000"/>
                </a:solidFill>
                <a:latin typeface="Bookman Old Style"/>
                <a:ea typeface="Bookman Old Style"/>
                <a:cs typeface="Bookman Old Style"/>
                <a:sym typeface="Bookman Old Style"/>
              </a:rPr>
              <a:t>, что </a:t>
            </a:r>
            <a:r>
              <a:rPr b="1" i="1" lang="ru-RU" sz="2000">
                <a:solidFill>
                  <a:srgbClr val="000000"/>
                </a:solidFill>
                <a:latin typeface="Bookman Old Style"/>
                <a:ea typeface="Bookman Old Style"/>
                <a:cs typeface="Bookman Old Style"/>
                <a:sym typeface="Bookman Old Style"/>
              </a:rPr>
              <a:t>Ŷ = f(X),</a:t>
            </a:r>
            <a:r>
              <a:rPr i="1" lang="ru-RU" sz="2000">
                <a:solidFill>
                  <a:srgbClr val="000000"/>
                </a:solidFill>
                <a:latin typeface="Bookman Old Style"/>
                <a:ea typeface="Bookman Old Style"/>
                <a:cs typeface="Bookman Old Style"/>
                <a:sym typeface="Bookman Old Style"/>
              </a:rPr>
              <a:t> </a:t>
            </a:r>
            <a:r>
              <a:rPr lang="ru-RU" sz="2000">
                <a:solidFill>
                  <a:srgbClr val="000000"/>
                </a:solidFill>
                <a:latin typeface="Bookman Old Style"/>
                <a:ea typeface="Bookman Old Style"/>
                <a:cs typeface="Bookman Old Style"/>
                <a:sym typeface="Bookman Old Style"/>
              </a:rPr>
              <a:t>наше предсказанное значение все равно содержало бы в себе некоторую ошибку! Это неустранимая ошибка </a:t>
            </a:r>
            <a:r>
              <a:rPr b="1" i="1" lang="ru-RU" sz="2000">
                <a:solidFill>
                  <a:schemeClr val="dk1"/>
                </a:solidFill>
                <a:latin typeface="Arial"/>
                <a:ea typeface="Arial"/>
                <a:cs typeface="Arial"/>
                <a:sym typeface="Arial"/>
              </a:rPr>
              <a:t>ε</a:t>
            </a:r>
            <a:r>
              <a:rPr lang="ru-RU" sz="2000">
                <a:solidFill>
                  <a:srgbClr val="000000"/>
                </a:solidFill>
                <a:latin typeface="Bookman Old Style"/>
                <a:ea typeface="Bookman Old Style"/>
                <a:cs typeface="Bookman Old Style"/>
                <a:sym typeface="Bookman Old Style"/>
              </a:rPr>
              <a:t>. </a:t>
            </a:r>
            <a:endParaRPr/>
          </a:p>
          <a:p>
            <a:pPr indent="0" lvl="0" marL="0" marR="0" rtl="0" algn="l">
              <a:spcBef>
                <a:spcPts val="0"/>
              </a:spcBef>
              <a:spcAft>
                <a:spcPts val="0"/>
              </a:spcAft>
              <a:buNone/>
            </a:pPr>
            <a:r>
              <a:rPr lang="ru-RU" sz="2000">
                <a:solidFill>
                  <a:srgbClr val="000000"/>
                </a:solidFill>
                <a:latin typeface="Bookman Old Style"/>
                <a:ea typeface="Bookman Old Style"/>
                <a:cs typeface="Bookman Old Style"/>
                <a:sym typeface="Bookman Old Style"/>
              </a:rPr>
              <a:t>	</a:t>
            </a:r>
            <a:r>
              <a:rPr i="1" lang="ru-RU" sz="2000">
                <a:solidFill>
                  <a:srgbClr val="0B769C"/>
                </a:solidFill>
                <a:latin typeface="Bookman Old Style"/>
                <a:ea typeface="Bookman Old Style"/>
                <a:cs typeface="Bookman Old Style"/>
                <a:sym typeface="Bookman Old Style"/>
              </a:rPr>
              <a:t>Почему же неустранимая ошибка превышает нулевое значение? </a:t>
            </a:r>
            <a:r>
              <a:rPr lang="ru-RU" sz="2000">
                <a:solidFill>
                  <a:srgbClr val="000000"/>
                </a:solidFill>
                <a:latin typeface="Bookman Old Style"/>
                <a:ea typeface="Bookman Old Style"/>
                <a:cs typeface="Bookman Old Style"/>
                <a:sym typeface="Bookman Old Style"/>
              </a:rPr>
              <a:t>Величина </a:t>
            </a:r>
            <a:r>
              <a:rPr b="1" i="1" lang="ru-RU" sz="2000">
                <a:solidFill>
                  <a:schemeClr val="dk1"/>
                </a:solidFill>
                <a:latin typeface="Arial"/>
                <a:ea typeface="Arial"/>
                <a:cs typeface="Arial"/>
                <a:sym typeface="Arial"/>
              </a:rPr>
              <a:t>ε</a:t>
            </a:r>
            <a:r>
              <a:rPr lang="ru-RU" sz="2000">
                <a:solidFill>
                  <a:srgbClr val="000000"/>
                </a:solidFill>
                <a:latin typeface="Bookman Old Style"/>
                <a:ea typeface="Bookman Old Style"/>
                <a:cs typeface="Bookman Old Style"/>
                <a:sym typeface="Bookman Old Style"/>
              </a:rPr>
              <a:t> может включать неучтенные переменные, которые полезны для предсказания </a:t>
            </a:r>
            <a:r>
              <a:rPr i="1" lang="ru-RU" sz="2000">
                <a:solidFill>
                  <a:srgbClr val="000000"/>
                </a:solidFill>
                <a:latin typeface="Bookman Old Style"/>
                <a:ea typeface="Bookman Old Style"/>
                <a:cs typeface="Bookman Old Style"/>
                <a:sym typeface="Bookman Old Style"/>
              </a:rPr>
              <a:t>Y</a:t>
            </a:r>
            <a:r>
              <a:rPr lang="ru-RU" sz="2000">
                <a:solidFill>
                  <a:srgbClr val="000000"/>
                </a:solidFill>
                <a:latin typeface="Bookman Old Style"/>
                <a:ea typeface="Bookman Old Style"/>
                <a:cs typeface="Bookman Old Style"/>
                <a:sym typeface="Bookman Old Style"/>
              </a:rPr>
              <a:t>, но поскольку мы их не измеряем, то </a:t>
            </a:r>
            <a:r>
              <a:rPr b="1" i="1" lang="ru-RU" sz="2000">
                <a:solidFill>
                  <a:srgbClr val="000000"/>
                </a:solidFill>
                <a:latin typeface="Bookman Old Style"/>
                <a:ea typeface="Bookman Old Style"/>
                <a:cs typeface="Bookman Old Style"/>
                <a:sym typeface="Bookman Old Style"/>
              </a:rPr>
              <a:t>f</a:t>
            </a:r>
            <a:r>
              <a:rPr lang="ru-RU" sz="2000">
                <a:solidFill>
                  <a:srgbClr val="000000"/>
                </a:solidFill>
                <a:latin typeface="Bookman Old Style"/>
                <a:ea typeface="Bookman Old Style"/>
                <a:cs typeface="Bookman Old Style"/>
                <a:sym typeface="Bookman Old Style"/>
              </a:rPr>
              <a:t> не может использовать их для предсказания. Например, риск негативной реакции может варьировать у того или иного пациента в определенный день в зависимости условий производства самого лекарственного препарата или от общего состояния здоровья пациента в тот день.</a:t>
            </a:r>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pic>
        <p:nvPicPr>
          <p:cNvPr id="576" name="Google Shape;576;p34"/>
          <p:cNvPicPr preferRelativeResize="0"/>
          <p:nvPr/>
        </p:nvPicPr>
        <p:blipFill rotWithShape="1">
          <a:blip r:embed="rId3">
            <a:alphaModFix/>
          </a:blip>
          <a:srcRect b="0" l="0" r="0" t="0"/>
          <a:stretch/>
        </p:blipFill>
        <p:spPr>
          <a:xfrm>
            <a:off x="1538337" y="2189303"/>
            <a:ext cx="242937" cy="449433"/>
          </a:xfrm>
          <a:prstGeom prst="rect">
            <a:avLst/>
          </a:prstGeom>
          <a:noFill/>
          <a:ln>
            <a:noFill/>
          </a:ln>
        </p:spPr>
      </p:pic>
      <p:pic>
        <p:nvPicPr>
          <p:cNvPr id="577" name="Google Shape;577;p34"/>
          <p:cNvPicPr preferRelativeResize="0"/>
          <p:nvPr/>
        </p:nvPicPr>
        <p:blipFill rotWithShape="1">
          <a:blip r:embed="rId3">
            <a:alphaModFix/>
          </a:blip>
          <a:srcRect b="0" l="0" r="0" t="0"/>
          <a:stretch/>
        </p:blipFill>
        <p:spPr>
          <a:xfrm>
            <a:off x="9437728" y="2754848"/>
            <a:ext cx="252027" cy="466250"/>
          </a:xfrm>
          <a:prstGeom prst="rect">
            <a:avLst/>
          </a:prstGeom>
          <a:noFill/>
          <a:ln>
            <a:noFill/>
          </a:ln>
        </p:spPr>
      </p:pic>
      <p:sp>
        <p:nvSpPr>
          <p:cNvPr id="578" name="Google Shape;578;p34"/>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35"/>
          <p:cNvSpPr/>
          <p:nvPr/>
        </p:nvSpPr>
        <p:spPr>
          <a:xfrm>
            <a:off x="242888" y="322262"/>
            <a:ext cx="9791700" cy="6625257"/>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584" name="Google Shape;584;p35"/>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585" name="Google Shape;585;p35"/>
          <p:cNvSpPr/>
          <p:nvPr/>
        </p:nvSpPr>
        <p:spPr>
          <a:xfrm>
            <a:off x="818257" y="394792"/>
            <a:ext cx="8604957" cy="661947"/>
          </a:xfrm>
          <a:prstGeom prst="roundRect">
            <a:avLst>
              <a:gd fmla="val 45749" name="adj"/>
            </a:avLst>
          </a:prstGeom>
          <a:solidFill>
            <a:srgbClr val="FFFFFF">
              <a:alpha val="52549"/>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ru-RU" sz="2800">
                <a:solidFill>
                  <a:schemeClr val="dk1"/>
                </a:solidFill>
                <a:latin typeface="Arial"/>
                <a:ea typeface="Arial"/>
                <a:cs typeface="Arial"/>
                <a:sym typeface="Arial"/>
              </a:rPr>
              <a:t>Задачи Data Mining</a:t>
            </a:r>
            <a:endParaRPr b="1" sz="2800">
              <a:solidFill>
                <a:schemeClr val="dk1"/>
              </a:solidFill>
              <a:latin typeface="Arial"/>
              <a:ea typeface="Arial"/>
              <a:cs typeface="Arial"/>
              <a:sym typeface="Arial"/>
            </a:endParaRPr>
          </a:p>
        </p:txBody>
      </p:sp>
      <p:sp>
        <p:nvSpPr>
          <p:cNvPr id="586" name="Google Shape;586;p35"/>
          <p:cNvSpPr/>
          <p:nvPr/>
        </p:nvSpPr>
        <p:spPr>
          <a:xfrm>
            <a:off x="530225" y="1140036"/>
            <a:ext cx="9504362" cy="56889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ru-RU" sz="2000">
                <a:solidFill>
                  <a:srgbClr val="0B769C"/>
                </a:solidFill>
                <a:latin typeface="Arial"/>
                <a:ea typeface="Arial"/>
                <a:cs typeface="Arial"/>
                <a:sym typeface="Arial"/>
              </a:rPr>
              <a:t>Предсказание</a:t>
            </a:r>
            <a:endParaRPr sz="2000">
              <a:solidFill>
                <a:schemeClr val="dk1"/>
              </a:solidFill>
              <a:latin typeface="Calibri"/>
              <a:ea typeface="Calibri"/>
              <a:cs typeface="Calibri"/>
              <a:sym typeface="Calibri"/>
            </a:endParaRPr>
          </a:p>
        </p:txBody>
      </p:sp>
      <p:sp>
        <p:nvSpPr>
          <p:cNvPr id="587" name="Google Shape;587;p35"/>
          <p:cNvSpPr/>
          <p:nvPr/>
        </p:nvSpPr>
        <p:spPr>
          <a:xfrm>
            <a:off x="386210" y="1550977"/>
            <a:ext cx="9361040" cy="37856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000">
                <a:solidFill>
                  <a:srgbClr val="000000"/>
                </a:solidFill>
                <a:latin typeface="Bookman Old Style"/>
                <a:ea typeface="Bookman Old Style"/>
                <a:cs typeface="Bookman Old Style"/>
                <a:sym typeface="Bookman Old Style"/>
              </a:rPr>
              <a:t>Точность </a:t>
            </a:r>
            <a:r>
              <a:rPr b="1" i="1" lang="ru-RU" sz="2000">
                <a:solidFill>
                  <a:srgbClr val="000000"/>
                </a:solidFill>
                <a:latin typeface="Bookman Old Style"/>
                <a:ea typeface="Bookman Old Style"/>
                <a:cs typeface="Bookman Old Style"/>
                <a:sym typeface="Bookman Old Style"/>
              </a:rPr>
              <a:t>Ŷ</a:t>
            </a:r>
            <a:r>
              <a:rPr lang="ru-RU" sz="2000">
                <a:solidFill>
                  <a:srgbClr val="000000"/>
                </a:solidFill>
                <a:latin typeface="Bookman Old Style"/>
                <a:ea typeface="Bookman Old Style"/>
                <a:cs typeface="Bookman Old Style"/>
                <a:sym typeface="Bookman Old Style"/>
              </a:rPr>
              <a:t> в качестве предсказанного значения </a:t>
            </a:r>
            <a:r>
              <a:rPr b="1" i="1" lang="ru-RU" sz="2000">
                <a:solidFill>
                  <a:srgbClr val="000000"/>
                </a:solidFill>
                <a:latin typeface="Bookman Old Style"/>
                <a:ea typeface="Bookman Old Style"/>
                <a:cs typeface="Bookman Old Style"/>
                <a:sym typeface="Bookman Old Style"/>
              </a:rPr>
              <a:t>Y</a:t>
            </a:r>
            <a:r>
              <a:rPr lang="ru-RU" sz="2000">
                <a:solidFill>
                  <a:srgbClr val="000000"/>
                </a:solidFill>
                <a:latin typeface="Bookman Old Style"/>
                <a:ea typeface="Bookman Old Style"/>
                <a:cs typeface="Bookman Old Style"/>
                <a:sym typeface="Bookman Old Style"/>
              </a:rPr>
              <a:t> зависит от двух величин, которые мы будем называть </a:t>
            </a:r>
            <a:r>
              <a:rPr i="1" lang="ru-RU" sz="2000">
                <a:solidFill>
                  <a:srgbClr val="0B769C"/>
                </a:solidFill>
                <a:latin typeface="Bookman Old Style"/>
                <a:ea typeface="Bookman Old Style"/>
                <a:cs typeface="Bookman Old Style"/>
                <a:sym typeface="Bookman Old Style"/>
              </a:rPr>
              <a:t>устранимой ошибкой </a:t>
            </a:r>
            <a:r>
              <a:rPr lang="ru-RU" sz="2000">
                <a:solidFill>
                  <a:srgbClr val="000000"/>
                </a:solidFill>
                <a:latin typeface="Bookman Old Style"/>
                <a:ea typeface="Bookman Old Style"/>
                <a:cs typeface="Bookman Old Style"/>
                <a:sym typeface="Bookman Old Style"/>
              </a:rPr>
              <a:t>и </a:t>
            </a:r>
            <a:r>
              <a:rPr i="1" lang="ru-RU" sz="2000">
                <a:solidFill>
                  <a:srgbClr val="0B769C"/>
                </a:solidFill>
                <a:latin typeface="Bookman Old Style"/>
                <a:ea typeface="Bookman Old Style"/>
                <a:cs typeface="Bookman Old Style"/>
                <a:sym typeface="Bookman Old Style"/>
              </a:rPr>
              <a:t>неустранимой ошибкой</a:t>
            </a:r>
            <a:r>
              <a:rPr lang="ru-RU" sz="2000">
                <a:solidFill>
                  <a:srgbClr val="000000"/>
                </a:solidFill>
                <a:latin typeface="Bookman Old Style"/>
                <a:ea typeface="Bookman Old Style"/>
                <a:cs typeface="Bookman Old Style"/>
                <a:sym typeface="Bookman Old Style"/>
              </a:rPr>
              <a:t>. </a:t>
            </a:r>
            <a:endParaRPr/>
          </a:p>
          <a:p>
            <a:pPr indent="0" lvl="0" marL="0" marR="0" rtl="0" algn="l">
              <a:spcBef>
                <a:spcPts val="0"/>
              </a:spcBef>
              <a:spcAft>
                <a:spcPts val="0"/>
              </a:spcAft>
              <a:buNone/>
            </a:pPr>
            <a:r>
              <a:t/>
            </a:r>
            <a:endParaRPr sz="2000">
              <a:solidFill>
                <a:srgbClr val="000000"/>
              </a:solidFill>
              <a:latin typeface="Bookman Old Style"/>
              <a:ea typeface="Bookman Old Style"/>
              <a:cs typeface="Bookman Old Style"/>
              <a:sym typeface="Bookman Old Style"/>
            </a:endParaRPr>
          </a:p>
          <a:p>
            <a:pPr indent="0" lvl="0" marL="0" marR="0" rtl="0" algn="l">
              <a:spcBef>
                <a:spcPts val="0"/>
              </a:spcBef>
              <a:spcAft>
                <a:spcPts val="0"/>
              </a:spcAft>
              <a:buNone/>
            </a:pPr>
            <a:r>
              <a:t/>
            </a:r>
            <a:endParaRPr sz="2000">
              <a:solidFill>
                <a:srgbClr val="000000"/>
              </a:solidFill>
              <a:latin typeface="Bookman Old Style"/>
              <a:ea typeface="Bookman Old Style"/>
              <a:cs typeface="Bookman Old Style"/>
              <a:sym typeface="Bookman Old Style"/>
            </a:endParaRPr>
          </a:p>
          <a:p>
            <a:pPr indent="0" lvl="0" marL="0" marR="0" rtl="0" algn="r">
              <a:spcBef>
                <a:spcPts val="0"/>
              </a:spcBef>
              <a:spcAft>
                <a:spcPts val="0"/>
              </a:spcAft>
              <a:buNone/>
            </a:pPr>
            <a:r>
              <a:rPr lang="ru-RU" sz="2000">
                <a:solidFill>
                  <a:srgbClr val="000000"/>
                </a:solidFill>
                <a:latin typeface="Bookman Old Style"/>
                <a:ea typeface="Bookman Old Style"/>
                <a:cs typeface="Bookman Old Style"/>
                <a:sym typeface="Bookman Old Style"/>
              </a:rPr>
              <a:t> (3)</a:t>
            </a:r>
            <a:endParaRPr/>
          </a:p>
          <a:p>
            <a:pPr indent="0" lvl="0" marL="0" marR="0" rtl="0" algn="l">
              <a:spcBef>
                <a:spcPts val="0"/>
              </a:spcBef>
              <a:spcAft>
                <a:spcPts val="0"/>
              </a:spcAft>
              <a:buNone/>
            </a:pPr>
            <a:r>
              <a:t/>
            </a:r>
            <a:endParaRPr sz="2000">
              <a:solidFill>
                <a:srgbClr val="000000"/>
              </a:solidFill>
              <a:latin typeface="Bookman Old Style"/>
              <a:ea typeface="Bookman Old Style"/>
              <a:cs typeface="Bookman Old Style"/>
              <a:sym typeface="Bookman Old Style"/>
            </a:endParaRPr>
          </a:p>
          <a:p>
            <a:pPr indent="0" lvl="0" marL="0" marR="0" rtl="0" algn="l">
              <a:spcBef>
                <a:spcPts val="0"/>
              </a:spcBef>
              <a:spcAft>
                <a:spcPts val="0"/>
              </a:spcAft>
              <a:buNone/>
            </a:pPr>
            <a:r>
              <a:t/>
            </a:r>
            <a:endParaRPr sz="2000">
              <a:solidFill>
                <a:srgbClr val="000000"/>
              </a:solidFill>
              <a:latin typeface="Bookman Old Style"/>
              <a:ea typeface="Bookman Old Style"/>
              <a:cs typeface="Bookman Old Style"/>
              <a:sym typeface="Bookman Old Style"/>
            </a:endParaRPr>
          </a:p>
          <a:p>
            <a:pPr indent="0" lvl="0" marL="0" marR="0" rtl="0" algn="l">
              <a:spcBef>
                <a:spcPts val="0"/>
              </a:spcBef>
              <a:spcAft>
                <a:spcPts val="0"/>
              </a:spcAft>
              <a:buNone/>
            </a:pPr>
            <a:r>
              <a:t/>
            </a:r>
            <a:endParaRPr sz="2000">
              <a:solidFill>
                <a:srgbClr val="000000"/>
              </a:solidFill>
              <a:latin typeface="Bookman Old Style"/>
              <a:ea typeface="Bookman Old Style"/>
              <a:cs typeface="Bookman Old Style"/>
              <a:sym typeface="Bookman Old Style"/>
            </a:endParaRPr>
          </a:p>
          <a:p>
            <a:pPr indent="0" lvl="0" marL="0" marR="0" rtl="0" algn="l">
              <a:spcBef>
                <a:spcPts val="0"/>
              </a:spcBef>
              <a:spcAft>
                <a:spcPts val="0"/>
              </a:spcAft>
              <a:buNone/>
            </a:pPr>
            <a:r>
              <a:rPr lang="ru-RU" sz="2000">
                <a:solidFill>
                  <a:srgbClr val="000000"/>
                </a:solidFill>
                <a:latin typeface="Bookman Old Style"/>
                <a:ea typeface="Bookman Old Style"/>
                <a:cs typeface="Bookman Old Style"/>
                <a:sym typeface="Bookman Old Style"/>
              </a:rPr>
              <a:t>здесь </a:t>
            </a:r>
            <a:r>
              <a:rPr b="1" i="1" lang="ru-RU" sz="2000">
                <a:solidFill>
                  <a:srgbClr val="000000"/>
                </a:solidFill>
                <a:latin typeface="Bookman Old Style"/>
                <a:ea typeface="Bookman Old Style"/>
                <a:cs typeface="Bookman Old Style"/>
                <a:sym typeface="Bookman Old Style"/>
              </a:rPr>
              <a:t>E(Y —Ŷ )</a:t>
            </a:r>
            <a:r>
              <a:rPr b="1" baseline="30000" i="1" lang="ru-RU" sz="2000">
                <a:solidFill>
                  <a:srgbClr val="000000"/>
                </a:solidFill>
                <a:latin typeface="Bookman Old Style"/>
                <a:ea typeface="Bookman Old Style"/>
                <a:cs typeface="Bookman Old Style"/>
                <a:sym typeface="Bookman Old Style"/>
              </a:rPr>
              <a:t>2</a:t>
            </a:r>
            <a:r>
              <a:rPr b="1" i="1" lang="ru-RU" sz="2000">
                <a:solidFill>
                  <a:srgbClr val="000000"/>
                </a:solidFill>
                <a:latin typeface="Bookman Old Style"/>
                <a:ea typeface="Bookman Old Style"/>
                <a:cs typeface="Bookman Old Style"/>
                <a:sym typeface="Bookman Old Style"/>
              </a:rPr>
              <a:t> </a:t>
            </a:r>
            <a:r>
              <a:rPr lang="ru-RU" sz="2000">
                <a:solidFill>
                  <a:srgbClr val="000000"/>
                </a:solidFill>
                <a:latin typeface="Bookman Old Style"/>
                <a:ea typeface="Bookman Old Style"/>
                <a:cs typeface="Bookman Old Style"/>
                <a:sym typeface="Bookman Old Style"/>
              </a:rPr>
              <a:t>представляет собой среднее, или ожидаемое, значение квадрата разности между предсказанным и истинным значением </a:t>
            </a:r>
            <a:r>
              <a:rPr b="1" i="1" lang="ru-RU" sz="2000">
                <a:solidFill>
                  <a:srgbClr val="000000"/>
                </a:solidFill>
                <a:latin typeface="Bookman Old Style"/>
                <a:ea typeface="Bookman Old Style"/>
                <a:cs typeface="Bookman Old Style"/>
                <a:sym typeface="Bookman Old Style"/>
              </a:rPr>
              <a:t>Y</a:t>
            </a:r>
            <a:r>
              <a:rPr lang="ru-RU" sz="2000">
                <a:solidFill>
                  <a:srgbClr val="000000"/>
                </a:solidFill>
                <a:latin typeface="Bookman Old Style"/>
                <a:ea typeface="Bookman Old Style"/>
                <a:cs typeface="Bookman Old Style"/>
                <a:sym typeface="Bookman Old Style"/>
              </a:rPr>
              <a:t>, а </a:t>
            </a:r>
            <a:r>
              <a:rPr b="1" i="1" lang="ru-RU" sz="2000">
                <a:solidFill>
                  <a:srgbClr val="000000"/>
                </a:solidFill>
                <a:latin typeface="Bookman Old Style"/>
                <a:ea typeface="Bookman Old Style"/>
                <a:cs typeface="Bookman Old Style"/>
                <a:sym typeface="Bookman Old Style"/>
              </a:rPr>
              <a:t>Var(ε) </a:t>
            </a:r>
            <a:r>
              <a:rPr lang="ru-RU" sz="2000">
                <a:solidFill>
                  <a:srgbClr val="000000"/>
                </a:solidFill>
                <a:latin typeface="Bookman Old Style"/>
                <a:ea typeface="Bookman Old Style"/>
                <a:cs typeface="Bookman Old Style"/>
                <a:sym typeface="Bookman Old Style"/>
              </a:rPr>
              <a:t>— дисперсию, связанную с ошибкой </a:t>
            </a:r>
            <a:r>
              <a:rPr b="1" i="1" lang="ru-RU" sz="2000">
                <a:solidFill>
                  <a:srgbClr val="000000"/>
                </a:solidFill>
                <a:latin typeface="Bookman Old Style"/>
                <a:ea typeface="Bookman Old Style"/>
                <a:cs typeface="Bookman Old Style"/>
                <a:sym typeface="Bookman Old Style"/>
              </a:rPr>
              <a:t>ε</a:t>
            </a:r>
            <a:r>
              <a:rPr lang="ru-RU" sz="2000">
                <a:solidFill>
                  <a:srgbClr val="000000"/>
                </a:solidFill>
                <a:latin typeface="Bookman Old Style"/>
                <a:ea typeface="Bookman Old Style"/>
                <a:cs typeface="Bookman Old Style"/>
                <a:sym typeface="Bookman Old Style"/>
              </a:rPr>
              <a:t>.</a:t>
            </a:r>
            <a:endParaRPr/>
          </a:p>
        </p:txBody>
      </p:sp>
      <p:pic>
        <p:nvPicPr>
          <p:cNvPr id="588" name="Google Shape;588;p35"/>
          <p:cNvPicPr preferRelativeResize="0"/>
          <p:nvPr/>
        </p:nvPicPr>
        <p:blipFill rotWithShape="1">
          <a:blip r:embed="rId3">
            <a:alphaModFix/>
          </a:blip>
          <a:srcRect b="0" l="0" r="0" t="0"/>
          <a:stretch/>
        </p:blipFill>
        <p:spPr>
          <a:xfrm>
            <a:off x="1178297" y="2771056"/>
            <a:ext cx="7743158" cy="980877"/>
          </a:xfrm>
          <a:prstGeom prst="rect">
            <a:avLst/>
          </a:prstGeom>
          <a:noFill/>
          <a:ln>
            <a:noFill/>
          </a:ln>
        </p:spPr>
      </p:pic>
      <p:sp>
        <p:nvSpPr>
          <p:cNvPr id="589" name="Google Shape;589;p35"/>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36"/>
          <p:cNvSpPr/>
          <p:nvPr/>
        </p:nvSpPr>
        <p:spPr>
          <a:xfrm>
            <a:off x="242888" y="322262"/>
            <a:ext cx="9791700" cy="6625257"/>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595" name="Google Shape;595;p36"/>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596" name="Google Shape;596;p36"/>
          <p:cNvSpPr/>
          <p:nvPr/>
        </p:nvSpPr>
        <p:spPr>
          <a:xfrm>
            <a:off x="818257" y="394792"/>
            <a:ext cx="8604957" cy="661947"/>
          </a:xfrm>
          <a:prstGeom prst="roundRect">
            <a:avLst>
              <a:gd fmla="val 45749" name="adj"/>
            </a:avLst>
          </a:prstGeom>
          <a:solidFill>
            <a:srgbClr val="FFFFFF">
              <a:alpha val="52549"/>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ru-RU" sz="2800">
                <a:solidFill>
                  <a:schemeClr val="dk1"/>
                </a:solidFill>
                <a:latin typeface="Arial"/>
                <a:ea typeface="Arial"/>
                <a:cs typeface="Arial"/>
                <a:sym typeface="Arial"/>
              </a:rPr>
              <a:t>Задачи Data Mining</a:t>
            </a:r>
            <a:endParaRPr b="1" sz="2800">
              <a:solidFill>
                <a:schemeClr val="dk1"/>
              </a:solidFill>
              <a:latin typeface="Arial"/>
              <a:ea typeface="Arial"/>
              <a:cs typeface="Arial"/>
              <a:sym typeface="Arial"/>
            </a:endParaRPr>
          </a:p>
        </p:txBody>
      </p:sp>
      <p:sp>
        <p:nvSpPr>
          <p:cNvPr id="597" name="Google Shape;597;p36"/>
          <p:cNvSpPr/>
          <p:nvPr/>
        </p:nvSpPr>
        <p:spPr>
          <a:xfrm>
            <a:off x="245331" y="997600"/>
            <a:ext cx="9789256" cy="56889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ru-RU" sz="2000">
                <a:solidFill>
                  <a:srgbClr val="0B769C"/>
                </a:solidFill>
                <a:latin typeface="Arial"/>
                <a:ea typeface="Arial"/>
                <a:cs typeface="Arial"/>
                <a:sym typeface="Arial"/>
              </a:rPr>
              <a:t>Статистический вывод</a:t>
            </a:r>
            <a:endParaRPr/>
          </a:p>
          <a:p>
            <a:pPr indent="0" lvl="0" marL="0" marR="0" rtl="0" algn="l">
              <a:spcBef>
                <a:spcPts val="400"/>
              </a:spcBef>
              <a:spcAft>
                <a:spcPts val="0"/>
              </a:spcAft>
              <a:buNone/>
            </a:pPr>
            <a:r>
              <a:t/>
            </a:r>
            <a:endParaRPr sz="2000">
              <a:solidFill>
                <a:schemeClr val="dk1"/>
              </a:solidFill>
              <a:latin typeface="Calibri"/>
              <a:ea typeface="Calibri"/>
              <a:cs typeface="Calibri"/>
              <a:sym typeface="Calibri"/>
            </a:endParaRPr>
          </a:p>
        </p:txBody>
      </p:sp>
      <p:sp>
        <p:nvSpPr>
          <p:cNvPr id="598" name="Google Shape;598;p36"/>
          <p:cNvSpPr/>
          <p:nvPr/>
        </p:nvSpPr>
        <p:spPr>
          <a:xfrm>
            <a:off x="242886" y="1440894"/>
            <a:ext cx="9648378" cy="5262979"/>
          </a:xfrm>
          <a:prstGeom prst="rect">
            <a:avLst/>
          </a:prstGeom>
          <a:noFill/>
          <a:ln>
            <a:noFill/>
          </a:ln>
        </p:spPr>
        <p:txBody>
          <a:bodyPr anchorCtr="0" anchor="t" bIns="45700" lIns="91425" spcFirstLastPara="1" rIns="91425" wrap="square" tIns="45700">
            <a:spAutoFit/>
          </a:bodyPr>
          <a:lstStyle/>
          <a:p>
            <a:pPr indent="363538" lvl="0" marL="0" marR="0" rtl="0" algn="l">
              <a:spcBef>
                <a:spcPts val="0"/>
              </a:spcBef>
              <a:spcAft>
                <a:spcPts val="0"/>
              </a:spcAft>
              <a:buNone/>
            </a:pPr>
            <a:r>
              <a:rPr lang="ru-RU" sz="2100">
                <a:solidFill>
                  <a:srgbClr val="000000"/>
                </a:solidFill>
                <a:latin typeface="Bookman Old Style"/>
                <a:ea typeface="Bookman Old Style"/>
                <a:cs typeface="Bookman Old Style"/>
                <a:sym typeface="Bookman Old Style"/>
              </a:rPr>
              <a:t>Часто мы заинтересованы в понимании того, как изменение Х</a:t>
            </a:r>
            <a:r>
              <a:rPr baseline="-25000" lang="ru-RU" sz="2100">
                <a:solidFill>
                  <a:srgbClr val="000000"/>
                </a:solidFill>
                <a:latin typeface="Bookman Old Style"/>
                <a:ea typeface="Bookman Old Style"/>
                <a:cs typeface="Bookman Old Style"/>
                <a:sym typeface="Bookman Old Style"/>
              </a:rPr>
              <a:t>1</a:t>
            </a:r>
            <a:r>
              <a:rPr lang="ru-RU" sz="2100">
                <a:solidFill>
                  <a:srgbClr val="000000"/>
                </a:solidFill>
                <a:latin typeface="Bookman Old Style"/>
                <a:ea typeface="Bookman Old Style"/>
                <a:cs typeface="Bookman Old Style"/>
                <a:sym typeface="Bookman Old Style"/>
              </a:rPr>
              <a:t>,... ,Х</a:t>
            </a:r>
            <a:r>
              <a:rPr baseline="-25000" lang="ru-RU" sz="2100">
                <a:solidFill>
                  <a:srgbClr val="000000"/>
                </a:solidFill>
                <a:latin typeface="Bookman Old Style"/>
                <a:ea typeface="Bookman Old Style"/>
                <a:cs typeface="Bookman Old Style"/>
                <a:sym typeface="Bookman Old Style"/>
              </a:rPr>
              <a:t>Р</a:t>
            </a:r>
            <a:r>
              <a:rPr lang="ru-RU" sz="2100">
                <a:solidFill>
                  <a:srgbClr val="000000"/>
                </a:solidFill>
                <a:latin typeface="Bookman Old Style"/>
                <a:ea typeface="Bookman Old Style"/>
                <a:cs typeface="Bookman Old Style"/>
                <a:sym typeface="Bookman Old Style"/>
              </a:rPr>
              <a:t> влияет на Y. В такой ситуации мы хотим оценить </a:t>
            </a:r>
            <a:r>
              <a:rPr b="1" i="1" lang="ru-RU" sz="2100">
                <a:solidFill>
                  <a:srgbClr val="000000"/>
                </a:solidFill>
                <a:latin typeface="Bookman Old Style"/>
                <a:ea typeface="Bookman Old Style"/>
                <a:cs typeface="Bookman Old Style"/>
                <a:sym typeface="Bookman Old Style"/>
              </a:rPr>
              <a:t>f</a:t>
            </a:r>
            <a:r>
              <a:rPr lang="ru-RU" sz="2100">
                <a:solidFill>
                  <a:srgbClr val="000000"/>
                </a:solidFill>
                <a:latin typeface="Bookman Old Style"/>
                <a:ea typeface="Bookman Old Style"/>
                <a:cs typeface="Bookman Old Style"/>
                <a:sym typeface="Bookman Old Style"/>
              </a:rPr>
              <a:t>. Но наша цель не обязательно заключается в получении предсказаний для Y. Вместо этого мы хотим понять взаимоотношение между X и Y или, точнее, функциональную связь между Y и Х</a:t>
            </a:r>
            <a:r>
              <a:rPr baseline="-25000" lang="ru-RU" sz="2100">
                <a:solidFill>
                  <a:srgbClr val="000000"/>
                </a:solidFill>
                <a:latin typeface="Bookman Old Style"/>
                <a:ea typeface="Bookman Old Style"/>
                <a:cs typeface="Bookman Old Style"/>
                <a:sym typeface="Bookman Old Style"/>
              </a:rPr>
              <a:t>1</a:t>
            </a:r>
            <a:r>
              <a:rPr lang="ru-RU" sz="2100">
                <a:solidFill>
                  <a:srgbClr val="000000"/>
                </a:solidFill>
                <a:latin typeface="Bookman Old Style"/>
                <a:ea typeface="Bookman Old Style"/>
                <a:cs typeface="Bookman Old Style"/>
                <a:sym typeface="Bookman Old Style"/>
              </a:rPr>
              <a:t>,... ,Х</a:t>
            </a:r>
            <a:r>
              <a:rPr baseline="-25000" lang="ru-RU" sz="2100">
                <a:solidFill>
                  <a:srgbClr val="000000"/>
                </a:solidFill>
                <a:latin typeface="Bookman Old Style"/>
                <a:ea typeface="Bookman Old Style"/>
                <a:cs typeface="Bookman Old Style"/>
                <a:sym typeface="Bookman Old Style"/>
              </a:rPr>
              <a:t>Р</a:t>
            </a:r>
            <a:r>
              <a:rPr lang="ru-RU" sz="2100">
                <a:solidFill>
                  <a:srgbClr val="000000"/>
                </a:solidFill>
                <a:latin typeface="Bookman Old Style"/>
                <a:ea typeface="Bookman Old Style"/>
                <a:cs typeface="Bookman Old Style"/>
                <a:sym typeface="Bookman Old Style"/>
              </a:rPr>
              <a:t> . </a:t>
            </a:r>
            <a:endParaRPr/>
          </a:p>
          <a:p>
            <a:pPr indent="363538" lvl="0" marL="0" marR="0" rtl="0" algn="l">
              <a:spcBef>
                <a:spcPts val="0"/>
              </a:spcBef>
              <a:spcAft>
                <a:spcPts val="0"/>
              </a:spcAft>
              <a:buNone/>
            </a:pPr>
            <a:r>
              <a:rPr lang="ru-RU" sz="2100">
                <a:solidFill>
                  <a:srgbClr val="000000"/>
                </a:solidFill>
                <a:latin typeface="Bookman Old Style"/>
                <a:ea typeface="Bookman Old Style"/>
                <a:cs typeface="Bookman Old Style"/>
                <a:sym typeface="Bookman Old Style"/>
              </a:rPr>
              <a:t>В этом случае </a:t>
            </a:r>
            <a:r>
              <a:rPr b="1" i="1" lang="ru-RU" sz="2100">
                <a:solidFill>
                  <a:srgbClr val="000000"/>
                </a:solidFill>
                <a:latin typeface="Bookman Old Style"/>
                <a:ea typeface="Bookman Old Style"/>
                <a:cs typeface="Bookman Old Style"/>
                <a:sym typeface="Bookman Old Style"/>
              </a:rPr>
              <a:t>f</a:t>
            </a:r>
            <a:r>
              <a:rPr lang="ru-RU" sz="2100">
                <a:solidFill>
                  <a:srgbClr val="000000"/>
                </a:solidFill>
                <a:latin typeface="Bookman Old Style"/>
                <a:ea typeface="Bookman Old Style"/>
                <a:cs typeface="Bookman Old Style"/>
                <a:sym typeface="Bookman Old Style"/>
              </a:rPr>
              <a:t> нельзя рассматривать в качестве черного ящика, поскольку нам нужно знать ее </a:t>
            </a:r>
            <a:r>
              <a:rPr b="1" i="1" lang="ru-RU" sz="2100">
                <a:solidFill>
                  <a:srgbClr val="0B769C"/>
                </a:solidFill>
                <a:latin typeface="Bookman Old Style"/>
                <a:ea typeface="Bookman Old Style"/>
                <a:cs typeface="Bookman Old Style"/>
                <a:sym typeface="Bookman Old Style"/>
              </a:rPr>
              <a:t>точную форму</a:t>
            </a:r>
            <a:r>
              <a:rPr lang="ru-RU" sz="2100">
                <a:solidFill>
                  <a:srgbClr val="000000"/>
                </a:solidFill>
                <a:latin typeface="Bookman Old Style"/>
                <a:ea typeface="Bookman Old Style"/>
                <a:cs typeface="Bookman Old Style"/>
                <a:sym typeface="Bookman Old Style"/>
              </a:rPr>
              <a:t>. При таком сценарии мы можем быть заинтересованы в ответе на следующие вопросы:</a:t>
            </a:r>
            <a:endParaRPr/>
          </a:p>
          <a:p>
            <a:pPr indent="-342900" lvl="0" marL="342900" marR="0" rtl="0" algn="l">
              <a:spcBef>
                <a:spcPts val="0"/>
              </a:spcBef>
              <a:spcAft>
                <a:spcPts val="0"/>
              </a:spcAft>
              <a:buClr>
                <a:srgbClr val="000000"/>
              </a:buClr>
              <a:buSzPts val="2100"/>
              <a:buFont typeface="Arial"/>
              <a:buChar char="•"/>
            </a:pPr>
            <a:r>
              <a:rPr lang="ru-RU" sz="2100">
                <a:solidFill>
                  <a:srgbClr val="000000"/>
                </a:solidFill>
                <a:latin typeface="Bookman Old Style"/>
                <a:ea typeface="Bookman Old Style"/>
                <a:cs typeface="Bookman Old Style"/>
                <a:sym typeface="Bookman Old Style"/>
              </a:rPr>
              <a:t>Какие предикторы связаны с откликом? Часто только небольшая часть имеющихся в распоряжении предикторов тесно связана с Y.</a:t>
            </a:r>
            <a:endParaRPr/>
          </a:p>
          <a:p>
            <a:pPr indent="-342900" lvl="0" marL="342900" marR="0" rtl="0" algn="l">
              <a:spcBef>
                <a:spcPts val="0"/>
              </a:spcBef>
              <a:spcAft>
                <a:spcPts val="0"/>
              </a:spcAft>
              <a:buClr>
                <a:srgbClr val="000000"/>
              </a:buClr>
              <a:buSzPts val="2100"/>
              <a:buFont typeface="Arial"/>
              <a:buChar char="•"/>
            </a:pPr>
            <a:r>
              <a:rPr lang="ru-RU" sz="2100">
                <a:solidFill>
                  <a:srgbClr val="000000"/>
                </a:solidFill>
                <a:latin typeface="Bookman Old Style"/>
                <a:ea typeface="Bookman Old Style"/>
                <a:cs typeface="Bookman Old Style"/>
                <a:sym typeface="Bookman Old Style"/>
              </a:rPr>
              <a:t>Какова связь между откликом и каждым предиктором? Некоторые предикторы могут иметь положительную связь с Y в том смысле, что увеличение предиктора вызывает возрастание значений Y. Другие  - отрицательную. В зависимости от сложности </a:t>
            </a:r>
            <a:r>
              <a:rPr b="1" i="1" lang="ru-RU" sz="2100">
                <a:solidFill>
                  <a:srgbClr val="000000"/>
                </a:solidFill>
                <a:latin typeface="Bookman Old Style"/>
                <a:ea typeface="Bookman Old Style"/>
                <a:cs typeface="Bookman Old Style"/>
                <a:sym typeface="Bookman Old Style"/>
              </a:rPr>
              <a:t>f</a:t>
            </a:r>
            <a:r>
              <a:rPr lang="ru-RU" sz="2100">
                <a:solidFill>
                  <a:srgbClr val="000000"/>
                </a:solidFill>
                <a:latin typeface="Bookman Old Style"/>
                <a:ea typeface="Bookman Old Style"/>
                <a:cs typeface="Bookman Old Style"/>
                <a:sym typeface="Bookman Old Style"/>
              </a:rPr>
              <a:t> связь между откликом и некоторым предиктором может зависеть также от значений других предикторо</a:t>
            </a:r>
            <a:r>
              <a:rPr lang="ru-RU" sz="2000">
                <a:solidFill>
                  <a:srgbClr val="000000"/>
                </a:solidFill>
                <a:latin typeface="Bookman Old Style"/>
                <a:ea typeface="Bookman Old Style"/>
                <a:cs typeface="Bookman Old Style"/>
                <a:sym typeface="Bookman Old Style"/>
              </a:rPr>
              <a:t>в.</a:t>
            </a:r>
            <a:endParaRPr/>
          </a:p>
        </p:txBody>
      </p:sp>
      <p:sp>
        <p:nvSpPr>
          <p:cNvPr id="599" name="Google Shape;599;p36"/>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37"/>
          <p:cNvSpPr/>
          <p:nvPr/>
        </p:nvSpPr>
        <p:spPr>
          <a:xfrm>
            <a:off x="242888" y="322262"/>
            <a:ext cx="9791700" cy="6625257"/>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605" name="Google Shape;605;p37"/>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606" name="Google Shape;606;p37"/>
          <p:cNvSpPr/>
          <p:nvPr/>
        </p:nvSpPr>
        <p:spPr>
          <a:xfrm>
            <a:off x="818257" y="394792"/>
            <a:ext cx="8604957" cy="661947"/>
          </a:xfrm>
          <a:prstGeom prst="roundRect">
            <a:avLst>
              <a:gd fmla="val 45749" name="adj"/>
            </a:avLst>
          </a:prstGeom>
          <a:solidFill>
            <a:srgbClr val="FFFFFF">
              <a:alpha val="52549"/>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ru-RU" sz="2800">
                <a:solidFill>
                  <a:schemeClr val="dk1"/>
                </a:solidFill>
                <a:latin typeface="Arial"/>
                <a:ea typeface="Arial"/>
                <a:cs typeface="Arial"/>
                <a:sym typeface="Arial"/>
              </a:rPr>
              <a:t>Задачи Data Mining</a:t>
            </a:r>
            <a:endParaRPr b="1" sz="2800">
              <a:solidFill>
                <a:schemeClr val="dk1"/>
              </a:solidFill>
              <a:latin typeface="Arial"/>
              <a:ea typeface="Arial"/>
              <a:cs typeface="Arial"/>
              <a:sym typeface="Arial"/>
            </a:endParaRPr>
          </a:p>
        </p:txBody>
      </p:sp>
      <p:sp>
        <p:nvSpPr>
          <p:cNvPr id="607" name="Google Shape;607;p37"/>
          <p:cNvSpPr/>
          <p:nvPr/>
        </p:nvSpPr>
        <p:spPr>
          <a:xfrm>
            <a:off x="818256" y="1140036"/>
            <a:ext cx="4680521" cy="56889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ru-RU" sz="2400">
                <a:solidFill>
                  <a:srgbClr val="0B769C"/>
                </a:solidFill>
                <a:latin typeface="Arial"/>
                <a:ea typeface="Arial"/>
                <a:cs typeface="Arial"/>
                <a:sym typeface="Arial"/>
              </a:rPr>
              <a:t>Статистический вывод</a:t>
            </a:r>
            <a:endParaRPr/>
          </a:p>
          <a:p>
            <a:pPr indent="0" lvl="0" marL="0" marR="0" rtl="0" algn="l">
              <a:spcBef>
                <a:spcPts val="480"/>
              </a:spcBef>
              <a:spcAft>
                <a:spcPts val="0"/>
              </a:spcAft>
              <a:buNone/>
            </a:pPr>
            <a:r>
              <a:t/>
            </a:r>
            <a:endParaRPr sz="2400">
              <a:solidFill>
                <a:schemeClr val="dk1"/>
              </a:solidFill>
              <a:latin typeface="Calibri"/>
              <a:ea typeface="Calibri"/>
              <a:cs typeface="Calibri"/>
              <a:sym typeface="Calibri"/>
            </a:endParaRPr>
          </a:p>
        </p:txBody>
      </p:sp>
      <p:sp>
        <p:nvSpPr>
          <p:cNvPr id="608" name="Google Shape;608;p37"/>
          <p:cNvSpPr/>
          <p:nvPr/>
        </p:nvSpPr>
        <p:spPr>
          <a:xfrm>
            <a:off x="261891" y="1792224"/>
            <a:ext cx="9180328" cy="347787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rgbClr val="000000"/>
              </a:buClr>
              <a:buSzPts val="2200"/>
              <a:buFont typeface="Arial"/>
              <a:buChar char="•"/>
            </a:pPr>
            <a:r>
              <a:rPr lang="ru-RU" sz="2200">
                <a:solidFill>
                  <a:srgbClr val="000000"/>
                </a:solidFill>
                <a:latin typeface="Bookman Old Style"/>
                <a:ea typeface="Bookman Old Style"/>
                <a:cs typeface="Bookman Old Style"/>
                <a:sym typeface="Bookman Old Style"/>
              </a:rPr>
              <a:t>Можно ли связь между Y и каждым предиктором адекватно обобщить в виде линейного уравнения, или эта связь является более сложной? </a:t>
            </a:r>
            <a:endParaRPr/>
          </a:p>
          <a:p>
            <a:pPr indent="-342900" lvl="0" marL="342900" marR="0" rtl="0" algn="l">
              <a:spcBef>
                <a:spcPts val="0"/>
              </a:spcBef>
              <a:spcAft>
                <a:spcPts val="0"/>
              </a:spcAft>
              <a:buClr>
                <a:srgbClr val="000000"/>
              </a:buClr>
              <a:buSzPts val="2200"/>
              <a:buFont typeface="Arial"/>
              <a:buChar char="•"/>
            </a:pPr>
            <a:r>
              <a:rPr lang="ru-RU" sz="2200">
                <a:solidFill>
                  <a:srgbClr val="000000"/>
                </a:solidFill>
                <a:latin typeface="Bookman Old Style"/>
                <a:ea typeface="Bookman Old Style"/>
                <a:cs typeface="Bookman Old Style"/>
                <a:sym typeface="Bookman Old Style"/>
              </a:rPr>
              <a:t>Исторически сложилось так, что большинство методов для оценивания </a:t>
            </a:r>
            <a:r>
              <a:rPr b="1" i="1" lang="ru-RU" sz="2200">
                <a:solidFill>
                  <a:srgbClr val="000000"/>
                </a:solidFill>
                <a:latin typeface="Bookman Old Style"/>
                <a:ea typeface="Bookman Old Style"/>
                <a:cs typeface="Bookman Old Style"/>
                <a:sym typeface="Bookman Old Style"/>
              </a:rPr>
              <a:t>f</a:t>
            </a:r>
            <a:r>
              <a:rPr lang="ru-RU" sz="2200">
                <a:solidFill>
                  <a:srgbClr val="000000"/>
                </a:solidFill>
                <a:latin typeface="Bookman Old Style"/>
                <a:ea typeface="Bookman Old Style"/>
                <a:cs typeface="Bookman Old Style"/>
                <a:sym typeface="Bookman Old Style"/>
              </a:rPr>
              <a:t> подразумевали </a:t>
            </a:r>
            <a:r>
              <a:rPr b="1" i="1" lang="ru-RU" sz="2000">
                <a:solidFill>
                  <a:srgbClr val="000000"/>
                </a:solidFill>
                <a:latin typeface="Bookman Old Style"/>
                <a:ea typeface="Bookman Old Style"/>
                <a:cs typeface="Bookman Old Style"/>
                <a:sym typeface="Bookman Old Style"/>
              </a:rPr>
              <a:t>линейную форму</a:t>
            </a:r>
            <a:r>
              <a:rPr lang="ru-RU" sz="2200">
                <a:solidFill>
                  <a:srgbClr val="000000"/>
                </a:solidFill>
                <a:latin typeface="Bookman Old Style"/>
                <a:ea typeface="Bookman Old Style"/>
                <a:cs typeface="Bookman Old Style"/>
                <a:sym typeface="Bookman Old Style"/>
              </a:rPr>
              <a:t>. В некоторых ситуациях такое допущение является обоснованным или даже желательным. Однако часто истинная связь является более сложной и линейная модель не способна обеспечить адекватное представление зависимости между входными и выходными переменными.</a:t>
            </a:r>
            <a:endParaRPr/>
          </a:p>
        </p:txBody>
      </p:sp>
      <p:sp>
        <p:nvSpPr>
          <p:cNvPr id="609" name="Google Shape;609;p37"/>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38"/>
          <p:cNvSpPr/>
          <p:nvPr/>
        </p:nvSpPr>
        <p:spPr>
          <a:xfrm>
            <a:off x="242888" y="322262"/>
            <a:ext cx="9791700" cy="6625257"/>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615" name="Google Shape;615;p38"/>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616" name="Google Shape;616;p38"/>
          <p:cNvSpPr/>
          <p:nvPr/>
        </p:nvSpPr>
        <p:spPr>
          <a:xfrm>
            <a:off x="818257" y="394792"/>
            <a:ext cx="8604957" cy="661947"/>
          </a:xfrm>
          <a:prstGeom prst="roundRect">
            <a:avLst>
              <a:gd fmla="val 45749" name="adj"/>
            </a:avLst>
          </a:prstGeom>
          <a:solidFill>
            <a:srgbClr val="FFFFFF">
              <a:alpha val="52549"/>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ru-RU" sz="2800">
                <a:solidFill>
                  <a:schemeClr val="dk1"/>
                </a:solidFill>
                <a:latin typeface="Arial"/>
                <a:ea typeface="Arial"/>
                <a:cs typeface="Arial"/>
                <a:sym typeface="Arial"/>
              </a:rPr>
              <a:t>Задачи Data Mining</a:t>
            </a:r>
            <a:endParaRPr b="1" sz="2800">
              <a:solidFill>
                <a:schemeClr val="dk1"/>
              </a:solidFill>
              <a:latin typeface="Arial"/>
              <a:ea typeface="Arial"/>
              <a:cs typeface="Arial"/>
              <a:sym typeface="Arial"/>
            </a:endParaRPr>
          </a:p>
        </p:txBody>
      </p:sp>
      <p:sp>
        <p:nvSpPr>
          <p:cNvPr id="617" name="Google Shape;617;p38"/>
          <p:cNvSpPr/>
          <p:nvPr/>
        </p:nvSpPr>
        <p:spPr>
          <a:xfrm>
            <a:off x="506573" y="1140036"/>
            <a:ext cx="6117541" cy="56889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ru-RU" sz="2400">
                <a:solidFill>
                  <a:srgbClr val="0B769C"/>
                </a:solidFill>
                <a:latin typeface="Arial"/>
                <a:ea typeface="Arial"/>
                <a:cs typeface="Arial"/>
                <a:sym typeface="Arial"/>
              </a:rPr>
              <a:t>Статистический вывод (пример 1)</a:t>
            </a:r>
            <a:endParaRPr/>
          </a:p>
          <a:p>
            <a:pPr indent="0" lvl="0" marL="0" marR="0" rtl="0" algn="l">
              <a:spcBef>
                <a:spcPts val="480"/>
              </a:spcBef>
              <a:spcAft>
                <a:spcPts val="0"/>
              </a:spcAft>
              <a:buNone/>
            </a:pPr>
            <a:r>
              <a:t/>
            </a:r>
            <a:endParaRPr sz="2400">
              <a:solidFill>
                <a:schemeClr val="dk1"/>
              </a:solidFill>
              <a:latin typeface="Calibri"/>
              <a:ea typeface="Calibri"/>
              <a:cs typeface="Calibri"/>
              <a:sym typeface="Calibri"/>
            </a:endParaRPr>
          </a:p>
        </p:txBody>
      </p:sp>
      <p:sp>
        <p:nvSpPr>
          <p:cNvPr id="618" name="Google Shape;618;p38"/>
          <p:cNvSpPr/>
          <p:nvPr/>
        </p:nvSpPr>
        <p:spPr>
          <a:xfrm>
            <a:off x="512223" y="1708927"/>
            <a:ext cx="9379042" cy="5047536"/>
          </a:xfrm>
          <a:prstGeom prst="rect">
            <a:avLst/>
          </a:prstGeom>
          <a:noFill/>
          <a:ln>
            <a:noFill/>
          </a:ln>
        </p:spPr>
        <p:txBody>
          <a:bodyPr anchorCtr="0" anchor="t" bIns="45700" lIns="91425" spcFirstLastPara="1" rIns="91425" wrap="square" tIns="45700">
            <a:spAutoFit/>
          </a:bodyPr>
          <a:lstStyle/>
          <a:p>
            <a:pPr indent="357188" lvl="0" marL="0" marR="0" rtl="0" algn="l">
              <a:spcBef>
                <a:spcPts val="0"/>
              </a:spcBef>
              <a:spcAft>
                <a:spcPts val="0"/>
              </a:spcAft>
              <a:buNone/>
            </a:pPr>
            <a:r>
              <a:rPr lang="ru-RU" sz="2200">
                <a:solidFill>
                  <a:srgbClr val="000000"/>
                </a:solidFill>
                <a:latin typeface="Bookman Old Style"/>
                <a:ea typeface="Bookman Old Style"/>
                <a:cs typeface="Bookman Old Style"/>
                <a:sym typeface="Bookman Old Style"/>
              </a:rPr>
              <a:t>Представим себе фирму, которая заинтересована в проведении персонализированной маркетинговой кампании. Цель - в использовании имеющихся в распоряжении фирмы демографических данных для нахождения людей, которые положительно ответят на высланное по почте предложение. </a:t>
            </a:r>
            <a:endParaRPr/>
          </a:p>
          <a:p>
            <a:pPr indent="449263" lvl="0" marL="0" marR="0" rtl="0" algn="l">
              <a:spcBef>
                <a:spcPts val="0"/>
              </a:spcBef>
              <a:spcAft>
                <a:spcPts val="0"/>
              </a:spcAft>
              <a:buNone/>
            </a:pPr>
            <a:r>
              <a:t/>
            </a:r>
            <a:endParaRPr sz="2200">
              <a:solidFill>
                <a:srgbClr val="000000"/>
              </a:solidFill>
              <a:latin typeface="Bookman Old Style"/>
              <a:ea typeface="Bookman Old Style"/>
              <a:cs typeface="Bookman Old Style"/>
              <a:sym typeface="Bookman Old Style"/>
            </a:endParaRPr>
          </a:p>
          <a:p>
            <a:pPr indent="357188" lvl="0" marL="0" marR="0" rtl="0" algn="l">
              <a:spcBef>
                <a:spcPts val="0"/>
              </a:spcBef>
              <a:spcAft>
                <a:spcPts val="0"/>
              </a:spcAft>
              <a:buNone/>
            </a:pPr>
            <a:r>
              <a:rPr lang="ru-RU" sz="2000">
                <a:solidFill>
                  <a:srgbClr val="000000"/>
                </a:solidFill>
                <a:latin typeface="Bookman Old Style"/>
                <a:ea typeface="Bookman Old Style"/>
                <a:cs typeface="Bookman Old Style"/>
                <a:sym typeface="Bookman Old Style"/>
              </a:rPr>
              <a:t>В этом случае демографические переменные служат в качестве предикторов, а отклик на маркетинговую кампанию положительный или отрицательный) является выходной переменной. </a:t>
            </a:r>
            <a:endParaRPr/>
          </a:p>
          <a:p>
            <a:pPr indent="449263" lvl="0" marL="0" marR="0" rtl="0" algn="l">
              <a:spcBef>
                <a:spcPts val="0"/>
              </a:spcBef>
              <a:spcAft>
                <a:spcPts val="0"/>
              </a:spcAft>
              <a:buNone/>
            </a:pPr>
            <a:r>
              <a:t/>
            </a:r>
            <a:endParaRPr sz="2000">
              <a:solidFill>
                <a:srgbClr val="000000"/>
              </a:solidFill>
              <a:latin typeface="Bookman Old Style"/>
              <a:ea typeface="Bookman Old Style"/>
              <a:cs typeface="Bookman Old Style"/>
              <a:sym typeface="Bookman Old Style"/>
            </a:endParaRPr>
          </a:p>
          <a:p>
            <a:pPr indent="357188" lvl="0" marL="0" marR="0" rtl="0" algn="l">
              <a:spcBef>
                <a:spcPts val="0"/>
              </a:spcBef>
              <a:spcAft>
                <a:spcPts val="0"/>
              </a:spcAft>
              <a:buNone/>
            </a:pPr>
            <a:r>
              <a:rPr lang="ru-RU" sz="2200">
                <a:solidFill>
                  <a:srgbClr val="000000"/>
                </a:solidFill>
                <a:latin typeface="Bookman Old Style"/>
                <a:ea typeface="Bookman Old Style"/>
                <a:cs typeface="Bookman Old Style"/>
                <a:sym typeface="Bookman Old Style"/>
              </a:rPr>
              <a:t>Фирма не ставит задачей сформировать глубокое понимание взаимоотношений между каждым отдельным предиктором и откликом вместо этого ей просто </a:t>
            </a:r>
            <a:r>
              <a:rPr b="1" lang="ru-RU" sz="2200">
                <a:solidFill>
                  <a:srgbClr val="000000"/>
                </a:solidFill>
                <a:latin typeface="Bookman Old Style"/>
                <a:ea typeface="Bookman Old Style"/>
                <a:cs typeface="Bookman Old Style"/>
                <a:sym typeface="Bookman Old Style"/>
              </a:rPr>
              <a:t>нужна точная модель для предсказания отклика на основе предикторов. </a:t>
            </a:r>
            <a:r>
              <a:rPr lang="ru-RU" sz="2200">
                <a:solidFill>
                  <a:srgbClr val="000000"/>
                </a:solidFill>
                <a:latin typeface="Bookman Old Style"/>
                <a:ea typeface="Bookman Old Style"/>
                <a:cs typeface="Bookman Old Style"/>
                <a:sym typeface="Bookman Old Style"/>
              </a:rPr>
              <a:t>Это пример построения модели для получения предсказаний.</a:t>
            </a:r>
            <a:endParaRPr/>
          </a:p>
        </p:txBody>
      </p:sp>
      <p:sp>
        <p:nvSpPr>
          <p:cNvPr id="619" name="Google Shape;619;p38"/>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39"/>
          <p:cNvSpPr/>
          <p:nvPr/>
        </p:nvSpPr>
        <p:spPr>
          <a:xfrm>
            <a:off x="124171" y="322262"/>
            <a:ext cx="10029133" cy="6625257"/>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625" name="Google Shape;625;p39"/>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626" name="Google Shape;626;p39"/>
          <p:cNvSpPr/>
          <p:nvPr/>
        </p:nvSpPr>
        <p:spPr>
          <a:xfrm>
            <a:off x="818257" y="394792"/>
            <a:ext cx="8604957" cy="661947"/>
          </a:xfrm>
          <a:prstGeom prst="roundRect">
            <a:avLst>
              <a:gd fmla="val 45749" name="adj"/>
            </a:avLst>
          </a:prstGeom>
          <a:solidFill>
            <a:srgbClr val="FFFFFF">
              <a:alpha val="52549"/>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ru-RU" sz="2800">
                <a:solidFill>
                  <a:schemeClr val="dk1"/>
                </a:solidFill>
                <a:latin typeface="Arial"/>
                <a:ea typeface="Arial"/>
                <a:cs typeface="Arial"/>
                <a:sym typeface="Arial"/>
              </a:rPr>
              <a:t>Задачи Data Mining</a:t>
            </a:r>
            <a:endParaRPr b="1" sz="2800">
              <a:solidFill>
                <a:schemeClr val="dk1"/>
              </a:solidFill>
              <a:latin typeface="Arial"/>
              <a:ea typeface="Arial"/>
              <a:cs typeface="Arial"/>
              <a:sym typeface="Arial"/>
            </a:endParaRPr>
          </a:p>
        </p:txBody>
      </p:sp>
      <p:sp>
        <p:nvSpPr>
          <p:cNvPr id="627" name="Google Shape;627;p39"/>
          <p:cNvSpPr/>
          <p:nvPr/>
        </p:nvSpPr>
        <p:spPr>
          <a:xfrm>
            <a:off x="245332" y="1140036"/>
            <a:ext cx="9789256" cy="56889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ru-RU" sz="2400">
                <a:solidFill>
                  <a:srgbClr val="0B769C"/>
                </a:solidFill>
                <a:latin typeface="Arial"/>
                <a:ea typeface="Arial"/>
                <a:cs typeface="Arial"/>
                <a:sym typeface="Arial"/>
              </a:rPr>
              <a:t>Статистический вывод (примеры 2-3)</a:t>
            </a:r>
            <a:endParaRPr/>
          </a:p>
          <a:p>
            <a:pPr indent="0" lvl="0" marL="0" marR="0" rtl="0" algn="l">
              <a:spcBef>
                <a:spcPts val="480"/>
              </a:spcBef>
              <a:spcAft>
                <a:spcPts val="0"/>
              </a:spcAft>
              <a:buNone/>
            </a:pPr>
            <a:r>
              <a:t/>
            </a:r>
            <a:endParaRPr sz="2400">
              <a:solidFill>
                <a:schemeClr val="dk1"/>
              </a:solidFill>
              <a:latin typeface="Calibri"/>
              <a:ea typeface="Calibri"/>
              <a:cs typeface="Calibri"/>
              <a:sym typeface="Calibri"/>
            </a:endParaRPr>
          </a:p>
        </p:txBody>
      </p:sp>
      <p:sp>
        <p:nvSpPr>
          <p:cNvPr id="628" name="Google Shape;628;p39"/>
          <p:cNvSpPr/>
          <p:nvPr/>
        </p:nvSpPr>
        <p:spPr>
          <a:xfrm>
            <a:off x="124171" y="1708927"/>
            <a:ext cx="10029133" cy="526297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100">
                <a:solidFill>
                  <a:srgbClr val="000000"/>
                </a:solidFill>
                <a:latin typeface="Bookman Old Style"/>
                <a:ea typeface="Bookman Old Style"/>
                <a:cs typeface="Bookman Old Style"/>
                <a:sym typeface="Bookman Old Style"/>
              </a:rPr>
              <a:t>С другой стороны, рассмотрим данные из таблицы </a:t>
            </a:r>
            <a:r>
              <a:rPr b="1" i="1" lang="ru-RU" sz="2100">
                <a:solidFill>
                  <a:srgbClr val="0B769C"/>
                </a:solidFill>
                <a:latin typeface="Bookman Old Style"/>
                <a:ea typeface="Bookman Old Style"/>
                <a:cs typeface="Bookman Old Style"/>
                <a:sym typeface="Bookman Old Style"/>
              </a:rPr>
              <a:t>Advertising</a:t>
            </a:r>
            <a:r>
              <a:rPr b="1" lang="ru-RU" sz="2100">
                <a:solidFill>
                  <a:srgbClr val="000000"/>
                </a:solidFill>
                <a:latin typeface="Bookman Old Style"/>
                <a:ea typeface="Bookman Old Style"/>
                <a:cs typeface="Bookman Old Style"/>
                <a:sym typeface="Bookman Old Style"/>
              </a:rPr>
              <a:t>,</a:t>
            </a:r>
            <a:r>
              <a:rPr lang="ru-RU" sz="2100">
                <a:solidFill>
                  <a:srgbClr val="000000"/>
                </a:solidFill>
                <a:latin typeface="Bookman Old Style"/>
                <a:ea typeface="Bookman Old Style"/>
                <a:cs typeface="Bookman Old Style"/>
                <a:sym typeface="Bookman Old Style"/>
              </a:rPr>
              <a:t> рис. 1. Интерес могут представлять ответы на следующие вопросы:</a:t>
            </a:r>
            <a:endParaRPr/>
          </a:p>
          <a:p>
            <a:pPr indent="-342900" lvl="0" marL="342900" marR="0" rtl="0" algn="l">
              <a:spcBef>
                <a:spcPts val="0"/>
              </a:spcBef>
              <a:spcAft>
                <a:spcPts val="0"/>
              </a:spcAft>
              <a:buClr>
                <a:srgbClr val="000000"/>
              </a:buClr>
              <a:buSzPts val="2100"/>
              <a:buFont typeface="Arial"/>
              <a:buChar char="•"/>
            </a:pPr>
            <a:r>
              <a:rPr lang="ru-RU" sz="2100">
                <a:solidFill>
                  <a:srgbClr val="000000"/>
                </a:solidFill>
                <a:latin typeface="Bookman Old Style"/>
                <a:ea typeface="Bookman Old Style"/>
                <a:cs typeface="Bookman Old Style"/>
                <a:sym typeface="Bookman Old Style"/>
              </a:rPr>
              <a:t>Какие СМИ способствуют продажам?</a:t>
            </a:r>
            <a:endParaRPr/>
          </a:p>
          <a:p>
            <a:pPr indent="-342900" lvl="0" marL="342900" marR="0" rtl="0" algn="l">
              <a:spcBef>
                <a:spcPts val="0"/>
              </a:spcBef>
              <a:spcAft>
                <a:spcPts val="0"/>
              </a:spcAft>
              <a:buClr>
                <a:srgbClr val="000000"/>
              </a:buClr>
              <a:buSzPts val="2100"/>
              <a:buFont typeface="Arial"/>
              <a:buChar char="•"/>
            </a:pPr>
            <a:r>
              <a:rPr lang="ru-RU" sz="2100">
                <a:solidFill>
                  <a:srgbClr val="000000"/>
                </a:solidFill>
                <a:latin typeface="Bookman Old Style"/>
                <a:ea typeface="Bookman Old Style"/>
                <a:cs typeface="Bookman Old Style"/>
                <a:sym typeface="Bookman Old Style"/>
              </a:rPr>
              <a:t>Какие СМИ вызывают наибольший всплеск продаж?</a:t>
            </a:r>
            <a:endParaRPr/>
          </a:p>
          <a:p>
            <a:pPr indent="-342900" lvl="0" marL="342900" marR="0" rtl="0" algn="l">
              <a:spcBef>
                <a:spcPts val="0"/>
              </a:spcBef>
              <a:spcAft>
                <a:spcPts val="0"/>
              </a:spcAft>
              <a:buClr>
                <a:srgbClr val="000000"/>
              </a:buClr>
              <a:buSzPts val="2100"/>
              <a:buFont typeface="Arial"/>
              <a:buChar char="•"/>
            </a:pPr>
            <a:r>
              <a:rPr lang="ru-RU" sz="2100">
                <a:solidFill>
                  <a:srgbClr val="000000"/>
                </a:solidFill>
                <a:latin typeface="Bookman Old Style"/>
                <a:ea typeface="Bookman Old Style"/>
                <a:cs typeface="Bookman Old Style"/>
                <a:sym typeface="Bookman Old Style"/>
              </a:rPr>
              <a:t>Насколько тесно рост продаж связан с тем или иным увеличением затрат на телерекламу?</a:t>
            </a:r>
            <a:endParaRPr/>
          </a:p>
          <a:p>
            <a:pPr indent="449263" lvl="0" marL="0" marR="0" rtl="0" algn="l">
              <a:spcBef>
                <a:spcPts val="0"/>
              </a:spcBef>
              <a:spcAft>
                <a:spcPts val="0"/>
              </a:spcAft>
              <a:buNone/>
            </a:pPr>
            <a:r>
              <a:rPr lang="ru-RU" sz="2100">
                <a:solidFill>
                  <a:srgbClr val="000000"/>
                </a:solidFill>
                <a:latin typeface="Bookman Old Style"/>
                <a:ea typeface="Bookman Old Style"/>
                <a:cs typeface="Bookman Old Style"/>
                <a:sym typeface="Bookman Old Style"/>
              </a:rPr>
              <a:t>Такая ситуация подпадает под парадигму статистических выводов. </a:t>
            </a:r>
            <a:endParaRPr/>
          </a:p>
          <a:p>
            <a:pPr indent="449263" lvl="0" marL="0" marR="0" rtl="0" algn="l">
              <a:spcBef>
                <a:spcPts val="0"/>
              </a:spcBef>
              <a:spcAft>
                <a:spcPts val="0"/>
              </a:spcAft>
              <a:buNone/>
            </a:pPr>
            <a:r>
              <a:t/>
            </a:r>
            <a:endParaRPr sz="2100">
              <a:solidFill>
                <a:srgbClr val="000000"/>
              </a:solidFill>
              <a:latin typeface="Bookman Old Style"/>
              <a:ea typeface="Bookman Old Style"/>
              <a:cs typeface="Bookman Old Style"/>
              <a:sym typeface="Bookman Old Style"/>
            </a:endParaRPr>
          </a:p>
          <a:p>
            <a:pPr indent="449263" lvl="0" marL="0" marR="0" rtl="0" algn="l">
              <a:spcBef>
                <a:spcPts val="0"/>
              </a:spcBef>
              <a:spcAft>
                <a:spcPts val="0"/>
              </a:spcAft>
              <a:buNone/>
            </a:pPr>
            <a:r>
              <a:rPr lang="ru-RU" sz="2100">
                <a:solidFill>
                  <a:srgbClr val="000000"/>
                </a:solidFill>
                <a:latin typeface="Bookman Old Style"/>
                <a:ea typeface="Bookman Old Style"/>
                <a:cs typeface="Bookman Old Style"/>
                <a:sym typeface="Bookman Old Style"/>
              </a:rPr>
              <a:t>Другой пример включает моделирование бренда продукта, который клиент мог бы купить, исходя из таких переменных, как цена, местоположение магазина, уровни скидок, цена у конкурентов и т.д. В этой ситуации нас больше всего могло бы интересовать то, как каждая отдельная переменная влияет на вероятность покупки. Например, какое влияние на продажи оказывает изменение цены? </a:t>
            </a:r>
            <a:endParaRPr/>
          </a:p>
          <a:p>
            <a:pPr indent="449263" lvl="0" marL="0" marR="0" rtl="0" algn="l">
              <a:spcBef>
                <a:spcPts val="0"/>
              </a:spcBef>
              <a:spcAft>
                <a:spcPts val="0"/>
              </a:spcAft>
              <a:buNone/>
            </a:pPr>
            <a:r>
              <a:rPr i="1" lang="ru-RU" sz="2100">
                <a:solidFill>
                  <a:srgbClr val="000000"/>
                </a:solidFill>
                <a:latin typeface="Bookman Old Style"/>
                <a:ea typeface="Bookman Old Style"/>
                <a:cs typeface="Bookman Old Style"/>
                <a:sym typeface="Bookman Old Style"/>
              </a:rPr>
              <a:t>Снова статистический вывод.</a:t>
            </a:r>
            <a:endParaRPr/>
          </a:p>
          <a:p>
            <a:pPr indent="449263" lvl="0" marL="0" marR="0" rtl="0" algn="l">
              <a:spcBef>
                <a:spcPts val="0"/>
              </a:spcBef>
              <a:spcAft>
                <a:spcPts val="0"/>
              </a:spcAft>
              <a:buNone/>
            </a:pPr>
            <a:r>
              <a:t/>
            </a:r>
            <a:endParaRPr sz="2100">
              <a:solidFill>
                <a:srgbClr val="000000"/>
              </a:solidFill>
              <a:latin typeface="Bookman Old Style"/>
              <a:ea typeface="Bookman Old Style"/>
              <a:cs typeface="Bookman Old Style"/>
              <a:sym typeface="Bookman Old Style"/>
            </a:endParaRPr>
          </a:p>
        </p:txBody>
      </p:sp>
      <p:sp>
        <p:nvSpPr>
          <p:cNvPr id="629" name="Google Shape;629;p39"/>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40"/>
          <p:cNvSpPr/>
          <p:nvPr/>
        </p:nvSpPr>
        <p:spPr>
          <a:xfrm>
            <a:off x="242888" y="322262"/>
            <a:ext cx="9791700" cy="6625257"/>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635" name="Google Shape;635;p40"/>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636" name="Google Shape;636;p40"/>
          <p:cNvSpPr/>
          <p:nvPr/>
        </p:nvSpPr>
        <p:spPr>
          <a:xfrm>
            <a:off x="818257" y="394792"/>
            <a:ext cx="8604957" cy="661947"/>
          </a:xfrm>
          <a:prstGeom prst="roundRect">
            <a:avLst>
              <a:gd fmla="val 45749" name="adj"/>
            </a:avLst>
          </a:prstGeom>
          <a:solidFill>
            <a:srgbClr val="FFFFFF">
              <a:alpha val="52549"/>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ru-RU" sz="2800">
                <a:solidFill>
                  <a:schemeClr val="dk1"/>
                </a:solidFill>
                <a:latin typeface="Arial"/>
                <a:ea typeface="Arial"/>
                <a:cs typeface="Arial"/>
                <a:sym typeface="Arial"/>
              </a:rPr>
              <a:t>Задачи Data Mining</a:t>
            </a:r>
            <a:endParaRPr b="1" sz="2800">
              <a:solidFill>
                <a:schemeClr val="dk1"/>
              </a:solidFill>
              <a:latin typeface="Arial"/>
              <a:ea typeface="Arial"/>
              <a:cs typeface="Arial"/>
              <a:sym typeface="Arial"/>
            </a:endParaRPr>
          </a:p>
        </p:txBody>
      </p:sp>
      <p:sp>
        <p:nvSpPr>
          <p:cNvPr id="637" name="Google Shape;637;p40"/>
          <p:cNvSpPr/>
          <p:nvPr/>
        </p:nvSpPr>
        <p:spPr>
          <a:xfrm>
            <a:off x="530225" y="1166768"/>
            <a:ext cx="7845733" cy="56889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ru-RU" sz="2400">
                <a:solidFill>
                  <a:srgbClr val="0B769C"/>
                </a:solidFill>
                <a:latin typeface="Arial"/>
                <a:ea typeface="Arial"/>
                <a:cs typeface="Arial"/>
                <a:sym typeface="Arial"/>
              </a:rPr>
              <a:t>Выбор модели</a:t>
            </a:r>
            <a:endParaRPr sz="2400">
              <a:solidFill>
                <a:schemeClr val="dk1"/>
              </a:solidFill>
              <a:latin typeface="Calibri"/>
              <a:ea typeface="Calibri"/>
              <a:cs typeface="Calibri"/>
              <a:sym typeface="Calibri"/>
            </a:endParaRPr>
          </a:p>
        </p:txBody>
      </p:sp>
      <p:sp>
        <p:nvSpPr>
          <p:cNvPr id="638" name="Google Shape;638;p40"/>
          <p:cNvSpPr/>
          <p:nvPr/>
        </p:nvSpPr>
        <p:spPr>
          <a:xfrm>
            <a:off x="530225" y="1649731"/>
            <a:ext cx="9145016" cy="1384995"/>
          </a:xfrm>
          <a:prstGeom prst="rect">
            <a:avLst/>
          </a:prstGeom>
          <a:noFill/>
          <a:ln>
            <a:noFill/>
          </a:ln>
        </p:spPr>
        <p:txBody>
          <a:bodyPr anchorCtr="0" anchor="t" bIns="45700" lIns="91425" spcFirstLastPara="1" rIns="91425" wrap="square" tIns="45700">
            <a:spAutoFit/>
          </a:bodyPr>
          <a:lstStyle/>
          <a:p>
            <a:pPr indent="363538" lvl="0" marL="0" marR="0" rtl="0" algn="l">
              <a:spcBef>
                <a:spcPts val="0"/>
              </a:spcBef>
              <a:spcAft>
                <a:spcPts val="0"/>
              </a:spcAft>
              <a:buNone/>
            </a:pPr>
            <a:r>
              <a:rPr lang="ru-RU" sz="2100">
                <a:solidFill>
                  <a:srgbClr val="000000"/>
                </a:solidFill>
                <a:latin typeface="Bookman Old Style"/>
                <a:ea typeface="Bookman Old Style"/>
                <a:cs typeface="Bookman Old Style"/>
                <a:sym typeface="Bookman Old Style"/>
              </a:rPr>
              <a:t>В</a:t>
            </a:r>
            <a:r>
              <a:rPr baseline="-25000" lang="ru-RU" sz="2400">
                <a:solidFill>
                  <a:schemeClr val="dk1"/>
                </a:solidFill>
                <a:latin typeface="Arial"/>
                <a:ea typeface="Arial"/>
                <a:cs typeface="Arial"/>
                <a:sym typeface="Arial"/>
              </a:rPr>
              <a:t> </a:t>
            </a:r>
            <a:r>
              <a:rPr lang="ru-RU" sz="2100">
                <a:solidFill>
                  <a:srgbClr val="000000"/>
                </a:solidFill>
                <a:latin typeface="Bookman Old Style"/>
                <a:ea typeface="Bookman Old Style"/>
                <a:cs typeface="Bookman Old Style"/>
                <a:sym typeface="Bookman Old Style"/>
              </a:rPr>
              <a:t>зависимости от того, какова наша главная цель: предсказание, статистический вывод, или комбинация этих двух проблем, - для оценивания </a:t>
            </a:r>
            <a:r>
              <a:rPr b="1" i="1" lang="ru-RU" sz="2100">
                <a:solidFill>
                  <a:srgbClr val="000000"/>
                </a:solidFill>
                <a:latin typeface="Bookman Old Style"/>
                <a:ea typeface="Bookman Old Style"/>
                <a:cs typeface="Bookman Old Style"/>
                <a:sym typeface="Bookman Old Style"/>
              </a:rPr>
              <a:t>f</a:t>
            </a:r>
            <a:r>
              <a:rPr lang="ru-RU" sz="2100">
                <a:solidFill>
                  <a:srgbClr val="000000"/>
                </a:solidFill>
                <a:latin typeface="Bookman Old Style"/>
                <a:ea typeface="Bookman Old Style"/>
                <a:cs typeface="Bookman Old Style"/>
                <a:sym typeface="Bookman Old Style"/>
              </a:rPr>
              <a:t> подходящими могут оказаться разные методы. </a:t>
            </a:r>
            <a:endParaRPr/>
          </a:p>
        </p:txBody>
      </p:sp>
      <p:sp>
        <p:nvSpPr>
          <p:cNvPr id="639" name="Google Shape;639;p40"/>
          <p:cNvSpPr/>
          <p:nvPr/>
        </p:nvSpPr>
        <p:spPr>
          <a:xfrm>
            <a:off x="530225" y="3517689"/>
            <a:ext cx="9361040" cy="2800767"/>
          </a:xfrm>
          <a:prstGeom prst="rect">
            <a:avLst/>
          </a:prstGeom>
          <a:no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363538" lvl="0" marL="0" marR="0" rtl="0" algn="l">
              <a:spcBef>
                <a:spcPts val="0"/>
              </a:spcBef>
              <a:spcAft>
                <a:spcPts val="0"/>
              </a:spcAft>
              <a:buNone/>
            </a:pPr>
            <a:r>
              <a:rPr lang="ru-RU" sz="2200">
                <a:solidFill>
                  <a:srgbClr val="000000"/>
                </a:solidFill>
                <a:latin typeface="Bookman Old Style"/>
                <a:ea typeface="Bookman Old Style"/>
                <a:cs typeface="Bookman Old Style"/>
                <a:sym typeface="Bookman Old Style"/>
              </a:rPr>
              <a:t>Например</a:t>
            </a:r>
            <a:r>
              <a:rPr lang="ru-RU" sz="2200">
                <a:solidFill>
                  <a:srgbClr val="0B769C"/>
                </a:solidFill>
                <a:latin typeface="Bookman Old Style"/>
                <a:ea typeface="Bookman Old Style"/>
                <a:cs typeface="Bookman Old Style"/>
                <a:sym typeface="Bookman Old Style"/>
              </a:rPr>
              <a:t>,</a:t>
            </a:r>
            <a:r>
              <a:rPr b="1" i="1" lang="ru-RU" sz="2200">
                <a:solidFill>
                  <a:srgbClr val="0B769C"/>
                </a:solidFill>
                <a:latin typeface="Bookman Old Style"/>
                <a:ea typeface="Bookman Old Style"/>
                <a:cs typeface="Bookman Old Style"/>
                <a:sym typeface="Bookman Old Style"/>
              </a:rPr>
              <a:t> линейные модели </a:t>
            </a:r>
            <a:r>
              <a:rPr lang="ru-RU" sz="2200">
                <a:solidFill>
                  <a:srgbClr val="000000"/>
                </a:solidFill>
                <a:latin typeface="Bookman Old Style"/>
                <a:ea typeface="Bookman Old Style"/>
                <a:cs typeface="Bookman Old Style"/>
                <a:sym typeface="Bookman Old Style"/>
              </a:rPr>
              <a:t>позволяют делать относительно простые и интерпретируемые </a:t>
            </a:r>
            <a:r>
              <a:rPr lang="ru-RU" sz="2200">
                <a:solidFill>
                  <a:srgbClr val="0000FF"/>
                </a:solidFill>
                <a:latin typeface="Bookman Old Style"/>
                <a:ea typeface="Bookman Old Style"/>
                <a:cs typeface="Bookman Old Style"/>
                <a:sym typeface="Bookman Old Style"/>
              </a:rPr>
              <a:t>статистические выводы</a:t>
            </a:r>
            <a:r>
              <a:rPr lang="ru-RU" sz="2200">
                <a:solidFill>
                  <a:srgbClr val="000000"/>
                </a:solidFill>
                <a:latin typeface="Bookman Old Style"/>
                <a:ea typeface="Bookman Old Style"/>
                <a:cs typeface="Bookman Old Style"/>
                <a:sym typeface="Bookman Old Style"/>
              </a:rPr>
              <a:t>, но в сравнении с другими подходами они могут давать </a:t>
            </a:r>
            <a:r>
              <a:rPr lang="ru-RU" sz="2200">
                <a:solidFill>
                  <a:srgbClr val="0000FF"/>
                </a:solidFill>
                <a:latin typeface="Bookman Old Style"/>
                <a:ea typeface="Bookman Old Style"/>
                <a:cs typeface="Bookman Old Style"/>
                <a:sym typeface="Bookman Old Style"/>
              </a:rPr>
              <a:t>менее точные предсказания</a:t>
            </a:r>
            <a:r>
              <a:rPr lang="ru-RU" sz="2200">
                <a:solidFill>
                  <a:srgbClr val="000000"/>
                </a:solidFill>
                <a:latin typeface="Bookman Old Style"/>
                <a:ea typeface="Bookman Old Style"/>
                <a:cs typeface="Bookman Old Style"/>
                <a:sym typeface="Bookman Old Style"/>
              </a:rPr>
              <a:t>. </a:t>
            </a:r>
            <a:endParaRPr sz="2200">
              <a:solidFill>
                <a:srgbClr val="000000"/>
              </a:solidFill>
              <a:latin typeface="Bookman Old Style"/>
              <a:ea typeface="Bookman Old Style"/>
              <a:cs typeface="Bookman Old Style"/>
              <a:sym typeface="Bookman Old Style"/>
            </a:endParaRPr>
          </a:p>
          <a:p>
            <a:pPr indent="363538" lvl="0" marL="0" marR="0" rtl="0" algn="l">
              <a:spcBef>
                <a:spcPts val="0"/>
              </a:spcBef>
              <a:spcAft>
                <a:spcPts val="0"/>
              </a:spcAft>
              <a:buNone/>
            </a:pPr>
            <a:r>
              <a:rPr lang="ru-RU" sz="2200">
                <a:solidFill>
                  <a:srgbClr val="000000"/>
                </a:solidFill>
                <a:latin typeface="Bookman Old Style"/>
                <a:ea typeface="Bookman Old Style"/>
                <a:cs typeface="Bookman Old Style"/>
                <a:sym typeface="Bookman Old Style"/>
              </a:rPr>
              <a:t>С другой стороны, </a:t>
            </a:r>
            <a:r>
              <a:rPr b="1" i="1" lang="ru-RU" sz="2200">
                <a:solidFill>
                  <a:srgbClr val="0B769C"/>
                </a:solidFill>
                <a:latin typeface="Bookman Old Style"/>
                <a:ea typeface="Bookman Old Style"/>
                <a:cs typeface="Bookman Old Style"/>
                <a:sym typeface="Bookman Old Style"/>
              </a:rPr>
              <a:t>некоторые из высоконелинейных </a:t>
            </a:r>
            <a:r>
              <a:rPr lang="ru-RU" sz="2200">
                <a:solidFill>
                  <a:srgbClr val="000000"/>
                </a:solidFill>
                <a:latin typeface="Bookman Old Style"/>
                <a:ea typeface="Bookman Old Style"/>
                <a:cs typeface="Bookman Old Style"/>
                <a:sym typeface="Bookman Old Style"/>
              </a:rPr>
              <a:t>подходов, потенциально могут обеспечить </a:t>
            </a:r>
            <a:r>
              <a:rPr lang="ru-RU" sz="2200">
                <a:solidFill>
                  <a:srgbClr val="0000FF"/>
                </a:solidFill>
                <a:latin typeface="Bookman Old Style"/>
                <a:ea typeface="Bookman Old Style"/>
                <a:cs typeface="Bookman Old Style"/>
                <a:sym typeface="Bookman Old Style"/>
              </a:rPr>
              <a:t>очень точные предсказания</a:t>
            </a:r>
            <a:r>
              <a:rPr lang="ru-RU" sz="2200">
                <a:solidFill>
                  <a:srgbClr val="000000"/>
                </a:solidFill>
                <a:latin typeface="Bookman Old Style"/>
                <a:ea typeface="Bookman Old Style"/>
                <a:cs typeface="Bookman Old Style"/>
                <a:sym typeface="Bookman Old Style"/>
              </a:rPr>
              <a:t> для </a:t>
            </a:r>
            <a:r>
              <a:rPr b="1" i="1" lang="ru-RU" sz="2200">
                <a:solidFill>
                  <a:srgbClr val="000000"/>
                </a:solidFill>
                <a:latin typeface="Bookman Old Style"/>
                <a:ea typeface="Bookman Old Style"/>
                <a:cs typeface="Bookman Old Style"/>
                <a:sym typeface="Bookman Old Style"/>
              </a:rPr>
              <a:t>Y</a:t>
            </a:r>
            <a:r>
              <a:rPr lang="ru-RU" sz="2200">
                <a:solidFill>
                  <a:srgbClr val="000000"/>
                </a:solidFill>
                <a:latin typeface="Bookman Old Style"/>
                <a:ea typeface="Bookman Old Style"/>
                <a:cs typeface="Bookman Old Style"/>
                <a:sym typeface="Bookman Old Style"/>
              </a:rPr>
              <a:t>, но за счет </a:t>
            </a:r>
            <a:r>
              <a:rPr lang="ru-RU" sz="2200">
                <a:solidFill>
                  <a:srgbClr val="0000FF"/>
                </a:solidFill>
                <a:latin typeface="Bookman Old Style"/>
                <a:ea typeface="Bookman Old Style"/>
                <a:cs typeface="Bookman Old Style"/>
                <a:sym typeface="Bookman Old Style"/>
              </a:rPr>
              <a:t>менее интерпретируемой модели</a:t>
            </a:r>
            <a:r>
              <a:rPr lang="ru-RU" sz="2200">
                <a:solidFill>
                  <a:srgbClr val="000000"/>
                </a:solidFill>
                <a:latin typeface="Bookman Old Style"/>
                <a:ea typeface="Bookman Old Style"/>
                <a:cs typeface="Bookman Old Style"/>
                <a:sym typeface="Bookman Old Style"/>
              </a:rPr>
              <a:t>, по которой </a:t>
            </a:r>
            <a:r>
              <a:rPr lang="ru-RU" sz="2200">
                <a:solidFill>
                  <a:srgbClr val="0000FF"/>
                </a:solidFill>
                <a:latin typeface="Bookman Old Style"/>
                <a:ea typeface="Bookman Old Style"/>
                <a:cs typeface="Bookman Old Style"/>
                <a:sym typeface="Bookman Old Style"/>
              </a:rPr>
              <a:t>статистические выводы сделать сложнее.</a:t>
            </a:r>
            <a:endParaRPr/>
          </a:p>
        </p:txBody>
      </p:sp>
      <p:sp>
        <p:nvSpPr>
          <p:cNvPr id="640" name="Google Shape;640;p40"/>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41"/>
          <p:cNvSpPr/>
          <p:nvPr/>
        </p:nvSpPr>
        <p:spPr>
          <a:xfrm>
            <a:off x="242888" y="322262"/>
            <a:ext cx="9791700" cy="6625257"/>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646" name="Google Shape;646;p41"/>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647" name="Google Shape;647;p41"/>
          <p:cNvSpPr/>
          <p:nvPr/>
        </p:nvSpPr>
        <p:spPr>
          <a:xfrm>
            <a:off x="818257" y="394792"/>
            <a:ext cx="8604957" cy="661947"/>
          </a:xfrm>
          <a:prstGeom prst="roundRect">
            <a:avLst>
              <a:gd fmla="val 45749" name="adj"/>
            </a:avLst>
          </a:prstGeom>
          <a:solidFill>
            <a:srgbClr val="FFFFFF">
              <a:alpha val="52549"/>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ru-RU" sz="2800">
                <a:solidFill>
                  <a:schemeClr val="dk1"/>
                </a:solidFill>
                <a:latin typeface="Arial"/>
                <a:ea typeface="Arial"/>
                <a:cs typeface="Arial"/>
                <a:sym typeface="Arial"/>
              </a:rPr>
              <a:t>Задачи Data Mining</a:t>
            </a:r>
            <a:endParaRPr b="1" sz="2800">
              <a:solidFill>
                <a:schemeClr val="dk1"/>
              </a:solidFill>
              <a:latin typeface="Arial"/>
              <a:ea typeface="Arial"/>
              <a:cs typeface="Arial"/>
              <a:sym typeface="Arial"/>
            </a:endParaRPr>
          </a:p>
        </p:txBody>
      </p:sp>
      <p:sp>
        <p:nvSpPr>
          <p:cNvPr id="648" name="Google Shape;648;p41"/>
          <p:cNvSpPr/>
          <p:nvPr/>
        </p:nvSpPr>
        <p:spPr>
          <a:xfrm>
            <a:off x="245332" y="1140036"/>
            <a:ext cx="9789256" cy="56889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ru-RU" sz="2400">
                <a:solidFill>
                  <a:srgbClr val="0B769C"/>
                </a:solidFill>
                <a:latin typeface="Arial"/>
                <a:ea typeface="Arial"/>
                <a:cs typeface="Arial"/>
                <a:sym typeface="Arial"/>
              </a:rPr>
              <a:t>Параметрические и непараметрические методы</a:t>
            </a:r>
            <a:endParaRPr sz="2400">
              <a:solidFill>
                <a:schemeClr val="dk1"/>
              </a:solidFill>
              <a:latin typeface="Calibri"/>
              <a:ea typeface="Calibri"/>
              <a:cs typeface="Calibri"/>
              <a:sym typeface="Calibri"/>
            </a:endParaRPr>
          </a:p>
        </p:txBody>
      </p:sp>
      <p:sp>
        <p:nvSpPr>
          <p:cNvPr id="649" name="Google Shape;649;p41"/>
          <p:cNvSpPr/>
          <p:nvPr/>
        </p:nvSpPr>
        <p:spPr>
          <a:xfrm>
            <a:off x="422214" y="1708927"/>
            <a:ext cx="9433048" cy="5170646"/>
          </a:xfrm>
          <a:prstGeom prst="rect">
            <a:avLst/>
          </a:prstGeom>
          <a:noFill/>
          <a:ln>
            <a:noFill/>
          </a:ln>
        </p:spPr>
        <p:txBody>
          <a:bodyPr anchorCtr="0" anchor="t" bIns="45700" lIns="91425" spcFirstLastPara="1" rIns="91425" wrap="square" tIns="45700">
            <a:spAutoFit/>
          </a:bodyPr>
          <a:lstStyle/>
          <a:p>
            <a:pPr indent="363538" lvl="0" marL="0" marR="0" rtl="0" algn="l">
              <a:spcBef>
                <a:spcPts val="0"/>
              </a:spcBef>
              <a:spcAft>
                <a:spcPts val="0"/>
              </a:spcAft>
              <a:buNone/>
            </a:pPr>
            <a:r>
              <a:rPr lang="ru-RU" sz="2200">
                <a:solidFill>
                  <a:srgbClr val="000000"/>
                </a:solidFill>
                <a:latin typeface="Bookman Old Style"/>
                <a:ea typeface="Bookman Old Style"/>
                <a:cs typeface="Bookman Old Style"/>
                <a:sym typeface="Bookman Old Style"/>
              </a:rPr>
              <a:t>Далее в курсе рассматриваются линейные и нелинейные подходы для оценивания </a:t>
            </a:r>
            <a:r>
              <a:rPr b="1" i="1" lang="ru-RU" sz="2200">
                <a:solidFill>
                  <a:srgbClr val="000000"/>
                </a:solidFill>
                <a:latin typeface="Bookman Old Style"/>
                <a:ea typeface="Bookman Old Style"/>
                <a:cs typeface="Bookman Old Style"/>
                <a:sym typeface="Bookman Old Style"/>
              </a:rPr>
              <a:t>f</a:t>
            </a:r>
            <a:r>
              <a:rPr lang="ru-RU" sz="2200">
                <a:solidFill>
                  <a:srgbClr val="000000"/>
                </a:solidFill>
                <a:latin typeface="Bookman Old Style"/>
                <a:ea typeface="Bookman Old Style"/>
                <a:cs typeface="Bookman Old Style"/>
                <a:sym typeface="Bookman Old Style"/>
              </a:rPr>
              <a:t>. Часто эти методы имеют определенные общие характеристики. </a:t>
            </a:r>
            <a:endParaRPr/>
          </a:p>
          <a:p>
            <a:pPr indent="363538" lvl="0" marL="0" marR="0" rtl="0" algn="l">
              <a:spcBef>
                <a:spcPts val="0"/>
              </a:spcBef>
              <a:spcAft>
                <a:spcPts val="0"/>
              </a:spcAft>
              <a:buNone/>
            </a:pPr>
            <a:r>
              <a:rPr lang="ru-RU" sz="2200">
                <a:solidFill>
                  <a:srgbClr val="000000"/>
                </a:solidFill>
                <a:latin typeface="Bookman Old Style"/>
                <a:ea typeface="Bookman Old Style"/>
                <a:cs typeface="Bookman Old Style"/>
                <a:sym typeface="Bookman Old Style"/>
              </a:rPr>
              <a:t>В наших примерах предполагается, что у нас имеется набор из </a:t>
            </a:r>
            <a:r>
              <a:rPr b="1" i="1" lang="ru-RU" sz="2200">
                <a:solidFill>
                  <a:srgbClr val="000000"/>
                </a:solidFill>
                <a:latin typeface="Bookman Old Style"/>
                <a:ea typeface="Bookman Old Style"/>
                <a:cs typeface="Bookman Old Style"/>
                <a:sym typeface="Bookman Old Style"/>
              </a:rPr>
              <a:t>n</a:t>
            </a:r>
            <a:r>
              <a:rPr lang="ru-RU" sz="2200">
                <a:solidFill>
                  <a:srgbClr val="000000"/>
                </a:solidFill>
                <a:latin typeface="Bookman Old Style"/>
                <a:ea typeface="Bookman Old Style"/>
                <a:cs typeface="Bookman Old Style"/>
                <a:sym typeface="Bookman Old Style"/>
              </a:rPr>
              <a:t> отдельных наблюдений. Например, на рис. 2 у нас есть </a:t>
            </a:r>
            <a:r>
              <a:rPr b="1" i="1" lang="ru-RU" sz="2200">
                <a:solidFill>
                  <a:srgbClr val="000000"/>
                </a:solidFill>
                <a:latin typeface="Bookman Old Style"/>
                <a:ea typeface="Bookman Old Style"/>
                <a:cs typeface="Bookman Old Style"/>
                <a:sym typeface="Bookman Old Style"/>
              </a:rPr>
              <a:t>n</a:t>
            </a:r>
            <a:r>
              <a:rPr lang="ru-RU" sz="2200">
                <a:solidFill>
                  <a:srgbClr val="000000"/>
                </a:solidFill>
                <a:latin typeface="Bookman Old Style"/>
                <a:ea typeface="Bookman Old Style"/>
                <a:cs typeface="Bookman Old Style"/>
                <a:sym typeface="Bookman Old Style"/>
              </a:rPr>
              <a:t> = 30 наблюдений. Эти наблюдения называются </a:t>
            </a:r>
            <a:r>
              <a:rPr i="1" lang="ru-RU" sz="2000">
                <a:solidFill>
                  <a:srgbClr val="0B769C"/>
                </a:solidFill>
                <a:latin typeface="Bookman Old Style"/>
                <a:ea typeface="Bookman Old Style"/>
                <a:cs typeface="Bookman Old Style"/>
                <a:sym typeface="Bookman Old Style"/>
              </a:rPr>
              <a:t>обучающими данными (обучающая выборка)</a:t>
            </a:r>
            <a:r>
              <a:rPr lang="ru-RU" sz="2200">
                <a:solidFill>
                  <a:srgbClr val="000000"/>
                </a:solidFill>
                <a:latin typeface="Bookman Old Style"/>
                <a:ea typeface="Bookman Old Style"/>
                <a:cs typeface="Bookman Old Style"/>
                <a:sym typeface="Bookman Old Style"/>
              </a:rPr>
              <a:t>, поскольку мы используем их для тренировки, или обучения, нашего метода тому, как оценить </a:t>
            </a:r>
            <a:r>
              <a:rPr b="1" i="1" lang="ru-RU" sz="2200">
                <a:solidFill>
                  <a:srgbClr val="000000"/>
                </a:solidFill>
                <a:latin typeface="Bookman Old Style"/>
                <a:ea typeface="Bookman Old Style"/>
                <a:cs typeface="Bookman Old Style"/>
                <a:sym typeface="Bookman Old Style"/>
              </a:rPr>
              <a:t>f</a:t>
            </a:r>
            <a:r>
              <a:rPr lang="ru-RU" sz="2200">
                <a:solidFill>
                  <a:srgbClr val="000000"/>
                </a:solidFill>
                <a:latin typeface="Bookman Old Style"/>
                <a:ea typeface="Bookman Old Style"/>
                <a:cs typeface="Bookman Old Style"/>
                <a:sym typeface="Bookman Old Style"/>
              </a:rPr>
              <a:t>. </a:t>
            </a:r>
            <a:endParaRPr/>
          </a:p>
          <a:p>
            <a:pPr indent="363538" lvl="0" marL="0" marR="0" rtl="0" algn="l">
              <a:spcBef>
                <a:spcPts val="0"/>
              </a:spcBef>
              <a:spcAft>
                <a:spcPts val="0"/>
              </a:spcAft>
              <a:buNone/>
            </a:pPr>
            <a:r>
              <a:rPr lang="ru-RU" sz="2200">
                <a:solidFill>
                  <a:srgbClr val="000000"/>
                </a:solidFill>
                <a:latin typeface="Bookman Old Style"/>
                <a:ea typeface="Bookman Old Style"/>
                <a:cs typeface="Bookman Old Style"/>
                <a:sym typeface="Bookman Old Style"/>
              </a:rPr>
              <a:t>Пусть </a:t>
            </a:r>
            <a:r>
              <a:rPr b="1" i="1" lang="ru-RU" sz="2200">
                <a:solidFill>
                  <a:srgbClr val="000000"/>
                </a:solidFill>
                <a:latin typeface="Bookman Old Style"/>
                <a:ea typeface="Bookman Old Style"/>
                <a:cs typeface="Bookman Old Style"/>
                <a:sym typeface="Bookman Old Style"/>
              </a:rPr>
              <a:t>x</a:t>
            </a:r>
            <a:r>
              <a:rPr b="1" baseline="-25000" i="1" lang="ru-RU" sz="2200">
                <a:solidFill>
                  <a:srgbClr val="000000"/>
                </a:solidFill>
                <a:latin typeface="Bookman Old Style"/>
                <a:ea typeface="Bookman Old Style"/>
                <a:cs typeface="Bookman Old Style"/>
                <a:sym typeface="Bookman Old Style"/>
              </a:rPr>
              <a:t>ij</a:t>
            </a:r>
            <a:r>
              <a:rPr b="1" i="1" lang="ru-RU" sz="2200">
                <a:solidFill>
                  <a:srgbClr val="000000"/>
                </a:solidFill>
                <a:latin typeface="Bookman Old Style"/>
                <a:ea typeface="Bookman Old Style"/>
                <a:cs typeface="Bookman Old Style"/>
                <a:sym typeface="Bookman Old Style"/>
              </a:rPr>
              <a:t> </a:t>
            </a:r>
            <a:r>
              <a:rPr lang="ru-RU" sz="2200">
                <a:solidFill>
                  <a:srgbClr val="000000"/>
                </a:solidFill>
                <a:latin typeface="Bookman Old Style"/>
                <a:ea typeface="Bookman Old Style"/>
                <a:cs typeface="Bookman Old Style"/>
                <a:sym typeface="Bookman Old Style"/>
              </a:rPr>
              <a:t>символизирует значение </a:t>
            </a:r>
            <a:r>
              <a:rPr b="1" i="1" lang="ru-RU" sz="2200">
                <a:solidFill>
                  <a:srgbClr val="000000"/>
                </a:solidFill>
                <a:latin typeface="Bookman Old Style"/>
                <a:ea typeface="Bookman Old Style"/>
                <a:cs typeface="Bookman Old Style"/>
                <a:sym typeface="Bookman Old Style"/>
              </a:rPr>
              <a:t>j</a:t>
            </a:r>
            <a:r>
              <a:rPr lang="ru-RU" sz="2200">
                <a:solidFill>
                  <a:srgbClr val="000000"/>
                </a:solidFill>
                <a:latin typeface="Bookman Old Style"/>
                <a:ea typeface="Bookman Old Style"/>
                <a:cs typeface="Bookman Old Style"/>
                <a:sym typeface="Bookman Old Style"/>
              </a:rPr>
              <a:t>-го предиктора, или входной переменной, у наблюдения </a:t>
            </a:r>
            <a:r>
              <a:rPr b="1" i="1" lang="ru-RU" sz="2200">
                <a:solidFill>
                  <a:srgbClr val="000000"/>
                </a:solidFill>
                <a:latin typeface="Bookman Old Style"/>
                <a:ea typeface="Bookman Old Style"/>
                <a:cs typeface="Bookman Old Style"/>
                <a:sym typeface="Bookman Old Style"/>
              </a:rPr>
              <a:t>i</a:t>
            </a:r>
            <a:r>
              <a:rPr lang="ru-RU" sz="2200">
                <a:solidFill>
                  <a:srgbClr val="000000"/>
                </a:solidFill>
                <a:latin typeface="Bookman Old Style"/>
                <a:ea typeface="Bookman Old Style"/>
                <a:cs typeface="Bookman Old Style"/>
                <a:sym typeface="Bookman Old Style"/>
              </a:rPr>
              <a:t>, где </a:t>
            </a:r>
            <a:r>
              <a:rPr b="1" i="1" lang="ru-RU" sz="2200">
                <a:solidFill>
                  <a:srgbClr val="000000"/>
                </a:solidFill>
                <a:latin typeface="Bookman Old Style"/>
                <a:ea typeface="Bookman Old Style"/>
                <a:cs typeface="Bookman Old Style"/>
                <a:sym typeface="Bookman Old Style"/>
              </a:rPr>
              <a:t>i</a:t>
            </a:r>
            <a:r>
              <a:rPr lang="ru-RU" sz="2200">
                <a:solidFill>
                  <a:srgbClr val="000000"/>
                </a:solidFill>
                <a:latin typeface="Bookman Old Style"/>
                <a:ea typeface="Bookman Old Style"/>
                <a:cs typeface="Bookman Old Style"/>
                <a:sym typeface="Bookman Old Style"/>
              </a:rPr>
              <a:t> = 1,2, ...,</a:t>
            </a:r>
            <a:r>
              <a:rPr b="1" i="1" lang="ru-RU" sz="2200">
                <a:solidFill>
                  <a:srgbClr val="000000"/>
                </a:solidFill>
                <a:latin typeface="Bookman Old Style"/>
                <a:ea typeface="Bookman Old Style"/>
                <a:cs typeface="Bookman Old Style"/>
                <a:sym typeface="Bookman Old Style"/>
              </a:rPr>
              <a:t> n</a:t>
            </a:r>
            <a:r>
              <a:rPr lang="ru-RU" sz="2200">
                <a:solidFill>
                  <a:srgbClr val="000000"/>
                </a:solidFill>
                <a:latin typeface="Bookman Old Style"/>
                <a:ea typeface="Bookman Old Style"/>
                <a:cs typeface="Bookman Old Style"/>
                <a:sym typeface="Bookman Old Style"/>
              </a:rPr>
              <a:t>, a </a:t>
            </a:r>
            <a:r>
              <a:rPr b="1" i="1" lang="ru-RU" sz="2200">
                <a:solidFill>
                  <a:srgbClr val="000000"/>
                </a:solidFill>
                <a:latin typeface="Bookman Old Style"/>
                <a:ea typeface="Bookman Old Style"/>
                <a:cs typeface="Bookman Old Style"/>
                <a:sym typeface="Bookman Old Style"/>
              </a:rPr>
              <a:t>j</a:t>
            </a:r>
            <a:r>
              <a:rPr lang="ru-RU" sz="2200">
                <a:solidFill>
                  <a:srgbClr val="000000"/>
                </a:solidFill>
                <a:latin typeface="Bookman Old Style"/>
                <a:ea typeface="Bookman Old Style"/>
                <a:cs typeface="Bookman Old Style"/>
                <a:sym typeface="Bookman Old Style"/>
              </a:rPr>
              <a:t> = 1,2,..</a:t>
            </a:r>
            <a:r>
              <a:rPr i="1" lang="ru-RU" sz="2200">
                <a:solidFill>
                  <a:srgbClr val="000000"/>
                </a:solidFill>
                <a:latin typeface="Bookman Old Style"/>
                <a:ea typeface="Bookman Old Style"/>
                <a:cs typeface="Bookman Old Style"/>
                <a:sym typeface="Bookman Old Style"/>
              </a:rPr>
              <a:t>p</a:t>
            </a:r>
            <a:r>
              <a:rPr lang="ru-RU" sz="2200">
                <a:solidFill>
                  <a:srgbClr val="000000"/>
                </a:solidFill>
                <a:latin typeface="Bookman Old Style"/>
                <a:ea typeface="Bookman Old Style"/>
                <a:cs typeface="Bookman Old Style"/>
                <a:sym typeface="Bookman Old Style"/>
              </a:rPr>
              <a:t>. Аналогичным образом пусть </a:t>
            </a:r>
            <a:r>
              <a:rPr b="1" i="1" lang="ru-RU" sz="2200">
                <a:solidFill>
                  <a:srgbClr val="000000"/>
                </a:solidFill>
                <a:latin typeface="Bookman Old Style"/>
                <a:ea typeface="Bookman Old Style"/>
                <a:cs typeface="Bookman Old Style"/>
                <a:sym typeface="Bookman Old Style"/>
              </a:rPr>
              <a:t>у</a:t>
            </a:r>
            <a:r>
              <a:rPr b="1" baseline="-25000" i="1" lang="ru-RU" sz="2200">
                <a:solidFill>
                  <a:srgbClr val="000000"/>
                </a:solidFill>
                <a:latin typeface="Bookman Old Style"/>
                <a:ea typeface="Bookman Old Style"/>
                <a:cs typeface="Bookman Old Style"/>
                <a:sym typeface="Bookman Old Style"/>
              </a:rPr>
              <a:t>i</a:t>
            </a:r>
            <a:r>
              <a:rPr b="1" i="1" lang="ru-RU" sz="2200">
                <a:solidFill>
                  <a:srgbClr val="000000"/>
                </a:solidFill>
                <a:latin typeface="Bookman Old Style"/>
                <a:ea typeface="Bookman Old Style"/>
                <a:cs typeface="Bookman Old Style"/>
                <a:sym typeface="Bookman Old Style"/>
              </a:rPr>
              <a:t> </a:t>
            </a:r>
            <a:r>
              <a:rPr lang="ru-RU" sz="2200">
                <a:solidFill>
                  <a:srgbClr val="000000"/>
                </a:solidFill>
                <a:latin typeface="Bookman Old Style"/>
                <a:ea typeface="Bookman Old Style"/>
                <a:cs typeface="Bookman Old Style"/>
                <a:sym typeface="Bookman Old Style"/>
              </a:rPr>
              <a:t>обозначает отклик у </a:t>
            </a:r>
            <a:r>
              <a:rPr b="1" i="1" lang="ru-RU" sz="2200">
                <a:solidFill>
                  <a:srgbClr val="000000"/>
                </a:solidFill>
                <a:latin typeface="Bookman Old Style"/>
                <a:ea typeface="Bookman Old Style"/>
                <a:cs typeface="Bookman Old Style"/>
                <a:sym typeface="Bookman Old Style"/>
              </a:rPr>
              <a:t>i</a:t>
            </a:r>
            <a:r>
              <a:rPr lang="ru-RU" sz="2200">
                <a:solidFill>
                  <a:srgbClr val="000000"/>
                </a:solidFill>
                <a:latin typeface="Bookman Old Style"/>
                <a:ea typeface="Bookman Old Style"/>
                <a:cs typeface="Bookman Old Style"/>
                <a:sym typeface="Bookman Old Style"/>
              </a:rPr>
              <a:t> -го наблюдения. </a:t>
            </a:r>
            <a:endParaRPr sz="2200">
              <a:solidFill>
                <a:srgbClr val="000000"/>
              </a:solidFill>
              <a:latin typeface="Bookman Old Style"/>
              <a:ea typeface="Bookman Old Style"/>
              <a:cs typeface="Bookman Old Style"/>
              <a:sym typeface="Bookman Old Style"/>
            </a:endParaRPr>
          </a:p>
          <a:p>
            <a:pPr indent="363538" lvl="0" marL="0" marR="0" rtl="0" algn="l">
              <a:spcBef>
                <a:spcPts val="0"/>
              </a:spcBef>
              <a:spcAft>
                <a:spcPts val="0"/>
              </a:spcAft>
              <a:buNone/>
            </a:pPr>
            <a:r>
              <a:rPr lang="ru-RU" sz="2200">
                <a:solidFill>
                  <a:srgbClr val="000000"/>
                </a:solidFill>
                <a:latin typeface="Bookman Old Style"/>
                <a:ea typeface="Bookman Old Style"/>
                <a:cs typeface="Bookman Old Style"/>
                <a:sym typeface="Bookman Old Style"/>
              </a:rPr>
              <a:t>Обучающие данные тогда состоят из пар {(x</a:t>
            </a:r>
            <a:r>
              <a:rPr baseline="-25000" lang="ru-RU" sz="2200">
                <a:solidFill>
                  <a:srgbClr val="000000"/>
                </a:solidFill>
                <a:latin typeface="Bookman Old Style"/>
                <a:ea typeface="Bookman Old Style"/>
                <a:cs typeface="Bookman Old Style"/>
                <a:sym typeface="Bookman Old Style"/>
              </a:rPr>
              <a:t>1</a:t>
            </a:r>
            <a:r>
              <a:rPr lang="ru-RU" sz="2200">
                <a:solidFill>
                  <a:srgbClr val="000000"/>
                </a:solidFill>
                <a:latin typeface="Bookman Old Style"/>
                <a:ea typeface="Bookman Old Style"/>
                <a:cs typeface="Bookman Old Style"/>
                <a:sym typeface="Bookman Old Style"/>
              </a:rPr>
              <a:t>,y</a:t>
            </a:r>
            <a:r>
              <a:rPr baseline="-25000" lang="ru-RU" sz="2200">
                <a:solidFill>
                  <a:srgbClr val="000000"/>
                </a:solidFill>
                <a:latin typeface="Bookman Old Style"/>
                <a:ea typeface="Bookman Old Style"/>
                <a:cs typeface="Bookman Old Style"/>
                <a:sym typeface="Bookman Old Style"/>
              </a:rPr>
              <a:t>1</a:t>
            </a:r>
            <a:r>
              <a:rPr lang="ru-RU" sz="2200">
                <a:solidFill>
                  <a:srgbClr val="000000"/>
                </a:solidFill>
                <a:latin typeface="Bookman Old Style"/>
                <a:ea typeface="Bookman Old Style"/>
                <a:cs typeface="Bookman Old Style"/>
                <a:sym typeface="Bookman Old Style"/>
              </a:rPr>
              <a:t>), (х</a:t>
            </a:r>
            <a:r>
              <a:rPr baseline="-25000" lang="ru-RU" sz="2200">
                <a:solidFill>
                  <a:srgbClr val="000000"/>
                </a:solidFill>
                <a:latin typeface="Bookman Old Style"/>
                <a:ea typeface="Bookman Old Style"/>
                <a:cs typeface="Bookman Old Style"/>
                <a:sym typeface="Bookman Old Style"/>
              </a:rPr>
              <a:t>2</a:t>
            </a:r>
            <a:r>
              <a:rPr lang="ru-RU" sz="2200">
                <a:solidFill>
                  <a:srgbClr val="000000"/>
                </a:solidFill>
                <a:latin typeface="Bookman Old Style"/>
                <a:ea typeface="Bookman Old Style"/>
                <a:cs typeface="Bookman Old Style"/>
                <a:sym typeface="Bookman Old Style"/>
              </a:rPr>
              <a:t>,y</a:t>
            </a:r>
            <a:r>
              <a:rPr baseline="-25000" lang="ru-RU" sz="2200">
                <a:solidFill>
                  <a:srgbClr val="000000"/>
                </a:solidFill>
                <a:latin typeface="Bookman Old Style"/>
                <a:ea typeface="Bookman Old Style"/>
                <a:cs typeface="Bookman Old Style"/>
                <a:sym typeface="Bookman Old Style"/>
              </a:rPr>
              <a:t>2)</a:t>
            </a:r>
            <a:r>
              <a:rPr lang="ru-RU" sz="2200">
                <a:solidFill>
                  <a:srgbClr val="000000"/>
                </a:solidFill>
                <a:latin typeface="Bookman Old Style"/>
                <a:ea typeface="Bookman Old Style"/>
                <a:cs typeface="Bookman Old Style"/>
                <a:sym typeface="Bookman Old Style"/>
              </a:rPr>
              <a:t>,.., (х</a:t>
            </a:r>
            <a:r>
              <a:rPr baseline="-25000" lang="ru-RU" sz="2200">
                <a:solidFill>
                  <a:srgbClr val="000000"/>
                </a:solidFill>
                <a:latin typeface="Bookman Old Style"/>
                <a:ea typeface="Bookman Old Style"/>
                <a:cs typeface="Bookman Old Style"/>
                <a:sym typeface="Bookman Old Style"/>
              </a:rPr>
              <a:t>n</a:t>
            </a:r>
            <a:r>
              <a:rPr lang="ru-RU" sz="2200">
                <a:solidFill>
                  <a:srgbClr val="000000"/>
                </a:solidFill>
                <a:latin typeface="Bookman Old Style"/>
                <a:ea typeface="Bookman Old Style"/>
                <a:cs typeface="Bookman Old Style"/>
                <a:sym typeface="Bookman Old Style"/>
              </a:rPr>
              <a:t>,y</a:t>
            </a:r>
            <a:r>
              <a:rPr baseline="-25000" lang="ru-RU" sz="2200">
                <a:solidFill>
                  <a:srgbClr val="000000"/>
                </a:solidFill>
                <a:latin typeface="Bookman Old Style"/>
                <a:ea typeface="Bookman Old Style"/>
                <a:cs typeface="Bookman Old Style"/>
                <a:sym typeface="Bookman Old Style"/>
              </a:rPr>
              <a:t>n</a:t>
            </a:r>
            <a:r>
              <a:rPr lang="ru-RU" sz="2200">
                <a:solidFill>
                  <a:srgbClr val="000000"/>
                </a:solidFill>
                <a:latin typeface="Bookman Old Style"/>
                <a:ea typeface="Bookman Old Style"/>
                <a:cs typeface="Bookman Old Style"/>
                <a:sym typeface="Bookman Old Style"/>
              </a:rPr>
              <a:t>)}, где </a:t>
            </a:r>
            <a:r>
              <a:rPr i="1" lang="ru-RU" sz="2200">
                <a:solidFill>
                  <a:srgbClr val="000000"/>
                </a:solidFill>
                <a:latin typeface="Bookman Old Style"/>
                <a:ea typeface="Bookman Old Style"/>
                <a:cs typeface="Bookman Old Style"/>
                <a:sym typeface="Bookman Old Style"/>
              </a:rPr>
              <a:t>x</a:t>
            </a:r>
            <a:r>
              <a:rPr baseline="-25000" i="1" lang="ru-RU" sz="2200">
                <a:solidFill>
                  <a:srgbClr val="000000"/>
                </a:solidFill>
                <a:latin typeface="Bookman Old Style"/>
                <a:ea typeface="Bookman Old Style"/>
                <a:cs typeface="Bookman Old Style"/>
                <a:sym typeface="Bookman Old Style"/>
              </a:rPr>
              <a:t>i</a:t>
            </a:r>
            <a:r>
              <a:rPr i="1" lang="ru-RU" sz="2200">
                <a:solidFill>
                  <a:srgbClr val="000000"/>
                </a:solidFill>
                <a:latin typeface="Bookman Old Style"/>
                <a:ea typeface="Bookman Old Style"/>
                <a:cs typeface="Bookman Old Style"/>
                <a:sym typeface="Bookman Old Style"/>
              </a:rPr>
              <a:t> = {x</a:t>
            </a:r>
            <a:r>
              <a:rPr baseline="-25000" i="1" lang="ru-RU" sz="2200">
                <a:solidFill>
                  <a:srgbClr val="000000"/>
                </a:solidFill>
                <a:latin typeface="Bookman Old Style"/>
                <a:ea typeface="Bookman Old Style"/>
                <a:cs typeface="Bookman Old Style"/>
                <a:sym typeface="Bookman Old Style"/>
              </a:rPr>
              <a:t>i1</a:t>
            </a:r>
            <a:r>
              <a:rPr i="1" lang="ru-RU" sz="2200">
                <a:solidFill>
                  <a:srgbClr val="000000"/>
                </a:solidFill>
                <a:latin typeface="Bookman Old Style"/>
                <a:ea typeface="Bookman Old Style"/>
                <a:cs typeface="Bookman Old Style"/>
                <a:sym typeface="Bookman Old Style"/>
              </a:rPr>
              <a:t>,x</a:t>
            </a:r>
            <a:r>
              <a:rPr baseline="-25000" i="1" lang="ru-RU" sz="2200">
                <a:solidFill>
                  <a:srgbClr val="000000"/>
                </a:solidFill>
                <a:latin typeface="Bookman Old Style"/>
                <a:ea typeface="Bookman Old Style"/>
                <a:cs typeface="Bookman Old Style"/>
                <a:sym typeface="Bookman Old Style"/>
              </a:rPr>
              <a:t>i2</a:t>
            </a:r>
            <a:r>
              <a:rPr i="1" lang="ru-RU" sz="2200">
                <a:solidFill>
                  <a:srgbClr val="000000"/>
                </a:solidFill>
                <a:latin typeface="Bookman Old Style"/>
                <a:ea typeface="Bookman Old Style"/>
                <a:cs typeface="Bookman Old Style"/>
                <a:sym typeface="Bookman Old Style"/>
              </a:rPr>
              <a:t>,...,x</a:t>
            </a:r>
            <a:r>
              <a:rPr baseline="-25000" i="1" lang="ru-RU" sz="2200">
                <a:solidFill>
                  <a:srgbClr val="000000"/>
                </a:solidFill>
                <a:latin typeface="Bookman Old Style"/>
                <a:ea typeface="Bookman Old Style"/>
                <a:cs typeface="Bookman Old Style"/>
                <a:sym typeface="Bookman Old Style"/>
              </a:rPr>
              <a:t>ip</a:t>
            </a:r>
            <a:r>
              <a:rPr i="1" lang="ru-RU" sz="2200">
                <a:solidFill>
                  <a:srgbClr val="000000"/>
                </a:solidFill>
                <a:latin typeface="Bookman Old Style"/>
                <a:ea typeface="Bookman Old Style"/>
                <a:cs typeface="Bookman Old Style"/>
                <a:sym typeface="Bookman Old Style"/>
              </a:rPr>
              <a:t>)</a:t>
            </a:r>
            <a:r>
              <a:rPr lang="ru-RU" sz="2200">
                <a:solidFill>
                  <a:srgbClr val="000000"/>
                </a:solidFill>
                <a:latin typeface="Bookman Old Style"/>
                <a:ea typeface="Bookman Old Style"/>
                <a:cs typeface="Bookman Old Style"/>
                <a:sym typeface="Bookman Old Style"/>
              </a:rPr>
              <a:t>.</a:t>
            </a:r>
            <a:endParaRPr sz="2200">
              <a:solidFill>
                <a:srgbClr val="000000"/>
              </a:solidFill>
              <a:latin typeface="Bookman Old Style"/>
              <a:ea typeface="Bookman Old Style"/>
              <a:cs typeface="Bookman Old Style"/>
              <a:sym typeface="Bookman Old Style"/>
            </a:endParaRPr>
          </a:p>
          <a:p>
            <a:pPr indent="449263" lvl="0" marL="0" marR="0" rtl="0" algn="l">
              <a:spcBef>
                <a:spcPts val="0"/>
              </a:spcBef>
              <a:spcAft>
                <a:spcPts val="0"/>
              </a:spcAft>
              <a:buNone/>
            </a:pPr>
            <a:r>
              <a:t/>
            </a:r>
            <a:endParaRPr sz="2200">
              <a:solidFill>
                <a:srgbClr val="000000"/>
              </a:solidFill>
              <a:latin typeface="Bookman Old Style"/>
              <a:ea typeface="Bookman Old Style"/>
              <a:cs typeface="Bookman Old Style"/>
              <a:sym typeface="Bookman Old Style"/>
            </a:endParaRPr>
          </a:p>
        </p:txBody>
      </p:sp>
      <p:sp>
        <p:nvSpPr>
          <p:cNvPr id="650" name="Google Shape;650;p41"/>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42"/>
          <p:cNvSpPr/>
          <p:nvPr/>
        </p:nvSpPr>
        <p:spPr>
          <a:xfrm>
            <a:off x="242888" y="322262"/>
            <a:ext cx="9791700" cy="6625257"/>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656" name="Google Shape;656;p42"/>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657" name="Google Shape;657;p42"/>
          <p:cNvSpPr/>
          <p:nvPr/>
        </p:nvSpPr>
        <p:spPr>
          <a:xfrm>
            <a:off x="818257" y="394792"/>
            <a:ext cx="8604957" cy="661947"/>
          </a:xfrm>
          <a:prstGeom prst="roundRect">
            <a:avLst>
              <a:gd fmla="val 45749" name="adj"/>
            </a:avLst>
          </a:prstGeom>
          <a:solidFill>
            <a:srgbClr val="FFFFFF">
              <a:alpha val="52549"/>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ru-RU" sz="2800">
                <a:solidFill>
                  <a:schemeClr val="dk1"/>
                </a:solidFill>
                <a:latin typeface="Arial"/>
                <a:ea typeface="Arial"/>
                <a:cs typeface="Arial"/>
                <a:sym typeface="Arial"/>
              </a:rPr>
              <a:t>Задачи Data Mining</a:t>
            </a:r>
            <a:endParaRPr b="1" sz="2800">
              <a:solidFill>
                <a:schemeClr val="dk1"/>
              </a:solidFill>
              <a:latin typeface="Arial"/>
              <a:ea typeface="Arial"/>
              <a:cs typeface="Arial"/>
              <a:sym typeface="Arial"/>
            </a:endParaRPr>
          </a:p>
        </p:txBody>
      </p:sp>
      <p:sp>
        <p:nvSpPr>
          <p:cNvPr id="658" name="Google Shape;658;p42"/>
          <p:cNvSpPr/>
          <p:nvPr/>
        </p:nvSpPr>
        <p:spPr>
          <a:xfrm>
            <a:off x="245332" y="1140036"/>
            <a:ext cx="9789256" cy="56889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ru-RU" sz="2400">
                <a:solidFill>
                  <a:srgbClr val="0B769C"/>
                </a:solidFill>
                <a:latin typeface="Arial"/>
                <a:ea typeface="Arial"/>
                <a:cs typeface="Arial"/>
                <a:sym typeface="Arial"/>
              </a:rPr>
              <a:t>Параметрические и непараметрические методы</a:t>
            </a:r>
            <a:endParaRPr sz="2400">
              <a:solidFill>
                <a:schemeClr val="dk1"/>
              </a:solidFill>
              <a:latin typeface="Calibri"/>
              <a:ea typeface="Calibri"/>
              <a:cs typeface="Calibri"/>
              <a:sym typeface="Calibri"/>
            </a:endParaRPr>
          </a:p>
        </p:txBody>
      </p:sp>
      <p:sp>
        <p:nvSpPr>
          <p:cNvPr id="659" name="Google Shape;659;p42"/>
          <p:cNvSpPr/>
          <p:nvPr/>
        </p:nvSpPr>
        <p:spPr>
          <a:xfrm>
            <a:off x="638237" y="2031189"/>
            <a:ext cx="9109011" cy="30469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400">
                <a:solidFill>
                  <a:srgbClr val="000000"/>
                </a:solidFill>
                <a:latin typeface="Bookman Old Style"/>
                <a:ea typeface="Bookman Old Style"/>
                <a:cs typeface="Bookman Old Style"/>
                <a:sym typeface="Bookman Old Style"/>
              </a:rPr>
              <a:t>Наша цель заключается в применении некоторого метода статистического обучения к входным данным для нахождения неизвестной функции </a:t>
            </a:r>
            <a:r>
              <a:rPr b="1" i="1" lang="ru-RU" sz="2400">
                <a:solidFill>
                  <a:srgbClr val="000000"/>
                </a:solidFill>
                <a:latin typeface="Bookman Old Style"/>
                <a:ea typeface="Bookman Old Style"/>
                <a:cs typeface="Bookman Old Style"/>
                <a:sym typeface="Bookman Old Style"/>
              </a:rPr>
              <a:t>f</a:t>
            </a:r>
            <a:r>
              <a:rPr lang="ru-RU" sz="2400">
                <a:solidFill>
                  <a:srgbClr val="000000"/>
                </a:solidFill>
                <a:latin typeface="Bookman Old Style"/>
                <a:ea typeface="Bookman Old Style"/>
                <a:cs typeface="Bookman Old Style"/>
                <a:sym typeface="Bookman Old Style"/>
              </a:rPr>
              <a:t>. Другими словами, мы хотим найти такую функцию  </a:t>
            </a:r>
            <a:r>
              <a:rPr b="1" i="1" lang="ru-RU" sz="2400">
                <a:solidFill>
                  <a:srgbClr val="000000"/>
                </a:solidFill>
                <a:latin typeface="Bookman Old Style"/>
                <a:ea typeface="Bookman Old Style"/>
                <a:cs typeface="Bookman Old Style"/>
                <a:sym typeface="Bookman Old Style"/>
              </a:rPr>
              <a:t> </a:t>
            </a:r>
            <a:r>
              <a:rPr lang="ru-RU" sz="2400">
                <a:solidFill>
                  <a:srgbClr val="000000"/>
                </a:solidFill>
                <a:latin typeface="Bookman Old Style"/>
                <a:ea typeface="Bookman Old Style"/>
                <a:cs typeface="Bookman Old Style"/>
                <a:sym typeface="Bookman Old Style"/>
              </a:rPr>
              <a:t>, что </a:t>
            </a:r>
            <a:r>
              <a:rPr i="1" lang="ru-RU" sz="2400">
                <a:solidFill>
                  <a:srgbClr val="000000"/>
                </a:solidFill>
                <a:latin typeface="Bookman Old Style"/>
                <a:ea typeface="Bookman Old Style"/>
                <a:cs typeface="Bookman Old Style"/>
                <a:sym typeface="Bookman Old Style"/>
              </a:rPr>
              <a:t>Y ~   (X) </a:t>
            </a:r>
            <a:r>
              <a:rPr lang="ru-RU" sz="2400">
                <a:solidFill>
                  <a:srgbClr val="000000"/>
                </a:solidFill>
                <a:latin typeface="Bookman Old Style"/>
                <a:ea typeface="Bookman Old Style"/>
                <a:cs typeface="Bookman Old Style"/>
                <a:sym typeface="Bookman Old Style"/>
              </a:rPr>
              <a:t>для любого наблюдения (X, Y). В общих чертах большинство методов статистического обучения для решения этой задачи можно разделить на </a:t>
            </a:r>
            <a:r>
              <a:rPr b="1" i="1" lang="ru-RU" sz="2400">
                <a:solidFill>
                  <a:srgbClr val="0B769C"/>
                </a:solidFill>
                <a:latin typeface="Bookman Old Style"/>
                <a:ea typeface="Bookman Old Style"/>
                <a:cs typeface="Bookman Old Style"/>
                <a:sym typeface="Bookman Old Style"/>
              </a:rPr>
              <a:t>параметрические </a:t>
            </a:r>
            <a:r>
              <a:rPr lang="ru-RU" sz="2400">
                <a:solidFill>
                  <a:schemeClr val="dk1"/>
                </a:solidFill>
                <a:latin typeface="Bookman Old Style"/>
                <a:ea typeface="Bookman Old Style"/>
                <a:cs typeface="Bookman Old Style"/>
                <a:sym typeface="Bookman Old Style"/>
              </a:rPr>
              <a:t>и </a:t>
            </a:r>
            <a:r>
              <a:rPr b="1" i="1" lang="ru-RU" sz="2400">
                <a:solidFill>
                  <a:srgbClr val="0B769C"/>
                </a:solidFill>
                <a:latin typeface="Bookman Old Style"/>
                <a:ea typeface="Bookman Old Style"/>
                <a:cs typeface="Bookman Old Style"/>
                <a:sym typeface="Bookman Old Style"/>
              </a:rPr>
              <a:t>непараметрические.</a:t>
            </a:r>
            <a:endParaRPr/>
          </a:p>
        </p:txBody>
      </p:sp>
      <p:pic>
        <p:nvPicPr>
          <p:cNvPr id="660" name="Google Shape;660;p42"/>
          <p:cNvPicPr preferRelativeResize="0"/>
          <p:nvPr/>
        </p:nvPicPr>
        <p:blipFill rotWithShape="1">
          <a:blip r:embed="rId3">
            <a:alphaModFix/>
          </a:blip>
          <a:srcRect b="0" l="0" r="0" t="0"/>
          <a:stretch/>
        </p:blipFill>
        <p:spPr>
          <a:xfrm>
            <a:off x="8993197" y="3139410"/>
            <a:ext cx="224472" cy="415274"/>
          </a:xfrm>
          <a:prstGeom prst="rect">
            <a:avLst/>
          </a:prstGeom>
          <a:noFill/>
          <a:ln>
            <a:noFill/>
          </a:ln>
        </p:spPr>
      </p:pic>
      <p:pic>
        <p:nvPicPr>
          <p:cNvPr id="661" name="Google Shape;661;p42"/>
          <p:cNvPicPr preferRelativeResize="0"/>
          <p:nvPr/>
        </p:nvPicPr>
        <p:blipFill rotWithShape="1">
          <a:blip r:embed="rId3">
            <a:alphaModFix/>
          </a:blip>
          <a:srcRect b="0" l="0" r="0" t="0"/>
          <a:stretch/>
        </p:blipFill>
        <p:spPr>
          <a:xfrm>
            <a:off x="7365524" y="3139409"/>
            <a:ext cx="267969" cy="495743"/>
          </a:xfrm>
          <a:prstGeom prst="rect">
            <a:avLst/>
          </a:prstGeom>
          <a:noFill/>
          <a:ln>
            <a:noFill/>
          </a:ln>
        </p:spPr>
      </p:pic>
      <p:sp>
        <p:nvSpPr>
          <p:cNvPr id="662" name="Google Shape;662;p42"/>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43"/>
          <p:cNvSpPr/>
          <p:nvPr/>
        </p:nvSpPr>
        <p:spPr>
          <a:xfrm>
            <a:off x="242888" y="322262"/>
            <a:ext cx="9791700" cy="6625257"/>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668" name="Google Shape;668;p43"/>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669" name="Google Shape;669;p43"/>
          <p:cNvSpPr/>
          <p:nvPr/>
        </p:nvSpPr>
        <p:spPr>
          <a:xfrm>
            <a:off x="818257" y="394792"/>
            <a:ext cx="8604957" cy="661947"/>
          </a:xfrm>
          <a:prstGeom prst="roundRect">
            <a:avLst>
              <a:gd fmla="val 45749" name="adj"/>
            </a:avLst>
          </a:prstGeom>
          <a:solidFill>
            <a:srgbClr val="FFFFFF">
              <a:alpha val="52549"/>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ru-RU" sz="2800">
                <a:solidFill>
                  <a:schemeClr val="dk1"/>
                </a:solidFill>
                <a:latin typeface="Arial"/>
                <a:ea typeface="Arial"/>
                <a:cs typeface="Arial"/>
                <a:sym typeface="Arial"/>
              </a:rPr>
              <a:t>Задачи Data Mining</a:t>
            </a:r>
            <a:endParaRPr b="1" sz="2800">
              <a:solidFill>
                <a:schemeClr val="dk1"/>
              </a:solidFill>
              <a:latin typeface="Arial"/>
              <a:ea typeface="Arial"/>
              <a:cs typeface="Arial"/>
              <a:sym typeface="Arial"/>
            </a:endParaRPr>
          </a:p>
        </p:txBody>
      </p:sp>
      <p:sp>
        <p:nvSpPr>
          <p:cNvPr id="670" name="Google Shape;670;p43"/>
          <p:cNvSpPr/>
          <p:nvPr/>
        </p:nvSpPr>
        <p:spPr>
          <a:xfrm>
            <a:off x="245332" y="1140036"/>
            <a:ext cx="9789256" cy="56889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ru-RU" sz="2400">
                <a:solidFill>
                  <a:srgbClr val="0B769C"/>
                </a:solidFill>
                <a:latin typeface="Arial"/>
                <a:ea typeface="Arial"/>
                <a:cs typeface="Arial"/>
                <a:sym typeface="Arial"/>
              </a:rPr>
              <a:t>Параметрические методы</a:t>
            </a:r>
            <a:endParaRPr sz="2400">
              <a:solidFill>
                <a:schemeClr val="dk1"/>
              </a:solidFill>
              <a:latin typeface="Calibri"/>
              <a:ea typeface="Calibri"/>
              <a:cs typeface="Calibri"/>
              <a:sym typeface="Calibri"/>
            </a:endParaRPr>
          </a:p>
        </p:txBody>
      </p:sp>
      <p:sp>
        <p:nvSpPr>
          <p:cNvPr id="671" name="Google Shape;671;p43"/>
          <p:cNvSpPr txBox="1"/>
          <p:nvPr/>
        </p:nvSpPr>
        <p:spPr>
          <a:xfrm>
            <a:off x="602233" y="1792224"/>
            <a:ext cx="9145015" cy="44935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200">
                <a:solidFill>
                  <a:srgbClr val="000000"/>
                </a:solidFill>
                <a:latin typeface="Bookman Old Style"/>
                <a:ea typeface="Bookman Old Style"/>
                <a:cs typeface="Bookman Old Style"/>
                <a:sym typeface="Bookman Old Style"/>
              </a:rPr>
              <a:t>Параметрические методы подразумевают основанную на модели процедуру из двух шагов.</a:t>
            </a:r>
            <a:endParaRPr/>
          </a:p>
          <a:p>
            <a:pPr indent="0" lvl="0" marL="0" marR="0" rtl="0" algn="l">
              <a:spcBef>
                <a:spcPts val="0"/>
              </a:spcBef>
              <a:spcAft>
                <a:spcPts val="0"/>
              </a:spcAft>
              <a:buNone/>
            </a:pPr>
            <a:r>
              <a:rPr lang="ru-RU" sz="2200">
                <a:solidFill>
                  <a:srgbClr val="000000"/>
                </a:solidFill>
                <a:latin typeface="Bookman Old Style"/>
                <a:ea typeface="Bookman Old Style"/>
                <a:cs typeface="Bookman Old Style"/>
                <a:sym typeface="Bookman Old Style"/>
              </a:rPr>
              <a:t>1. Делается некоторое предположение о функциональной форме </a:t>
            </a:r>
            <a:r>
              <a:rPr b="1" i="1" lang="ru-RU" sz="2200">
                <a:solidFill>
                  <a:srgbClr val="000000"/>
                </a:solidFill>
                <a:latin typeface="Bookman Old Style"/>
                <a:ea typeface="Bookman Old Style"/>
                <a:cs typeface="Bookman Old Style"/>
                <a:sym typeface="Bookman Old Style"/>
              </a:rPr>
              <a:t>f</a:t>
            </a:r>
            <a:r>
              <a:rPr lang="ru-RU" sz="2200">
                <a:solidFill>
                  <a:srgbClr val="000000"/>
                </a:solidFill>
                <a:latin typeface="Bookman Old Style"/>
                <a:ea typeface="Bookman Old Style"/>
                <a:cs typeface="Bookman Old Style"/>
                <a:sym typeface="Bookman Old Style"/>
              </a:rPr>
              <a:t>. Например, одно из простых предположений заключается в том, что  </a:t>
            </a:r>
            <a:r>
              <a:rPr b="1" i="1" lang="ru-RU" sz="2200">
                <a:solidFill>
                  <a:srgbClr val="000000"/>
                </a:solidFill>
                <a:latin typeface="Bookman Old Style"/>
                <a:ea typeface="Bookman Old Style"/>
                <a:cs typeface="Bookman Old Style"/>
                <a:sym typeface="Bookman Old Style"/>
              </a:rPr>
              <a:t>f</a:t>
            </a:r>
            <a:r>
              <a:rPr lang="ru-RU" sz="2200">
                <a:solidFill>
                  <a:srgbClr val="000000"/>
                </a:solidFill>
                <a:latin typeface="Bookman Old Style"/>
                <a:ea typeface="Bookman Old Style"/>
                <a:cs typeface="Bookman Old Style"/>
                <a:sym typeface="Bookman Old Style"/>
              </a:rPr>
              <a:t> является линейной функцией от X:</a:t>
            </a:r>
            <a:endParaRPr/>
          </a:p>
          <a:p>
            <a:pPr indent="0" lvl="0" marL="0" marR="0" rtl="0" algn="l">
              <a:spcBef>
                <a:spcPts val="0"/>
              </a:spcBef>
              <a:spcAft>
                <a:spcPts val="0"/>
              </a:spcAft>
              <a:buNone/>
            </a:pPr>
            <a:r>
              <a:t/>
            </a:r>
            <a:endParaRPr sz="2200">
              <a:solidFill>
                <a:srgbClr val="000000"/>
              </a:solidFill>
              <a:latin typeface="Bookman Old Style"/>
              <a:ea typeface="Bookman Old Style"/>
              <a:cs typeface="Bookman Old Style"/>
              <a:sym typeface="Bookman Old Style"/>
            </a:endParaRPr>
          </a:p>
          <a:p>
            <a:pPr indent="0" lvl="0" marL="0" marR="0" rtl="0" algn="ctr">
              <a:spcBef>
                <a:spcPts val="0"/>
              </a:spcBef>
              <a:spcAft>
                <a:spcPts val="0"/>
              </a:spcAft>
              <a:buNone/>
            </a:pPr>
            <a:r>
              <a:rPr i="1" lang="ru-RU" sz="2200">
                <a:solidFill>
                  <a:srgbClr val="000000"/>
                </a:solidFill>
                <a:latin typeface="Bookman Old Style"/>
                <a:ea typeface="Bookman Old Style"/>
                <a:cs typeface="Bookman Old Style"/>
                <a:sym typeface="Bookman Old Style"/>
              </a:rPr>
              <a:t>		f(X)=β</a:t>
            </a:r>
            <a:r>
              <a:rPr baseline="-25000" i="1" lang="ru-RU" sz="2200">
                <a:solidFill>
                  <a:srgbClr val="000000"/>
                </a:solidFill>
                <a:latin typeface="Bookman Old Style"/>
                <a:ea typeface="Bookman Old Style"/>
                <a:cs typeface="Bookman Old Style"/>
                <a:sym typeface="Bookman Old Style"/>
              </a:rPr>
              <a:t>0</a:t>
            </a:r>
            <a:r>
              <a:rPr i="1" lang="ru-RU" sz="2200">
                <a:solidFill>
                  <a:srgbClr val="000000"/>
                </a:solidFill>
                <a:latin typeface="Bookman Old Style"/>
                <a:ea typeface="Bookman Old Style"/>
                <a:cs typeface="Bookman Old Style"/>
                <a:sym typeface="Bookman Old Style"/>
              </a:rPr>
              <a:t>+β</a:t>
            </a:r>
            <a:r>
              <a:rPr baseline="-25000" i="1" lang="ru-RU" sz="2200">
                <a:solidFill>
                  <a:srgbClr val="000000"/>
                </a:solidFill>
                <a:latin typeface="Bookman Old Style"/>
                <a:ea typeface="Bookman Old Style"/>
                <a:cs typeface="Bookman Old Style"/>
                <a:sym typeface="Bookman Old Style"/>
              </a:rPr>
              <a:t>1</a:t>
            </a:r>
            <a:r>
              <a:rPr i="1" lang="ru-RU" sz="2200">
                <a:solidFill>
                  <a:srgbClr val="000000"/>
                </a:solidFill>
                <a:latin typeface="Bookman Old Style"/>
                <a:ea typeface="Bookman Old Style"/>
                <a:cs typeface="Bookman Old Style"/>
                <a:sym typeface="Bookman Old Style"/>
              </a:rPr>
              <a:t>X</a:t>
            </a:r>
            <a:r>
              <a:rPr baseline="-25000" i="1" lang="ru-RU" sz="2200">
                <a:solidFill>
                  <a:srgbClr val="000000"/>
                </a:solidFill>
                <a:latin typeface="Bookman Old Style"/>
                <a:ea typeface="Bookman Old Style"/>
                <a:cs typeface="Bookman Old Style"/>
                <a:sym typeface="Bookman Old Style"/>
              </a:rPr>
              <a:t>1</a:t>
            </a:r>
            <a:r>
              <a:rPr i="1" lang="ru-RU" sz="2200">
                <a:solidFill>
                  <a:srgbClr val="000000"/>
                </a:solidFill>
                <a:latin typeface="Bookman Old Style"/>
                <a:ea typeface="Bookman Old Style"/>
                <a:cs typeface="Bookman Old Style"/>
                <a:sym typeface="Bookman Old Style"/>
              </a:rPr>
              <a:t> +β</a:t>
            </a:r>
            <a:r>
              <a:rPr baseline="-25000" i="1" lang="ru-RU" sz="2200">
                <a:solidFill>
                  <a:srgbClr val="000000"/>
                </a:solidFill>
                <a:latin typeface="Bookman Old Style"/>
                <a:ea typeface="Bookman Old Style"/>
                <a:cs typeface="Bookman Old Style"/>
                <a:sym typeface="Bookman Old Style"/>
              </a:rPr>
              <a:t>2</a:t>
            </a:r>
            <a:r>
              <a:rPr i="1" lang="ru-RU" sz="2200">
                <a:solidFill>
                  <a:srgbClr val="000000"/>
                </a:solidFill>
                <a:latin typeface="Bookman Old Style"/>
                <a:ea typeface="Bookman Old Style"/>
                <a:cs typeface="Bookman Old Style"/>
                <a:sym typeface="Bookman Old Style"/>
              </a:rPr>
              <a:t>X</a:t>
            </a:r>
            <a:r>
              <a:rPr baseline="-25000" i="1" lang="ru-RU" sz="2200">
                <a:solidFill>
                  <a:srgbClr val="000000"/>
                </a:solidFill>
                <a:latin typeface="Bookman Old Style"/>
                <a:ea typeface="Bookman Old Style"/>
                <a:cs typeface="Bookman Old Style"/>
                <a:sym typeface="Bookman Old Style"/>
              </a:rPr>
              <a:t>2</a:t>
            </a:r>
            <a:r>
              <a:rPr i="1" lang="ru-RU" sz="2200">
                <a:solidFill>
                  <a:srgbClr val="000000"/>
                </a:solidFill>
                <a:latin typeface="Bookman Old Style"/>
                <a:ea typeface="Bookman Old Style"/>
                <a:cs typeface="Bookman Old Style"/>
                <a:sym typeface="Bookman Old Style"/>
              </a:rPr>
              <a:t> +... + β</a:t>
            </a:r>
            <a:r>
              <a:rPr baseline="-25000" i="1" lang="ru-RU" sz="2200">
                <a:solidFill>
                  <a:srgbClr val="000000"/>
                </a:solidFill>
                <a:latin typeface="Bookman Old Style"/>
                <a:ea typeface="Bookman Old Style"/>
                <a:cs typeface="Bookman Old Style"/>
                <a:sym typeface="Bookman Old Style"/>
              </a:rPr>
              <a:t>p</a:t>
            </a:r>
            <a:r>
              <a:rPr i="1" lang="ru-RU" sz="2200">
                <a:solidFill>
                  <a:srgbClr val="000000"/>
                </a:solidFill>
                <a:latin typeface="Bookman Old Style"/>
                <a:ea typeface="Bookman Old Style"/>
                <a:cs typeface="Bookman Old Style"/>
                <a:sym typeface="Bookman Old Style"/>
              </a:rPr>
              <a:t>X</a:t>
            </a:r>
            <a:r>
              <a:rPr baseline="-25000" i="1" lang="ru-RU" sz="2200">
                <a:solidFill>
                  <a:srgbClr val="000000"/>
                </a:solidFill>
                <a:latin typeface="Bookman Old Style"/>
                <a:ea typeface="Bookman Old Style"/>
                <a:cs typeface="Bookman Old Style"/>
                <a:sym typeface="Bookman Old Style"/>
              </a:rPr>
              <a:t>p</a:t>
            </a:r>
            <a:r>
              <a:rPr i="1" lang="ru-RU" sz="2200">
                <a:solidFill>
                  <a:srgbClr val="000000"/>
                </a:solidFill>
                <a:latin typeface="Bookman Old Style"/>
                <a:ea typeface="Bookman Old Style"/>
                <a:cs typeface="Bookman Old Style"/>
                <a:sym typeface="Bookman Old Style"/>
              </a:rPr>
              <a:t>.                         </a:t>
            </a:r>
            <a:r>
              <a:rPr lang="ru-RU" sz="2200">
                <a:solidFill>
                  <a:srgbClr val="000000"/>
                </a:solidFill>
                <a:latin typeface="Bookman Old Style"/>
                <a:ea typeface="Bookman Old Style"/>
                <a:cs typeface="Bookman Old Style"/>
                <a:sym typeface="Bookman Old Style"/>
              </a:rPr>
              <a:t>(4)</a:t>
            </a:r>
            <a:endParaRPr/>
          </a:p>
          <a:p>
            <a:pPr indent="0" lvl="0" marL="0" marR="0" rtl="0" algn="ctr">
              <a:spcBef>
                <a:spcPts val="0"/>
              </a:spcBef>
              <a:spcAft>
                <a:spcPts val="0"/>
              </a:spcAft>
              <a:buNone/>
            </a:pPr>
            <a:r>
              <a:t/>
            </a:r>
            <a:endParaRPr i="1" sz="2200">
              <a:solidFill>
                <a:srgbClr val="000000"/>
              </a:solidFill>
              <a:latin typeface="Bookman Old Style"/>
              <a:ea typeface="Bookman Old Style"/>
              <a:cs typeface="Bookman Old Style"/>
              <a:sym typeface="Bookman Old Style"/>
            </a:endParaRPr>
          </a:p>
          <a:p>
            <a:pPr indent="0" lvl="0" marL="0" marR="0" rtl="0" algn="l">
              <a:spcBef>
                <a:spcPts val="0"/>
              </a:spcBef>
              <a:spcAft>
                <a:spcPts val="0"/>
              </a:spcAft>
              <a:buNone/>
            </a:pPr>
            <a:r>
              <a:rPr lang="ru-RU" sz="2200">
                <a:solidFill>
                  <a:srgbClr val="000000"/>
                </a:solidFill>
                <a:latin typeface="Bookman Old Style"/>
                <a:ea typeface="Bookman Old Style"/>
                <a:cs typeface="Bookman Old Style"/>
                <a:sym typeface="Bookman Old Style"/>
              </a:rPr>
              <a:t>Это линейная модель. Как только мы допустили, что </a:t>
            </a:r>
            <a:r>
              <a:rPr b="1" i="1" lang="ru-RU" sz="2200">
                <a:solidFill>
                  <a:srgbClr val="000000"/>
                </a:solidFill>
                <a:latin typeface="Bookman Old Style"/>
                <a:ea typeface="Bookman Old Style"/>
                <a:cs typeface="Bookman Old Style"/>
                <a:sym typeface="Bookman Old Style"/>
              </a:rPr>
              <a:t>f</a:t>
            </a:r>
            <a:r>
              <a:rPr lang="ru-RU" sz="2200">
                <a:solidFill>
                  <a:srgbClr val="000000"/>
                </a:solidFill>
                <a:latin typeface="Bookman Old Style"/>
                <a:ea typeface="Bookman Old Style"/>
                <a:cs typeface="Bookman Old Style"/>
                <a:sym typeface="Bookman Old Style"/>
              </a:rPr>
              <a:t> имеет линейную форму, проблема оценивания </a:t>
            </a:r>
            <a:r>
              <a:rPr b="1" i="1" lang="ru-RU" sz="2200">
                <a:solidFill>
                  <a:srgbClr val="000000"/>
                </a:solidFill>
                <a:latin typeface="Bookman Old Style"/>
                <a:ea typeface="Bookman Old Style"/>
                <a:cs typeface="Bookman Old Style"/>
                <a:sym typeface="Bookman Old Style"/>
              </a:rPr>
              <a:t>f</a:t>
            </a:r>
            <a:r>
              <a:rPr lang="ru-RU" sz="2200">
                <a:solidFill>
                  <a:srgbClr val="000000"/>
                </a:solidFill>
                <a:latin typeface="Bookman Old Style"/>
                <a:ea typeface="Bookman Old Style"/>
                <a:cs typeface="Bookman Old Style"/>
                <a:sym typeface="Bookman Old Style"/>
              </a:rPr>
              <a:t> значительно упрощается. Вместо нахождения совершенно произвольной р-мерной функции </a:t>
            </a:r>
            <a:r>
              <a:rPr b="1" i="1" lang="ru-RU" sz="2200">
                <a:solidFill>
                  <a:srgbClr val="000000"/>
                </a:solidFill>
                <a:latin typeface="Bookman Old Style"/>
                <a:ea typeface="Bookman Old Style"/>
                <a:cs typeface="Bookman Old Style"/>
                <a:sym typeface="Bookman Old Style"/>
              </a:rPr>
              <a:t>f(X) </a:t>
            </a:r>
            <a:r>
              <a:rPr lang="ru-RU" sz="2200">
                <a:solidFill>
                  <a:srgbClr val="000000"/>
                </a:solidFill>
                <a:latin typeface="Bookman Old Style"/>
                <a:ea typeface="Bookman Old Style"/>
                <a:cs typeface="Bookman Old Style"/>
                <a:sym typeface="Bookman Old Style"/>
              </a:rPr>
              <a:t>нам нужно будет оценить лишь р + 1 коэффициентов </a:t>
            </a:r>
            <a:r>
              <a:rPr i="1" lang="ru-RU" sz="2200">
                <a:solidFill>
                  <a:srgbClr val="000000"/>
                </a:solidFill>
                <a:latin typeface="Bookman Old Style"/>
                <a:ea typeface="Bookman Old Style"/>
                <a:cs typeface="Bookman Old Style"/>
                <a:sym typeface="Bookman Old Style"/>
              </a:rPr>
              <a:t>β</a:t>
            </a:r>
            <a:r>
              <a:rPr baseline="-25000" i="1" lang="ru-RU" sz="2200">
                <a:solidFill>
                  <a:srgbClr val="000000"/>
                </a:solidFill>
                <a:latin typeface="Bookman Old Style"/>
                <a:ea typeface="Bookman Old Style"/>
                <a:cs typeface="Bookman Old Style"/>
                <a:sym typeface="Bookman Old Style"/>
              </a:rPr>
              <a:t>0</a:t>
            </a:r>
            <a:r>
              <a:rPr lang="ru-RU" sz="2200">
                <a:solidFill>
                  <a:srgbClr val="000000"/>
                </a:solidFill>
                <a:latin typeface="Bookman Old Style"/>
                <a:ea typeface="Bookman Old Style"/>
                <a:cs typeface="Bookman Old Style"/>
                <a:sym typeface="Bookman Old Style"/>
              </a:rPr>
              <a:t>, </a:t>
            </a:r>
            <a:r>
              <a:rPr i="1" lang="ru-RU" sz="2200">
                <a:solidFill>
                  <a:srgbClr val="000000"/>
                </a:solidFill>
                <a:latin typeface="Bookman Old Style"/>
                <a:ea typeface="Bookman Old Style"/>
                <a:cs typeface="Bookman Old Style"/>
                <a:sym typeface="Bookman Old Style"/>
              </a:rPr>
              <a:t>β</a:t>
            </a:r>
            <a:r>
              <a:rPr baseline="-25000" i="1" lang="ru-RU" sz="2200">
                <a:solidFill>
                  <a:srgbClr val="000000"/>
                </a:solidFill>
                <a:latin typeface="Bookman Old Style"/>
                <a:ea typeface="Bookman Old Style"/>
                <a:cs typeface="Bookman Old Style"/>
                <a:sym typeface="Bookman Old Style"/>
              </a:rPr>
              <a:t>1</a:t>
            </a:r>
            <a:r>
              <a:rPr lang="ru-RU" sz="2200">
                <a:solidFill>
                  <a:srgbClr val="000000"/>
                </a:solidFill>
                <a:latin typeface="Bookman Old Style"/>
                <a:ea typeface="Bookman Old Style"/>
                <a:cs typeface="Bookman Old Style"/>
                <a:sym typeface="Bookman Old Style"/>
              </a:rPr>
              <a:t>,..., </a:t>
            </a:r>
            <a:r>
              <a:rPr i="1" lang="ru-RU" sz="2200">
                <a:solidFill>
                  <a:srgbClr val="000000"/>
                </a:solidFill>
                <a:latin typeface="Bookman Old Style"/>
                <a:ea typeface="Bookman Old Style"/>
                <a:cs typeface="Bookman Old Style"/>
                <a:sym typeface="Bookman Old Style"/>
              </a:rPr>
              <a:t>β</a:t>
            </a:r>
            <a:r>
              <a:rPr baseline="-25000" i="1" lang="ru-RU" sz="2200">
                <a:solidFill>
                  <a:srgbClr val="000000"/>
                </a:solidFill>
                <a:latin typeface="Bookman Old Style"/>
                <a:ea typeface="Bookman Old Style"/>
                <a:cs typeface="Bookman Old Style"/>
                <a:sym typeface="Bookman Old Style"/>
              </a:rPr>
              <a:t>p</a:t>
            </a:r>
            <a:r>
              <a:rPr lang="ru-RU" sz="2200">
                <a:solidFill>
                  <a:srgbClr val="000000"/>
                </a:solidFill>
                <a:latin typeface="Bookman Old Style"/>
                <a:ea typeface="Bookman Old Style"/>
                <a:cs typeface="Bookman Old Style"/>
                <a:sym typeface="Bookman Old Style"/>
              </a:rPr>
              <a:t>.</a:t>
            </a:r>
            <a:endParaRPr/>
          </a:p>
        </p:txBody>
      </p:sp>
      <p:sp>
        <p:nvSpPr>
          <p:cNvPr id="672" name="Google Shape;672;p43"/>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44"/>
          <p:cNvSpPr/>
          <p:nvPr/>
        </p:nvSpPr>
        <p:spPr>
          <a:xfrm>
            <a:off x="242888" y="322262"/>
            <a:ext cx="9791700" cy="6625257"/>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678" name="Google Shape;678;p44"/>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679" name="Google Shape;679;p44"/>
          <p:cNvSpPr/>
          <p:nvPr/>
        </p:nvSpPr>
        <p:spPr>
          <a:xfrm>
            <a:off x="818257" y="394792"/>
            <a:ext cx="8604957" cy="661947"/>
          </a:xfrm>
          <a:prstGeom prst="roundRect">
            <a:avLst>
              <a:gd fmla="val 45749" name="adj"/>
            </a:avLst>
          </a:prstGeom>
          <a:solidFill>
            <a:srgbClr val="FFFFFF">
              <a:alpha val="52549"/>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ru-RU" sz="2800">
                <a:solidFill>
                  <a:schemeClr val="dk1"/>
                </a:solidFill>
                <a:latin typeface="Arial"/>
                <a:ea typeface="Arial"/>
                <a:cs typeface="Arial"/>
                <a:sym typeface="Arial"/>
              </a:rPr>
              <a:t>Задачи Data Mining</a:t>
            </a:r>
            <a:endParaRPr b="1" sz="2800">
              <a:solidFill>
                <a:schemeClr val="dk1"/>
              </a:solidFill>
              <a:latin typeface="Arial"/>
              <a:ea typeface="Arial"/>
              <a:cs typeface="Arial"/>
              <a:sym typeface="Arial"/>
            </a:endParaRPr>
          </a:p>
        </p:txBody>
      </p:sp>
      <p:sp>
        <p:nvSpPr>
          <p:cNvPr id="680" name="Google Shape;680;p44"/>
          <p:cNvSpPr/>
          <p:nvPr/>
        </p:nvSpPr>
        <p:spPr>
          <a:xfrm>
            <a:off x="245332" y="1140036"/>
            <a:ext cx="9789256" cy="56889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ru-RU" sz="2400">
                <a:solidFill>
                  <a:srgbClr val="0B769C"/>
                </a:solidFill>
                <a:latin typeface="Arial"/>
                <a:ea typeface="Arial"/>
                <a:cs typeface="Arial"/>
                <a:sym typeface="Arial"/>
              </a:rPr>
              <a:t>Параметрические методы</a:t>
            </a:r>
            <a:endParaRPr sz="2400">
              <a:solidFill>
                <a:schemeClr val="dk1"/>
              </a:solidFill>
              <a:latin typeface="Calibri"/>
              <a:ea typeface="Calibri"/>
              <a:cs typeface="Calibri"/>
              <a:sym typeface="Calibri"/>
            </a:endParaRPr>
          </a:p>
        </p:txBody>
      </p:sp>
      <p:sp>
        <p:nvSpPr>
          <p:cNvPr id="681" name="Google Shape;681;p44"/>
          <p:cNvSpPr txBox="1"/>
          <p:nvPr/>
        </p:nvSpPr>
        <p:spPr>
          <a:xfrm>
            <a:off x="404141" y="1792224"/>
            <a:ext cx="9343107" cy="40421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200">
                <a:solidFill>
                  <a:srgbClr val="000000"/>
                </a:solidFill>
                <a:latin typeface="Bookman Old Style"/>
                <a:ea typeface="Bookman Old Style"/>
                <a:cs typeface="Bookman Old Style"/>
                <a:sym typeface="Bookman Old Style"/>
              </a:rPr>
              <a:t>2. После выбора модели нам потребуется процедура, которая использует обучающие данные для подгонки, или обучения, модели. В случае линейной модели (4) нам необходимо оценить параметры </a:t>
            </a:r>
            <a:r>
              <a:rPr i="1" lang="ru-RU" sz="2200">
                <a:solidFill>
                  <a:srgbClr val="000000"/>
                </a:solidFill>
                <a:latin typeface="Bookman Old Style"/>
                <a:ea typeface="Bookman Old Style"/>
                <a:cs typeface="Bookman Old Style"/>
                <a:sym typeface="Bookman Old Style"/>
              </a:rPr>
              <a:t>β</a:t>
            </a:r>
            <a:r>
              <a:rPr baseline="-25000" i="1" lang="ru-RU" sz="2200">
                <a:solidFill>
                  <a:srgbClr val="000000"/>
                </a:solidFill>
                <a:latin typeface="Bookman Old Style"/>
                <a:ea typeface="Bookman Old Style"/>
                <a:cs typeface="Bookman Old Style"/>
                <a:sym typeface="Bookman Old Style"/>
              </a:rPr>
              <a:t>0</a:t>
            </a:r>
            <a:r>
              <a:rPr lang="ru-RU" sz="2200">
                <a:solidFill>
                  <a:srgbClr val="000000"/>
                </a:solidFill>
                <a:latin typeface="Bookman Old Style"/>
                <a:ea typeface="Bookman Old Style"/>
                <a:cs typeface="Bookman Old Style"/>
                <a:sym typeface="Bookman Old Style"/>
              </a:rPr>
              <a:t>, </a:t>
            </a:r>
            <a:r>
              <a:rPr i="1" lang="ru-RU" sz="2200">
                <a:solidFill>
                  <a:srgbClr val="000000"/>
                </a:solidFill>
                <a:latin typeface="Bookman Old Style"/>
                <a:ea typeface="Bookman Old Style"/>
                <a:cs typeface="Bookman Old Style"/>
                <a:sym typeface="Bookman Old Style"/>
              </a:rPr>
              <a:t>β</a:t>
            </a:r>
            <a:r>
              <a:rPr baseline="-25000" i="1" lang="ru-RU" sz="2200">
                <a:solidFill>
                  <a:srgbClr val="000000"/>
                </a:solidFill>
                <a:latin typeface="Bookman Old Style"/>
                <a:ea typeface="Bookman Old Style"/>
                <a:cs typeface="Bookman Old Style"/>
                <a:sym typeface="Bookman Old Style"/>
              </a:rPr>
              <a:t>1</a:t>
            </a:r>
            <a:r>
              <a:rPr lang="ru-RU" sz="2200">
                <a:solidFill>
                  <a:srgbClr val="000000"/>
                </a:solidFill>
                <a:latin typeface="Bookman Old Style"/>
                <a:ea typeface="Bookman Old Style"/>
                <a:cs typeface="Bookman Old Style"/>
                <a:sym typeface="Bookman Old Style"/>
              </a:rPr>
              <a:t>,..., </a:t>
            </a:r>
            <a:r>
              <a:rPr i="1" lang="ru-RU" sz="2200">
                <a:solidFill>
                  <a:srgbClr val="000000"/>
                </a:solidFill>
                <a:latin typeface="Bookman Old Style"/>
                <a:ea typeface="Bookman Old Style"/>
                <a:cs typeface="Bookman Old Style"/>
                <a:sym typeface="Bookman Old Style"/>
              </a:rPr>
              <a:t>β</a:t>
            </a:r>
            <a:r>
              <a:rPr baseline="-25000" i="1" lang="ru-RU" sz="2200">
                <a:solidFill>
                  <a:srgbClr val="000000"/>
                </a:solidFill>
                <a:latin typeface="Bookman Old Style"/>
                <a:ea typeface="Bookman Old Style"/>
                <a:cs typeface="Bookman Old Style"/>
                <a:sym typeface="Bookman Old Style"/>
              </a:rPr>
              <a:t>p</a:t>
            </a:r>
            <a:r>
              <a:rPr lang="ru-RU" sz="2200">
                <a:solidFill>
                  <a:srgbClr val="000000"/>
                </a:solidFill>
                <a:latin typeface="Bookman Old Style"/>
                <a:ea typeface="Bookman Old Style"/>
                <a:cs typeface="Bookman Old Style"/>
                <a:sym typeface="Bookman Old Style"/>
              </a:rPr>
              <a:t>.. Другими словами, мы хотим найти такие значения этих параметров, при которых</a:t>
            </a:r>
            <a:endParaRPr sz="2200">
              <a:solidFill>
                <a:srgbClr val="000000"/>
              </a:solidFill>
              <a:latin typeface="Bookman Old Style"/>
              <a:ea typeface="Bookman Old Style"/>
              <a:cs typeface="Bookman Old Style"/>
              <a:sym typeface="Bookman Old Style"/>
            </a:endParaRPr>
          </a:p>
          <a:p>
            <a:pPr indent="0" lvl="0" marL="0" marR="0" rtl="0" algn="l">
              <a:spcBef>
                <a:spcPts val="0"/>
              </a:spcBef>
              <a:spcAft>
                <a:spcPts val="0"/>
              </a:spcAft>
              <a:buNone/>
            </a:pPr>
            <a:r>
              <a:t/>
            </a:r>
            <a:endParaRPr sz="2200">
              <a:solidFill>
                <a:srgbClr val="000000"/>
              </a:solidFill>
              <a:latin typeface="Bookman Old Style"/>
              <a:ea typeface="Bookman Old Style"/>
              <a:cs typeface="Bookman Old Style"/>
              <a:sym typeface="Bookman Old Style"/>
            </a:endParaRPr>
          </a:p>
          <a:p>
            <a:pPr indent="0" lvl="0" marL="0" marR="0" rtl="0" algn="ctr">
              <a:spcBef>
                <a:spcPts val="0"/>
              </a:spcBef>
              <a:spcAft>
                <a:spcPts val="0"/>
              </a:spcAft>
              <a:buNone/>
            </a:pPr>
            <a:r>
              <a:rPr lang="ru-RU" sz="2200">
                <a:solidFill>
                  <a:srgbClr val="000000"/>
                </a:solidFill>
                <a:latin typeface="Bookman Old Style"/>
                <a:ea typeface="Bookman Old Style"/>
                <a:cs typeface="Bookman Old Style"/>
                <a:sym typeface="Bookman Old Style"/>
              </a:rPr>
              <a:t>Y ≈ </a:t>
            </a:r>
            <a:r>
              <a:rPr i="1" lang="ru-RU" sz="2200">
                <a:solidFill>
                  <a:srgbClr val="000000"/>
                </a:solidFill>
                <a:latin typeface="Bookman Old Style"/>
                <a:ea typeface="Bookman Old Style"/>
                <a:cs typeface="Bookman Old Style"/>
                <a:sym typeface="Bookman Old Style"/>
              </a:rPr>
              <a:t>β</a:t>
            </a:r>
            <a:r>
              <a:rPr baseline="-25000" i="1" lang="ru-RU" sz="2200">
                <a:solidFill>
                  <a:srgbClr val="000000"/>
                </a:solidFill>
                <a:latin typeface="Bookman Old Style"/>
                <a:ea typeface="Bookman Old Style"/>
                <a:cs typeface="Bookman Old Style"/>
                <a:sym typeface="Bookman Old Style"/>
              </a:rPr>
              <a:t>0</a:t>
            </a:r>
            <a:r>
              <a:rPr i="1" lang="ru-RU" sz="2200">
                <a:solidFill>
                  <a:srgbClr val="000000"/>
                </a:solidFill>
                <a:latin typeface="Bookman Old Style"/>
                <a:ea typeface="Bookman Old Style"/>
                <a:cs typeface="Bookman Old Style"/>
                <a:sym typeface="Bookman Old Style"/>
              </a:rPr>
              <a:t>+β</a:t>
            </a:r>
            <a:r>
              <a:rPr baseline="-25000" i="1" lang="ru-RU" sz="2200">
                <a:solidFill>
                  <a:srgbClr val="000000"/>
                </a:solidFill>
                <a:latin typeface="Bookman Old Style"/>
                <a:ea typeface="Bookman Old Style"/>
                <a:cs typeface="Bookman Old Style"/>
                <a:sym typeface="Bookman Old Style"/>
              </a:rPr>
              <a:t>1</a:t>
            </a:r>
            <a:r>
              <a:rPr i="1" lang="ru-RU" sz="2200">
                <a:solidFill>
                  <a:srgbClr val="000000"/>
                </a:solidFill>
                <a:latin typeface="Bookman Old Style"/>
                <a:ea typeface="Bookman Old Style"/>
                <a:cs typeface="Bookman Old Style"/>
                <a:sym typeface="Bookman Old Style"/>
              </a:rPr>
              <a:t>X</a:t>
            </a:r>
            <a:r>
              <a:rPr baseline="-25000" i="1" lang="ru-RU" sz="2200">
                <a:solidFill>
                  <a:srgbClr val="000000"/>
                </a:solidFill>
                <a:latin typeface="Bookman Old Style"/>
                <a:ea typeface="Bookman Old Style"/>
                <a:cs typeface="Bookman Old Style"/>
                <a:sym typeface="Bookman Old Style"/>
              </a:rPr>
              <a:t>1</a:t>
            </a:r>
            <a:r>
              <a:rPr i="1" lang="ru-RU" sz="2200">
                <a:solidFill>
                  <a:srgbClr val="000000"/>
                </a:solidFill>
                <a:latin typeface="Bookman Old Style"/>
                <a:ea typeface="Bookman Old Style"/>
                <a:cs typeface="Bookman Old Style"/>
                <a:sym typeface="Bookman Old Style"/>
              </a:rPr>
              <a:t> +β</a:t>
            </a:r>
            <a:r>
              <a:rPr baseline="-25000" i="1" lang="ru-RU" sz="2200">
                <a:solidFill>
                  <a:srgbClr val="000000"/>
                </a:solidFill>
                <a:latin typeface="Bookman Old Style"/>
                <a:ea typeface="Bookman Old Style"/>
                <a:cs typeface="Bookman Old Style"/>
                <a:sym typeface="Bookman Old Style"/>
              </a:rPr>
              <a:t>2</a:t>
            </a:r>
            <a:r>
              <a:rPr i="1" lang="ru-RU" sz="2200">
                <a:solidFill>
                  <a:srgbClr val="000000"/>
                </a:solidFill>
                <a:latin typeface="Bookman Old Style"/>
                <a:ea typeface="Bookman Old Style"/>
                <a:cs typeface="Bookman Old Style"/>
                <a:sym typeface="Bookman Old Style"/>
              </a:rPr>
              <a:t>X</a:t>
            </a:r>
            <a:r>
              <a:rPr baseline="-25000" i="1" lang="ru-RU" sz="2200">
                <a:solidFill>
                  <a:srgbClr val="000000"/>
                </a:solidFill>
                <a:latin typeface="Bookman Old Style"/>
                <a:ea typeface="Bookman Old Style"/>
                <a:cs typeface="Bookman Old Style"/>
                <a:sym typeface="Bookman Old Style"/>
              </a:rPr>
              <a:t>2</a:t>
            </a:r>
            <a:r>
              <a:rPr i="1" lang="ru-RU" sz="2200">
                <a:solidFill>
                  <a:srgbClr val="000000"/>
                </a:solidFill>
                <a:latin typeface="Bookman Old Style"/>
                <a:ea typeface="Bookman Old Style"/>
                <a:cs typeface="Bookman Old Style"/>
                <a:sym typeface="Bookman Old Style"/>
              </a:rPr>
              <a:t> +... + β</a:t>
            </a:r>
            <a:r>
              <a:rPr baseline="-25000" i="1" lang="ru-RU" sz="2200">
                <a:solidFill>
                  <a:srgbClr val="000000"/>
                </a:solidFill>
                <a:latin typeface="Bookman Old Style"/>
                <a:ea typeface="Bookman Old Style"/>
                <a:cs typeface="Bookman Old Style"/>
                <a:sym typeface="Bookman Old Style"/>
              </a:rPr>
              <a:t>p</a:t>
            </a:r>
            <a:r>
              <a:rPr i="1" lang="ru-RU" sz="2200">
                <a:solidFill>
                  <a:srgbClr val="000000"/>
                </a:solidFill>
                <a:latin typeface="Bookman Old Style"/>
                <a:ea typeface="Bookman Old Style"/>
                <a:cs typeface="Bookman Old Style"/>
                <a:sym typeface="Bookman Old Style"/>
              </a:rPr>
              <a:t>X</a:t>
            </a:r>
            <a:r>
              <a:rPr baseline="-25000" i="1" lang="ru-RU" sz="2200">
                <a:solidFill>
                  <a:srgbClr val="000000"/>
                </a:solidFill>
                <a:latin typeface="Bookman Old Style"/>
                <a:ea typeface="Bookman Old Style"/>
                <a:cs typeface="Bookman Old Style"/>
                <a:sym typeface="Bookman Old Style"/>
              </a:rPr>
              <a:t>p</a:t>
            </a:r>
            <a:endParaRPr baseline="-25000" i="1" sz="2200">
              <a:solidFill>
                <a:srgbClr val="000000"/>
              </a:solidFill>
              <a:latin typeface="Bookman Old Style"/>
              <a:ea typeface="Bookman Old Style"/>
              <a:cs typeface="Bookman Old Style"/>
              <a:sym typeface="Bookman Old Style"/>
            </a:endParaRPr>
          </a:p>
          <a:p>
            <a:pPr indent="0" lvl="0" marL="0" marR="0" rtl="0" algn="ctr">
              <a:spcBef>
                <a:spcPts val="0"/>
              </a:spcBef>
              <a:spcAft>
                <a:spcPts val="0"/>
              </a:spcAft>
              <a:buNone/>
            </a:pPr>
            <a:r>
              <a:t/>
            </a:r>
            <a:endParaRPr baseline="-25000" i="1" sz="2200">
              <a:solidFill>
                <a:srgbClr val="000000"/>
              </a:solidFill>
              <a:latin typeface="Bookman Old Style"/>
              <a:ea typeface="Bookman Old Style"/>
              <a:cs typeface="Bookman Old Style"/>
              <a:sym typeface="Bookman Old Style"/>
            </a:endParaRPr>
          </a:p>
          <a:p>
            <a:pPr indent="363538" lvl="0" marL="0" marR="0" rtl="0" algn="l">
              <a:spcBef>
                <a:spcPts val="0"/>
              </a:spcBef>
              <a:spcAft>
                <a:spcPts val="0"/>
              </a:spcAft>
              <a:buNone/>
            </a:pPr>
            <a:r>
              <a:rPr lang="ru-RU" sz="2200">
                <a:solidFill>
                  <a:srgbClr val="000000"/>
                </a:solidFill>
                <a:latin typeface="Bookman Old Style"/>
                <a:ea typeface="Bookman Old Style"/>
                <a:cs typeface="Bookman Old Style"/>
                <a:sym typeface="Bookman Old Style"/>
              </a:rPr>
              <a:t>Наиболее распространенный метод для подгонки модели (4) известен как </a:t>
            </a:r>
            <a:r>
              <a:rPr b="1" i="1" lang="ru-RU" sz="2200">
                <a:solidFill>
                  <a:srgbClr val="0070C0"/>
                </a:solidFill>
                <a:latin typeface="Bookman Old Style"/>
                <a:ea typeface="Bookman Old Style"/>
                <a:cs typeface="Bookman Old Style"/>
                <a:sym typeface="Bookman Old Style"/>
              </a:rPr>
              <a:t>метод наименьших квадратов</a:t>
            </a:r>
            <a:r>
              <a:rPr lang="ru-RU" sz="2200">
                <a:solidFill>
                  <a:srgbClr val="000000"/>
                </a:solidFill>
                <a:latin typeface="Bookman Old Style"/>
                <a:ea typeface="Bookman Old Style"/>
                <a:cs typeface="Bookman Old Style"/>
                <a:sym typeface="Bookman Old Style"/>
              </a:rPr>
              <a:t>,  он является лишь одним из многих возможных способов. Мы рассмотрим  и другие подходы для нахождения параметров уравнения (4).</a:t>
            </a:r>
            <a:endParaRPr/>
          </a:p>
        </p:txBody>
      </p:sp>
      <p:sp>
        <p:nvSpPr>
          <p:cNvPr id="682" name="Google Shape;682;p44"/>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45"/>
          <p:cNvSpPr/>
          <p:nvPr/>
        </p:nvSpPr>
        <p:spPr>
          <a:xfrm>
            <a:off x="242888" y="322262"/>
            <a:ext cx="9791700" cy="6625257"/>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688" name="Google Shape;688;p45"/>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689" name="Google Shape;689;p45"/>
          <p:cNvSpPr/>
          <p:nvPr/>
        </p:nvSpPr>
        <p:spPr>
          <a:xfrm>
            <a:off x="818257" y="394792"/>
            <a:ext cx="8604957" cy="661947"/>
          </a:xfrm>
          <a:prstGeom prst="roundRect">
            <a:avLst>
              <a:gd fmla="val 45749" name="adj"/>
            </a:avLst>
          </a:prstGeom>
          <a:solidFill>
            <a:srgbClr val="FFFFFF">
              <a:alpha val="52549"/>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ru-RU" sz="2800">
                <a:solidFill>
                  <a:schemeClr val="dk1"/>
                </a:solidFill>
                <a:latin typeface="Arial"/>
                <a:ea typeface="Arial"/>
                <a:cs typeface="Arial"/>
                <a:sym typeface="Arial"/>
              </a:rPr>
              <a:t>Задачи Data Mining</a:t>
            </a:r>
            <a:endParaRPr b="1" sz="2800">
              <a:solidFill>
                <a:schemeClr val="dk1"/>
              </a:solidFill>
              <a:latin typeface="Arial"/>
              <a:ea typeface="Arial"/>
              <a:cs typeface="Arial"/>
              <a:sym typeface="Arial"/>
            </a:endParaRPr>
          </a:p>
        </p:txBody>
      </p:sp>
      <p:sp>
        <p:nvSpPr>
          <p:cNvPr id="690" name="Google Shape;690;p45"/>
          <p:cNvSpPr/>
          <p:nvPr/>
        </p:nvSpPr>
        <p:spPr>
          <a:xfrm>
            <a:off x="245332" y="1140036"/>
            <a:ext cx="9789256" cy="56889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ru-RU" sz="2400">
                <a:solidFill>
                  <a:srgbClr val="0B769C"/>
                </a:solidFill>
                <a:latin typeface="Arial"/>
                <a:ea typeface="Arial"/>
                <a:cs typeface="Arial"/>
                <a:sym typeface="Arial"/>
              </a:rPr>
              <a:t>Параметрические методы</a:t>
            </a:r>
            <a:endParaRPr sz="2400">
              <a:solidFill>
                <a:schemeClr val="dk1"/>
              </a:solidFill>
              <a:latin typeface="Calibri"/>
              <a:ea typeface="Calibri"/>
              <a:cs typeface="Calibri"/>
              <a:sym typeface="Calibri"/>
            </a:endParaRPr>
          </a:p>
        </p:txBody>
      </p:sp>
      <p:sp>
        <p:nvSpPr>
          <p:cNvPr id="691" name="Google Shape;691;p45"/>
          <p:cNvSpPr txBox="1"/>
          <p:nvPr/>
        </p:nvSpPr>
        <p:spPr>
          <a:xfrm>
            <a:off x="467184" y="1468517"/>
            <a:ext cx="9343107" cy="5262979"/>
          </a:xfrm>
          <a:prstGeom prst="rect">
            <a:avLst/>
          </a:prstGeom>
          <a:noFill/>
          <a:ln>
            <a:noFill/>
          </a:ln>
        </p:spPr>
        <p:txBody>
          <a:bodyPr anchorCtr="0" anchor="t" bIns="45700" lIns="91425" spcFirstLastPara="1" rIns="91425" wrap="square" tIns="45700">
            <a:spAutoFit/>
          </a:bodyPr>
          <a:lstStyle/>
          <a:p>
            <a:pPr indent="363538" lvl="0" marL="0" marR="0" rtl="0" algn="l">
              <a:spcBef>
                <a:spcPts val="0"/>
              </a:spcBef>
              <a:spcAft>
                <a:spcPts val="0"/>
              </a:spcAft>
              <a:buNone/>
            </a:pPr>
            <a:r>
              <a:rPr lang="ru-RU" sz="2100">
                <a:solidFill>
                  <a:srgbClr val="000000"/>
                </a:solidFill>
                <a:latin typeface="Bookman Old Style"/>
                <a:ea typeface="Bookman Old Style"/>
                <a:cs typeface="Bookman Old Style"/>
                <a:sym typeface="Bookman Old Style"/>
              </a:rPr>
              <a:t>Допущение о параметрической форме </a:t>
            </a:r>
            <a:r>
              <a:rPr b="1" i="1" lang="ru-RU" sz="2100">
                <a:solidFill>
                  <a:srgbClr val="000000"/>
                </a:solidFill>
                <a:latin typeface="Bookman Old Style"/>
                <a:ea typeface="Bookman Old Style"/>
                <a:cs typeface="Bookman Old Style"/>
                <a:sym typeface="Bookman Old Style"/>
              </a:rPr>
              <a:t>f</a:t>
            </a:r>
            <a:r>
              <a:rPr lang="ru-RU" sz="2100">
                <a:solidFill>
                  <a:srgbClr val="000000"/>
                </a:solidFill>
                <a:latin typeface="Bookman Old Style"/>
                <a:ea typeface="Bookman Old Style"/>
                <a:cs typeface="Bookman Old Style"/>
                <a:sym typeface="Bookman Old Style"/>
              </a:rPr>
              <a:t> </a:t>
            </a:r>
            <a:r>
              <a:rPr b="1" lang="ru-RU" sz="2100">
                <a:solidFill>
                  <a:srgbClr val="000000"/>
                </a:solidFill>
                <a:latin typeface="Bookman Old Style"/>
                <a:ea typeface="Bookman Old Style"/>
                <a:cs typeface="Bookman Old Style"/>
                <a:sym typeface="Bookman Old Style"/>
              </a:rPr>
              <a:t>упрощает проблему нахождения этой функции</a:t>
            </a:r>
            <a:r>
              <a:rPr lang="ru-RU" sz="2100">
                <a:solidFill>
                  <a:srgbClr val="000000"/>
                </a:solidFill>
                <a:latin typeface="Bookman Old Style"/>
                <a:ea typeface="Bookman Old Style"/>
                <a:cs typeface="Bookman Old Style"/>
                <a:sym typeface="Bookman Old Style"/>
              </a:rPr>
              <a:t>, поскольку, как правило, оценить набор параметров </a:t>
            </a:r>
            <a:r>
              <a:rPr i="1" lang="ru-RU" sz="2100">
                <a:solidFill>
                  <a:srgbClr val="000000"/>
                </a:solidFill>
                <a:latin typeface="Bookman Old Style"/>
                <a:ea typeface="Bookman Old Style"/>
                <a:cs typeface="Bookman Old Style"/>
                <a:sym typeface="Bookman Old Style"/>
              </a:rPr>
              <a:t>β</a:t>
            </a:r>
            <a:r>
              <a:rPr baseline="-25000" i="1" lang="ru-RU" sz="2100">
                <a:solidFill>
                  <a:srgbClr val="000000"/>
                </a:solidFill>
                <a:latin typeface="Bookman Old Style"/>
                <a:ea typeface="Bookman Old Style"/>
                <a:cs typeface="Bookman Old Style"/>
                <a:sym typeface="Bookman Old Style"/>
              </a:rPr>
              <a:t>0</a:t>
            </a:r>
            <a:r>
              <a:rPr lang="ru-RU" sz="2100">
                <a:solidFill>
                  <a:srgbClr val="000000"/>
                </a:solidFill>
                <a:latin typeface="Bookman Old Style"/>
                <a:ea typeface="Bookman Old Style"/>
                <a:cs typeface="Bookman Old Style"/>
                <a:sym typeface="Bookman Old Style"/>
              </a:rPr>
              <a:t>, </a:t>
            </a:r>
            <a:r>
              <a:rPr i="1" lang="ru-RU" sz="2100">
                <a:solidFill>
                  <a:srgbClr val="000000"/>
                </a:solidFill>
                <a:latin typeface="Bookman Old Style"/>
                <a:ea typeface="Bookman Old Style"/>
                <a:cs typeface="Bookman Old Style"/>
                <a:sym typeface="Bookman Old Style"/>
              </a:rPr>
              <a:t>β</a:t>
            </a:r>
            <a:r>
              <a:rPr baseline="-25000" i="1" lang="ru-RU" sz="2100">
                <a:solidFill>
                  <a:srgbClr val="000000"/>
                </a:solidFill>
                <a:latin typeface="Bookman Old Style"/>
                <a:ea typeface="Bookman Old Style"/>
                <a:cs typeface="Bookman Old Style"/>
                <a:sym typeface="Bookman Old Style"/>
              </a:rPr>
              <a:t>1</a:t>
            </a:r>
            <a:r>
              <a:rPr lang="ru-RU" sz="2100">
                <a:solidFill>
                  <a:srgbClr val="000000"/>
                </a:solidFill>
                <a:latin typeface="Bookman Old Style"/>
                <a:ea typeface="Bookman Old Style"/>
                <a:cs typeface="Bookman Old Style"/>
                <a:sym typeface="Bookman Old Style"/>
              </a:rPr>
              <a:t>,..., </a:t>
            </a:r>
            <a:r>
              <a:rPr i="1" lang="ru-RU" sz="2100">
                <a:solidFill>
                  <a:srgbClr val="000000"/>
                </a:solidFill>
                <a:latin typeface="Bookman Old Style"/>
                <a:ea typeface="Bookman Old Style"/>
                <a:cs typeface="Bookman Old Style"/>
                <a:sym typeface="Bookman Old Style"/>
              </a:rPr>
              <a:t>β</a:t>
            </a:r>
            <a:r>
              <a:rPr baseline="-25000" i="1" lang="ru-RU" sz="2100">
                <a:solidFill>
                  <a:srgbClr val="000000"/>
                </a:solidFill>
                <a:latin typeface="Bookman Old Style"/>
                <a:ea typeface="Bookman Old Style"/>
                <a:cs typeface="Bookman Old Style"/>
                <a:sym typeface="Bookman Old Style"/>
              </a:rPr>
              <a:t>p</a:t>
            </a:r>
            <a:r>
              <a:rPr lang="ru-RU" sz="2100">
                <a:solidFill>
                  <a:srgbClr val="000000"/>
                </a:solidFill>
                <a:latin typeface="Bookman Old Style"/>
                <a:ea typeface="Bookman Old Style"/>
                <a:cs typeface="Bookman Old Style"/>
                <a:sym typeface="Bookman Old Style"/>
              </a:rPr>
              <a:t>.. линейной модели (4) гораздо проще, чем подогнать совершенно произвольную функцию </a:t>
            </a:r>
            <a:r>
              <a:rPr b="1" i="1" lang="ru-RU" sz="2100">
                <a:solidFill>
                  <a:srgbClr val="000000"/>
                </a:solidFill>
                <a:latin typeface="Bookman Old Style"/>
                <a:ea typeface="Bookman Old Style"/>
                <a:cs typeface="Bookman Old Style"/>
                <a:sym typeface="Bookman Old Style"/>
              </a:rPr>
              <a:t>f</a:t>
            </a:r>
            <a:r>
              <a:rPr lang="ru-RU" sz="2100">
                <a:solidFill>
                  <a:srgbClr val="000000"/>
                </a:solidFill>
                <a:latin typeface="Bookman Old Style"/>
                <a:ea typeface="Bookman Old Style"/>
                <a:cs typeface="Bookman Old Style"/>
                <a:sym typeface="Bookman Old Style"/>
              </a:rPr>
              <a:t>. Потенциальный </a:t>
            </a:r>
            <a:r>
              <a:rPr b="1" i="1" lang="ru-RU" sz="2100">
                <a:solidFill>
                  <a:srgbClr val="0070C0"/>
                </a:solidFill>
                <a:latin typeface="Bookman Old Style"/>
                <a:ea typeface="Bookman Old Style"/>
                <a:cs typeface="Bookman Old Style"/>
                <a:sym typeface="Bookman Old Style"/>
              </a:rPr>
              <a:t>недостаток параметрического подхода </a:t>
            </a:r>
            <a:r>
              <a:rPr lang="ru-RU" sz="2100">
                <a:solidFill>
                  <a:srgbClr val="000000"/>
                </a:solidFill>
                <a:latin typeface="Bookman Old Style"/>
                <a:ea typeface="Bookman Old Style"/>
                <a:cs typeface="Bookman Old Style"/>
                <a:sym typeface="Bookman Old Style"/>
              </a:rPr>
              <a:t>заключается в том, что выбираемая нами модель обычно не будет совпадать с истинной неизвестной формой </a:t>
            </a:r>
            <a:r>
              <a:rPr b="1" i="1" lang="ru-RU" sz="2100">
                <a:solidFill>
                  <a:srgbClr val="000000"/>
                </a:solidFill>
                <a:latin typeface="Bookman Old Style"/>
                <a:ea typeface="Bookman Old Style"/>
                <a:cs typeface="Bookman Old Style"/>
                <a:sym typeface="Bookman Old Style"/>
              </a:rPr>
              <a:t>f</a:t>
            </a:r>
            <a:r>
              <a:rPr lang="ru-RU" sz="2100">
                <a:solidFill>
                  <a:srgbClr val="000000"/>
                </a:solidFill>
                <a:latin typeface="Bookman Old Style"/>
                <a:ea typeface="Bookman Old Style"/>
                <a:cs typeface="Bookman Old Style"/>
                <a:sym typeface="Bookman Old Style"/>
              </a:rPr>
              <a:t>. </a:t>
            </a:r>
            <a:endParaRPr/>
          </a:p>
          <a:p>
            <a:pPr indent="363538" lvl="0" marL="0" marR="0" rtl="0" algn="l">
              <a:spcBef>
                <a:spcPts val="0"/>
              </a:spcBef>
              <a:spcAft>
                <a:spcPts val="0"/>
              </a:spcAft>
              <a:buNone/>
            </a:pPr>
            <a:r>
              <a:rPr lang="ru-RU" sz="2100">
                <a:solidFill>
                  <a:srgbClr val="000000"/>
                </a:solidFill>
                <a:latin typeface="Bookman Old Style"/>
                <a:ea typeface="Bookman Old Style"/>
                <a:cs typeface="Bookman Old Style"/>
                <a:sym typeface="Bookman Old Style"/>
              </a:rPr>
              <a:t>Если выбранная модель слишком отличается от истинной, то наша оценка </a:t>
            </a:r>
            <a:r>
              <a:rPr b="1" i="1" lang="ru-RU" sz="2100">
                <a:solidFill>
                  <a:srgbClr val="000000"/>
                </a:solidFill>
                <a:latin typeface="Bookman Old Style"/>
                <a:ea typeface="Bookman Old Style"/>
                <a:cs typeface="Bookman Old Style"/>
                <a:sym typeface="Bookman Old Style"/>
              </a:rPr>
              <a:t>f</a:t>
            </a:r>
            <a:r>
              <a:rPr lang="ru-RU" sz="2100">
                <a:solidFill>
                  <a:srgbClr val="000000"/>
                </a:solidFill>
                <a:latin typeface="Bookman Old Style"/>
                <a:ea typeface="Bookman Old Style"/>
                <a:cs typeface="Bookman Old Style"/>
                <a:sym typeface="Bookman Old Style"/>
              </a:rPr>
              <a:t>  будет плохой. Тогда мы можем попытаться решить эту проблему, выбрав гибкие модели, которые способны описать многие из возможных функциональных форм </a:t>
            </a:r>
            <a:r>
              <a:rPr b="1" i="1" lang="ru-RU" sz="2100">
                <a:solidFill>
                  <a:srgbClr val="000000"/>
                </a:solidFill>
                <a:latin typeface="Bookman Old Style"/>
                <a:ea typeface="Bookman Old Style"/>
                <a:cs typeface="Bookman Old Style"/>
                <a:sym typeface="Bookman Old Style"/>
              </a:rPr>
              <a:t>f</a:t>
            </a:r>
            <a:r>
              <a:rPr lang="ru-RU" sz="2100">
                <a:solidFill>
                  <a:srgbClr val="000000"/>
                </a:solidFill>
                <a:latin typeface="Bookman Old Style"/>
                <a:ea typeface="Bookman Old Style"/>
                <a:cs typeface="Bookman Old Style"/>
                <a:sym typeface="Bookman Old Style"/>
              </a:rPr>
              <a:t>.  В целом, однако, подгонка более гибкой модели требует оценивания б</a:t>
            </a:r>
            <a:r>
              <a:rPr b="1" i="1" lang="ru-RU" sz="2100">
                <a:solidFill>
                  <a:srgbClr val="000000"/>
                </a:solidFill>
                <a:latin typeface="Bookman Old Style"/>
                <a:ea typeface="Bookman Old Style"/>
                <a:cs typeface="Bookman Old Style"/>
                <a:sym typeface="Bookman Old Style"/>
              </a:rPr>
              <a:t>о</a:t>
            </a:r>
            <a:r>
              <a:rPr lang="ru-RU" sz="2100">
                <a:solidFill>
                  <a:srgbClr val="000000"/>
                </a:solidFill>
                <a:latin typeface="Bookman Old Style"/>
                <a:ea typeface="Bookman Old Style"/>
                <a:cs typeface="Bookman Old Style"/>
                <a:sym typeface="Bookman Old Style"/>
              </a:rPr>
              <a:t>льшего числа параметров. Такие более сложные модели могут приводить к явлению, известному как </a:t>
            </a:r>
            <a:r>
              <a:rPr b="1" i="1" lang="ru-RU" sz="2100">
                <a:solidFill>
                  <a:srgbClr val="0070C0"/>
                </a:solidFill>
                <a:latin typeface="Bookman Old Style"/>
                <a:ea typeface="Bookman Old Style"/>
                <a:cs typeface="Bookman Old Style"/>
                <a:sym typeface="Bookman Old Style"/>
              </a:rPr>
              <a:t>переобучение</a:t>
            </a:r>
            <a:r>
              <a:rPr lang="ru-RU" sz="2100">
                <a:solidFill>
                  <a:srgbClr val="000000"/>
                </a:solidFill>
                <a:latin typeface="Bookman Old Style"/>
                <a:ea typeface="Bookman Old Style"/>
                <a:cs typeface="Bookman Old Style"/>
                <a:sym typeface="Bookman Old Style"/>
              </a:rPr>
              <a:t>, которое, в сущности, означает то, что эти модели начинают слишком близко аппроксимировать ошибки, или шум, в данных. </a:t>
            </a:r>
            <a:endParaRPr/>
          </a:p>
        </p:txBody>
      </p:sp>
      <p:sp>
        <p:nvSpPr>
          <p:cNvPr id="692" name="Google Shape;692;p45"/>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46"/>
          <p:cNvSpPr/>
          <p:nvPr/>
        </p:nvSpPr>
        <p:spPr>
          <a:xfrm>
            <a:off x="242888" y="322262"/>
            <a:ext cx="9791700" cy="6625257"/>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698" name="Google Shape;698;p46"/>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699" name="Google Shape;699;p46"/>
          <p:cNvSpPr/>
          <p:nvPr/>
        </p:nvSpPr>
        <p:spPr>
          <a:xfrm>
            <a:off x="818257" y="394792"/>
            <a:ext cx="8604957" cy="661947"/>
          </a:xfrm>
          <a:prstGeom prst="roundRect">
            <a:avLst>
              <a:gd fmla="val 45749" name="adj"/>
            </a:avLst>
          </a:prstGeom>
          <a:solidFill>
            <a:srgbClr val="FFFFFF">
              <a:alpha val="52549"/>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ru-RU" sz="2800">
                <a:solidFill>
                  <a:schemeClr val="dk1"/>
                </a:solidFill>
                <a:latin typeface="Arial"/>
                <a:ea typeface="Arial"/>
                <a:cs typeface="Arial"/>
                <a:sym typeface="Arial"/>
              </a:rPr>
              <a:t>Задачи Data Mining</a:t>
            </a:r>
            <a:endParaRPr b="1" sz="2800">
              <a:solidFill>
                <a:schemeClr val="dk1"/>
              </a:solidFill>
              <a:latin typeface="Arial"/>
              <a:ea typeface="Arial"/>
              <a:cs typeface="Arial"/>
              <a:sym typeface="Arial"/>
            </a:endParaRPr>
          </a:p>
        </p:txBody>
      </p:sp>
      <p:sp>
        <p:nvSpPr>
          <p:cNvPr id="700" name="Google Shape;700;p46"/>
          <p:cNvSpPr/>
          <p:nvPr/>
        </p:nvSpPr>
        <p:spPr>
          <a:xfrm>
            <a:off x="245332" y="1140036"/>
            <a:ext cx="9789256" cy="56889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ru-RU" sz="2400">
                <a:solidFill>
                  <a:srgbClr val="0B769C"/>
                </a:solidFill>
                <a:latin typeface="Arial"/>
                <a:ea typeface="Arial"/>
                <a:cs typeface="Arial"/>
                <a:sym typeface="Arial"/>
              </a:rPr>
              <a:t>Параметрические методы (пример)</a:t>
            </a:r>
            <a:endParaRPr sz="2400">
              <a:solidFill>
                <a:schemeClr val="dk1"/>
              </a:solidFill>
              <a:latin typeface="Calibri"/>
              <a:ea typeface="Calibri"/>
              <a:cs typeface="Calibri"/>
              <a:sym typeface="Calibri"/>
            </a:endParaRPr>
          </a:p>
        </p:txBody>
      </p:sp>
      <p:sp>
        <p:nvSpPr>
          <p:cNvPr id="701" name="Google Shape;701;p46"/>
          <p:cNvSpPr txBox="1"/>
          <p:nvPr/>
        </p:nvSpPr>
        <p:spPr>
          <a:xfrm>
            <a:off x="2442868" y="5825385"/>
            <a:ext cx="5634626" cy="9951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200">
              <a:solidFill>
                <a:srgbClr val="000000"/>
              </a:solidFill>
              <a:latin typeface="Bookman Old Style"/>
              <a:ea typeface="Bookman Old Style"/>
              <a:cs typeface="Bookman Old Style"/>
              <a:sym typeface="Bookman Old Style"/>
            </a:endParaRPr>
          </a:p>
          <a:p>
            <a:pPr indent="0" lvl="0" marL="0" marR="0" rtl="0" algn="ctr">
              <a:spcBef>
                <a:spcPts val="0"/>
              </a:spcBef>
              <a:spcAft>
                <a:spcPts val="0"/>
              </a:spcAft>
              <a:buNone/>
            </a:pPr>
            <a:r>
              <a:rPr lang="ru-RU" sz="2200">
                <a:solidFill>
                  <a:srgbClr val="000000"/>
                </a:solidFill>
                <a:latin typeface="Bookman Old Style"/>
                <a:ea typeface="Bookman Old Style"/>
                <a:cs typeface="Bookman Old Style"/>
                <a:sym typeface="Bookman Old Style"/>
              </a:rPr>
              <a:t>income ≈ </a:t>
            </a:r>
            <a:r>
              <a:rPr i="1" lang="ru-RU" sz="2200">
                <a:solidFill>
                  <a:srgbClr val="000000"/>
                </a:solidFill>
                <a:latin typeface="Bookman Old Style"/>
                <a:ea typeface="Bookman Old Style"/>
                <a:cs typeface="Bookman Old Style"/>
                <a:sym typeface="Bookman Old Style"/>
              </a:rPr>
              <a:t>β</a:t>
            </a:r>
            <a:r>
              <a:rPr baseline="-25000" i="1" lang="ru-RU" sz="2200">
                <a:solidFill>
                  <a:srgbClr val="000000"/>
                </a:solidFill>
                <a:latin typeface="Bookman Old Style"/>
                <a:ea typeface="Bookman Old Style"/>
                <a:cs typeface="Bookman Old Style"/>
                <a:sym typeface="Bookman Old Style"/>
              </a:rPr>
              <a:t>0</a:t>
            </a:r>
            <a:r>
              <a:rPr i="1" lang="ru-RU" sz="2200">
                <a:solidFill>
                  <a:srgbClr val="000000"/>
                </a:solidFill>
                <a:latin typeface="Bookman Old Style"/>
                <a:ea typeface="Bookman Old Style"/>
                <a:cs typeface="Bookman Old Style"/>
                <a:sym typeface="Bookman Old Style"/>
              </a:rPr>
              <a:t>+β</a:t>
            </a:r>
            <a:r>
              <a:rPr baseline="-25000" i="1" lang="ru-RU" sz="2200">
                <a:solidFill>
                  <a:srgbClr val="000000"/>
                </a:solidFill>
                <a:latin typeface="Bookman Old Style"/>
                <a:ea typeface="Bookman Old Style"/>
                <a:cs typeface="Bookman Old Style"/>
                <a:sym typeface="Bookman Old Style"/>
              </a:rPr>
              <a:t>1</a:t>
            </a:r>
            <a:r>
              <a:rPr i="1" lang="ru-RU" sz="2200">
                <a:solidFill>
                  <a:srgbClr val="000000"/>
                </a:solidFill>
                <a:latin typeface="Bookman Old Style"/>
                <a:ea typeface="Bookman Old Style"/>
                <a:cs typeface="Bookman Old Style"/>
                <a:sym typeface="Bookman Old Style"/>
              </a:rPr>
              <a:t>education +β</a:t>
            </a:r>
            <a:r>
              <a:rPr baseline="-25000" i="1" lang="ru-RU" sz="2200">
                <a:solidFill>
                  <a:srgbClr val="000000"/>
                </a:solidFill>
                <a:latin typeface="Bookman Old Style"/>
                <a:ea typeface="Bookman Old Style"/>
                <a:cs typeface="Bookman Old Style"/>
                <a:sym typeface="Bookman Old Style"/>
              </a:rPr>
              <a:t>2</a:t>
            </a:r>
            <a:r>
              <a:rPr i="1" lang="ru-RU" sz="2200">
                <a:solidFill>
                  <a:srgbClr val="000000"/>
                </a:solidFill>
                <a:latin typeface="Bookman Old Style"/>
                <a:ea typeface="Bookman Old Style"/>
                <a:cs typeface="Bookman Old Style"/>
                <a:sym typeface="Bookman Old Style"/>
              </a:rPr>
              <a:t>seniority</a:t>
            </a:r>
            <a:endParaRPr baseline="-25000" i="1" sz="2200">
              <a:solidFill>
                <a:srgbClr val="000000"/>
              </a:solidFill>
              <a:latin typeface="Bookman Old Style"/>
              <a:ea typeface="Bookman Old Style"/>
              <a:cs typeface="Bookman Old Style"/>
              <a:sym typeface="Bookman Old Style"/>
            </a:endParaRPr>
          </a:p>
          <a:p>
            <a:pPr indent="0" lvl="0" marL="0" marR="0" rtl="0" algn="ctr">
              <a:spcBef>
                <a:spcPts val="0"/>
              </a:spcBef>
              <a:spcAft>
                <a:spcPts val="0"/>
              </a:spcAft>
              <a:buNone/>
            </a:pPr>
            <a:r>
              <a:t/>
            </a:r>
            <a:endParaRPr baseline="-25000" i="1" sz="2200">
              <a:solidFill>
                <a:srgbClr val="000000"/>
              </a:solidFill>
              <a:latin typeface="Bookman Old Style"/>
              <a:ea typeface="Bookman Old Style"/>
              <a:cs typeface="Bookman Old Style"/>
              <a:sym typeface="Bookman Old Style"/>
            </a:endParaRPr>
          </a:p>
        </p:txBody>
      </p:sp>
      <p:pic>
        <p:nvPicPr>
          <p:cNvPr id="702" name="Google Shape;702;p46"/>
          <p:cNvPicPr preferRelativeResize="0"/>
          <p:nvPr/>
        </p:nvPicPr>
        <p:blipFill rotWithShape="1">
          <a:blip r:embed="rId3">
            <a:alphaModFix/>
          </a:blip>
          <a:srcRect b="0" l="0" r="0" t="0"/>
          <a:stretch/>
        </p:blipFill>
        <p:spPr>
          <a:xfrm>
            <a:off x="5426769" y="1671547"/>
            <a:ext cx="3672408" cy="2919979"/>
          </a:xfrm>
          <a:prstGeom prst="rect">
            <a:avLst/>
          </a:prstGeom>
          <a:noFill/>
          <a:ln>
            <a:noFill/>
          </a:ln>
        </p:spPr>
      </p:pic>
      <p:sp>
        <p:nvSpPr>
          <p:cNvPr id="703" name="Google Shape;703;p46"/>
          <p:cNvSpPr/>
          <p:nvPr/>
        </p:nvSpPr>
        <p:spPr>
          <a:xfrm>
            <a:off x="558584" y="4554145"/>
            <a:ext cx="9459218" cy="144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200">
                <a:solidFill>
                  <a:srgbClr val="000000"/>
                </a:solidFill>
                <a:latin typeface="Bookman Old Style"/>
                <a:ea typeface="Bookman Old Style"/>
                <a:cs typeface="Bookman Old Style"/>
                <a:sym typeface="Bookman Old Style"/>
              </a:rPr>
              <a:t>Рис.4. Линейная модель, подогнанная по методу наименьших квадратов к данным Income (рис. 3). Выборочные значения представлены точками красного цвета, а желтая плоскость показывает подогнанную к данным линейную модель.</a:t>
            </a:r>
            <a:endParaRPr sz="2200">
              <a:solidFill>
                <a:schemeClr val="dk1"/>
              </a:solidFill>
              <a:latin typeface="Arial"/>
              <a:ea typeface="Arial"/>
              <a:cs typeface="Arial"/>
              <a:sym typeface="Arial"/>
            </a:endParaRPr>
          </a:p>
        </p:txBody>
      </p:sp>
      <p:pic>
        <p:nvPicPr>
          <p:cNvPr id="704" name="Google Shape;704;p46"/>
          <p:cNvPicPr preferRelativeResize="0"/>
          <p:nvPr/>
        </p:nvPicPr>
        <p:blipFill rotWithShape="1">
          <a:blip r:embed="rId4">
            <a:alphaModFix/>
          </a:blip>
          <a:srcRect b="0" l="0" r="0" t="0"/>
          <a:stretch/>
        </p:blipFill>
        <p:spPr>
          <a:xfrm>
            <a:off x="762874" y="1708927"/>
            <a:ext cx="3530562" cy="2845218"/>
          </a:xfrm>
          <a:prstGeom prst="rect">
            <a:avLst/>
          </a:prstGeom>
          <a:noFill/>
          <a:ln>
            <a:noFill/>
          </a:ln>
        </p:spPr>
      </p:pic>
      <p:sp>
        <p:nvSpPr>
          <p:cNvPr id="705" name="Google Shape;705;p46"/>
          <p:cNvSpPr/>
          <p:nvPr/>
        </p:nvSpPr>
        <p:spPr>
          <a:xfrm>
            <a:off x="4562673" y="2915072"/>
            <a:ext cx="576064" cy="432048"/>
          </a:xfrm>
          <a:prstGeom prst="rightArrow">
            <a:avLst>
              <a:gd fmla="val 50000" name="adj1"/>
              <a:gd fmla="val 50000" name="adj2"/>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06" name="Google Shape;706;p46"/>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47"/>
          <p:cNvSpPr/>
          <p:nvPr/>
        </p:nvSpPr>
        <p:spPr>
          <a:xfrm>
            <a:off x="242888" y="322262"/>
            <a:ext cx="9791700" cy="6625257"/>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712" name="Google Shape;712;p47"/>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713" name="Google Shape;713;p47"/>
          <p:cNvSpPr/>
          <p:nvPr/>
        </p:nvSpPr>
        <p:spPr>
          <a:xfrm>
            <a:off x="818257" y="394792"/>
            <a:ext cx="8604957" cy="661947"/>
          </a:xfrm>
          <a:prstGeom prst="roundRect">
            <a:avLst>
              <a:gd fmla="val 45749" name="adj"/>
            </a:avLst>
          </a:prstGeom>
          <a:solidFill>
            <a:srgbClr val="FFFFFF">
              <a:alpha val="52549"/>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ru-RU" sz="2800">
                <a:solidFill>
                  <a:schemeClr val="dk1"/>
                </a:solidFill>
                <a:latin typeface="Arial"/>
                <a:ea typeface="Arial"/>
                <a:cs typeface="Arial"/>
                <a:sym typeface="Arial"/>
              </a:rPr>
              <a:t>Задачи Data Mining</a:t>
            </a:r>
            <a:endParaRPr b="1" sz="2800">
              <a:solidFill>
                <a:schemeClr val="dk1"/>
              </a:solidFill>
              <a:latin typeface="Arial"/>
              <a:ea typeface="Arial"/>
              <a:cs typeface="Arial"/>
              <a:sym typeface="Arial"/>
            </a:endParaRPr>
          </a:p>
        </p:txBody>
      </p:sp>
      <p:sp>
        <p:nvSpPr>
          <p:cNvPr id="714" name="Google Shape;714;p47"/>
          <p:cNvSpPr/>
          <p:nvPr/>
        </p:nvSpPr>
        <p:spPr>
          <a:xfrm>
            <a:off x="242888" y="1053894"/>
            <a:ext cx="5037421" cy="41440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ru-RU" sz="2400">
                <a:solidFill>
                  <a:srgbClr val="0B769C"/>
                </a:solidFill>
                <a:latin typeface="Arial"/>
                <a:ea typeface="Arial"/>
                <a:cs typeface="Arial"/>
                <a:sym typeface="Arial"/>
              </a:rPr>
              <a:t>Непараметрические методы </a:t>
            </a:r>
            <a:endParaRPr/>
          </a:p>
        </p:txBody>
      </p:sp>
      <p:sp>
        <p:nvSpPr>
          <p:cNvPr id="715" name="Google Shape;715;p47"/>
          <p:cNvSpPr txBox="1"/>
          <p:nvPr/>
        </p:nvSpPr>
        <p:spPr>
          <a:xfrm>
            <a:off x="359683" y="1468303"/>
            <a:ext cx="9800996" cy="5170646"/>
          </a:xfrm>
          <a:prstGeom prst="rect">
            <a:avLst/>
          </a:prstGeom>
          <a:noFill/>
          <a:ln>
            <a:noFill/>
          </a:ln>
        </p:spPr>
        <p:txBody>
          <a:bodyPr anchorCtr="0" anchor="t" bIns="45700" lIns="91425" spcFirstLastPara="1" rIns="91425" wrap="square" tIns="45700">
            <a:spAutoFit/>
          </a:bodyPr>
          <a:lstStyle/>
          <a:p>
            <a:pPr indent="536575" lvl="0" marL="0" marR="0" rtl="0" algn="l">
              <a:spcBef>
                <a:spcPts val="0"/>
              </a:spcBef>
              <a:spcAft>
                <a:spcPts val="0"/>
              </a:spcAft>
              <a:buNone/>
            </a:pPr>
            <a:r>
              <a:rPr lang="ru-RU" sz="2200">
                <a:solidFill>
                  <a:srgbClr val="000000"/>
                </a:solidFill>
                <a:latin typeface="Bookman Old Style"/>
                <a:ea typeface="Bookman Old Style"/>
                <a:cs typeface="Bookman Old Style"/>
                <a:sym typeface="Bookman Old Style"/>
              </a:rPr>
              <a:t>Непараметрические методы не делают явных предположений в отношении функциональной формы </a:t>
            </a:r>
            <a:r>
              <a:rPr b="1" i="1" lang="ru-RU" sz="2200">
                <a:solidFill>
                  <a:srgbClr val="000000"/>
                </a:solidFill>
                <a:latin typeface="Bookman Old Style"/>
                <a:ea typeface="Bookman Old Style"/>
                <a:cs typeface="Bookman Old Style"/>
                <a:sym typeface="Bookman Old Style"/>
              </a:rPr>
              <a:t>f</a:t>
            </a:r>
            <a:r>
              <a:rPr lang="ru-RU" sz="2200">
                <a:solidFill>
                  <a:srgbClr val="000000"/>
                </a:solidFill>
                <a:latin typeface="Bookman Old Style"/>
                <a:ea typeface="Bookman Old Style"/>
                <a:cs typeface="Bookman Old Style"/>
                <a:sym typeface="Bookman Old Style"/>
              </a:rPr>
              <a:t>. Вместо этого они выполняют поиск такой оценки </a:t>
            </a:r>
            <a:r>
              <a:rPr b="1" i="1" lang="ru-RU" sz="2200">
                <a:solidFill>
                  <a:srgbClr val="000000"/>
                </a:solidFill>
                <a:latin typeface="Bookman Old Style"/>
                <a:ea typeface="Bookman Old Style"/>
                <a:cs typeface="Bookman Old Style"/>
                <a:sym typeface="Bookman Old Style"/>
              </a:rPr>
              <a:t>f</a:t>
            </a:r>
            <a:r>
              <a:rPr lang="ru-RU" sz="2200">
                <a:solidFill>
                  <a:srgbClr val="000000"/>
                </a:solidFill>
                <a:latin typeface="Bookman Old Style"/>
                <a:ea typeface="Bookman Old Style"/>
                <a:cs typeface="Bookman Old Style"/>
                <a:sym typeface="Bookman Old Style"/>
              </a:rPr>
              <a:t>, которая приближается к данным максимально близко, не будучи при этом слишком грубой или слишком извилистой. </a:t>
            </a:r>
            <a:endParaRPr/>
          </a:p>
          <a:p>
            <a:pPr indent="536575" lvl="0" marL="0" marR="0" rtl="0" algn="l">
              <a:spcBef>
                <a:spcPts val="0"/>
              </a:spcBef>
              <a:spcAft>
                <a:spcPts val="0"/>
              </a:spcAft>
              <a:buNone/>
            </a:pPr>
            <a:r>
              <a:rPr lang="ru-RU" sz="2200">
                <a:solidFill>
                  <a:srgbClr val="000000"/>
                </a:solidFill>
                <a:latin typeface="Bookman Old Style"/>
                <a:ea typeface="Bookman Old Style"/>
                <a:cs typeface="Bookman Old Style"/>
                <a:sym typeface="Bookman Old Style"/>
              </a:rPr>
              <a:t>Такие подходы могут иметь существенное преимущество по сравнению с параметрическим методами: избегая предположения о конкретной функциональной форме </a:t>
            </a:r>
            <a:r>
              <a:rPr b="1" i="1" lang="ru-RU" sz="2200">
                <a:solidFill>
                  <a:srgbClr val="000000"/>
                </a:solidFill>
                <a:latin typeface="Bookman Old Style"/>
                <a:ea typeface="Bookman Old Style"/>
                <a:cs typeface="Bookman Old Style"/>
                <a:sym typeface="Bookman Old Style"/>
              </a:rPr>
              <a:t>f</a:t>
            </a:r>
            <a:r>
              <a:rPr lang="ru-RU" sz="2200">
                <a:solidFill>
                  <a:srgbClr val="000000"/>
                </a:solidFill>
                <a:latin typeface="Bookman Old Style"/>
                <a:ea typeface="Bookman Old Style"/>
                <a:cs typeface="Bookman Old Style"/>
                <a:sym typeface="Bookman Old Style"/>
              </a:rPr>
              <a:t>, они способны точно описать более широкий ряд возможных форм </a:t>
            </a:r>
            <a:r>
              <a:rPr b="1" i="1" lang="ru-RU" sz="2200">
                <a:solidFill>
                  <a:srgbClr val="000000"/>
                </a:solidFill>
                <a:latin typeface="Bookman Old Style"/>
                <a:ea typeface="Bookman Old Style"/>
                <a:cs typeface="Bookman Old Style"/>
                <a:sym typeface="Bookman Old Style"/>
              </a:rPr>
              <a:t>f</a:t>
            </a:r>
            <a:r>
              <a:rPr lang="ru-RU" sz="2200">
                <a:solidFill>
                  <a:srgbClr val="000000"/>
                </a:solidFill>
                <a:latin typeface="Bookman Old Style"/>
                <a:ea typeface="Bookman Old Style"/>
                <a:cs typeface="Bookman Old Style"/>
                <a:sym typeface="Bookman Old Style"/>
              </a:rPr>
              <a:t>. Любой параметри-ческий подход предполагает возможность того, что используемая для оценивания </a:t>
            </a:r>
            <a:r>
              <a:rPr b="1" i="1" lang="ru-RU" sz="2200">
                <a:solidFill>
                  <a:srgbClr val="000000"/>
                </a:solidFill>
                <a:latin typeface="Bookman Old Style"/>
                <a:ea typeface="Bookman Old Style"/>
                <a:cs typeface="Bookman Old Style"/>
                <a:sym typeface="Bookman Old Style"/>
              </a:rPr>
              <a:t>f</a:t>
            </a:r>
            <a:r>
              <a:rPr lang="ru-RU" sz="2200">
                <a:solidFill>
                  <a:srgbClr val="000000"/>
                </a:solidFill>
                <a:latin typeface="Bookman Old Style"/>
                <a:ea typeface="Bookman Old Style"/>
                <a:cs typeface="Bookman Old Style"/>
                <a:sym typeface="Bookman Old Style"/>
              </a:rPr>
              <a:t> функциональная форма значительно отличается от истинной функции, вследствие чего итоговая модель будет плохо описывать данные. В то же время непараметрические методы полностью уходят от этой опасности, поскольку, по сути, не делается никакого предположения о форме </a:t>
            </a:r>
            <a:r>
              <a:rPr b="1" i="1" lang="ru-RU" sz="2200">
                <a:solidFill>
                  <a:srgbClr val="000000"/>
                </a:solidFill>
                <a:latin typeface="Bookman Old Style"/>
                <a:ea typeface="Bookman Old Style"/>
                <a:cs typeface="Bookman Old Style"/>
                <a:sym typeface="Bookman Old Style"/>
              </a:rPr>
              <a:t>f</a:t>
            </a:r>
            <a:r>
              <a:rPr lang="ru-RU" sz="2200">
                <a:solidFill>
                  <a:srgbClr val="000000"/>
                </a:solidFill>
                <a:latin typeface="Bookman Old Style"/>
                <a:ea typeface="Bookman Old Style"/>
                <a:cs typeface="Bookman Old Style"/>
                <a:sym typeface="Bookman Old Style"/>
              </a:rPr>
              <a:t>. </a:t>
            </a:r>
            <a:endParaRPr/>
          </a:p>
        </p:txBody>
      </p:sp>
      <p:sp>
        <p:nvSpPr>
          <p:cNvPr id="716" name="Google Shape;716;p47"/>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48"/>
          <p:cNvSpPr/>
          <p:nvPr/>
        </p:nvSpPr>
        <p:spPr>
          <a:xfrm>
            <a:off x="242888" y="322262"/>
            <a:ext cx="9791700" cy="6625257"/>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722" name="Google Shape;722;p48"/>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723" name="Google Shape;723;p48"/>
          <p:cNvSpPr/>
          <p:nvPr/>
        </p:nvSpPr>
        <p:spPr>
          <a:xfrm>
            <a:off x="818257" y="394792"/>
            <a:ext cx="8604957" cy="661947"/>
          </a:xfrm>
          <a:prstGeom prst="roundRect">
            <a:avLst>
              <a:gd fmla="val 45749" name="adj"/>
            </a:avLst>
          </a:prstGeom>
          <a:solidFill>
            <a:srgbClr val="FFFFFF">
              <a:alpha val="52549"/>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ru-RU" sz="2800">
                <a:solidFill>
                  <a:schemeClr val="dk1"/>
                </a:solidFill>
                <a:latin typeface="Arial"/>
                <a:ea typeface="Arial"/>
                <a:cs typeface="Arial"/>
                <a:sym typeface="Arial"/>
              </a:rPr>
              <a:t>Задачи Data Mining</a:t>
            </a:r>
            <a:endParaRPr b="1" sz="2800">
              <a:solidFill>
                <a:schemeClr val="dk1"/>
              </a:solidFill>
              <a:latin typeface="Arial"/>
              <a:ea typeface="Arial"/>
              <a:cs typeface="Arial"/>
              <a:sym typeface="Arial"/>
            </a:endParaRPr>
          </a:p>
        </p:txBody>
      </p:sp>
      <p:sp>
        <p:nvSpPr>
          <p:cNvPr id="724" name="Google Shape;724;p48"/>
          <p:cNvSpPr/>
          <p:nvPr/>
        </p:nvSpPr>
        <p:spPr>
          <a:xfrm>
            <a:off x="245332" y="1140036"/>
            <a:ext cx="5037421" cy="41440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ru-RU" sz="2000">
                <a:solidFill>
                  <a:srgbClr val="0B769C"/>
                </a:solidFill>
                <a:latin typeface="Arial"/>
                <a:ea typeface="Arial"/>
                <a:cs typeface="Arial"/>
                <a:sym typeface="Arial"/>
              </a:rPr>
              <a:t>Непараметрические методы </a:t>
            </a:r>
            <a:endParaRPr/>
          </a:p>
        </p:txBody>
      </p:sp>
      <p:sp>
        <p:nvSpPr>
          <p:cNvPr id="725" name="Google Shape;725;p48"/>
          <p:cNvSpPr txBox="1"/>
          <p:nvPr/>
        </p:nvSpPr>
        <p:spPr>
          <a:xfrm>
            <a:off x="337033" y="1573326"/>
            <a:ext cx="9567404" cy="1708160"/>
          </a:xfrm>
          <a:prstGeom prst="rect">
            <a:avLst/>
          </a:prstGeom>
          <a:noFill/>
          <a:ln>
            <a:noFill/>
          </a:ln>
        </p:spPr>
        <p:txBody>
          <a:bodyPr anchorCtr="0" anchor="t" bIns="45700" lIns="91425" spcFirstLastPara="1" rIns="91425" wrap="square" tIns="45700">
            <a:spAutoFit/>
          </a:bodyPr>
          <a:lstStyle/>
          <a:p>
            <a:pPr indent="536575" lvl="0" marL="0" marR="0" rtl="0" algn="l">
              <a:spcBef>
                <a:spcPts val="0"/>
              </a:spcBef>
              <a:spcAft>
                <a:spcPts val="0"/>
              </a:spcAft>
              <a:buNone/>
            </a:pPr>
            <a:r>
              <a:rPr lang="ru-RU" sz="2100">
                <a:solidFill>
                  <a:srgbClr val="000000"/>
                </a:solidFill>
                <a:latin typeface="Bookman Old Style"/>
                <a:ea typeface="Bookman Old Style"/>
                <a:cs typeface="Bookman Old Style"/>
                <a:sym typeface="Bookman Old Style"/>
              </a:rPr>
              <a:t>Однако непараметрические методы страдают </a:t>
            </a:r>
            <a:r>
              <a:rPr b="1" i="1" lang="ru-RU" sz="2100">
                <a:solidFill>
                  <a:srgbClr val="0070C0"/>
                </a:solidFill>
                <a:latin typeface="Bookman Old Style"/>
                <a:ea typeface="Bookman Old Style"/>
                <a:cs typeface="Bookman Old Style"/>
                <a:sym typeface="Bookman Old Style"/>
              </a:rPr>
              <a:t>существенным недостатком</a:t>
            </a:r>
            <a:r>
              <a:rPr lang="ru-RU" sz="2100">
                <a:solidFill>
                  <a:srgbClr val="000000"/>
                </a:solidFill>
                <a:latin typeface="Bookman Old Style"/>
                <a:ea typeface="Bookman Old Style"/>
                <a:cs typeface="Bookman Old Style"/>
                <a:sym typeface="Bookman Old Style"/>
              </a:rPr>
              <a:t>: поскольку они не сводят проблему оценивания </a:t>
            </a:r>
            <a:r>
              <a:rPr b="1" i="1" lang="ru-RU" sz="2100">
                <a:solidFill>
                  <a:srgbClr val="000000"/>
                </a:solidFill>
                <a:latin typeface="Bookman Old Style"/>
                <a:ea typeface="Bookman Old Style"/>
                <a:cs typeface="Bookman Old Style"/>
                <a:sym typeface="Bookman Old Style"/>
              </a:rPr>
              <a:t>f</a:t>
            </a:r>
            <a:r>
              <a:rPr lang="ru-RU" sz="2100">
                <a:solidFill>
                  <a:srgbClr val="000000"/>
                </a:solidFill>
                <a:latin typeface="Bookman Old Style"/>
                <a:ea typeface="Bookman Old Style"/>
                <a:cs typeface="Bookman Old Style"/>
                <a:sym typeface="Bookman Old Style"/>
              </a:rPr>
              <a:t> к ограниченному набору параметров, то для получения точной оценки </a:t>
            </a:r>
            <a:r>
              <a:rPr b="1" i="1" lang="ru-RU" sz="2100">
                <a:solidFill>
                  <a:srgbClr val="000000"/>
                </a:solidFill>
                <a:latin typeface="Bookman Old Style"/>
                <a:ea typeface="Bookman Old Style"/>
                <a:cs typeface="Bookman Old Style"/>
                <a:sym typeface="Bookman Old Style"/>
              </a:rPr>
              <a:t>f</a:t>
            </a:r>
            <a:r>
              <a:rPr lang="ru-RU" sz="2100">
                <a:solidFill>
                  <a:srgbClr val="000000"/>
                </a:solidFill>
                <a:latin typeface="Bookman Old Style"/>
                <a:ea typeface="Bookman Old Style"/>
                <a:cs typeface="Bookman Old Style"/>
                <a:sym typeface="Bookman Old Style"/>
              </a:rPr>
              <a:t> требуется очень большое число наблюдений (намного больше, чем обычно необходимо для какого-либо параметрического метода).</a:t>
            </a:r>
            <a:endParaRPr/>
          </a:p>
        </p:txBody>
      </p:sp>
      <p:pic>
        <p:nvPicPr>
          <p:cNvPr id="726" name="Google Shape;726;p48"/>
          <p:cNvPicPr preferRelativeResize="0"/>
          <p:nvPr/>
        </p:nvPicPr>
        <p:blipFill rotWithShape="1">
          <a:blip r:embed="rId3">
            <a:alphaModFix/>
          </a:blip>
          <a:srcRect b="0" l="0" r="0" t="0"/>
          <a:stretch/>
        </p:blipFill>
        <p:spPr>
          <a:xfrm>
            <a:off x="688318" y="3310193"/>
            <a:ext cx="4043089" cy="3224845"/>
          </a:xfrm>
          <a:prstGeom prst="rect">
            <a:avLst/>
          </a:prstGeom>
          <a:noFill/>
          <a:ln>
            <a:noFill/>
          </a:ln>
        </p:spPr>
      </p:pic>
      <p:sp>
        <p:nvSpPr>
          <p:cNvPr id="727" name="Google Shape;727;p48"/>
          <p:cNvSpPr/>
          <p:nvPr/>
        </p:nvSpPr>
        <p:spPr>
          <a:xfrm>
            <a:off x="4850705" y="5509294"/>
            <a:ext cx="3985715" cy="961610"/>
          </a:xfrm>
          <a:prstGeom prst="rect">
            <a:avLst/>
          </a:prstGeom>
          <a:noFill/>
          <a:ln>
            <a:noFill/>
          </a:ln>
        </p:spPr>
        <p:txBody>
          <a:bodyPr anchorCtr="0" anchor="t" bIns="45700" lIns="91425" spcFirstLastPara="1" rIns="91425" wrap="square" tIns="45700">
            <a:spAutoFit/>
          </a:bodyPr>
          <a:lstStyle/>
          <a:p>
            <a:pPr indent="0" lvl="0" marL="0" marR="0" rtl="0" algn="l">
              <a:lnSpc>
                <a:spcPct val="68750"/>
              </a:lnSpc>
              <a:spcBef>
                <a:spcPts val="0"/>
              </a:spcBef>
              <a:spcAft>
                <a:spcPts val="0"/>
              </a:spcAft>
              <a:buNone/>
            </a:pPr>
            <a:r>
              <a:rPr baseline="-25000" lang="ru-RU" sz="3200">
                <a:solidFill>
                  <a:srgbClr val="000000"/>
                </a:solidFill>
                <a:latin typeface="Book Antiqua"/>
                <a:ea typeface="Book Antiqua"/>
                <a:cs typeface="Book Antiqua"/>
                <a:sym typeface="Book Antiqua"/>
              </a:rPr>
              <a:t>Рис. 5. </a:t>
            </a:r>
            <a:r>
              <a:rPr baseline="-25000" i="1" lang="ru-RU" sz="3200">
                <a:solidFill>
                  <a:srgbClr val="000000"/>
                </a:solidFill>
                <a:latin typeface="Book Antiqua"/>
                <a:ea typeface="Book Antiqua"/>
                <a:cs typeface="Book Antiqua"/>
                <a:sym typeface="Book Antiqua"/>
              </a:rPr>
              <a:t>Грубый сплайн типа «тонкая пластина», подогнанный к данным</a:t>
            </a:r>
            <a:r>
              <a:rPr baseline="-25000" lang="ru-RU" sz="3200">
                <a:solidFill>
                  <a:srgbClr val="000000"/>
                </a:solidFill>
                <a:latin typeface="Book Antiqua"/>
                <a:ea typeface="Book Antiqua"/>
                <a:cs typeface="Book Antiqua"/>
                <a:sym typeface="Book Antiqua"/>
              </a:rPr>
              <a:t> </a:t>
            </a:r>
            <a:r>
              <a:rPr b="1" baseline="-25000" i="1" lang="ru-RU" sz="3200">
                <a:solidFill>
                  <a:srgbClr val="0070C0"/>
                </a:solidFill>
                <a:latin typeface="Book Antiqua"/>
                <a:ea typeface="Book Antiqua"/>
                <a:cs typeface="Book Antiqua"/>
                <a:sym typeface="Book Antiqua"/>
              </a:rPr>
              <a:t>Income</a:t>
            </a:r>
            <a:endParaRPr b="1" i="1" sz="3200">
              <a:solidFill>
                <a:srgbClr val="0070C0"/>
              </a:solidFill>
              <a:latin typeface="Arial"/>
              <a:ea typeface="Arial"/>
              <a:cs typeface="Arial"/>
              <a:sym typeface="Arial"/>
            </a:endParaRPr>
          </a:p>
        </p:txBody>
      </p:sp>
      <p:sp>
        <p:nvSpPr>
          <p:cNvPr id="728" name="Google Shape;728;p48"/>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49"/>
          <p:cNvSpPr/>
          <p:nvPr/>
        </p:nvSpPr>
        <p:spPr>
          <a:xfrm>
            <a:off x="242888" y="322262"/>
            <a:ext cx="9791700" cy="6625257"/>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734" name="Google Shape;734;p49"/>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735" name="Google Shape;735;p49"/>
          <p:cNvSpPr/>
          <p:nvPr/>
        </p:nvSpPr>
        <p:spPr>
          <a:xfrm>
            <a:off x="818257" y="394792"/>
            <a:ext cx="8604957" cy="661947"/>
          </a:xfrm>
          <a:prstGeom prst="roundRect">
            <a:avLst>
              <a:gd fmla="val 45749" name="adj"/>
            </a:avLst>
          </a:prstGeom>
          <a:solidFill>
            <a:srgbClr val="FFFFFF">
              <a:alpha val="52549"/>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ru-RU" sz="2800">
                <a:solidFill>
                  <a:schemeClr val="dk1"/>
                </a:solidFill>
                <a:latin typeface="Arial"/>
                <a:ea typeface="Arial"/>
                <a:cs typeface="Arial"/>
                <a:sym typeface="Arial"/>
              </a:rPr>
              <a:t>Задачи Data Mining</a:t>
            </a:r>
            <a:endParaRPr b="1" sz="2800">
              <a:solidFill>
                <a:schemeClr val="dk1"/>
              </a:solidFill>
              <a:latin typeface="Arial"/>
              <a:ea typeface="Arial"/>
              <a:cs typeface="Arial"/>
              <a:sym typeface="Arial"/>
            </a:endParaRPr>
          </a:p>
        </p:txBody>
      </p:sp>
      <p:sp>
        <p:nvSpPr>
          <p:cNvPr id="736" name="Google Shape;736;p49"/>
          <p:cNvSpPr/>
          <p:nvPr/>
        </p:nvSpPr>
        <p:spPr>
          <a:xfrm>
            <a:off x="818257" y="1202229"/>
            <a:ext cx="7989749" cy="69491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ru-RU" sz="2000">
                <a:solidFill>
                  <a:srgbClr val="0B769C"/>
                </a:solidFill>
                <a:latin typeface="Arial"/>
                <a:ea typeface="Arial"/>
                <a:cs typeface="Arial"/>
                <a:sym typeface="Arial"/>
              </a:rPr>
              <a:t>Компромисс между точностью предсказаний и интерпретируемостью модели  </a:t>
            </a:r>
            <a:endParaRPr/>
          </a:p>
        </p:txBody>
      </p:sp>
      <p:sp>
        <p:nvSpPr>
          <p:cNvPr id="737" name="Google Shape;737;p49"/>
          <p:cNvSpPr txBox="1"/>
          <p:nvPr/>
        </p:nvSpPr>
        <p:spPr>
          <a:xfrm>
            <a:off x="530572" y="2042635"/>
            <a:ext cx="9180326" cy="3816429"/>
          </a:xfrm>
          <a:prstGeom prst="rect">
            <a:avLst/>
          </a:prstGeom>
          <a:noFill/>
          <a:ln>
            <a:noFill/>
          </a:ln>
        </p:spPr>
        <p:txBody>
          <a:bodyPr anchorCtr="0" anchor="t" bIns="45700" lIns="91425" spcFirstLastPara="1" rIns="91425" wrap="square" tIns="45700">
            <a:spAutoFit/>
          </a:bodyPr>
          <a:lstStyle/>
          <a:p>
            <a:pPr indent="536575" lvl="0" marL="0" marR="0" rtl="0" algn="l">
              <a:spcBef>
                <a:spcPts val="0"/>
              </a:spcBef>
              <a:spcAft>
                <a:spcPts val="0"/>
              </a:spcAft>
              <a:buNone/>
            </a:pPr>
            <a:r>
              <a:rPr lang="ru-RU" sz="2200">
                <a:solidFill>
                  <a:srgbClr val="000000"/>
                </a:solidFill>
                <a:latin typeface="Bookman Old Style"/>
                <a:ea typeface="Bookman Old Style"/>
                <a:cs typeface="Bookman Old Style"/>
                <a:sym typeface="Bookman Old Style"/>
              </a:rPr>
              <a:t>Некоторые из методов являются менее гибкими, или более ограниченными, в том смысле, что они способны породить лишь относительно небольшой набор функциональных форм для оценивания </a:t>
            </a:r>
            <a:r>
              <a:rPr b="1" i="1" lang="ru-RU" sz="2200">
                <a:solidFill>
                  <a:srgbClr val="000000"/>
                </a:solidFill>
                <a:latin typeface="Bookman Old Style"/>
                <a:ea typeface="Bookman Old Style"/>
                <a:cs typeface="Bookman Old Style"/>
                <a:sym typeface="Bookman Old Style"/>
              </a:rPr>
              <a:t>f</a:t>
            </a:r>
            <a:r>
              <a:rPr lang="ru-RU" sz="2200">
                <a:solidFill>
                  <a:srgbClr val="000000"/>
                </a:solidFill>
                <a:latin typeface="Bookman Old Style"/>
                <a:ea typeface="Bookman Old Style"/>
                <a:cs typeface="Bookman Old Style"/>
                <a:sym typeface="Bookman Old Style"/>
              </a:rPr>
              <a:t>. Например, </a:t>
            </a:r>
            <a:r>
              <a:rPr b="1" i="1" lang="ru-RU" sz="2200">
                <a:solidFill>
                  <a:srgbClr val="0070C0"/>
                </a:solidFill>
                <a:latin typeface="Bookman Old Style"/>
                <a:ea typeface="Bookman Old Style"/>
                <a:cs typeface="Bookman Old Style"/>
                <a:sym typeface="Bookman Old Style"/>
              </a:rPr>
              <a:t>линейная регрессия </a:t>
            </a:r>
            <a:r>
              <a:rPr lang="ru-RU" sz="2200">
                <a:solidFill>
                  <a:srgbClr val="000000"/>
                </a:solidFill>
                <a:latin typeface="Bookman Old Style"/>
                <a:ea typeface="Bookman Old Style"/>
                <a:cs typeface="Bookman Old Style"/>
                <a:sym typeface="Bookman Old Style"/>
              </a:rPr>
              <a:t>является относительно негибким подходом, поскольку она может порождать только линейные функции вроде линий на рис.1 или плоскости на рис. 4. </a:t>
            </a:r>
            <a:endParaRPr/>
          </a:p>
          <a:p>
            <a:pPr indent="536575" lvl="0" marL="0" marR="0" rtl="0" algn="l">
              <a:spcBef>
                <a:spcPts val="0"/>
              </a:spcBef>
              <a:spcAft>
                <a:spcPts val="0"/>
              </a:spcAft>
              <a:buNone/>
            </a:pPr>
            <a:r>
              <a:rPr lang="ru-RU" sz="2200">
                <a:solidFill>
                  <a:srgbClr val="000000"/>
                </a:solidFill>
                <a:latin typeface="Bookman Old Style"/>
                <a:ea typeface="Bookman Old Style"/>
                <a:cs typeface="Bookman Old Style"/>
                <a:sym typeface="Bookman Old Style"/>
              </a:rPr>
              <a:t>Другие методы, такие как сплайны типа «тонкая пластина» рис. 5, являются намного более гибкими, так как они могут порождать гораздо более широкий спектр возможных форм для оценивания </a:t>
            </a:r>
            <a:r>
              <a:rPr b="1" i="1" lang="ru-RU" sz="2200">
                <a:solidFill>
                  <a:srgbClr val="000000"/>
                </a:solidFill>
                <a:latin typeface="Bookman Old Style"/>
                <a:ea typeface="Bookman Old Style"/>
                <a:cs typeface="Bookman Old Style"/>
                <a:sym typeface="Bookman Old Style"/>
              </a:rPr>
              <a:t>f</a:t>
            </a:r>
            <a:r>
              <a:rPr lang="ru-RU" sz="2200">
                <a:solidFill>
                  <a:srgbClr val="000000"/>
                </a:solidFill>
                <a:latin typeface="Bookman Old Style"/>
                <a:ea typeface="Bookman Old Style"/>
                <a:cs typeface="Bookman Old Style"/>
                <a:sym typeface="Bookman Old Style"/>
              </a:rPr>
              <a:t>.</a:t>
            </a:r>
            <a:endParaRPr/>
          </a:p>
        </p:txBody>
      </p:sp>
      <p:sp>
        <p:nvSpPr>
          <p:cNvPr id="738" name="Google Shape;738;p49"/>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p50"/>
          <p:cNvSpPr/>
          <p:nvPr/>
        </p:nvSpPr>
        <p:spPr>
          <a:xfrm>
            <a:off x="242888" y="322262"/>
            <a:ext cx="9791700" cy="6625257"/>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744" name="Google Shape;744;p50"/>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745" name="Google Shape;745;p50"/>
          <p:cNvSpPr/>
          <p:nvPr/>
        </p:nvSpPr>
        <p:spPr>
          <a:xfrm>
            <a:off x="818257" y="394792"/>
            <a:ext cx="8604957" cy="661947"/>
          </a:xfrm>
          <a:prstGeom prst="roundRect">
            <a:avLst>
              <a:gd fmla="val 45749" name="adj"/>
            </a:avLst>
          </a:prstGeom>
          <a:solidFill>
            <a:srgbClr val="FFFFFF">
              <a:alpha val="52549"/>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ru-RU" sz="2800">
                <a:solidFill>
                  <a:schemeClr val="dk1"/>
                </a:solidFill>
                <a:latin typeface="Arial"/>
                <a:ea typeface="Arial"/>
                <a:cs typeface="Arial"/>
                <a:sym typeface="Arial"/>
              </a:rPr>
              <a:t>Задачи Data Mining</a:t>
            </a:r>
            <a:endParaRPr b="1" sz="2800">
              <a:solidFill>
                <a:schemeClr val="dk1"/>
              </a:solidFill>
              <a:latin typeface="Arial"/>
              <a:ea typeface="Arial"/>
              <a:cs typeface="Arial"/>
              <a:sym typeface="Arial"/>
            </a:endParaRPr>
          </a:p>
        </p:txBody>
      </p:sp>
      <p:sp>
        <p:nvSpPr>
          <p:cNvPr id="746" name="Google Shape;746;p50"/>
          <p:cNvSpPr/>
          <p:nvPr/>
        </p:nvSpPr>
        <p:spPr>
          <a:xfrm>
            <a:off x="962273" y="1088750"/>
            <a:ext cx="7989749" cy="69491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ru-RU" sz="2000">
                <a:solidFill>
                  <a:srgbClr val="0B769C"/>
                </a:solidFill>
                <a:latin typeface="Arial"/>
                <a:ea typeface="Arial"/>
                <a:cs typeface="Arial"/>
                <a:sym typeface="Arial"/>
              </a:rPr>
              <a:t>Компромисс между точностью предсказаний и интерпретируемостью модели  </a:t>
            </a:r>
            <a:endParaRPr/>
          </a:p>
        </p:txBody>
      </p:sp>
      <p:sp>
        <p:nvSpPr>
          <p:cNvPr id="747" name="Google Shape;747;p50"/>
          <p:cNvSpPr txBox="1"/>
          <p:nvPr/>
        </p:nvSpPr>
        <p:spPr>
          <a:xfrm>
            <a:off x="5508686" y="2410043"/>
            <a:ext cx="4603628" cy="4293483"/>
          </a:xfrm>
          <a:prstGeom prst="rect">
            <a:avLst/>
          </a:prstGeom>
          <a:noFill/>
          <a:ln>
            <a:noFill/>
          </a:ln>
        </p:spPr>
        <p:txBody>
          <a:bodyPr anchorCtr="0" anchor="t" bIns="45700" lIns="91425" spcFirstLastPara="1" rIns="91425" wrap="square" tIns="45700">
            <a:spAutoFit/>
          </a:bodyPr>
          <a:lstStyle/>
          <a:p>
            <a:pPr indent="363538" lvl="0" marL="0" marR="0" rtl="0" algn="l">
              <a:spcBef>
                <a:spcPts val="0"/>
              </a:spcBef>
              <a:spcAft>
                <a:spcPts val="0"/>
              </a:spcAft>
              <a:buNone/>
            </a:pPr>
            <a:r>
              <a:rPr lang="ru-RU" sz="2100">
                <a:solidFill>
                  <a:srgbClr val="000000"/>
                </a:solidFill>
                <a:latin typeface="Bookman Old Style"/>
                <a:ea typeface="Bookman Old Style"/>
                <a:cs typeface="Bookman Old Style"/>
                <a:sym typeface="Bookman Old Style"/>
              </a:rPr>
              <a:t>Если мы преимущественно заинтересованы в </a:t>
            </a:r>
            <a:r>
              <a:rPr i="1" lang="ru-RU" sz="2100">
                <a:solidFill>
                  <a:srgbClr val="0070C0"/>
                </a:solidFill>
                <a:latin typeface="Bookman Old Style"/>
                <a:ea typeface="Bookman Old Style"/>
                <a:cs typeface="Bookman Old Style"/>
                <a:sym typeface="Bookman Old Style"/>
              </a:rPr>
              <a:t>статистических выводах</a:t>
            </a:r>
            <a:r>
              <a:rPr lang="ru-RU" sz="2100">
                <a:solidFill>
                  <a:srgbClr val="000000"/>
                </a:solidFill>
                <a:latin typeface="Bookman Old Style"/>
                <a:ea typeface="Bookman Old Style"/>
                <a:cs typeface="Bookman Old Style"/>
                <a:sym typeface="Bookman Old Style"/>
              </a:rPr>
              <a:t>, то </a:t>
            </a:r>
            <a:r>
              <a:rPr i="1" lang="ru-RU" sz="2100">
                <a:solidFill>
                  <a:srgbClr val="0070C0"/>
                </a:solidFill>
                <a:latin typeface="Bookman Old Style"/>
                <a:ea typeface="Bookman Old Style"/>
                <a:cs typeface="Bookman Old Style"/>
                <a:sym typeface="Bookman Old Style"/>
              </a:rPr>
              <a:t>ограниченные линейные модели </a:t>
            </a:r>
            <a:r>
              <a:rPr lang="ru-RU" sz="2100">
                <a:solidFill>
                  <a:srgbClr val="000000"/>
                </a:solidFill>
                <a:latin typeface="Bookman Old Style"/>
                <a:ea typeface="Bookman Old Style"/>
                <a:cs typeface="Bookman Old Style"/>
                <a:sym typeface="Bookman Old Style"/>
              </a:rPr>
              <a:t>являются гораздо более интерпретируемыми. </a:t>
            </a:r>
            <a:endParaRPr/>
          </a:p>
          <a:p>
            <a:pPr indent="363538" lvl="0" marL="0" marR="0" rtl="0" algn="l">
              <a:spcBef>
                <a:spcPts val="0"/>
              </a:spcBef>
              <a:spcAft>
                <a:spcPts val="0"/>
              </a:spcAft>
              <a:buNone/>
            </a:pPr>
            <a:r>
              <a:rPr lang="ru-RU" sz="2100">
                <a:solidFill>
                  <a:srgbClr val="000000"/>
                </a:solidFill>
                <a:latin typeface="Bookman Old Style"/>
                <a:ea typeface="Bookman Old Style"/>
                <a:cs typeface="Bookman Old Style"/>
                <a:sym typeface="Bookman Old Style"/>
              </a:rPr>
              <a:t>Очень гибкие методы, такие как сплайны, а также методы бустинга могут приводить к настолько сложным оценкам </a:t>
            </a:r>
            <a:r>
              <a:rPr b="1" i="1" lang="ru-RU" sz="2100">
                <a:solidFill>
                  <a:srgbClr val="000000"/>
                </a:solidFill>
                <a:latin typeface="Bookman Old Style"/>
                <a:ea typeface="Bookman Old Style"/>
                <a:cs typeface="Bookman Old Style"/>
                <a:sym typeface="Bookman Old Style"/>
              </a:rPr>
              <a:t>f</a:t>
            </a:r>
            <a:r>
              <a:rPr lang="ru-RU" sz="2100">
                <a:solidFill>
                  <a:srgbClr val="000000"/>
                </a:solidFill>
                <a:latin typeface="Bookman Old Style"/>
                <a:ea typeface="Bookman Old Style"/>
                <a:cs typeface="Bookman Old Style"/>
                <a:sym typeface="Bookman Old Style"/>
              </a:rPr>
              <a:t>, что будет трудно понять, как любой отдельно взятый предиктор связан с откликом.</a:t>
            </a:r>
            <a:endParaRPr/>
          </a:p>
        </p:txBody>
      </p:sp>
      <p:pic>
        <p:nvPicPr>
          <p:cNvPr id="748" name="Google Shape;748;p50"/>
          <p:cNvPicPr preferRelativeResize="0"/>
          <p:nvPr/>
        </p:nvPicPr>
        <p:blipFill rotWithShape="1">
          <a:blip r:embed="rId3">
            <a:alphaModFix/>
          </a:blip>
          <a:srcRect b="0" l="0" r="0" t="0"/>
          <a:stretch/>
        </p:blipFill>
        <p:spPr>
          <a:xfrm>
            <a:off x="462119" y="2558457"/>
            <a:ext cx="5046567" cy="3283309"/>
          </a:xfrm>
          <a:prstGeom prst="rect">
            <a:avLst/>
          </a:prstGeom>
          <a:noFill/>
          <a:ln>
            <a:noFill/>
          </a:ln>
        </p:spPr>
      </p:pic>
      <p:sp>
        <p:nvSpPr>
          <p:cNvPr id="749" name="Google Shape;749;p50"/>
          <p:cNvSpPr/>
          <p:nvPr/>
        </p:nvSpPr>
        <p:spPr>
          <a:xfrm>
            <a:off x="522652" y="1857873"/>
            <a:ext cx="7712429"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000">
                <a:solidFill>
                  <a:srgbClr val="000000"/>
                </a:solidFill>
                <a:latin typeface="Bookman Old Style"/>
                <a:ea typeface="Bookman Old Style"/>
                <a:cs typeface="Bookman Old Style"/>
                <a:sym typeface="Bookman Old Style"/>
              </a:rPr>
              <a:t>Зачем нам вообще выбирать более ограниченный метод вместо очень гибкого метода? </a:t>
            </a:r>
            <a:endParaRPr sz="2000">
              <a:solidFill>
                <a:schemeClr val="dk1"/>
              </a:solidFill>
              <a:latin typeface="Arial"/>
              <a:ea typeface="Arial"/>
              <a:cs typeface="Arial"/>
              <a:sym typeface="Arial"/>
            </a:endParaRPr>
          </a:p>
        </p:txBody>
      </p:sp>
      <p:sp>
        <p:nvSpPr>
          <p:cNvPr id="750" name="Google Shape;750;p50"/>
          <p:cNvSpPr/>
          <p:nvPr/>
        </p:nvSpPr>
        <p:spPr>
          <a:xfrm>
            <a:off x="818257" y="5753965"/>
            <a:ext cx="4690429" cy="1151084"/>
          </a:xfrm>
          <a:prstGeom prst="rect">
            <a:avLst/>
          </a:prstGeom>
          <a:noFill/>
          <a:ln>
            <a:noFill/>
          </a:ln>
        </p:spPr>
        <p:txBody>
          <a:bodyPr anchorCtr="0" anchor="t" bIns="45700" lIns="91425" spcFirstLastPara="1" rIns="91425" wrap="square" tIns="45700">
            <a:spAutoFit/>
          </a:bodyPr>
          <a:lstStyle/>
          <a:p>
            <a:pPr indent="0" lvl="0" marL="0" marR="0" rtl="0" algn="l">
              <a:lnSpc>
                <a:spcPct val="57142"/>
              </a:lnSpc>
              <a:spcBef>
                <a:spcPts val="0"/>
              </a:spcBef>
              <a:spcAft>
                <a:spcPts val="0"/>
              </a:spcAft>
              <a:buNone/>
            </a:pPr>
            <a:r>
              <a:rPr baseline="-25000" lang="ru-RU" sz="2400">
                <a:solidFill>
                  <a:srgbClr val="000000"/>
                </a:solidFill>
                <a:latin typeface="Times New Roman"/>
                <a:ea typeface="Times New Roman"/>
                <a:cs typeface="Times New Roman"/>
                <a:sym typeface="Times New Roman"/>
              </a:rPr>
              <a:t>Рис. 6. К</a:t>
            </a:r>
            <a:r>
              <a:rPr baseline="-25000" i="1" lang="ru-RU" sz="2800">
                <a:solidFill>
                  <a:srgbClr val="000000"/>
                </a:solidFill>
                <a:latin typeface="Times New Roman"/>
                <a:ea typeface="Times New Roman"/>
                <a:cs typeface="Times New Roman"/>
                <a:sym typeface="Times New Roman"/>
              </a:rPr>
              <a:t>омпромисс между гибкостью и интерпретируемостью разных методов статистического обучения. </a:t>
            </a:r>
            <a:r>
              <a:rPr b="1" baseline="-25000" i="1" lang="ru-RU" sz="2800">
                <a:solidFill>
                  <a:srgbClr val="0070C0"/>
                </a:solidFill>
                <a:latin typeface="Times New Roman"/>
                <a:ea typeface="Times New Roman"/>
                <a:cs typeface="Times New Roman"/>
                <a:sym typeface="Times New Roman"/>
              </a:rPr>
              <a:t>В целом при возрастании гибкости метода его интерпретируемость снижается</a:t>
            </a:r>
            <a:endParaRPr sz="4000">
              <a:solidFill>
                <a:srgbClr val="0070C0"/>
              </a:solidFill>
              <a:latin typeface="Times New Roman"/>
              <a:ea typeface="Times New Roman"/>
              <a:cs typeface="Times New Roman"/>
              <a:sym typeface="Times New Roman"/>
            </a:endParaRPr>
          </a:p>
        </p:txBody>
      </p:sp>
      <p:sp>
        <p:nvSpPr>
          <p:cNvPr id="751" name="Google Shape;751;p50"/>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51"/>
          <p:cNvSpPr/>
          <p:nvPr/>
        </p:nvSpPr>
        <p:spPr>
          <a:xfrm>
            <a:off x="242888" y="322262"/>
            <a:ext cx="9791700" cy="6625257"/>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757" name="Google Shape;757;p51"/>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758" name="Google Shape;758;p51"/>
          <p:cNvSpPr/>
          <p:nvPr/>
        </p:nvSpPr>
        <p:spPr>
          <a:xfrm>
            <a:off x="818257" y="394792"/>
            <a:ext cx="8604957" cy="661947"/>
          </a:xfrm>
          <a:prstGeom prst="roundRect">
            <a:avLst>
              <a:gd fmla="val 45749" name="adj"/>
            </a:avLst>
          </a:prstGeom>
          <a:solidFill>
            <a:srgbClr val="FFFFFF">
              <a:alpha val="52549"/>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ru-RU" sz="2800">
                <a:solidFill>
                  <a:schemeClr val="dk1"/>
                </a:solidFill>
                <a:latin typeface="Arial"/>
                <a:ea typeface="Arial"/>
                <a:cs typeface="Arial"/>
                <a:sym typeface="Arial"/>
              </a:rPr>
              <a:t>Задачи Data Mining</a:t>
            </a:r>
            <a:endParaRPr b="1" sz="2800">
              <a:solidFill>
                <a:schemeClr val="dk1"/>
              </a:solidFill>
              <a:latin typeface="Arial"/>
              <a:ea typeface="Arial"/>
              <a:cs typeface="Arial"/>
              <a:sym typeface="Arial"/>
            </a:endParaRPr>
          </a:p>
        </p:txBody>
      </p:sp>
      <p:sp>
        <p:nvSpPr>
          <p:cNvPr id="759" name="Google Shape;759;p51"/>
          <p:cNvSpPr txBox="1"/>
          <p:nvPr/>
        </p:nvSpPr>
        <p:spPr>
          <a:xfrm>
            <a:off x="366857" y="1834953"/>
            <a:ext cx="9786648" cy="4939814"/>
          </a:xfrm>
          <a:prstGeom prst="rect">
            <a:avLst/>
          </a:prstGeom>
          <a:noFill/>
          <a:ln>
            <a:noFill/>
          </a:ln>
        </p:spPr>
        <p:txBody>
          <a:bodyPr anchorCtr="0" anchor="t" bIns="45700" lIns="91425" spcFirstLastPara="1" rIns="91425" wrap="square" tIns="45700">
            <a:spAutoFit/>
          </a:bodyPr>
          <a:lstStyle/>
          <a:p>
            <a:pPr indent="449263" lvl="0" marL="0" marR="0" rtl="0" algn="l">
              <a:spcBef>
                <a:spcPts val="0"/>
              </a:spcBef>
              <a:spcAft>
                <a:spcPts val="0"/>
              </a:spcAft>
              <a:buNone/>
            </a:pPr>
            <a:r>
              <a:rPr lang="ru-RU" sz="2100">
                <a:solidFill>
                  <a:srgbClr val="000000"/>
                </a:solidFill>
                <a:latin typeface="Bookman Old Style"/>
                <a:ea typeface="Bookman Old Style"/>
                <a:cs typeface="Bookman Old Style"/>
                <a:sym typeface="Bookman Old Style"/>
              </a:rPr>
              <a:t>Мы выяснили, что в случаях, когда целью анализа является </a:t>
            </a:r>
            <a:r>
              <a:rPr b="1" i="1" lang="ru-RU" sz="2100">
                <a:solidFill>
                  <a:srgbClr val="0070C0"/>
                </a:solidFill>
                <a:latin typeface="Bookman Old Style"/>
                <a:ea typeface="Bookman Old Style"/>
                <a:cs typeface="Bookman Old Style"/>
                <a:sym typeface="Bookman Old Style"/>
              </a:rPr>
              <a:t>статистический вывод</a:t>
            </a:r>
            <a:r>
              <a:rPr lang="ru-RU" sz="2100">
                <a:solidFill>
                  <a:srgbClr val="000000"/>
                </a:solidFill>
                <a:latin typeface="Bookman Old Style"/>
                <a:ea typeface="Bookman Old Style"/>
                <a:cs typeface="Bookman Old Style"/>
                <a:sym typeface="Bookman Old Style"/>
              </a:rPr>
              <a:t>, есть явные преимущества в использовании простых и </a:t>
            </a:r>
            <a:r>
              <a:rPr lang="ru-RU" sz="2100">
                <a:solidFill>
                  <a:srgbClr val="0070C0"/>
                </a:solidFill>
                <a:latin typeface="Bookman Old Style"/>
                <a:ea typeface="Bookman Old Style"/>
                <a:cs typeface="Bookman Old Style"/>
                <a:sym typeface="Bookman Old Style"/>
              </a:rPr>
              <a:t>относительно негибких методов </a:t>
            </a:r>
            <a:r>
              <a:rPr lang="ru-RU" sz="2100">
                <a:solidFill>
                  <a:srgbClr val="000000"/>
                </a:solidFill>
                <a:latin typeface="Bookman Old Style"/>
                <a:ea typeface="Bookman Old Style"/>
                <a:cs typeface="Bookman Old Style"/>
                <a:sym typeface="Bookman Old Style"/>
              </a:rPr>
              <a:t>статистического обучения. </a:t>
            </a:r>
            <a:endParaRPr/>
          </a:p>
          <a:p>
            <a:pPr indent="449263" lvl="0" marL="0" marR="0" rtl="0" algn="l">
              <a:spcBef>
                <a:spcPts val="0"/>
              </a:spcBef>
              <a:spcAft>
                <a:spcPts val="0"/>
              </a:spcAft>
              <a:buNone/>
            </a:pPr>
            <a:r>
              <a:t/>
            </a:r>
            <a:endParaRPr sz="2100">
              <a:solidFill>
                <a:srgbClr val="000000"/>
              </a:solidFill>
              <a:latin typeface="Bookman Old Style"/>
              <a:ea typeface="Bookman Old Style"/>
              <a:cs typeface="Bookman Old Style"/>
              <a:sym typeface="Bookman Old Style"/>
            </a:endParaRPr>
          </a:p>
          <a:p>
            <a:pPr indent="449263" lvl="0" marL="0" marR="0" rtl="0" algn="l">
              <a:spcBef>
                <a:spcPts val="0"/>
              </a:spcBef>
              <a:spcAft>
                <a:spcPts val="0"/>
              </a:spcAft>
              <a:buNone/>
            </a:pPr>
            <a:r>
              <a:rPr lang="ru-RU" sz="2100">
                <a:solidFill>
                  <a:srgbClr val="000000"/>
                </a:solidFill>
                <a:latin typeface="Bookman Old Style"/>
                <a:ea typeface="Bookman Old Style"/>
                <a:cs typeface="Bookman Old Style"/>
                <a:sym typeface="Bookman Old Style"/>
              </a:rPr>
              <a:t>В ситуациях, когда мы заинтересованы только в </a:t>
            </a:r>
            <a:r>
              <a:rPr b="1" i="1" lang="ru-RU" sz="2100">
                <a:solidFill>
                  <a:srgbClr val="0070C0"/>
                </a:solidFill>
                <a:latin typeface="Bookman Old Style"/>
                <a:ea typeface="Bookman Old Style"/>
                <a:cs typeface="Bookman Old Style"/>
                <a:sym typeface="Bookman Old Style"/>
              </a:rPr>
              <a:t>предсказании</a:t>
            </a:r>
            <a:r>
              <a:rPr lang="ru-RU" sz="2100">
                <a:solidFill>
                  <a:srgbClr val="000000"/>
                </a:solidFill>
                <a:latin typeface="Bookman Old Style"/>
                <a:ea typeface="Bookman Old Style"/>
                <a:cs typeface="Bookman Old Style"/>
                <a:sym typeface="Bookman Old Style"/>
              </a:rPr>
              <a:t>, а интерпретируемость предсказательной модели нам просто неинтересна, лучше всего будет использовать </a:t>
            </a:r>
            <a:r>
              <a:rPr lang="ru-RU" sz="2100">
                <a:solidFill>
                  <a:srgbClr val="0070C0"/>
                </a:solidFill>
                <a:latin typeface="Bookman Old Style"/>
                <a:ea typeface="Bookman Old Style"/>
                <a:cs typeface="Bookman Old Style"/>
                <a:sym typeface="Bookman Old Style"/>
              </a:rPr>
              <a:t>наиболее гибкую </a:t>
            </a:r>
            <a:r>
              <a:rPr lang="ru-RU" sz="2100">
                <a:solidFill>
                  <a:srgbClr val="000000"/>
                </a:solidFill>
                <a:latin typeface="Bookman Old Style"/>
                <a:ea typeface="Bookman Old Style"/>
                <a:cs typeface="Bookman Old Style"/>
                <a:sym typeface="Bookman Old Style"/>
              </a:rPr>
              <a:t>из имеющихся моделей. </a:t>
            </a:r>
            <a:endParaRPr/>
          </a:p>
          <a:p>
            <a:pPr indent="449263" lvl="0" marL="0" marR="0" rtl="0" algn="l">
              <a:spcBef>
                <a:spcPts val="0"/>
              </a:spcBef>
              <a:spcAft>
                <a:spcPts val="0"/>
              </a:spcAft>
              <a:buNone/>
            </a:pPr>
            <a:r>
              <a:rPr lang="ru-RU" sz="2100">
                <a:solidFill>
                  <a:srgbClr val="000000"/>
                </a:solidFill>
                <a:latin typeface="Bookman Old Style"/>
                <a:ea typeface="Bookman Old Style"/>
                <a:cs typeface="Bookman Old Style"/>
                <a:sym typeface="Bookman Old Style"/>
              </a:rPr>
              <a:t>Например, если единственным нашим требованием к алгоритму будет точность прогноза — интерпретируемость значения не имеет. </a:t>
            </a:r>
            <a:endParaRPr/>
          </a:p>
          <a:p>
            <a:pPr indent="449263" lvl="0" marL="0" marR="0" rtl="0" algn="l">
              <a:spcBef>
                <a:spcPts val="0"/>
              </a:spcBef>
              <a:spcAft>
                <a:spcPts val="0"/>
              </a:spcAft>
              <a:buNone/>
            </a:pPr>
            <a:r>
              <a:rPr lang="ru-RU" sz="2100">
                <a:solidFill>
                  <a:srgbClr val="000000"/>
                </a:solidFill>
                <a:latin typeface="Bookman Old Style"/>
                <a:ea typeface="Bookman Old Style"/>
                <a:cs typeface="Bookman Old Style"/>
                <a:sym typeface="Bookman Old Style"/>
              </a:rPr>
              <a:t>Удивительно, но это не всегда так! Часто мы будем получать более точные предсказания с помощью менее гибкого метода. Это явление, которое на первый взгляд может показаться нелогичным, объясняется склонностью более гибких методов к </a:t>
            </a:r>
            <a:r>
              <a:rPr b="1" i="1" lang="ru-RU" sz="2100">
                <a:solidFill>
                  <a:srgbClr val="0070C0"/>
                </a:solidFill>
                <a:latin typeface="Bookman Old Style"/>
                <a:ea typeface="Bookman Old Style"/>
                <a:cs typeface="Bookman Old Style"/>
                <a:sym typeface="Bookman Old Style"/>
              </a:rPr>
              <a:t>переобучению</a:t>
            </a:r>
            <a:r>
              <a:rPr lang="ru-RU" sz="2100">
                <a:solidFill>
                  <a:srgbClr val="000000"/>
                </a:solidFill>
                <a:latin typeface="Bookman Old Style"/>
                <a:ea typeface="Bookman Old Style"/>
                <a:cs typeface="Bookman Old Style"/>
                <a:sym typeface="Bookman Old Style"/>
              </a:rPr>
              <a:t>. </a:t>
            </a:r>
            <a:endParaRPr/>
          </a:p>
        </p:txBody>
      </p:sp>
      <p:sp>
        <p:nvSpPr>
          <p:cNvPr id="760" name="Google Shape;760;p51"/>
          <p:cNvSpPr/>
          <p:nvPr/>
        </p:nvSpPr>
        <p:spPr>
          <a:xfrm>
            <a:off x="962273" y="1088750"/>
            <a:ext cx="7989749" cy="69491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ru-RU" sz="2000">
                <a:solidFill>
                  <a:srgbClr val="0B769C"/>
                </a:solidFill>
                <a:latin typeface="Arial"/>
                <a:ea typeface="Arial"/>
                <a:cs typeface="Arial"/>
                <a:sym typeface="Arial"/>
              </a:rPr>
              <a:t>Компромисс между точностью предсказаний и интерпретируемостью модели  </a:t>
            </a:r>
            <a:endParaRPr/>
          </a:p>
        </p:txBody>
      </p:sp>
      <p:sp>
        <p:nvSpPr>
          <p:cNvPr id="761" name="Google Shape;761;p51"/>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52"/>
          <p:cNvSpPr/>
          <p:nvPr/>
        </p:nvSpPr>
        <p:spPr>
          <a:xfrm>
            <a:off x="242887" y="322263"/>
            <a:ext cx="9791700" cy="6625257"/>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767" name="Google Shape;767;p52"/>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768" name="Google Shape;768;p52"/>
          <p:cNvSpPr/>
          <p:nvPr/>
        </p:nvSpPr>
        <p:spPr>
          <a:xfrm>
            <a:off x="818257" y="394792"/>
            <a:ext cx="8604957" cy="661947"/>
          </a:xfrm>
          <a:prstGeom prst="roundRect">
            <a:avLst>
              <a:gd fmla="val 45749" name="adj"/>
            </a:avLst>
          </a:prstGeom>
          <a:solidFill>
            <a:srgbClr val="FFFFFF">
              <a:alpha val="52549"/>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ru-RU" sz="2800">
                <a:solidFill>
                  <a:schemeClr val="dk1"/>
                </a:solidFill>
                <a:latin typeface="Arial"/>
                <a:ea typeface="Arial"/>
                <a:cs typeface="Arial"/>
                <a:sym typeface="Arial"/>
              </a:rPr>
              <a:t>Задачи Data Mining</a:t>
            </a:r>
            <a:endParaRPr b="1" sz="2800">
              <a:solidFill>
                <a:schemeClr val="dk1"/>
              </a:solidFill>
              <a:latin typeface="Arial"/>
              <a:ea typeface="Arial"/>
              <a:cs typeface="Arial"/>
              <a:sym typeface="Arial"/>
            </a:endParaRPr>
          </a:p>
        </p:txBody>
      </p:sp>
      <p:sp>
        <p:nvSpPr>
          <p:cNvPr id="769" name="Google Shape;769;p52"/>
          <p:cNvSpPr txBox="1"/>
          <p:nvPr/>
        </p:nvSpPr>
        <p:spPr>
          <a:xfrm>
            <a:off x="425087" y="2090797"/>
            <a:ext cx="9427301" cy="3785652"/>
          </a:xfrm>
          <a:prstGeom prst="rect">
            <a:avLst/>
          </a:prstGeom>
          <a:noFill/>
          <a:ln>
            <a:noFill/>
          </a:ln>
        </p:spPr>
        <p:txBody>
          <a:bodyPr anchorCtr="0" anchor="t" bIns="45700" lIns="91425" spcFirstLastPara="1" rIns="91425" wrap="square" tIns="45700">
            <a:spAutoFit/>
          </a:bodyPr>
          <a:lstStyle/>
          <a:p>
            <a:pPr indent="449263" lvl="0" marL="0" marR="0" rtl="0" algn="l">
              <a:spcBef>
                <a:spcPts val="0"/>
              </a:spcBef>
              <a:spcAft>
                <a:spcPts val="0"/>
              </a:spcAft>
              <a:buNone/>
            </a:pPr>
            <a:r>
              <a:rPr lang="ru-RU" sz="2000">
                <a:solidFill>
                  <a:srgbClr val="000000"/>
                </a:solidFill>
                <a:latin typeface="Bookman Old Style"/>
                <a:ea typeface="Bookman Old Style"/>
                <a:cs typeface="Bookman Old Style"/>
                <a:sym typeface="Bookman Old Style"/>
              </a:rPr>
              <a:t>Зачем описывать столько разных методов статистического обучения вместо одного, самого лучшего метода? В статистике бесплатный сыр бывает только в мышеловке: </a:t>
            </a:r>
            <a:r>
              <a:rPr b="1" lang="ru-RU" sz="2000">
                <a:solidFill>
                  <a:srgbClr val="0D78C9"/>
                </a:solidFill>
                <a:latin typeface="Bookman Old Style"/>
                <a:ea typeface="Bookman Old Style"/>
                <a:cs typeface="Bookman Old Style"/>
                <a:sym typeface="Bookman Old Style"/>
              </a:rPr>
              <a:t>ни один из методов не доминирует над другими для всех возможных наборов данных. </a:t>
            </a:r>
            <a:endParaRPr/>
          </a:p>
          <a:p>
            <a:pPr indent="449263" lvl="0" marL="0" marR="0" rtl="0" algn="l">
              <a:spcBef>
                <a:spcPts val="0"/>
              </a:spcBef>
              <a:spcAft>
                <a:spcPts val="0"/>
              </a:spcAft>
              <a:buNone/>
            </a:pPr>
            <a:r>
              <a:rPr lang="ru-RU" sz="2000">
                <a:solidFill>
                  <a:srgbClr val="000000"/>
                </a:solidFill>
                <a:latin typeface="Bookman Old Style"/>
                <a:ea typeface="Bookman Old Style"/>
                <a:cs typeface="Bookman Old Style"/>
                <a:sym typeface="Bookman Old Style"/>
              </a:rPr>
              <a:t>На некотором конкретном наборе данных тот или иной метод может оказаться оптимальным, тогда как другие методы могут сработать лучше на похожих или отличающихся данных. Поэтому </a:t>
            </a:r>
            <a:r>
              <a:rPr b="1" lang="ru-RU" sz="2000">
                <a:solidFill>
                  <a:srgbClr val="0D78C9"/>
                </a:solidFill>
                <a:latin typeface="Bookman Old Style"/>
                <a:ea typeface="Bookman Old Style"/>
                <a:cs typeface="Bookman Old Style"/>
                <a:sym typeface="Bookman Old Style"/>
              </a:rPr>
              <a:t>выбор метода, который дает наилучшие результаты для имеющегося набора данных, представляет собой важную задачу. </a:t>
            </a:r>
            <a:r>
              <a:rPr lang="ru-RU" sz="2000">
                <a:solidFill>
                  <a:srgbClr val="000000"/>
                </a:solidFill>
                <a:latin typeface="Bookman Old Style"/>
                <a:ea typeface="Bookman Old Style"/>
                <a:cs typeface="Bookman Old Style"/>
                <a:sym typeface="Bookman Old Style"/>
              </a:rPr>
              <a:t>Выбор такого метода может оказаться одним из самых трудных аспектов применения статистического обучения на практике.</a:t>
            </a:r>
            <a:endParaRPr/>
          </a:p>
        </p:txBody>
      </p:sp>
      <p:sp>
        <p:nvSpPr>
          <p:cNvPr id="770" name="Google Shape;770;p52"/>
          <p:cNvSpPr/>
          <p:nvPr/>
        </p:nvSpPr>
        <p:spPr>
          <a:xfrm>
            <a:off x="962273" y="1212044"/>
            <a:ext cx="7989749" cy="69491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ru-RU" sz="2000">
                <a:solidFill>
                  <a:srgbClr val="0B769C"/>
                </a:solidFill>
                <a:latin typeface="Arial"/>
                <a:ea typeface="Arial"/>
                <a:cs typeface="Arial"/>
                <a:sym typeface="Arial"/>
              </a:rPr>
              <a:t>Компромисс между точностью предсказаний и интерпретируемостью модели  </a:t>
            </a:r>
            <a:endParaRPr/>
          </a:p>
        </p:txBody>
      </p:sp>
      <p:sp>
        <p:nvSpPr>
          <p:cNvPr id="771" name="Google Shape;771;p52"/>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
        <p:nvSpPr>
          <p:cNvPr id="772" name="Google Shape;772;p52"/>
          <p:cNvSpPr txBox="1"/>
          <p:nvPr/>
        </p:nvSpPr>
        <p:spPr>
          <a:xfrm>
            <a:off x="513873" y="5884305"/>
            <a:ext cx="9034626" cy="1200329"/>
          </a:xfrm>
          <a:prstGeom prst="rect">
            <a:avLst/>
          </a:prstGeom>
          <a:noFill/>
          <a:ln>
            <a:noFill/>
          </a:ln>
        </p:spPr>
        <p:txBody>
          <a:bodyPr anchorCtr="0" anchor="t" bIns="45700" lIns="91425" spcFirstLastPara="1" rIns="91425" wrap="square" tIns="45700">
            <a:spAutoFit/>
          </a:bodyPr>
          <a:lstStyle/>
          <a:p>
            <a:pPr indent="449263" lvl="0" marL="0" marR="0" rtl="0" algn="l">
              <a:spcBef>
                <a:spcPts val="0"/>
              </a:spcBef>
              <a:spcAft>
                <a:spcPts val="0"/>
              </a:spcAft>
              <a:buNone/>
            </a:pPr>
            <a:r>
              <a:rPr i="1" lang="ru-RU" sz="1800">
                <a:solidFill>
                  <a:srgbClr val="000000"/>
                </a:solidFill>
                <a:latin typeface="Bookman Old Style"/>
                <a:ea typeface="Bookman Old Style"/>
                <a:cs typeface="Bookman Old Style"/>
                <a:sym typeface="Bookman Old Style"/>
              </a:rPr>
              <a:t>Методы статистического обучения: линейная регрессия, нелинейная регрессия, линейные методы классификации, регуляризация, ядерное сглаживание, оценивание и выбор моделей, аддитивные модели, деревья классификации, нейронные сети, случайные леса и др.</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53"/>
          <p:cNvSpPr/>
          <p:nvPr/>
        </p:nvSpPr>
        <p:spPr>
          <a:xfrm>
            <a:off x="242887" y="394271"/>
            <a:ext cx="9791700" cy="6625257"/>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778" name="Google Shape;778;p53"/>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779" name="Google Shape;779;p53"/>
          <p:cNvSpPr/>
          <p:nvPr/>
        </p:nvSpPr>
        <p:spPr>
          <a:xfrm>
            <a:off x="818257" y="394792"/>
            <a:ext cx="8604957" cy="661947"/>
          </a:xfrm>
          <a:prstGeom prst="roundRect">
            <a:avLst>
              <a:gd fmla="val 45749" name="adj"/>
            </a:avLst>
          </a:prstGeom>
          <a:solidFill>
            <a:srgbClr val="FFFFFF">
              <a:alpha val="52549"/>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ru-RU" sz="2800">
                <a:solidFill>
                  <a:schemeClr val="dk1"/>
                </a:solidFill>
                <a:latin typeface="Arial"/>
                <a:ea typeface="Arial"/>
                <a:cs typeface="Arial"/>
                <a:sym typeface="Arial"/>
              </a:rPr>
              <a:t>Задачи Data Mining</a:t>
            </a:r>
            <a:endParaRPr b="1" sz="2800">
              <a:solidFill>
                <a:schemeClr val="dk1"/>
              </a:solidFill>
              <a:latin typeface="Arial"/>
              <a:ea typeface="Arial"/>
              <a:cs typeface="Arial"/>
              <a:sym typeface="Arial"/>
            </a:endParaRPr>
          </a:p>
        </p:txBody>
      </p:sp>
      <p:sp>
        <p:nvSpPr>
          <p:cNvPr id="780" name="Google Shape;780;p53"/>
          <p:cNvSpPr/>
          <p:nvPr/>
        </p:nvSpPr>
        <p:spPr>
          <a:xfrm>
            <a:off x="425087" y="1140037"/>
            <a:ext cx="7809994" cy="69491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ru-RU" sz="2000">
                <a:solidFill>
                  <a:srgbClr val="0B769C"/>
                </a:solidFill>
                <a:latin typeface="Arial"/>
                <a:ea typeface="Arial"/>
                <a:cs typeface="Arial"/>
                <a:sym typeface="Arial"/>
              </a:rPr>
              <a:t>Обучение с учителем и без учителя</a:t>
            </a:r>
            <a:endParaRPr/>
          </a:p>
        </p:txBody>
      </p:sp>
      <p:sp>
        <p:nvSpPr>
          <p:cNvPr id="781" name="Google Shape;781;p53"/>
          <p:cNvSpPr txBox="1"/>
          <p:nvPr/>
        </p:nvSpPr>
        <p:spPr>
          <a:xfrm>
            <a:off x="494221" y="1715517"/>
            <a:ext cx="9289032" cy="4708981"/>
          </a:xfrm>
          <a:prstGeom prst="rect">
            <a:avLst/>
          </a:prstGeom>
          <a:noFill/>
          <a:ln>
            <a:noFill/>
          </a:ln>
        </p:spPr>
        <p:txBody>
          <a:bodyPr anchorCtr="0" anchor="t" bIns="45700" lIns="91425" spcFirstLastPara="1" rIns="91425" wrap="square" tIns="45700">
            <a:spAutoFit/>
          </a:bodyPr>
          <a:lstStyle/>
          <a:p>
            <a:pPr indent="449263" lvl="0" marL="0" marR="0" rtl="0" algn="l">
              <a:spcBef>
                <a:spcPts val="0"/>
              </a:spcBef>
              <a:spcAft>
                <a:spcPts val="0"/>
              </a:spcAft>
              <a:buNone/>
            </a:pPr>
            <a:r>
              <a:rPr lang="ru-RU" sz="2000">
                <a:solidFill>
                  <a:srgbClr val="000000"/>
                </a:solidFill>
                <a:latin typeface="Bookman Old Style"/>
                <a:ea typeface="Bookman Old Style"/>
                <a:cs typeface="Bookman Old Style"/>
                <a:sym typeface="Bookman Old Style"/>
              </a:rPr>
              <a:t>Большинство проблем статистического обучения попадает в одну из двух категорий: </a:t>
            </a:r>
            <a:r>
              <a:rPr b="1" i="1" lang="ru-RU" sz="2000">
                <a:solidFill>
                  <a:srgbClr val="0070C0"/>
                </a:solidFill>
                <a:latin typeface="Bookman Old Style"/>
                <a:ea typeface="Bookman Old Style"/>
                <a:cs typeface="Bookman Old Style"/>
                <a:sym typeface="Bookman Old Style"/>
              </a:rPr>
              <a:t>обучение с учителем и без учителя</a:t>
            </a:r>
            <a:r>
              <a:rPr lang="ru-RU" sz="2000">
                <a:solidFill>
                  <a:srgbClr val="000000"/>
                </a:solidFill>
                <a:latin typeface="Bookman Old Style"/>
                <a:ea typeface="Bookman Old Style"/>
                <a:cs typeface="Bookman Old Style"/>
                <a:sym typeface="Bookman Old Style"/>
              </a:rPr>
              <a:t>. Все рассмотренные до сих пор примеры из этой лекции относятся к категории обучения </a:t>
            </a:r>
            <a:r>
              <a:rPr b="1" lang="ru-RU" sz="2000">
                <a:solidFill>
                  <a:srgbClr val="0070C0"/>
                </a:solidFill>
                <a:latin typeface="Bookman Old Style"/>
                <a:ea typeface="Bookman Old Style"/>
                <a:cs typeface="Bookman Old Style"/>
                <a:sym typeface="Bookman Old Style"/>
              </a:rPr>
              <a:t>с учителем</a:t>
            </a:r>
            <a:r>
              <a:rPr lang="ru-RU" sz="2000">
                <a:solidFill>
                  <a:srgbClr val="000000"/>
                </a:solidFill>
                <a:latin typeface="Bookman Old Style"/>
                <a:ea typeface="Bookman Old Style"/>
                <a:cs typeface="Bookman Old Style"/>
                <a:sym typeface="Bookman Old Style"/>
              </a:rPr>
              <a:t>. </a:t>
            </a:r>
            <a:endParaRPr/>
          </a:p>
          <a:p>
            <a:pPr indent="449263" lvl="0" marL="0" marR="0" rtl="0" algn="l">
              <a:spcBef>
                <a:spcPts val="0"/>
              </a:spcBef>
              <a:spcAft>
                <a:spcPts val="0"/>
              </a:spcAft>
              <a:buNone/>
            </a:pPr>
            <a:r>
              <a:rPr lang="ru-RU" sz="2000">
                <a:solidFill>
                  <a:srgbClr val="000000"/>
                </a:solidFill>
                <a:latin typeface="Bookman Old Style"/>
                <a:ea typeface="Bookman Old Style"/>
                <a:cs typeface="Bookman Old Style"/>
                <a:sym typeface="Bookman Old Style"/>
              </a:rPr>
              <a:t>Для каждого измеренного значения предиктора </a:t>
            </a:r>
            <a:r>
              <a:rPr i="1" lang="ru-RU" sz="2000">
                <a:solidFill>
                  <a:srgbClr val="000000"/>
                </a:solidFill>
                <a:latin typeface="Bookman Old Style"/>
                <a:ea typeface="Bookman Old Style"/>
                <a:cs typeface="Bookman Old Style"/>
                <a:sym typeface="Bookman Old Style"/>
              </a:rPr>
              <a:t>х</a:t>
            </a:r>
            <a:r>
              <a:rPr baseline="-25000" i="1" lang="ru-RU" sz="2000">
                <a:solidFill>
                  <a:srgbClr val="000000"/>
                </a:solidFill>
                <a:latin typeface="Bookman Old Style"/>
                <a:ea typeface="Bookman Old Style"/>
                <a:cs typeface="Bookman Old Style"/>
                <a:sym typeface="Bookman Old Style"/>
              </a:rPr>
              <a:t>i</a:t>
            </a:r>
            <a:r>
              <a:rPr lang="ru-RU" sz="2000">
                <a:solidFill>
                  <a:srgbClr val="000000"/>
                </a:solidFill>
                <a:latin typeface="Bookman Old Style"/>
                <a:ea typeface="Bookman Old Style"/>
                <a:cs typeface="Bookman Old Style"/>
                <a:sym typeface="Bookman Old Style"/>
              </a:rPr>
              <a:t>, где </a:t>
            </a:r>
            <a:r>
              <a:rPr i="1" lang="ru-RU" sz="2000">
                <a:solidFill>
                  <a:srgbClr val="000000"/>
                </a:solidFill>
                <a:latin typeface="Bookman Old Style"/>
                <a:ea typeface="Bookman Old Style"/>
                <a:cs typeface="Bookman Old Style"/>
                <a:sym typeface="Bookman Old Style"/>
              </a:rPr>
              <a:t>i = 1,..., n, </a:t>
            </a:r>
            <a:r>
              <a:rPr lang="ru-RU" sz="2000">
                <a:solidFill>
                  <a:srgbClr val="000000"/>
                </a:solidFill>
                <a:latin typeface="Bookman Old Style"/>
                <a:ea typeface="Bookman Old Style"/>
                <a:cs typeface="Bookman Old Style"/>
                <a:sym typeface="Bookman Old Style"/>
              </a:rPr>
              <a:t>имеется соответствующее значение отклика </a:t>
            </a:r>
            <a:r>
              <a:rPr i="1" lang="ru-RU" sz="2000">
                <a:solidFill>
                  <a:srgbClr val="000000"/>
                </a:solidFill>
                <a:latin typeface="Bookman Old Style"/>
                <a:ea typeface="Bookman Old Style"/>
                <a:cs typeface="Bookman Old Style"/>
                <a:sym typeface="Bookman Old Style"/>
              </a:rPr>
              <a:t>у</a:t>
            </a:r>
            <a:r>
              <a:rPr baseline="-25000" i="1" lang="ru-RU" sz="2000">
                <a:solidFill>
                  <a:srgbClr val="000000"/>
                </a:solidFill>
                <a:latin typeface="Bookman Old Style"/>
                <a:ea typeface="Bookman Old Style"/>
                <a:cs typeface="Bookman Old Style"/>
                <a:sym typeface="Bookman Old Style"/>
              </a:rPr>
              <a:t>i</a:t>
            </a:r>
            <a:r>
              <a:rPr i="1" lang="ru-RU" sz="2000">
                <a:solidFill>
                  <a:srgbClr val="000000"/>
                </a:solidFill>
                <a:latin typeface="Bookman Old Style"/>
                <a:ea typeface="Bookman Old Style"/>
                <a:cs typeface="Bookman Old Style"/>
                <a:sym typeface="Bookman Old Style"/>
              </a:rPr>
              <a:t>. </a:t>
            </a:r>
            <a:r>
              <a:rPr lang="ru-RU" sz="2000">
                <a:solidFill>
                  <a:srgbClr val="000000"/>
                </a:solidFill>
                <a:latin typeface="Bookman Old Style"/>
                <a:ea typeface="Bookman Old Style"/>
                <a:cs typeface="Bookman Old Style"/>
                <a:sym typeface="Bookman Old Style"/>
              </a:rPr>
              <a:t>Мы желаем построить модель, которая описывает </a:t>
            </a:r>
            <a:r>
              <a:rPr b="1" lang="ru-RU" sz="2000">
                <a:solidFill>
                  <a:srgbClr val="0070C0"/>
                </a:solidFill>
                <a:latin typeface="Bookman Old Style"/>
                <a:ea typeface="Bookman Old Style"/>
                <a:cs typeface="Bookman Old Style"/>
                <a:sym typeface="Bookman Old Style"/>
              </a:rPr>
              <a:t>связь</a:t>
            </a:r>
            <a:r>
              <a:rPr lang="ru-RU" sz="2000">
                <a:solidFill>
                  <a:srgbClr val="000000"/>
                </a:solidFill>
                <a:latin typeface="Bookman Old Style"/>
                <a:ea typeface="Bookman Old Style"/>
                <a:cs typeface="Bookman Old Style"/>
                <a:sym typeface="Bookman Old Style"/>
              </a:rPr>
              <a:t> между откликом и предикторами с целью точного предсказания отклика для будущих наблюдений (прогнозирование) или для лучшего понимания </a:t>
            </a:r>
            <a:r>
              <a:rPr b="1" lang="ru-RU" sz="2000">
                <a:solidFill>
                  <a:srgbClr val="0070C0"/>
                </a:solidFill>
                <a:latin typeface="Bookman Old Style"/>
                <a:ea typeface="Bookman Old Style"/>
                <a:cs typeface="Bookman Old Style"/>
                <a:sym typeface="Bookman Old Style"/>
              </a:rPr>
              <a:t>взаимоотношений</a:t>
            </a:r>
            <a:r>
              <a:rPr lang="ru-RU" sz="2000">
                <a:solidFill>
                  <a:srgbClr val="000000"/>
                </a:solidFill>
                <a:latin typeface="Bookman Old Style"/>
                <a:ea typeface="Bookman Old Style"/>
                <a:cs typeface="Bookman Old Style"/>
                <a:sym typeface="Bookman Old Style"/>
              </a:rPr>
              <a:t> между откликом и предикторами (статистические выводы). Многие классические методы статистического обучения, такие как линейная регрессия и логистическая регрессия, а также более современные подходы, вроде GAM (Обобщенные аддитивные модели), бустинга и метода опорных векторов, относятся к категории </a:t>
            </a:r>
            <a:r>
              <a:rPr b="1" lang="ru-RU" sz="2000">
                <a:solidFill>
                  <a:srgbClr val="0070C0"/>
                </a:solidFill>
                <a:latin typeface="Bookman Old Style"/>
                <a:ea typeface="Bookman Old Style"/>
                <a:cs typeface="Bookman Old Style"/>
                <a:sym typeface="Bookman Old Style"/>
              </a:rPr>
              <a:t>обучения с учителем</a:t>
            </a:r>
            <a:r>
              <a:rPr lang="ru-RU" sz="2000">
                <a:solidFill>
                  <a:srgbClr val="000000"/>
                </a:solidFill>
                <a:latin typeface="Bookman Old Style"/>
                <a:ea typeface="Bookman Old Style"/>
                <a:cs typeface="Bookman Old Style"/>
                <a:sym typeface="Bookman Old Style"/>
              </a:rPr>
              <a:t>. </a:t>
            </a:r>
            <a:endParaRPr sz="2000">
              <a:solidFill>
                <a:srgbClr val="000000"/>
              </a:solidFill>
              <a:latin typeface="Bookman Old Style"/>
              <a:ea typeface="Bookman Old Style"/>
              <a:cs typeface="Bookman Old Style"/>
              <a:sym typeface="Bookman Old Style"/>
            </a:endParaRPr>
          </a:p>
        </p:txBody>
      </p:sp>
      <p:sp>
        <p:nvSpPr>
          <p:cNvPr id="782" name="Google Shape;782;p53"/>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54"/>
          <p:cNvSpPr/>
          <p:nvPr/>
        </p:nvSpPr>
        <p:spPr>
          <a:xfrm>
            <a:off x="242887" y="219984"/>
            <a:ext cx="9791700" cy="6625257"/>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788" name="Google Shape;788;p54"/>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789" name="Google Shape;789;p54"/>
          <p:cNvSpPr/>
          <p:nvPr/>
        </p:nvSpPr>
        <p:spPr>
          <a:xfrm>
            <a:off x="818257" y="394792"/>
            <a:ext cx="8604957" cy="661947"/>
          </a:xfrm>
          <a:prstGeom prst="roundRect">
            <a:avLst>
              <a:gd fmla="val 45749" name="adj"/>
            </a:avLst>
          </a:prstGeom>
          <a:solidFill>
            <a:srgbClr val="FFFFFF">
              <a:alpha val="52549"/>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ru-RU" sz="2800">
                <a:solidFill>
                  <a:schemeClr val="dk1"/>
                </a:solidFill>
                <a:latin typeface="Arial"/>
                <a:ea typeface="Arial"/>
                <a:cs typeface="Arial"/>
                <a:sym typeface="Arial"/>
              </a:rPr>
              <a:t>Задачи Data Mining</a:t>
            </a:r>
            <a:endParaRPr b="1" sz="2800">
              <a:solidFill>
                <a:schemeClr val="dk1"/>
              </a:solidFill>
              <a:latin typeface="Arial"/>
              <a:ea typeface="Arial"/>
              <a:cs typeface="Arial"/>
              <a:sym typeface="Arial"/>
            </a:endParaRPr>
          </a:p>
        </p:txBody>
      </p:sp>
      <p:sp>
        <p:nvSpPr>
          <p:cNvPr id="790" name="Google Shape;790;p54"/>
          <p:cNvSpPr/>
          <p:nvPr/>
        </p:nvSpPr>
        <p:spPr>
          <a:xfrm>
            <a:off x="425087" y="1140037"/>
            <a:ext cx="7809994" cy="69491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ru-RU" sz="2000">
                <a:solidFill>
                  <a:srgbClr val="0B769C"/>
                </a:solidFill>
                <a:latin typeface="Arial"/>
                <a:ea typeface="Arial"/>
                <a:cs typeface="Arial"/>
                <a:sym typeface="Arial"/>
              </a:rPr>
              <a:t>Обучение с учителем и без учителя</a:t>
            </a:r>
            <a:endParaRPr/>
          </a:p>
        </p:txBody>
      </p:sp>
      <p:sp>
        <p:nvSpPr>
          <p:cNvPr id="791" name="Google Shape;791;p54"/>
          <p:cNvSpPr txBox="1"/>
          <p:nvPr/>
        </p:nvSpPr>
        <p:spPr>
          <a:xfrm>
            <a:off x="412078" y="1834953"/>
            <a:ext cx="9622509" cy="4401205"/>
          </a:xfrm>
          <a:prstGeom prst="rect">
            <a:avLst/>
          </a:prstGeom>
          <a:noFill/>
          <a:ln>
            <a:noFill/>
          </a:ln>
        </p:spPr>
        <p:txBody>
          <a:bodyPr anchorCtr="0" anchor="t" bIns="45700" lIns="91425" spcFirstLastPara="1" rIns="91425" wrap="square" tIns="45700">
            <a:spAutoFit/>
          </a:bodyPr>
          <a:lstStyle/>
          <a:p>
            <a:pPr indent="449263" lvl="0" marL="0" marR="0" rtl="0" algn="l">
              <a:spcBef>
                <a:spcPts val="0"/>
              </a:spcBef>
              <a:spcAft>
                <a:spcPts val="0"/>
              </a:spcAft>
              <a:buNone/>
            </a:pPr>
            <a:r>
              <a:rPr b="1" lang="ru-RU" sz="2000">
                <a:solidFill>
                  <a:srgbClr val="0070C0"/>
                </a:solidFill>
                <a:latin typeface="Bookman Old Style"/>
                <a:ea typeface="Bookman Old Style"/>
                <a:cs typeface="Bookman Old Style"/>
                <a:sym typeface="Bookman Old Style"/>
              </a:rPr>
              <a:t>Обучение без учителя</a:t>
            </a:r>
            <a:r>
              <a:rPr b="1" lang="ru-RU" sz="2000">
                <a:solidFill>
                  <a:srgbClr val="000000"/>
                </a:solidFill>
                <a:latin typeface="Bookman Old Style"/>
                <a:ea typeface="Bookman Old Style"/>
                <a:cs typeface="Bookman Old Style"/>
                <a:sym typeface="Bookman Old Style"/>
              </a:rPr>
              <a:t> </a:t>
            </a:r>
            <a:r>
              <a:rPr lang="ru-RU" sz="2000">
                <a:solidFill>
                  <a:srgbClr val="000000"/>
                </a:solidFill>
                <a:latin typeface="Bookman Old Style"/>
                <a:ea typeface="Bookman Old Style"/>
                <a:cs typeface="Bookman Old Style"/>
                <a:sym typeface="Bookman Old Style"/>
              </a:rPr>
              <a:t>описывает несколько более сложную ситуацию, в которой для каждого наблюдения </a:t>
            </a:r>
            <a:r>
              <a:rPr i="1" lang="ru-RU" sz="2000">
                <a:solidFill>
                  <a:srgbClr val="000000"/>
                </a:solidFill>
                <a:latin typeface="Bookman Old Style"/>
                <a:ea typeface="Bookman Old Style"/>
                <a:cs typeface="Bookman Old Style"/>
                <a:sym typeface="Bookman Old Style"/>
              </a:rPr>
              <a:t>i = 1,..., n, </a:t>
            </a:r>
            <a:r>
              <a:rPr lang="ru-RU" sz="2000">
                <a:solidFill>
                  <a:srgbClr val="000000"/>
                </a:solidFill>
                <a:latin typeface="Bookman Old Style"/>
                <a:ea typeface="Bookman Old Style"/>
                <a:cs typeface="Bookman Old Style"/>
                <a:sym typeface="Bookman Old Style"/>
              </a:rPr>
              <a:t>имеется вектор измерений </a:t>
            </a:r>
            <a:r>
              <a:rPr i="1" lang="ru-RU" sz="2000">
                <a:solidFill>
                  <a:srgbClr val="000000"/>
                </a:solidFill>
                <a:latin typeface="Bookman Old Style"/>
                <a:ea typeface="Bookman Old Style"/>
                <a:cs typeface="Bookman Old Style"/>
                <a:sym typeface="Bookman Old Style"/>
              </a:rPr>
              <a:t>х</a:t>
            </a:r>
            <a:r>
              <a:rPr baseline="-25000" i="1" lang="ru-RU" sz="2000">
                <a:solidFill>
                  <a:srgbClr val="000000"/>
                </a:solidFill>
                <a:latin typeface="Bookman Old Style"/>
                <a:ea typeface="Bookman Old Style"/>
                <a:cs typeface="Bookman Old Style"/>
                <a:sym typeface="Bookman Old Style"/>
              </a:rPr>
              <a:t>i</a:t>
            </a:r>
            <a:r>
              <a:rPr lang="ru-RU" sz="2000">
                <a:solidFill>
                  <a:srgbClr val="000000"/>
                </a:solidFill>
                <a:latin typeface="Bookman Old Style"/>
                <a:ea typeface="Bookman Old Style"/>
                <a:cs typeface="Bookman Old Style"/>
                <a:sym typeface="Bookman Old Style"/>
              </a:rPr>
              <a:t>, но без соответствующего отклика </a:t>
            </a:r>
            <a:r>
              <a:rPr i="1" lang="ru-RU" sz="2000">
                <a:solidFill>
                  <a:srgbClr val="000000"/>
                </a:solidFill>
                <a:latin typeface="Bookman Old Style"/>
                <a:ea typeface="Bookman Old Style"/>
                <a:cs typeface="Bookman Old Style"/>
                <a:sym typeface="Bookman Old Style"/>
              </a:rPr>
              <a:t>у</a:t>
            </a:r>
            <a:r>
              <a:rPr baseline="-25000" i="1" lang="ru-RU" sz="2000">
                <a:solidFill>
                  <a:srgbClr val="000000"/>
                </a:solidFill>
                <a:latin typeface="Bookman Old Style"/>
                <a:ea typeface="Bookman Old Style"/>
                <a:cs typeface="Bookman Old Style"/>
                <a:sym typeface="Bookman Old Style"/>
              </a:rPr>
              <a:t>i</a:t>
            </a:r>
            <a:r>
              <a:rPr lang="ru-RU" sz="2000">
                <a:solidFill>
                  <a:srgbClr val="000000"/>
                </a:solidFill>
                <a:latin typeface="Bookman Old Style"/>
                <a:ea typeface="Bookman Old Style"/>
                <a:cs typeface="Bookman Old Style"/>
                <a:sym typeface="Bookman Old Style"/>
              </a:rPr>
              <a:t>.</a:t>
            </a:r>
            <a:endParaRPr sz="2000">
              <a:solidFill>
                <a:srgbClr val="000000"/>
              </a:solidFill>
              <a:latin typeface="Bookman Old Style"/>
              <a:ea typeface="Bookman Old Style"/>
              <a:cs typeface="Bookman Old Style"/>
              <a:sym typeface="Bookman Old Style"/>
            </a:endParaRPr>
          </a:p>
          <a:p>
            <a:pPr indent="449263" lvl="0" marL="0" marR="0" rtl="0" algn="l">
              <a:spcBef>
                <a:spcPts val="0"/>
              </a:spcBef>
              <a:spcAft>
                <a:spcPts val="0"/>
              </a:spcAft>
              <a:buNone/>
            </a:pPr>
            <a:r>
              <a:rPr lang="ru-RU" sz="2000">
                <a:solidFill>
                  <a:srgbClr val="000000"/>
                </a:solidFill>
                <a:latin typeface="Bookman Old Style"/>
                <a:ea typeface="Bookman Old Style"/>
                <a:cs typeface="Bookman Old Style"/>
                <a:sym typeface="Bookman Old Style"/>
              </a:rPr>
              <a:t>Подогнать линейную регрессионную модель невозможно, поскольку подлежащая предсказанию зависимая переменная отсутствует. </a:t>
            </a:r>
            <a:endParaRPr sz="2000">
              <a:solidFill>
                <a:srgbClr val="000000"/>
              </a:solidFill>
              <a:latin typeface="Bookman Old Style"/>
              <a:ea typeface="Bookman Old Style"/>
              <a:cs typeface="Bookman Old Style"/>
              <a:sym typeface="Bookman Old Style"/>
            </a:endParaRPr>
          </a:p>
          <a:p>
            <a:pPr indent="449263" lvl="0" marL="0" marR="0" rtl="0" algn="l">
              <a:spcBef>
                <a:spcPts val="0"/>
              </a:spcBef>
              <a:spcAft>
                <a:spcPts val="0"/>
              </a:spcAft>
              <a:buNone/>
            </a:pPr>
            <a:r>
              <a:rPr lang="ru-RU" sz="2000">
                <a:solidFill>
                  <a:srgbClr val="000000"/>
                </a:solidFill>
                <a:latin typeface="Bookman Old Style"/>
                <a:ea typeface="Bookman Old Style"/>
                <a:cs typeface="Bookman Old Style"/>
                <a:sym typeface="Bookman Old Style"/>
              </a:rPr>
              <a:t>При таком сценарии мы в некотором смысле работаем вслепую: подобную ситуацию называют </a:t>
            </a:r>
            <a:r>
              <a:rPr b="1" lang="ru-RU" sz="2000">
                <a:solidFill>
                  <a:srgbClr val="0070C0"/>
                </a:solidFill>
                <a:latin typeface="Bookman Old Style"/>
                <a:ea typeface="Bookman Old Style"/>
                <a:cs typeface="Bookman Old Style"/>
                <a:sym typeface="Bookman Old Style"/>
              </a:rPr>
              <a:t>обучением без учителя</a:t>
            </a:r>
            <a:r>
              <a:rPr lang="ru-RU" sz="2000">
                <a:solidFill>
                  <a:srgbClr val="000000"/>
                </a:solidFill>
                <a:latin typeface="Bookman Old Style"/>
                <a:ea typeface="Bookman Old Style"/>
                <a:cs typeface="Bookman Old Style"/>
                <a:sym typeface="Bookman Old Style"/>
              </a:rPr>
              <a:t>, поскольку у нас нет зависимой переменной, которая «руководила» бы нашим анализом. </a:t>
            </a:r>
            <a:endParaRPr sz="2000">
              <a:solidFill>
                <a:srgbClr val="000000"/>
              </a:solidFill>
              <a:latin typeface="Bookman Old Style"/>
              <a:ea typeface="Bookman Old Style"/>
              <a:cs typeface="Bookman Old Style"/>
              <a:sym typeface="Bookman Old Style"/>
            </a:endParaRPr>
          </a:p>
          <a:p>
            <a:pPr indent="449263" lvl="0" marL="0" marR="0" rtl="0" algn="l">
              <a:spcBef>
                <a:spcPts val="0"/>
              </a:spcBef>
              <a:spcAft>
                <a:spcPts val="0"/>
              </a:spcAft>
              <a:buNone/>
            </a:pPr>
            <a:r>
              <a:rPr lang="ru-RU" sz="2000">
                <a:solidFill>
                  <a:srgbClr val="000000"/>
                </a:solidFill>
                <a:latin typeface="Bookman Old Style"/>
                <a:ea typeface="Bookman Old Style"/>
                <a:cs typeface="Bookman Old Style"/>
                <a:sym typeface="Bookman Old Style"/>
              </a:rPr>
              <a:t>Какой статистический анализ все же возможен? Мы можем попытаться понять взаимоотношения между переменными или между наблюдениями. Один из статистических инструментов, который мы можем использовать в такой ситуации, — это кластерный анализ, или кластеризация. </a:t>
            </a:r>
            <a:endParaRPr sz="2000">
              <a:solidFill>
                <a:srgbClr val="000000"/>
              </a:solidFill>
              <a:latin typeface="Bookman Old Style"/>
              <a:ea typeface="Bookman Old Style"/>
              <a:cs typeface="Bookman Old Style"/>
              <a:sym typeface="Bookman Old Style"/>
            </a:endParaRPr>
          </a:p>
        </p:txBody>
      </p:sp>
      <p:sp>
        <p:nvSpPr>
          <p:cNvPr id="792" name="Google Shape;792;p54"/>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55"/>
          <p:cNvSpPr/>
          <p:nvPr/>
        </p:nvSpPr>
        <p:spPr>
          <a:xfrm>
            <a:off x="135193" y="207965"/>
            <a:ext cx="9791700" cy="6625257"/>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798" name="Google Shape;798;p55"/>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799" name="Google Shape;799;p55"/>
          <p:cNvSpPr/>
          <p:nvPr/>
        </p:nvSpPr>
        <p:spPr>
          <a:xfrm>
            <a:off x="818257" y="394792"/>
            <a:ext cx="8604957" cy="661947"/>
          </a:xfrm>
          <a:prstGeom prst="roundRect">
            <a:avLst>
              <a:gd fmla="val 45749" name="adj"/>
            </a:avLst>
          </a:prstGeom>
          <a:solidFill>
            <a:srgbClr val="FFFFFF">
              <a:alpha val="52549"/>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ru-RU" sz="2800">
                <a:solidFill>
                  <a:schemeClr val="dk1"/>
                </a:solidFill>
                <a:latin typeface="Arial"/>
                <a:ea typeface="Arial"/>
                <a:cs typeface="Arial"/>
                <a:sym typeface="Arial"/>
              </a:rPr>
              <a:t>Задачи Data Mining</a:t>
            </a:r>
            <a:endParaRPr b="1" sz="2800">
              <a:solidFill>
                <a:schemeClr val="dk1"/>
              </a:solidFill>
              <a:latin typeface="Arial"/>
              <a:ea typeface="Arial"/>
              <a:cs typeface="Arial"/>
              <a:sym typeface="Arial"/>
            </a:endParaRPr>
          </a:p>
        </p:txBody>
      </p:sp>
      <p:sp>
        <p:nvSpPr>
          <p:cNvPr id="800" name="Google Shape;800;p55"/>
          <p:cNvSpPr/>
          <p:nvPr/>
        </p:nvSpPr>
        <p:spPr>
          <a:xfrm>
            <a:off x="425087" y="1140037"/>
            <a:ext cx="7809994" cy="69491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ru-RU" sz="2000">
                <a:solidFill>
                  <a:srgbClr val="0B769C"/>
                </a:solidFill>
                <a:latin typeface="Arial"/>
                <a:ea typeface="Arial"/>
                <a:cs typeface="Arial"/>
                <a:sym typeface="Arial"/>
              </a:rPr>
              <a:t>Обучение с учителем и без учителя</a:t>
            </a:r>
            <a:endParaRPr/>
          </a:p>
        </p:txBody>
      </p:sp>
      <p:sp>
        <p:nvSpPr>
          <p:cNvPr id="801" name="Google Shape;801;p55"/>
          <p:cNvSpPr txBox="1"/>
          <p:nvPr/>
        </p:nvSpPr>
        <p:spPr>
          <a:xfrm>
            <a:off x="260951" y="1588256"/>
            <a:ext cx="5140932" cy="5016758"/>
          </a:xfrm>
          <a:prstGeom prst="rect">
            <a:avLst/>
          </a:prstGeom>
          <a:noFill/>
          <a:ln>
            <a:noFill/>
          </a:ln>
        </p:spPr>
        <p:txBody>
          <a:bodyPr anchorCtr="0" anchor="t" bIns="45700" lIns="91425" spcFirstLastPara="1" rIns="91425" wrap="square" tIns="45700">
            <a:spAutoFit/>
          </a:bodyPr>
          <a:lstStyle/>
          <a:p>
            <a:pPr indent="449263" lvl="0" marL="0" marR="0" rtl="0" algn="l">
              <a:spcBef>
                <a:spcPts val="0"/>
              </a:spcBef>
              <a:spcAft>
                <a:spcPts val="0"/>
              </a:spcAft>
              <a:buNone/>
            </a:pPr>
            <a:r>
              <a:rPr lang="ru-RU" sz="2000">
                <a:solidFill>
                  <a:srgbClr val="000000"/>
                </a:solidFill>
                <a:latin typeface="Bookman Old Style"/>
                <a:ea typeface="Bookman Old Style"/>
                <a:cs typeface="Bookman Old Style"/>
                <a:sym typeface="Bookman Old Style"/>
              </a:rPr>
              <a:t>Цель кластерного анализа заключается в установлении того, разделяются ли наблюдения </a:t>
            </a:r>
            <a:r>
              <a:rPr i="1" lang="ru-RU" sz="2000">
                <a:solidFill>
                  <a:srgbClr val="000000"/>
                </a:solidFill>
                <a:latin typeface="Bookman Old Style"/>
                <a:ea typeface="Bookman Old Style"/>
                <a:cs typeface="Bookman Old Style"/>
                <a:sym typeface="Bookman Old Style"/>
              </a:rPr>
              <a:t>x</a:t>
            </a:r>
            <a:r>
              <a:rPr baseline="-25000" i="1" lang="ru-RU" sz="2000">
                <a:solidFill>
                  <a:srgbClr val="000000"/>
                </a:solidFill>
                <a:latin typeface="Bookman Old Style"/>
                <a:ea typeface="Bookman Old Style"/>
                <a:cs typeface="Bookman Old Style"/>
                <a:sym typeface="Bookman Old Style"/>
              </a:rPr>
              <a:t>1</a:t>
            </a:r>
            <a:r>
              <a:rPr i="1" lang="ru-RU" sz="2000">
                <a:solidFill>
                  <a:srgbClr val="000000"/>
                </a:solidFill>
                <a:latin typeface="Bookman Old Style"/>
                <a:ea typeface="Bookman Old Style"/>
                <a:cs typeface="Bookman Old Style"/>
                <a:sym typeface="Bookman Old Style"/>
              </a:rPr>
              <a:t>, x</a:t>
            </a:r>
            <a:r>
              <a:rPr baseline="-25000" i="1" lang="ru-RU" sz="2000">
                <a:solidFill>
                  <a:srgbClr val="000000"/>
                </a:solidFill>
                <a:latin typeface="Bookman Old Style"/>
                <a:ea typeface="Bookman Old Style"/>
                <a:cs typeface="Bookman Old Style"/>
                <a:sym typeface="Bookman Old Style"/>
              </a:rPr>
              <a:t>2</a:t>
            </a:r>
            <a:r>
              <a:rPr i="1" lang="ru-RU" sz="2000">
                <a:solidFill>
                  <a:srgbClr val="000000"/>
                </a:solidFill>
                <a:latin typeface="Bookman Old Style"/>
                <a:ea typeface="Bookman Old Style"/>
                <a:cs typeface="Bookman Old Style"/>
                <a:sym typeface="Bookman Old Style"/>
              </a:rPr>
              <a:t>, …, x</a:t>
            </a:r>
            <a:r>
              <a:rPr baseline="-25000" i="1" lang="ru-RU" sz="2000">
                <a:solidFill>
                  <a:srgbClr val="000000"/>
                </a:solidFill>
                <a:latin typeface="Bookman Old Style"/>
                <a:ea typeface="Bookman Old Style"/>
                <a:cs typeface="Bookman Old Style"/>
                <a:sym typeface="Bookman Old Style"/>
              </a:rPr>
              <a:t>n </a:t>
            </a:r>
            <a:r>
              <a:rPr lang="ru-RU" sz="2000">
                <a:solidFill>
                  <a:srgbClr val="000000"/>
                </a:solidFill>
                <a:latin typeface="Bookman Old Style"/>
                <a:ea typeface="Bookman Old Style"/>
                <a:cs typeface="Bookman Old Style"/>
                <a:sym typeface="Bookman Old Style"/>
              </a:rPr>
              <a:t>на относительно четко выра-женные группы. Например, в исследовании по сегментированию рынка мы могли бы учесть различные характеристики (переменные) для потенциальных клиентов, такие как почтовый индекс, семейный доход и покупательские привычки. Мы могли бы ожидать, что клиенты образуют разные группы, такие как «тратящие много» и «тратящие мало». Однако алгоритм кластеризации сформировал 3 группы.</a:t>
            </a:r>
            <a:endParaRPr/>
          </a:p>
        </p:txBody>
      </p:sp>
      <p:pic>
        <p:nvPicPr>
          <p:cNvPr id="802" name="Google Shape;802;p55"/>
          <p:cNvPicPr preferRelativeResize="0"/>
          <p:nvPr/>
        </p:nvPicPr>
        <p:blipFill rotWithShape="1">
          <a:blip r:embed="rId3">
            <a:alphaModFix/>
          </a:blip>
          <a:srcRect b="0" l="0" r="0" t="0"/>
          <a:stretch/>
        </p:blipFill>
        <p:spPr>
          <a:xfrm>
            <a:off x="5237746" y="1739932"/>
            <a:ext cx="4714473" cy="2729062"/>
          </a:xfrm>
          <a:prstGeom prst="rect">
            <a:avLst/>
          </a:prstGeom>
          <a:noFill/>
          <a:ln>
            <a:noFill/>
          </a:ln>
        </p:spPr>
      </p:pic>
      <p:sp>
        <p:nvSpPr>
          <p:cNvPr id="803" name="Google Shape;803;p55"/>
          <p:cNvSpPr/>
          <p:nvPr/>
        </p:nvSpPr>
        <p:spPr>
          <a:xfrm>
            <a:off x="5600666" y="4727213"/>
            <a:ext cx="4392488" cy="1477328"/>
          </a:xfrm>
          <a:prstGeom prst="rect">
            <a:avLst/>
          </a:prstGeom>
          <a:noFill/>
          <a:ln>
            <a:noFill/>
          </a:ln>
        </p:spPr>
        <p:txBody>
          <a:bodyPr anchorCtr="0" anchor="t" bIns="45700" lIns="91425" spcFirstLastPara="1" rIns="91425" wrap="square" tIns="45700">
            <a:spAutoFit/>
          </a:bodyPr>
          <a:lstStyle/>
          <a:p>
            <a:pPr indent="449263" lvl="0" marL="0" marR="0" rtl="0" algn="l">
              <a:spcBef>
                <a:spcPts val="0"/>
              </a:spcBef>
              <a:spcAft>
                <a:spcPts val="0"/>
              </a:spcAft>
              <a:buNone/>
            </a:pPr>
            <a:r>
              <a:rPr lang="ru-RU" sz="1800">
                <a:solidFill>
                  <a:srgbClr val="000000"/>
                </a:solidFill>
                <a:latin typeface="Bookman Old Style"/>
                <a:ea typeface="Bookman Old Style"/>
                <a:cs typeface="Bookman Old Style"/>
                <a:sym typeface="Bookman Old Style"/>
              </a:rPr>
              <a:t>На рисунке представлены 150 наблюдений со значениями двух переменных — Х1 и Х2. Каждое наблюдение соответствует одной из трех отдельных групп. </a:t>
            </a:r>
            <a:endParaRPr/>
          </a:p>
        </p:txBody>
      </p:sp>
      <p:sp>
        <p:nvSpPr>
          <p:cNvPr id="804" name="Google Shape;804;p55"/>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56"/>
          <p:cNvSpPr/>
          <p:nvPr/>
        </p:nvSpPr>
        <p:spPr>
          <a:xfrm>
            <a:off x="242887" y="219984"/>
            <a:ext cx="9791700" cy="6625257"/>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810" name="Google Shape;810;p56"/>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811" name="Google Shape;811;p56"/>
          <p:cNvSpPr/>
          <p:nvPr/>
        </p:nvSpPr>
        <p:spPr>
          <a:xfrm>
            <a:off x="818257" y="394792"/>
            <a:ext cx="8604957" cy="661947"/>
          </a:xfrm>
          <a:prstGeom prst="roundRect">
            <a:avLst>
              <a:gd fmla="val 45749" name="adj"/>
            </a:avLst>
          </a:prstGeom>
          <a:solidFill>
            <a:srgbClr val="FFFFFF">
              <a:alpha val="52549"/>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ru-RU" sz="2800">
                <a:solidFill>
                  <a:schemeClr val="dk1"/>
                </a:solidFill>
                <a:latin typeface="Arial"/>
                <a:ea typeface="Arial"/>
                <a:cs typeface="Arial"/>
                <a:sym typeface="Arial"/>
              </a:rPr>
              <a:t>Задачи Data Mining</a:t>
            </a:r>
            <a:endParaRPr b="1" sz="2800">
              <a:solidFill>
                <a:schemeClr val="dk1"/>
              </a:solidFill>
              <a:latin typeface="Arial"/>
              <a:ea typeface="Arial"/>
              <a:cs typeface="Arial"/>
              <a:sym typeface="Arial"/>
            </a:endParaRPr>
          </a:p>
        </p:txBody>
      </p:sp>
      <p:sp>
        <p:nvSpPr>
          <p:cNvPr id="812" name="Google Shape;812;p56"/>
          <p:cNvSpPr/>
          <p:nvPr/>
        </p:nvSpPr>
        <p:spPr>
          <a:xfrm>
            <a:off x="245332" y="1140037"/>
            <a:ext cx="4317341" cy="47889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ru-RU" sz="2000">
                <a:solidFill>
                  <a:srgbClr val="0B769C"/>
                </a:solidFill>
                <a:latin typeface="Arial"/>
                <a:ea typeface="Arial"/>
                <a:cs typeface="Arial"/>
                <a:sym typeface="Arial"/>
              </a:rPr>
              <a:t>Измерение качества модели</a:t>
            </a:r>
            <a:endParaRPr/>
          </a:p>
        </p:txBody>
      </p:sp>
      <p:sp>
        <p:nvSpPr>
          <p:cNvPr id="813" name="Google Shape;813;p56"/>
          <p:cNvSpPr txBox="1"/>
          <p:nvPr/>
        </p:nvSpPr>
        <p:spPr>
          <a:xfrm>
            <a:off x="324985" y="1531659"/>
            <a:ext cx="9627504" cy="5170646"/>
          </a:xfrm>
          <a:prstGeom prst="rect">
            <a:avLst/>
          </a:prstGeom>
          <a:noFill/>
          <a:ln>
            <a:noFill/>
          </a:ln>
        </p:spPr>
        <p:txBody>
          <a:bodyPr anchorCtr="0" anchor="t" bIns="45700" lIns="91425" spcFirstLastPara="1" rIns="91425" wrap="square" tIns="45700">
            <a:spAutoFit/>
          </a:bodyPr>
          <a:lstStyle/>
          <a:p>
            <a:pPr indent="449263" lvl="0" marL="0" marR="0" rtl="0" algn="l">
              <a:spcBef>
                <a:spcPts val="0"/>
              </a:spcBef>
              <a:spcAft>
                <a:spcPts val="0"/>
              </a:spcAft>
              <a:buNone/>
            </a:pPr>
            <a:r>
              <a:rPr lang="ru-RU" sz="2200">
                <a:solidFill>
                  <a:srgbClr val="000000"/>
                </a:solidFill>
                <a:latin typeface="Bookman Old Style"/>
                <a:ea typeface="Bookman Old Style"/>
                <a:cs typeface="Bookman Old Style"/>
                <a:sym typeface="Bookman Old Style"/>
              </a:rPr>
              <a:t>Нам нужно количественно выразить степень того, насколько предсказанное значение отклика близко к истинному значению отклика у соответствующего наблюдения. В регрессионном анализе наиболее часто используемой для этого мерой является среднеквадратичная ошибка (MSE - mean squared error), вычисляемая как:</a:t>
            </a:r>
            <a:endParaRPr/>
          </a:p>
          <a:p>
            <a:pPr indent="449263" lvl="0" marL="0" marR="0" rtl="0" algn="l">
              <a:spcBef>
                <a:spcPts val="0"/>
              </a:spcBef>
              <a:spcAft>
                <a:spcPts val="0"/>
              </a:spcAft>
              <a:buNone/>
            </a:pPr>
            <a:r>
              <a:t/>
            </a:r>
            <a:endParaRPr sz="2200">
              <a:solidFill>
                <a:srgbClr val="000000"/>
              </a:solidFill>
              <a:latin typeface="Bookman Old Style"/>
              <a:ea typeface="Bookman Old Style"/>
              <a:cs typeface="Bookman Old Style"/>
              <a:sym typeface="Bookman Old Style"/>
            </a:endParaRPr>
          </a:p>
          <a:p>
            <a:pPr indent="449263" lvl="0" marL="0" marR="0" rtl="0" algn="l">
              <a:spcBef>
                <a:spcPts val="0"/>
              </a:spcBef>
              <a:spcAft>
                <a:spcPts val="0"/>
              </a:spcAft>
              <a:buNone/>
            </a:pPr>
            <a:r>
              <a:t/>
            </a:r>
            <a:endParaRPr sz="2200">
              <a:solidFill>
                <a:srgbClr val="000000"/>
              </a:solidFill>
              <a:latin typeface="Bookman Old Style"/>
              <a:ea typeface="Bookman Old Style"/>
              <a:cs typeface="Bookman Old Style"/>
              <a:sym typeface="Bookman Old Style"/>
            </a:endParaRPr>
          </a:p>
          <a:p>
            <a:pPr indent="449263" lvl="0" marL="0" marR="0" rtl="0" algn="l">
              <a:spcBef>
                <a:spcPts val="0"/>
              </a:spcBef>
              <a:spcAft>
                <a:spcPts val="0"/>
              </a:spcAft>
              <a:buNone/>
            </a:pPr>
            <a:r>
              <a:t/>
            </a:r>
            <a:endParaRPr sz="2200">
              <a:solidFill>
                <a:srgbClr val="000000"/>
              </a:solidFill>
              <a:latin typeface="Bookman Old Style"/>
              <a:ea typeface="Bookman Old Style"/>
              <a:cs typeface="Bookman Old Style"/>
              <a:sym typeface="Bookman Old Style"/>
            </a:endParaRPr>
          </a:p>
          <a:p>
            <a:pPr indent="449263" lvl="0" marL="0" marR="0" rtl="0" algn="l">
              <a:spcBef>
                <a:spcPts val="0"/>
              </a:spcBef>
              <a:spcAft>
                <a:spcPts val="0"/>
              </a:spcAft>
              <a:buNone/>
            </a:pPr>
            <a:r>
              <a:t/>
            </a:r>
            <a:endParaRPr sz="2200">
              <a:solidFill>
                <a:srgbClr val="000000"/>
              </a:solidFill>
              <a:latin typeface="Bookman Old Style"/>
              <a:ea typeface="Bookman Old Style"/>
              <a:cs typeface="Bookman Old Style"/>
              <a:sym typeface="Bookman Old Style"/>
            </a:endParaRPr>
          </a:p>
          <a:p>
            <a:pPr indent="449263" lvl="0" marL="0" marR="0" rtl="0" algn="l">
              <a:spcBef>
                <a:spcPts val="0"/>
              </a:spcBef>
              <a:spcAft>
                <a:spcPts val="0"/>
              </a:spcAft>
              <a:buNone/>
            </a:pPr>
            <a:r>
              <a:rPr lang="ru-RU" sz="2200">
                <a:solidFill>
                  <a:srgbClr val="000000"/>
                </a:solidFill>
                <a:latin typeface="Bookman Old Style"/>
                <a:ea typeface="Bookman Old Style"/>
                <a:cs typeface="Bookman Old Style"/>
                <a:sym typeface="Bookman Old Style"/>
              </a:rPr>
              <a:t>Мы подгоняем нашу статистическую модель к обучающим наблюдениям </a:t>
            </a:r>
            <a:r>
              <a:rPr i="1" lang="ru-RU" sz="2200">
                <a:solidFill>
                  <a:srgbClr val="000000"/>
                </a:solidFill>
                <a:latin typeface="Bookman Old Style"/>
                <a:ea typeface="Bookman Old Style"/>
                <a:cs typeface="Bookman Old Style"/>
                <a:sym typeface="Bookman Old Style"/>
              </a:rPr>
              <a:t>{(x</a:t>
            </a:r>
            <a:r>
              <a:rPr baseline="-25000" i="1" lang="ru-RU" sz="2200">
                <a:solidFill>
                  <a:srgbClr val="000000"/>
                </a:solidFill>
                <a:latin typeface="Bookman Old Style"/>
                <a:ea typeface="Bookman Old Style"/>
                <a:cs typeface="Bookman Old Style"/>
                <a:sym typeface="Bookman Old Style"/>
              </a:rPr>
              <a:t>1</a:t>
            </a:r>
            <a:r>
              <a:rPr i="1" lang="ru-RU" sz="2200">
                <a:solidFill>
                  <a:srgbClr val="000000"/>
                </a:solidFill>
                <a:latin typeface="Bookman Old Style"/>
                <a:ea typeface="Bookman Old Style"/>
                <a:cs typeface="Bookman Old Style"/>
                <a:sym typeface="Bookman Old Style"/>
              </a:rPr>
              <a:t>,y</a:t>
            </a:r>
            <a:r>
              <a:rPr baseline="-25000" i="1" lang="ru-RU" sz="2200">
                <a:solidFill>
                  <a:srgbClr val="000000"/>
                </a:solidFill>
                <a:latin typeface="Bookman Old Style"/>
                <a:ea typeface="Bookman Old Style"/>
                <a:cs typeface="Bookman Old Style"/>
                <a:sym typeface="Bookman Old Style"/>
              </a:rPr>
              <a:t>1</a:t>
            </a:r>
            <a:r>
              <a:rPr i="1" lang="ru-RU" sz="2200">
                <a:solidFill>
                  <a:srgbClr val="000000"/>
                </a:solidFill>
                <a:latin typeface="Bookman Old Style"/>
                <a:ea typeface="Bookman Old Style"/>
                <a:cs typeface="Bookman Old Style"/>
                <a:sym typeface="Bookman Old Style"/>
              </a:rPr>
              <a:t>), (х</a:t>
            </a:r>
            <a:r>
              <a:rPr baseline="-25000" i="1" lang="ru-RU" sz="2200">
                <a:solidFill>
                  <a:srgbClr val="000000"/>
                </a:solidFill>
                <a:latin typeface="Bookman Old Style"/>
                <a:ea typeface="Bookman Old Style"/>
                <a:cs typeface="Bookman Old Style"/>
                <a:sym typeface="Bookman Old Style"/>
              </a:rPr>
              <a:t>2</a:t>
            </a:r>
            <a:r>
              <a:rPr i="1" lang="ru-RU" sz="2200">
                <a:solidFill>
                  <a:srgbClr val="000000"/>
                </a:solidFill>
                <a:latin typeface="Bookman Old Style"/>
                <a:ea typeface="Bookman Old Style"/>
                <a:cs typeface="Bookman Old Style"/>
                <a:sym typeface="Bookman Old Style"/>
              </a:rPr>
              <a:t>,y</a:t>
            </a:r>
            <a:r>
              <a:rPr baseline="-25000" i="1" lang="ru-RU" sz="2200">
                <a:solidFill>
                  <a:srgbClr val="000000"/>
                </a:solidFill>
                <a:latin typeface="Bookman Old Style"/>
                <a:ea typeface="Bookman Old Style"/>
                <a:cs typeface="Bookman Old Style"/>
                <a:sym typeface="Bookman Old Style"/>
              </a:rPr>
              <a:t>2</a:t>
            </a:r>
            <a:r>
              <a:rPr i="1" lang="ru-RU" sz="2200">
                <a:solidFill>
                  <a:srgbClr val="000000"/>
                </a:solidFill>
                <a:latin typeface="Bookman Old Style"/>
                <a:ea typeface="Bookman Old Style"/>
                <a:cs typeface="Bookman Old Style"/>
                <a:sym typeface="Bookman Old Style"/>
              </a:rPr>
              <a:t>),(х</a:t>
            </a:r>
            <a:r>
              <a:rPr baseline="-25000" i="1" lang="ru-RU" sz="2200">
                <a:solidFill>
                  <a:srgbClr val="000000"/>
                </a:solidFill>
                <a:latin typeface="Bookman Old Style"/>
                <a:ea typeface="Bookman Old Style"/>
                <a:cs typeface="Bookman Old Style"/>
                <a:sym typeface="Bookman Old Style"/>
              </a:rPr>
              <a:t>n</a:t>
            </a:r>
            <a:r>
              <a:rPr i="1" lang="ru-RU" sz="2200">
                <a:solidFill>
                  <a:srgbClr val="000000"/>
                </a:solidFill>
                <a:latin typeface="Bookman Old Style"/>
                <a:ea typeface="Bookman Old Style"/>
                <a:cs typeface="Bookman Old Style"/>
                <a:sym typeface="Bookman Old Style"/>
              </a:rPr>
              <a:t>,y</a:t>
            </a:r>
            <a:r>
              <a:rPr baseline="-25000" i="1" lang="ru-RU" sz="2200">
                <a:solidFill>
                  <a:srgbClr val="000000"/>
                </a:solidFill>
                <a:latin typeface="Bookman Old Style"/>
                <a:ea typeface="Bookman Old Style"/>
                <a:cs typeface="Bookman Old Style"/>
                <a:sym typeface="Bookman Old Style"/>
              </a:rPr>
              <a:t>n</a:t>
            </a:r>
            <a:r>
              <a:rPr i="1" lang="ru-RU" sz="2200">
                <a:solidFill>
                  <a:srgbClr val="000000"/>
                </a:solidFill>
                <a:latin typeface="Bookman Old Style"/>
                <a:ea typeface="Bookman Old Style"/>
                <a:cs typeface="Bookman Old Style"/>
                <a:sym typeface="Bookman Old Style"/>
              </a:rPr>
              <a:t>)} </a:t>
            </a:r>
            <a:r>
              <a:rPr lang="ru-RU" sz="2200">
                <a:solidFill>
                  <a:srgbClr val="000000"/>
                </a:solidFill>
                <a:latin typeface="Bookman Old Style"/>
                <a:ea typeface="Bookman Old Style"/>
                <a:cs typeface="Bookman Old Style"/>
                <a:sym typeface="Bookman Old Style"/>
              </a:rPr>
              <a:t>и получаем оценку    . </a:t>
            </a:r>
            <a:endParaRPr/>
          </a:p>
          <a:p>
            <a:pPr indent="449263" lvl="0" marL="0" marR="0" rtl="0" algn="l">
              <a:spcBef>
                <a:spcPts val="0"/>
              </a:spcBef>
              <a:spcAft>
                <a:spcPts val="0"/>
              </a:spcAft>
              <a:buNone/>
            </a:pPr>
            <a:r>
              <a:rPr lang="ru-RU" sz="2200">
                <a:solidFill>
                  <a:srgbClr val="000000"/>
                </a:solidFill>
                <a:latin typeface="Bookman Old Style"/>
                <a:ea typeface="Bookman Old Style"/>
                <a:cs typeface="Bookman Old Style"/>
                <a:sym typeface="Bookman Old Style"/>
              </a:rPr>
              <a:t>Далее мы можем вычислить </a:t>
            </a:r>
            <a:r>
              <a:rPr i="1" lang="ru-RU" sz="2200">
                <a:solidFill>
                  <a:srgbClr val="000000"/>
                </a:solidFill>
                <a:latin typeface="Bookman Old Style"/>
                <a:ea typeface="Bookman Old Style"/>
                <a:cs typeface="Bookman Old Style"/>
                <a:sym typeface="Bookman Old Style"/>
              </a:rPr>
              <a:t>f(x</a:t>
            </a:r>
            <a:r>
              <a:rPr baseline="-25000" i="1" lang="ru-RU" sz="2200">
                <a:solidFill>
                  <a:srgbClr val="000000"/>
                </a:solidFill>
                <a:latin typeface="Bookman Old Style"/>
                <a:ea typeface="Bookman Old Style"/>
                <a:cs typeface="Bookman Old Style"/>
                <a:sym typeface="Bookman Old Style"/>
              </a:rPr>
              <a:t>1</a:t>
            </a:r>
            <a:r>
              <a:rPr i="1" lang="ru-RU" sz="2200">
                <a:solidFill>
                  <a:srgbClr val="000000"/>
                </a:solidFill>
                <a:latin typeface="Bookman Old Style"/>
                <a:ea typeface="Bookman Old Style"/>
                <a:cs typeface="Bookman Old Style"/>
                <a:sym typeface="Bookman Old Style"/>
              </a:rPr>
              <a:t>),f(x</a:t>
            </a:r>
            <a:r>
              <a:rPr baseline="-25000" i="1" lang="ru-RU" sz="2200">
                <a:solidFill>
                  <a:srgbClr val="000000"/>
                </a:solidFill>
                <a:latin typeface="Bookman Old Style"/>
                <a:ea typeface="Bookman Old Style"/>
                <a:cs typeface="Bookman Old Style"/>
                <a:sym typeface="Bookman Old Style"/>
              </a:rPr>
              <a:t>2</a:t>
            </a:r>
            <a:r>
              <a:rPr i="1" lang="ru-RU" sz="2200">
                <a:solidFill>
                  <a:srgbClr val="000000"/>
                </a:solidFill>
                <a:latin typeface="Bookman Old Style"/>
                <a:ea typeface="Bookman Old Style"/>
                <a:cs typeface="Bookman Old Style"/>
                <a:sym typeface="Bookman Old Style"/>
              </a:rPr>
              <a:t>),..., f(х</a:t>
            </a:r>
            <a:r>
              <a:rPr baseline="-25000" i="1" lang="ru-RU" sz="2200">
                <a:solidFill>
                  <a:srgbClr val="000000"/>
                </a:solidFill>
                <a:latin typeface="Bookman Old Style"/>
                <a:ea typeface="Bookman Old Style"/>
                <a:cs typeface="Bookman Old Style"/>
                <a:sym typeface="Bookman Old Style"/>
              </a:rPr>
              <a:t>n</a:t>
            </a:r>
            <a:r>
              <a:rPr i="1" lang="ru-RU" sz="2200">
                <a:solidFill>
                  <a:srgbClr val="000000"/>
                </a:solidFill>
                <a:latin typeface="Bookman Old Style"/>
                <a:ea typeface="Bookman Old Style"/>
                <a:cs typeface="Bookman Old Style"/>
                <a:sym typeface="Bookman Old Style"/>
              </a:rPr>
              <a:t>). </a:t>
            </a:r>
            <a:r>
              <a:rPr lang="ru-RU" sz="2200">
                <a:solidFill>
                  <a:srgbClr val="000000"/>
                </a:solidFill>
                <a:latin typeface="Bookman Old Style"/>
                <a:ea typeface="Bookman Old Style"/>
                <a:cs typeface="Bookman Old Style"/>
                <a:sym typeface="Bookman Old Style"/>
              </a:rPr>
              <a:t>Если полученные значения примерно равны </a:t>
            </a:r>
            <a:r>
              <a:rPr i="1" lang="ru-RU" sz="2200">
                <a:solidFill>
                  <a:srgbClr val="000000"/>
                </a:solidFill>
                <a:latin typeface="Bookman Old Style"/>
                <a:ea typeface="Bookman Old Style"/>
                <a:cs typeface="Bookman Old Style"/>
                <a:sym typeface="Bookman Old Style"/>
              </a:rPr>
              <a:t>y</a:t>
            </a:r>
            <a:r>
              <a:rPr baseline="-25000" i="1" lang="ru-RU" sz="2200">
                <a:solidFill>
                  <a:srgbClr val="000000"/>
                </a:solidFill>
                <a:latin typeface="Bookman Old Style"/>
                <a:ea typeface="Bookman Old Style"/>
                <a:cs typeface="Bookman Old Style"/>
                <a:sym typeface="Bookman Old Style"/>
              </a:rPr>
              <a:t>1</a:t>
            </a:r>
            <a:r>
              <a:rPr i="1" lang="ru-RU" sz="2200">
                <a:solidFill>
                  <a:srgbClr val="000000"/>
                </a:solidFill>
                <a:latin typeface="Bookman Old Style"/>
                <a:ea typeface="Bookman Old Style"/>
                <a:cs typeface="Bookman Old Style"/>
                <a:sym typeface="Bookman Old Style"/>
              </a:rPr>
              <a:t>, y</a:t>
            </a:r>
            <a:r>
              <a:rPr baseline="-25000" i="1" lang="ru-RU" sz="2200">
                <a:solidFill>
                  <a:srgbClr val="000000"/>
                </a:solidFill>
                <a:latin typeface="Bookman Old Style"/>
                <a:ea typeface="Bookman Old Style"/>
                <a:cs typeface="Bookman Old Style"/>
                <a:sym typeface="Bookman Old Style"/>
              </a:rPr>
              <a:t>2</a:t>
            </a:r>
            <a:r>
              <a:rPr i="1" lang="ru-RU" sz="2200">
                <a:solidFill>
                  <a:srgbClr val="000000"/>
                </a:solidFill>
                <a:latin typeface="Bookman Old Style"/>
                <a:ea typeface="Bookman Old Style"/>
                <a:cs typeface="Bookman Old Style"/>
                <a:sym typeface="Bookman Old Style"/>
              </a:rPr>
              <a:t>, …, y</a:t>
            </a:r>
            <a:r>
              <a:rPr baseline="-25000" i="1" lang="ru-RU" sz="2200">
                <a:solidFill>
                  <a:srgbClr val="000000"/>
                </a:solidFill>
                <a:latin typeface="Bookman Old Style"/>
                <a:ea typeface="Bookman Old Style"/>
                <a:cs typeface="Bookman Old Style"/>
                <a:sym typeface="Bookman Old Style"/>
              </a:rPr>
              <a:t>n</a:t>
            </a:r>
            <a:r>
              <a:rPr i="1" lang="ru-RU" sz="2200">
                <a:solidFill>
                  <a:srgbClr val="000000"/>
                </a:solidFill>
                <a:latin typeface="Bookman Old Style"/>
                <a:ea typeface="Bookman Old Style"/>
                <a:cs typeface="Bookman Old Style"/>
                <a:sym typeface="Bookman Old Style"/>
              </a:rPr>
              <a:t>, </a:t>
            </a:r>
            <a:r>
              <a:rPr lang="ru-RU" sz="2200">
                <a:solidFill>
                  <a:srgbClr val="000000"/>
                </a:solidFill>
                <a:latin typeface="Bookman Old Style"/>
                <a:ea typeface="Bookman Old Style"/>
                <a:cs typeface="Bookman Old Style"/>
                <a:sym typeface="Bookman Old Style"/>
              </a:rPr>
              <a:t>то MSE на обучающей 	выборке, рассчитанная по (5) окажется низкой. </a:t>
            </a:r>
            <a:endParaRPr/>
          </a:p>
        </p:txBody>
      </p:sp>
      <p:pic>
        <p:nvPicPr>
          <p:cNvPr id="814" name="Google Shape;814;p56"/>
          <p:cNvPicPr preferRelativeResize="0"/>
          <p:nvPr/>
        </p:nvPicPr>
        <p:blipFill rotWithShape="1">
          <a:blip r:embed="rId3">
            <a:alphaModFix/>
          </a:blip>
          <a:srcRect b="0" l="0" r="0" t="0"/>
          <a:stretch/>
        </p:blipFill>
        <p:spPr>
          <a:xfrm>
            <a:off x="3482553" y="3556565"/>
            <a:ext cx="2800350" cy="895350"/>
          </a:xfrm>
          <a:prstGeom prst="rect">
            <a:avLst/>
          </a:prstGeom>
          <a:noFill/>
          <a:ln>
            <a:noFill/>
          </a:ln>
        </p:spPr>
      </p:pic>
      <p:sp>
        <p:nvSpPr>
          <p:cNvPr id="815" name="Google Shape;815;p56"/>
          <p:cNvSpPr/>
          <p:nvPr/>
        </p:nvSpPr>
        <p:spPr>
          <a:xfrm>
            <a:off x="8925962" y="3716872"/>
            <a:ext cx="497252"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ru-RU" sz="2000">
                <a:solidFill>
                  <a:srgbClr val="000000"/>
                </a:solidFill>
                <a:latin typeface="Bookman Old Style"/>
                <a:ea typeface="Bookman Old Style"/>
                <a:cs typeface="Bookman Old Style"/>
                <a:sym typeface="Bookman Old Style"/>
              </a:rPr>
              <a:t>(5)</a:t>
            </a:r>
            <a:endParaRPr/>
          </a:p>
        </p:txBody>
      </p:sp>
      <p:pic>
        <p:nvPicPr>
          <p:cNvPr id="816" name="Google Shape;816;p56"/>
          <p:cNvPicPr preferRelativeResize="0"/>
          <p:nvPr/>
        </p:nvPicPr>
        <p:blipFill rotWithShape="1">
          <a:blip r:embed="rId4">
            <a:alphaModFix/>
          </a:blip>
          <a:srcRect b="0" l="0" r="0" t="0"/>
          <a:stretch/>
        </p:blipFill>
        <p:spPr>
          <a:xfrm>
            <a:off x="8163073" y="5291336"/>
            <a:ext cx="190500" cy="352425"/>
          </a:xfrm>
          <a:prstGeom prst="rect">
            <a:avLst/>
          </a:prstGeom>
          <a:noFill/>
          <a:ln>
            <a:noFill/>
          </a:ln>
        </p:spPr>
      </p:pic>
      <p:sp>
        <p:nvSpPr>
          <p:cNvPr id="817" name="Google Shape;817;p56"/>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57"/>
          <p:cNvSpPr/>
          <p:nvPr/>
        </p:nvSpPr>
        <p:spPr>
          <a:xfrm>
            <a:off x="242887" y="219984"/>
            <a:ext cx="9791700" cy="6625257"/>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823" name="Google Shape;823;p57"/>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824" name="Google Shape;824;p57"/>
          <p:cNvSpPr/>
          <p:nvPr/>
        </p:nvSpPr>
        <p:spPr>
          <a:xfrm>
            <a:off x="818257" y="394792"/>
            <a:ext cx="8604957" cy="661947"/>
          </a:xfrm>
          <a:prstGeom prst="roundRect">
            <a:avLst>
              <a:gd fmla="val 45749" name="adj"/>
            </a:avLst>
          </a:prstGeom>
          <a:solidFill>
            <a:srgbClr val="FFFFFF">
              <a:alpha val="52549"/>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ru-RU" sz="2800">
                <a:solidFill>
                  <a:schemeClr val="dk1"/>
                </a:solidFill>
                <a:latin typeface="Arial"/>
                <a:ea typeface="Arial"/>
                <a:cs typeface="Arial"/>
                <a:sym typeface="Arial"/>
              </a:rPr>
              <a:t>Задачи Data Mining</a:t>
            </a:r>
            <a:endParaRPr b="1" sz="2800">
              <a:solidFill>
                <a:schemeClr val="dk1"/>
              </a:solidFill>
              <a:latin typeface="Arial"/>
              <a:ea typeface="Arial"/>
              <a:cs typeface="Arial"/>
              <a:sym typeface="Arial"/>
            </a:endParaRPr>
          </a:p>
        </p:txBody>
      </p:sp>
      <p:sp>
        <p:nvSpPr>
          <p:cNvPr id="825" name="Google Shape;825;p57"/>
          <p:cNvSpPr/>
          <p:nvPr/>
        </p:nvSpPr>
        <p:spPr>
          <a:xfrm>
            <a:off x="245332" y="1140037"/>
            <a:ext cx="4317341" cy="47889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ru-RU" sz="2000">
                <a:solidFill>
                  <a:srgbClr val="0B769C"/>
                </a:solidFill>
                <a:latin typeface="Arial"/>
                <a:ea typeface="Arial"/>
                <a:cs typeface="Arial"/>
                <a:sym typeface="Arial"/>
              </a:rPr>
              <a:t>Измерение качества модели</a:t>
            </a:r>
            <a:endParaRPr/>
          </a:p>
        </p:txBody>
      </p:sp>
      <p:sp>
        <p:nvSpPr>
          <p:cNvPr id="826" name="Google Shape;826;p57"/>
          <p:cNvSpPr txBox="1"/>
          <p:nvPr/>
        </p:nvSpPr>
        <p:spPr>
          <a:xfrm>
            <a:off x="422213" y="1618928"/>
            <a:ext cx="9433048" cy="5170646"/>
          </a:xfrm>
          <a:prstGeom prst="rect">
            <a:avLst/>
          </a:prstGeom>
          <a:noFill/>
          <a:ln>
            <a:noFill/>
          </a:ln>
        </p:spPr>
        <p:txBody>
          <a:bodyPr anchorCtr="0" anchor="t" bIns="45700" lIns="91425" spcFirstLastPara="1" rIns="91425" wrap="square" tIns="45700">
            <a:spAutoFit/>
          </a:bodyPr>
          <a:lstStyle/>
          <a:p>
            <a:pPr indent="271463" lvl="0" marL="0" marR="0" rtl="0" algn="l">
              <a:spcBef>
                <a:spcPts val="0"/>
              </a:spcBef>
              <a:spcAft>
                <a:spcPts val="0"/>
              </a:spcAft>
              <a:buNone/>
            </a:pPr>
            <a:r>
              <a:rPr lang="ru-RU" sz="2200">
                <a:solidFill>
                  <a:srgbClr val="000000"/>
                </a:solidFill>
                <a:latin typeface="Bookman Old Style"/>
                <a:ea typeface="Bookman Old Style"/>
                <a:cs typeface="Bookman Old Style"/>
                <a:sym typeface="Bookman Old Style"/>
              </a:rPr>
              <a:t>Однако нам совсем нет дела то того, что     </a:t>
            </a:r>
            <a:r>
              <a:rPr b="1" i="1" lang="ru-RU" sz="2200">
                <a:solidFill>
                  <a:srgbClr val="000000"/>
                </a:solidFill>
                <a:latin typeface="Bookman Old Style"/>
                <a:ea typeface="Bookman Old Style"/>
                <a:cs typeface="Bookman Old Style"/>
                <a:sym typeface="Bookman Old Style"/>
              </a:rPr>
              <a:t>(x</a:t>
            </a:r>
            <a:r>
              <a:rPr b="1" baseline="-25000" i="1" lang="ru-RU" sz="2200">
                <a:solidFill>
                  <a:srgbClr val="000000"/>
                </a:solidFill>
                <a:latin typeface="Bookman Old Style"/>
                <a:ea typeface="Bookman Old Style"/>
                <a:cs typeface="Bookman Old Style"/>
                <a:sym typeface="Bookman Old Style"/>
              </a:rPr>
              <a:t>i</a:t>
            </a:r>
            <a:r>
              <a:rPr b="1" i="1" lang="ru-RU" sz="2200">
                <a:solidFill>
                  <a:srgbClr val="000000"/>
                </a:solidFill>
                <a:latin typeface="Bookman Old Style"/>
                <a:ea typeface="Bookman Old Style"/>
                <a:cs typeface="Bookman Old Style"/>
                <a:sym typeface="Bookman Old Style"/>
              </a:rPr>
              <a:t>)≈y</a:t>
            </a:r>
            <a:r>
              <a:rPr b="1" baseline="-25000" i="1" lang="ru-RU" sz="2200">
                <a:solidFill>
                  <a:srgbClr val="000000"/>
                </a:solidFill>
                <a:latin typeface="Bookman Old Style"/>
                <a:ea typeface="Bookman Old Style"/>
                <a:cs typeface="Bookman Old Style"/>
                <a:sym typeface="Bookman Old Style"/>
              </a:rPr>
              <a:t>i</a:t>
            </a:r>
            <a:r>
              <a:rPr b="1" i="1" lang="ru-RU" sz="2200">
                <a:solidFill>
                  <a:srgbClr val="000000"/>
                </a:solidFill>
                <a:latin typeface="Bookman Old Style"/>
                <a:ea typeface="Bookman Old Style"/>
                <a:cs typeface="Bookman Old Style"/>
                <a:sym typeface="Bookman Old Style"/>
              </a:rPr>
              <a:t>  </a:t>
            </a:r>
            <a:r>
              <a:rPr lang="ru-RU" sz="2200">
                <a:solidFill>
                  <a:srgbClr val="000000"/>
                </a:solidFill>
                <a:latin typeface="Bookman Old Style"/>
                <a:ea typeface="Bookman Old Style"/>
                <a:cs typeface="Bookman Old Style"/>
                <a:sym typeface="Bookman Old Style"/>
              </a:rPr>
              <a:t>вместо этого мы хотим знать, является ли величина </a:t>
            </a:r>
            <a:r>
              <a:rPr i="1" lang="ru-RU" sz="2200">
                <a:solidFill>
                  <a:srgbClr val="000000"/>
                </a:solidFill>
                <a:latin typeface="Bookman Old Style"/>
                <a:ea typeface="Bookman Old Style"/>
                <a:cs typeface="Bookman Old Style"/>
                <a:sym typeface="Bookman Old Style"/>
              </a:rPr>
              <a:t>f(х</a:t>
            </a:r>
            <a:r>
              <a:rPr baseline="-25000" i="1" lang="ru-RU" sz="2200">
                <a:solidFill>
                  <a:srgbClr val="000000"/>
                </a:solidFill>
                <a:latin typeface="Bookman Old Style"/>
                <a:ea typeface="Bookman Old Style"/>
                <a:cs typeface="Bookman Old Style"/>
                <a:sym typeface="Bookman Old Style"/>
              </a:rPr>
              <a:t>0</a:t>
            </a:r>
            <a:r>
              <a:rPr i="1" lang="ru-RU" sz="2200">
                <a:solidFill>
                  <a:srgbClr val="000000"/>
                </a:solidFill>
                <a:latin typeface="Bookman Old Style"/>
                <a:ea typeface="Bookman Old Style"/>
                <a:cs typeface="Bookman Old Style"/>
                <a:sym typeface="Bookman Old Style"/>
              </a:rPr>
              <a:t>) </a:t>
            </a:r>
            <a:r>
              <a:rPr lang="ru-RU" sz="2200">
                <a:solidFill>
                  <a:srgbClr val="000000"/>
                </a:solidFill>
                <a:latin typeface="Bookman Old Style"/>
                <a:ea typeface="Bookman Old Style"/>
                <a:cs typeface="Bookman Old Style"/>
                <a:sym typeface="Bookman Old Style"/>
              </a:rPr>
              <a:t>примерно равной </a:t>
            </a:r>
            <a:r>
              <a:rPr i="1" lang="ru-RU" sz="2200">
                <a:solidFill>
                  <a:srgbClr val="000000"/>
                </a:solidFill>
                <a:latin typeface="Bookman Old Style"/>
                <a:ea typeface="Bookman Old Style"/>
                <a:cs typeface="Bookman Old Style"/>
                <a:sym typeface="Bookman Old Style"/>
              </a:rPr>
              <a:t>у</a:t>
            </a:r>
            <a:r>
              <a:rPr baseline="-25000" i="1" lang="ru-RU" sz="2200">
                <a:solidFill>
                  <a:srgbClr val="000000"/>
                </a:solidFill>
                <a:latin typeface="Bookman Old Style"/>
                <a:ea typeface="Bookman Old Style"/>
                <a:cs typeface="Bookman Old Style"/>
                <a:sym typeface="Bookman Old Style"/>
              </a:rPr>
              <a:t>0</a:t>
            </a:r>
            <a:r>
              <a:rPr lang="ru-RU" sz="2200">
                <a:solidFill>
                  <a:srgbClr val="000000"/>
                </a:solidFill>
                <a:latin typeface="Bookman Old Style"/>
                <a:ea typeface="Bookman Old Style"/>
                <a:cs typeface="Bookman Old Style"/>
                <a:sym typeface="Bookman Old Style"/>
              </a:rPr>
              <a:t>, где </a:t>
            </a:r>
            <a:r>
              <a:rPr i="1" lang="ru-RU" sz="2200">
                <a:solidFill>
                  <a:srgbClr val="000000"/>
                </a:solidFill>
                <a:latin typeface="Bookman Old Style"/>
                <a:ea typeface="Bookman Old Style"/>
                <a:cs typeface="Bookman Old Style"/>
                <a:sym typeface="Bookman Old Style"/>
              </a:rPr>
              <a:t>(х</a:t>
            </a:r>
            <a:r>
              <a:rPr baseline="-25000" i="1" lang="ru-RU" sz="2200">
                <a:solidFill>
                  <a:srgbClr val="000000"/>
                </a:solidFill>
                <a:latin typeface="Bookman Old Style"/>
                <a:ea typeface="Bookman Old Style"/>
                <a:cs typeface="Bookman Old Style"/>
                <a:sym typeface="Bookman Old Style"/>
              </a:rPr>
              <a:t>0</a:t>
            </a:r>
            <a:r>
              <a:rPr i="1" lang="ru-RU" sz="2200">
                <a:solidFill>
                  <a:srgbClr val="000000"/>
                </a:solidFill>
                <a:latin typeface="Bookman Old Style"/>
                <a:ea typeface="Bookman Old Style"/>
                <a:cs typeface="Bookman Old Style"/>
                <a:sym typeface="Bookman Old Style"/>
              </a:rPr>
              <a:t>,y</a:t>
            </a:r>
            <a:r>
              <a:rPr baseline="-25000" i="1" lang="ru-RU" sz="2200">
                <a:solidFill>
                  <a:srgbClr val="000000"/>
                </a:solidFill>
                <a:latin typeface="Bookman Old Style"/>
                <a:ea typeface="Bookman Old Style"/>
                <a:cs typeface="Bookman Old Style"/>
                <a:sym typeface="Bookman Old Style"/>
              </a:rPr>
              <a:t>0</a:t>
            </a:r>
            <a:r>
              <a:rPr i="1" lang="ru-RU" sz="2200">
                <a:solidFill>
                  <a:srgbClr val="000000"/>
                </a:solidFill>
                <a:latin typeface="Bookman Old Style"/>
                <a:ea typeface="Bookman Old Style"/>
                <a:cs typeface="Bookman Old Style"/>
                <a:sym typeface="Bookman Old Style"/>
              </a:rPr>
              <a:t>) </a:t>
            </a:r>
            <a:r>
              <a:rPr lang="ru-RU" sz="2200">
                <a:solidFill>
                  <a:srgbClr val="000000"/>
                </a:solidFill>
                <a:latin typeface="Bookman Old Style"/>
                <a:ea typeface="Bookman Old Style"/>
                <a:cs typeface="Bookman Old Style"/>
                <a:sym typeface="Bookman Old Style"/>
              </a:rPr>
              <a:t>— неизвестное ранее проверочное наблюдение, которое не использовалось при обучении статистической модели. Мы хотим выбрать такой метод, который дает минимальную ошибку на </a:t>
            </a:r>
            <a:r>
              <a:rPr i="1" lang="ru-RU" sz="2200">
                <a:solidFill>
                  <a:srgbClr val="000000"/>
                </a:solidFill>
                <a:latin typeface="Bookman Old Style"/>
                <a:ea typeface="Bookman Old Style"/>
                <a:cs typeface="Bookman Old Style"/>
                <a:sym typeface="Bookman Old Style"/>
              </a:rPr>
              <a:t>контрольной выборке</a:t>
            </a:r>
            <a:r>
              <a:rPr lang="ru-RU" sz="2200">
                <a:solidFill>
                  <a:srgbClr val="000000"/>
                </a:solidFill>
                <a:latin typeface="Bookman Old Style"/>
                <a:ea typeface="Bookman Old Style"/>
                <a:cs typeface="Bookman Old Style"/>
                <a:sym typeface="Bookman Old Style"/>
              </a:rPr>
              <a:t>, а не минимальную ошибку на </a:t>
            </a:r>
            <a:r>
              <a:rPr i="1" lang="ru-RU" sz="2200">
                <a:solidFill>
                  <a:srgbClr val="000000"/>
                </a:solidFill>
                <a:latin typeface="Bookman Old Style"/>
                <a:ea typeface="Bookman Old Style"/>
                <a:cs typeface="Bookman Old Style"/>
                <a:sym typeface="Bookman Old Style"/>
              </a:rPr>
              <a:t>обучающей выборке</a:t>
            </a:r>
            <a:r>
              <a:rPr lang="ru-RU" sz="2200">
                <a:solidFill>
                  <a:srgbClr val="000000"/>
                </a:solidFill>
                <a:latin typeface="Bookman Old Style"/>
                <a:ea typeface="Bookman Old Style"/>
                <a:cs typeface="Bookman Old Style"/>
                <a:sym typeface="Bookman Old Style"/>
              </a:rPr>
              <a:t>. Другими словами, располагая большим количеством наблюдений, мы могли бы вычислить </a:t>
            </a:r>
            <a:endParaRPr/>
          </a:p>
          <a:p>
            <a:pPr indent="0" lvl="0" marL="0" marR="0" rtl="0" algn="ctr">
              <a:spcBef>
                <a:spcPts val="0"/>
              </a:spcBef>
              <a:spcAft>
                <a:spcPts val="0"/>
              </a:spcAft>
              <a:buNone/>
            </a:pPr>
            <a:r>
              <a:rPr i="1" lang="ru-RU" sz="2200">
                <a:solidFill>
                  <a:srgbClr val="000000"/>
                </a:solidFill>
                <a:latin typeface="Bookman Old Style"/>
                <a:ea typeface="Bookman Old Style"/>
                <a:cs typeface="Bookman Old Style"/>
                <a:sym typeface="Bookman Old Style"/>
              </a:rPr>
              <a:t>Ave(y</a:t>
            </a:r>
            <a:r>
              <a:rPr baseline="-25000" i="1" lang="ru-RU" sz="2200">
                <a:solidFill>
                  <a:srgbClr val="000000"/>
                </a:solidFill>
                <a:latin typeface="Bookman Old Style"/>
                <a:ea typeface="Bookman Old Style"/>
                <a:cs typeface="Bookman Old Style"/>
                <a:sym typeface="Bookman Old Style"/>
              </a:rPr>
              <a:t>0</a:t>
            </a:r>
            <a:r>
              <a:rPr i="1" lang="ru-RU" sz="2200">
                <a:solidFill>
                  <a:srgbClr val="000000"/>
                </a:solidFill>
                <a:latin typeface="Bookman Old Style"/>
                <a:ea typeface="Bookman Old Style"/>
                <a:cs typeface="Bookman Old Style"/>
                <a:sym typeface="Bookman Old Style"/>
              </a:rPr>
              <a:t> -    (x</a:t>
            </a:r>
            <a:r>
              <a:rPr baseline="-25000" i="1" lang="ru-RU" sz="2200">
                <a:solidFill>
                  <a:srgbClr val="000000"/>
                </a:solidFill>
                <a:latin typeface="Bookman Old Style"/>
                <a:ea typeface="Bookman Old Style"/>
                <a:cs typeface="Bookman Old Style"/>
                <a:sym typeface="Bookman Old Style"/>
              </a:rPr>
              <a:t>0</a:t>
            </a:r>
            <a:r>
              <a:rPr i="1" lang="ru-RU" sz="2200">
                <a:solidFill>
                  <a:srgbClr val="000000"/>
                </a:solidFill>
                <a:latin typeface="Bookman Old Style"/>
                <a:ea typeface="Bookman Old Style"/>
                <a:cs typeface="Bookman Old Style"/>
                <a:sym typeface="Bookman Old Style"/>
              </a:rPr>
              <a:t>))</a:t>
            </a:r>
            <a:r>
              <a:rPr baseline="30000" i="1" lang="ru-RU" sz="2200">
                <a:solidFill>
                  <a:srgbClr val="000000"/>
                </a:solidFill>
                <a:latin typeface="Bookman Old Style"/>
                <a:ea typeface="Bookman Old Style"/>
                <a:cs typeface="Bookman Old Style"/>
                <a:sym typeface="Bookman Old Style"/>
              </a:rPr>
              <a:t>2</a:t>
            </a:r>
            <a:r>
              <a:rPr lang="ru-RU" sz="2200">
                <a:solidFill>
                  <a:srgbClr val="000000"/>
                </a:solidFill>
                <a:latin typeface="Bookman Old Style"/>
                <a:ea typeface="Bookman Old Style"/>
                <a:cs typeface="Bookman Old Style"/>
                <a:sym typeface="Bookman Old Style"/>
              </a:rPr>
              <a:t>,	(6)</a:t>
            </a:r>
            <a:endParaRPr/>
          </a:p>
          <a:p>
            <a:pPr indent="0" lvl="0" marL="0" marR="0" rtl="0" algn="l">
              <a:spcBef>
                <a:spcPts val="0"/>
              </a:spcBef>
              <a:spcAft>
                <a:spcPts val="0"/>
              </a:spcAft>
              <a:buNone/>
            </a:pPr>
            <a:r>
              <a:rPr lang="ru-RU" sz="2200">
                <a:solidFill>
                  <a:srgbClr val="000000"/>
                </a:solidFill>
                <a:latin typeface="Bookman Old Style"/>
                <a:ea typeface="Bookman Old Style"/>
                <a:cs typeface="Bookman Old Style"/>
                <a:sym typeface="Bookman Old Style"/>
              </a:rPr>
              <a:t>то есть среднеквадратичную ошибку предсказаний для этих проверочных наблюдений </a:t>
            </a:r>
            <a:r>
              <a:rPr i="1" lang="ru-RU" sz="2200">
                <a:solidFill>
                  <a:srgbClr val="000000"/>
                </a:solidFill>
                <a:latin typeface="Bookman Old Style"/>
                <a:ea typeface="Bookman Old Style"/>
                <a:cs typeface="Bookman Old Style"/>
                <a:sym typeface="Bookman Old Style"/>
              </a:rPr>
              <a:t>(х</a:t>
            </a:r>
            <a:r>
              <a:rPr baseline="-25000" i="1" lang="ru-RU" sz="2200">
                <a:solidFill>
                  <a:srgbClr val="000000"/>
                </a:solidFill>
                <a:latin typeface="Bookman Old Style"/>
                <a:ea typeface="Bookman Old Style"/>
                <a:cs typeface="Bookman Old Style"/>
                <a:sym typeface="Bookman Old Style"/>
              </a:rPr>
              <a:t>0</a:t>
            </a:r>
            <a:r>
              <a:rPr i="1" lang="ru-RU" sz="2200">
                <a:solidFill>
                  <a:srgbClr val="000000"/>
                </a:solidFill>
                <a:latin typeface="Bookman Old Style"/>
                <a:ea typeface="Bookman Old Style"/>
                <a:cs typeface="Bookman Old Style"/>
                <a:sym typeface="Bookman Old Style"/>
              </a:rPr>
              <a:t>,y</a:t>
            </a:r>
            <a:r>
              <a:rPr baseline="-25000" i="1" lang="ru-RU" sz="2200">
                <a:solidFill>
                  <a:srgbClr val="000000"/>
                </a:solidFill>
                <a:latin typeface="Bookman Old Style"/>
                <a:ea typeface="Bookman Old Style"/>
                <a:cs typeface="Bookman Old Style"/>
                <a:sym typeface="Bookman Old Style"/>
              </a:rPr>
              <a:t>0</a:t>
            </a:r>
            <a:r>
              <a:rPr i="1" lang="ru-RU" sz="2200">
                <a:solidFill>
                  <a:srgbClr val="000000"/>
                </a:solidFill>
                <a:latin typeface="Bookman Old Style"/>
                <a:ea typeface="Bookman Old Style"/>
                <a:cs typeface="Bookman Old Style"/>
                <a:sym typeface="Bookman Old Style"/>
              </a:rPr>
              <a:t>).</a:t>
            </a:r>
            <a:r>
              <a:rPr lang="ru-RU" sz="2200">
                <a:solidFill>
                  <a:srgbClr val="000000"/>
                </a:solidFill>
                <a:latin typeface="Bookman Old Style"/>
                <a:ea typeface="Bookman Old Style"/>
                <a:cs typeface="Bookman Old Style"/>
                <a:sym typeface="Bookman Old Style"/>
              </a:rPr>
              <a:t> Мы хотели бы выбрать такую модель, для которой это среднее значение на </a:t>
            </a:r>
            <a:r>
              <a:rPr b="1" lang="ru-RU" sz="2200">
                <a:solidFill>
                  <a:srgbClr val="000000"/>
                </a:solidFill>
                <a:latin typeface="Bookman Old Style"/>
                <a:ea typeface="Bookman Old Style"/>
                <a:cs typeface="Bookman Old Style"/>
                <a:sym typeface="Bookman Old Style"/>
              </a:rPr>
              <a:t>контрольной выборке</a:t>
            </a:r>
            <a:r>
              <a:rPr lang="ru-RU" sz="2200">
                <a:solidFill>
                  <a:srgbClr val="000000"/>
                </a:solidFill>
                <a:latin typeface="Bookman Old Style"/>
                <a:ea typeface="Bookman Old Style"/>
                <a:cs typeface="Bookman Old Style"/>
                <a:sym typeface="Bookman Old Style"/>
              </a:rPr>
              <a:t> является как можно меньшим.</a:t>
            </a:r>
            <a:endParaRPr/>
          </a:p>
          <a:p>
            <a:pPr indent="449263" lvl="0" marL="0" marR="0" rtl="0" algn="l">
              <a:spcBef>
                <a:spcPts val="0"/>
              </a:spcBef>
              <a:spcAft>
                <a:spcPts val="0"/>
              </a:spcAft>
              <a:buNone/>
            </a:pPr>
            <a:r>
              <a:t/>
            </a:r>
            <a:endParaRPr sz="2200">
              <a:solidFill>
                <a:srgbClr val="000000"/>
              </a:solidFill>
              <a:latin typeface="Bookman Old Style"/>
              <a:ea typeface="Bookman Old Style"/>
              <a:cs typeface="Bookman Old Style"/>
              <a:sym typeface="Bookman Old Style"/>
            </a:endParaRPr>
          </a:p>
        </p:txBody>
      </p:sp>
      <p:pic>
        <p:nvPicPr>
          <p:cNvPr id="827" name="Google Shape;827;p57"/>
          <p:cNvPicPr preferRelativeResize="0"/>
          <p:nvPr/>
        </p:nvPicPr>
        <p:blipFill rotWithShape="1">
          <a:blip r:embed="rId3">
            <a:alphaModFix/>
          </a:blip>
          <a:srcRect b="0" l="0" r="0" t="0"/>
          <a:stretch/>
        </p:blipFill>
        <p:spPr>
          <a:xfrm>
            <a:off x="6698349" y="1536898"/>
            <a:ext cx="272216" cy="503600"/>
          </a:xfrm>
          <a:prstGeom prst="rect">
            <a:avLst/>
          </a:prstGeom>
          <a:noFill/>
          <a:ln>
            <a:noFill/>
          </a:ln>
        </p:spPr>
      </p:pic>
      <p:pic>
        <p:nvPicPr>
          <p:cNvPr id="828" name="Google Shape;828;p57"/>
          <p:cNvPicPr preferRelativeResize="0"/>
          <p:nvPr/>
        </p:nvPicPr>
        <p:blipFill rotWithShape="1">
          <a:blip r:embed="rId3">
            <a:alphaModFix/>
          </a:blip>
          <a:srcRect b="0" l="0" r="0" t="0"/>
          <a:stretch/>
        </p:blipFill>
        <p:spPr>
          <a:xfrm>
            <a:off x="4732089" y="4697487"/>
            <a:ext cx="190500" cy="352425"/>
          </a:xfrm>
          <a:prstGeom prst="rect">
            <a:avLst/>
          </a:prstGeom>
          <a:noFill/>
          <a:ln>
            <a:noFill/>
          </a:ln>
        </p:spPr>
      </p:pic>
      <p:sp>
        <p:nvSpPr>
          <p:cNvPr id="829" name="Google Shape;829;p57"/>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p58"/>
          <p:cNvSpPr/>
          <p:nvPr/>
        </p:nvSpPr>
        <p:spPr>
          <a:xfrm>
            <a:off x="245332" y="178768"/>
            <a:ext cx="9791700" cy="6625257"/>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835" name="Google Shape;835;p58"/>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836" name="Google Shape;836;p58"/>
          <p:cNvSpPr/>
          <p:nvPr/>
        </p:nvSpPr>
        <p:spPr>
          <a:xfrm>
            <a:off x="818257" y="394792"/>
            <a:ext cx="8604957" cy="661947"/>
          </a:xfrm>
          <a:prstGeom prst="roundRect">
            <a:avLst>
              <a:gd fmla="val 45749" name="adj"/>
            </a:avLst>
          </a:prstGeom>
          <a:solidFill>
            <a:srgbClr val="FFFFFF">
              <a:alpha val="52549"/>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ru-RU" sz="2800">
                <a:solidFill>
                  <a:schemeClr val="dk1"/>
                </a:solidFill>
                <a:latin typeface="Arial"/>
                <a:ea typeface="Arial"/>
                <a:cs typeface="Arial"/>
                <a:sym typeface="Arial"/>
              </a:rPr>
              <a:t>Задачи Data Mining</a:t>
            </a:r>
            <a:endParaRPr b="1" sz="2800">
              <a:solidFill>
                <a:schemeClr val="dk1"/>
              </a:solidFill>
              <a:latin typeface="Arial"/>
              <a:ea typeface="Arial"/>
              <a:cs typeface="Arial"/>
              <a:sym typeface="Arial"/>
            </a:endParaRPr>
          </a:p>
        </p:txBody>
      </p:sp>
      <p:sp>
        <p:nvSpPr>
          <p:cNvPr id="837" name="Google Shape;837;p58"/>
          <p:cNvSpPr/>
          <p:nvPr/>
        </p:nvSpPr>
        <p:spPr>
          <a:xfrm>
            <a:off x="245332" y="1140037"/>
            <a:ext cx="4317341" cy="47889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ru-RU" sz="2000">
                <a:solidFill>
                  <a:srgbClr val="0B769C"/>
                </a:solidFill>
                <a:latin typeface="Arial"/>
                <a:ea typeface="Arial"/>
                <a:cs typeface="Arial"/>
                <a:sym typeface="Arial"/>
              </a:rPr>
              <a:t>Измерение качества модели</a:t>
            </a:r>
            <a:endParaRPr/>
          </a:p>
        </p:txBody>
      </p:sp>
      <p:sp>
        <p:nvSpPr>
          <p:cNvPr id="838" name="Google Shape;838;p58"/>
          <p:cNvSpPr txBox="1"/>
          <p:nvPr/>
        </p:nvSpPr>
        <p:spPr>
          <a:xfrm>
            <a:off x="422212" y="1618928"/>
            <a:ext cx="9614819" cy="4832092"/>
          </a:xfrm>
          <a:prstGeom prst="rect">
            <a:avLst/>
          </a:prstGeom>
          <a:noFill/>
          <a:ln>
            <a:noFill/>
          </a:ln>
        </p:spPr>
        <p:txBody>
          <a:bodyPr anchorCtr="0" anchor="t" bIns="45700" lIns="91425" spcFirstLastPara="1" rIns="91425" wrap="square" tIns="45700">
            <a:spAutoFit/>
          </a:bodyPr>
          <a:lstStyle/>
          <a:p>
            <a:pPr indent="533400" lvl="0" marL="0" marR="0" rtl="0" algn="l">
              <a:spcBef>
                <a:spcPts val="0"/>
              </a:spcBef>
              <a:spcAft>
                <a:spcPts val="0"/>
              </a:spcAft>
              <a:buNone/>
            </a:pPr>
            <a:r>
              <a:rPr lang="ru-RU" sz="2200">
                <a:solidFill>
                  <a:srgbClr val="000000"/>
                </a:solidFill>
                <a:latin typeface="Bookman Old Style"/>
                <a:ea typeface="Bookman Old Style"/>
                <a:cs typeface="Bookman Old Style"/>
                <a:sym typeface="Bookman Old Style"/>
              </a:rPr>
              <a:t>Каким же образом выбрать метод, минимизирующий MSE на контрольной выборке? </a:t>
            </a:r>
            <a:endParaRPr sz="2200">
              <a:solidFill>
                <a:srgbClr val="000000"/>
              </a:solidFill>
              <a:latin typeface="Bookman Old Style"/>
              <a:ea typeface="Bookman Old Style"/>
              <a:cs typeface="Bookman Old Style"/>
              <a:sym typeface="Bookman Old Style"/>
            </a:endParaRPr>
          </a:p>
          <a:p>
            <a:pPr indent="533400" lvl="0" marL="0" marR="0" rtl="0" algn="l">
              <a:spcBef>
                <a:spcPts val="0"/>
              </a:spcBef>
              <a:spcAft>
                <a:spcPts val="0"/>
              </a:spcAft>
              <a:buNone/>
            </a:pPr>
            <a:r>
              <a:rPr lang="ru-RU" sz="2200">
                <a:solidFill>
                  <a:srgbClr val="000000"/>
                </a:solidFill>
                <a:latin typeface="Bookman Old Style"/>
                <a:ea typeface="Bookman Old Style"/>
                <a:cs typeface="Bookman Old Style"/>
                <a:sym typeface="Bookman Old Style"/>
              </a:rPr>
              <a:t>Если у нас в распоряжении может оказаться набор контрольных данных, мы можем иметь доступ к набору наблюдений, которые не были использованы для обучения статистической модели. Тогда мы можем просто вычислить величину из (6) по этим проверочным наблюдениям и выбрать метод статистического обучения с наименьшей контрольной MSE. </a:t>
            </a:r>
            <a:endParaRPr sz="2200">
              <a:solidFill>
                <a:srgbClr val="000000"/>
              </a:solidFill>
              <a:latin typeface="Bookman Old Style"/>
              <a:ea typeface="Bookman Old Style"/>
              <a:cs typeface="Bookman Old Style"/>
              <a:sym typeface="Bookman Old Style"/>
            </a:endParaRPr>
          </a:p>
          <a:p>
            <a:pPr indent="533400" lvl="0" marL="0" marR="0" rtl="0" algn="l">
              <a:spcBef>
                <a:spcPts val="0"/>
              </a:spcBef>
              <a:spcAft>
                <a:spcPts val="0"/>
              </a:spcAft>
              <a:buNone/>
            </a:pPr>
            <a:r>
              <a:rPr lang="ru-RU" sz="2200">
                <a:solidFill>
                  <a:srgbClr val="000000"/>
                </a:solidFill>
                <a:latin typeface="Bookman Old Style"/>
                <a:ea typeface="Bookman Old Style"/>
                <a:cs typeface="Bookman Old Style"/>
                <a:sym typeface="Bookman Old Style"/>
              </a:rPr>
              <a:t>Но как быть, если проверочные наблюдения недоступны? В этом случае теоретически можно было бы выбрать метод статистического обучения, который минимизирует MSE на обучающей выборке, предположив, что MSE на обучающей и контрольной выборках примерно одинаковы. </a:t>
            </a:r>
            <a:endParaRPr/>
          </a:p>
        </p:txBody>
      </p:sp>
      <p:sp>
        <p:nvSpPr>
          <p:cNvPr id="839" name="Google Shape;839;p58"/>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sp>
        <p:nvSpPr>
          <p:cNvPr id="844" name="Google Shape;844;p59"/>
          <p:cNvSpPr/>
          <p:nvPr/>
        </p:nvSpPr>
        <p:spPr>
          <a:xfrm>
            <a:off x="245332" y="178768"/>
            <a:ext cx="9791700" cy="6625257"/>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845" name="Google Shape;845;p59"/>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846" name="Google Shape;846;p59"/>
          <p:cNvSpPr/>
          <p:nvPr/>
        </p:nvSpPr>
        <p:spPr>
          <a:xfrm>
            <a:off x="818257" y="394792"/>
            <a:ext cx="8604957" cy="661947"/>
          </a:xfrm>
          <a:prstGeom prst="roundRect">
            <a:avLst>
              <a:gd fmla="val 45749" name="adj"/>
            </a:avLst>
          </a:prstGeom>
          <a:solidFill>
            <a:srgbClr val="FFFFFF">
              <a:alpha val="52549"/>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ru-RU" sz="2800">
                <a:solidFill>
                  <a:schemeClr val="dk1"/>
                </a:solidFill>
                <a:latin typeface="Arial"/>
                <a:ea typeface="Arial"/>
                <a:cs typeface="Arial"/>
                <a:sym typeface="Arial"/>
              </a:rPr>
              <a:t>Задачи Data Mining</a:t>
            </a:r>
            <a:endParaRPr b="1" sz="2800">
              <a:solidFill>
                <a:schemeClr val="dk1"/>
              </a:solidFill>
              <a:latin typeface="Arial"/>
              <a:ea typeface="Arial"/>
              <a:cs typeface="Arial"/>
              <a:sym typeface="Arial"/>
            </a:endParaRPr>
          </a:p>
        </p:txBody>
      </p:sp>
      <p:sp>
        <p:nvSpPr>
          <p:cNvPr id="847" name="Google Shape;847;p59"/>
          <p:cNvSpPr/>
          <p:nvPr/>
        </p:nvSpPr>
        <p:spPr>
          <a:xfrm>
            <a:off x="245332" y="1140037"/>
            <a:ext cx="4317341" cy="47889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ru-RU" sz="2000">
                <a:solidFill>
                  <a:srgbClr val="0B769C"/>
                </a:solidFill>
                <a:latin typeface="Arial"/>
                <a:ea typeface="Arial"/>
                <a:cs typeface="Arial"/>
                <a:sym typeface="Arial"/>
              </a:rPr>
              <a:t>Измерение качества модели</a:t>
            </a:r>
            <a:endParaRPr/>
          </a:p>
        </p:txBody>
      </p:sp>
      <p:sp>
        <p:nvSpPr>
          <p:cNvPr id="848" name="Google Shape;848;p59"/>
          <p:cNvSpPr txBox="1"/>
          <p:nvPr/>
        </p:nvSpPr>
        <p:spPr>
          <a:xfrm>
            <a:off x="586675" y="1741073"/>
            <a:ext cx="9109013" cy="5262979"/>
          </a:xfrm>
          <a:prstGeom prst="rect">
            <a:avLst/>
          </a:prstGeom>
          <a:noFill/>
          <a:ln>
            <a:noFill/>
          </a:ln>
        </p:spPr>
        <p:txBody>
          <a:bodyPr anchorCtr="0" anchor="t" bIns="45700" lIns="91425" spcFirstLastPara="1" rIns="91425" wrap="square" tIns="45700">
            <a:spAutoFit/>
          </a:bodyPr>
          <a:lstStyle/>
          <a:p>
            <a:pPr indent="533400" lvl="0" marL="0" marR="0" rtl="0" algn="l">
              <a:spcBef>
                <a:spcPts val="0"/>
              </a:spcBef>
              <a:spcAft>
                <a:spcPts val="0"/>
              </a:spcAft>
              <a:buNone/>
            </a:pPr>
            <a:r>
              <a:rPr lang="ru-RU" sz="2400">
                <a:solidFill>
                  <a:srgbClr val="000000"/>
                </a:solidFill>
                <a:latin typeface="Bookman Old Style"/>
                <a:ea typeface="Bookman Old Style"/>
                <a:cs typeface="Bookman Old Style"/>
                <a:sym typeface="Bookman Old Style"/>
              </a:rPr>
              <a:t>К сожалению, у этой стратегии есть фундаментальная проблема: нет гарантии, что </a:t>
            </a:r>
            <a:r>
              <a:rPr b="1" i="1" lang="ru-RU" sz="2400">
                <a:solidFill>
                  <a:srgbClr val="0070C0"/>
                </a:solidFill>
                <a:latin typeface="Bookman Old Style"/>
                <a:ea typeface="Bookman Old Style"/>
                <a:cs typeface="Bookman Old Style"/>
                <a:sym typeface="Bookman Old Style"/>
              </a:rPr>
              <a:t>метод с минимальной MSE на обучающих данных также будет иметь минимальную MSE на контрольных данных.</a:t>
            </a:r>
            <a:r>
              <a:rPr lang="ru-RU" sz="2400">
                <a:solidFill>
                  <a:srgbClr val="000000"/>
                </a:solidFill>
                <a:latin typeface="Bookman Old Style"/>
                <a:ea typeface="Bookman Old Style"/>
                <a:cs typeface="Bookman Old Style"/>
                <a:sym typeface="Bookman Old Style"/>
              </a:rPr>
              <a:t> </a:t>
            </a:r>
            <a:endParaRPr/>
          </a:p>
          <a:p>
            <a:pPr indent="533400" lvl="0" marL="0" marR="0" rtl="0" algn="l">
              <a:spcBef>
                <a:spcPts val="0"/>
              </a:spcBef>
              <a:spcAft>
                <a:spcPts val="0"/>
              </a:spcAft>
              <a:buNone/>
            </a:pPr>
            <a:r>
              <a:rPr lang="ru-RU" sz="2400">
                <a:solidFill>
                  <a:srgbClr val="000000"/>
                </a:solidFill>
                <a:latin typeface="Bookman Old Style"/>
                <a:ea typeface="Bookman Old Style"/>
                <a:cs typeface="Bookman Old Style"/>
                <a:sym typeface="Bookman Old Style"/>
              </a:rPr>
              <a:t>Грубо говоря, проблема заключается в том, что многие статистические методы специально оценивают коэффициенты с целью минимизации MSE на обучающей выборке. Ошибка обучения у этих методов может быть довольно низкой, но </a:t>
            </a:r>
            <a:r>
              <a:rPr b="1" i="1" lang="ru-RU" sz="2400">
                <a:solidFill>
                  <a:srgbClr val="0070C0"/>
                </a:solidFill>
                <a:latin typeface="Bookman Old Style"/>
                <a:ea typeface="Bookman Old Style"/>
                <a:cs typeface="Bookman Old Style"/>
                <a:sym typeface="Bookman Old Style"/>
              </a:rPr>
              <a:t>MSE на контрольных данных часто гораздо выше.</a:t>
            </a:r>
            <a:endParaRPr/>
          </a:p>
          <a:p>
            <a:pPr indent="533400" lvl="0" marL="0" marR="0" rtl="0" algn="ctr">
              <a:spcBef>
                <a:spcPts val="0"/>
              </a:spcBef>
              <a:spcAft>
                <a:spcPts val="0"/>
              </a:spcAft>
              <a:buNone/>
            </a:pPr>
            <a:r>
              <a:rPr lang="ru-RU" sz="2400">
                <a:solidFill>
                  <a:srgbClr val="FF0000"/>
                </a:solidFill>
                <a:latin typeface="Bookman Old Style"/>
                <a:ea typeface="Bookman Old Style"/>
                <a:cs typeface="Bookman Old Style"/>
                <a:sym typeface="Bookman Old Style"/>
              </a:rPr>
              <a:t>Обозначим обучающую и контрольную выборку ОВ  и КВ соответственно.</a:t>
            </a:r>
            <a:endParaRPr/>
          </a:p>
          <a:p>
            <a:pPr indent="533400" lvl="0" marL="0" marR="0" rtl="0" algn="l">
              <a:spcBef>
                <a:spcPts val="0"/>
              </a:spcBef>
              <a:spcAft>
                <a:spcPts val="0"/>
              </a:spcAft>
              <a:buNone/>
            </a:pPr>
            <a:r>
              <a:rPr lang="ru-RU" sz="2400">
                <a:solidFill>
                  <a:srgbClr val="000000"/>
                </a:solidFill>
                <a:latin typeface="Bookman Old Style"/>
                <a:ea typeface="Bookman Old Style"/>
                <a:cs typeface="Bookman Old Style"/>
                <a:sym typeface="Bookman Old Style"/>
              </a:rPr>
              <a:t> </a:t>
            </a:r>
            <a:endParaRPr/>
          </a:p>
        </p:txBody>
      </p:sp>
      <p:sp>
        <p:nvSpPr>
          <p:cNvPr id="849" name="Google Shape;849;p59"/>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 name="Shape 853"/>
        <p:cNvGrpSpPr/>
        <p:nvPr/>
      </p:nvGrpSpPr>
      <p:grpSpPr>
        <a:xfrm>
          <a:off x="0" y="0"/>
          <a:ext cx="0" cy="0"/>
          <a:chOff x="0" y="0"/>
          <a:chExt cx="0" cy="0"/>
        </a:xfrm>
      </p:grpSpPr>
      <p:sp>
        <p:nvSpPr>
          <p:cNvPr id="854" name="Google Shape;854;p60"/>
          <p:cNvSpPr/>
          <p:nvPr/>
        </p:nvSpPr>
        <p:spPr>
          <a:xfrm>
            <a:off x="245332" y="178768"/>
            <a:ext cx="9791700" cy="6625257"/>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855" name="Google Shape;855;p60"/>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856" name="Google Shape;856;p60"/>
          <p:cNvSpPr/>
          <p:nvPr/>
        </p:nvSpPr>
        <p:spPr>
          <a:xfrm>
            <a:off x="818257" y="394792"/>
            <a:ext cx="8604957" cy="661947"/>
          </a:xfrm>
          <a:prstGeom prst="roundRect">
            <a:avLst>
              <a:gd fmla="val 45749" name="adj"/>
            </a:avLst>
          </a:prstGeom>
          <a:solidFill>
            <a:srgbClr val="FFFFFF">
              <a:alpha val="52549"/>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ru-RU" sz="2800">
                <a:solidFill>
                  <a:schemeClr val="dk1"/>
                </a:solidFill>
                <a:latin typeface="Arial"/>
                <a:ea typeface="Arial"/>
                <a:cs typeface="Arial"/>
                <a:sym typeface="Arial"/>
              </a:rPr>
              <a:t>Задачи Data Mining</a:t>
            </a:r>
            <a:endParaRPr b="1" sz="2800">
              <a:solidFill>
                <a:schemeClr val="dk1"/>
              </a:solidFill>
              <a:latin typeface="Arial"/>
              <a:ea typeface="Arial"/>
              <a:cs typeface="Arial"/>
              <a:sym typeface="Arial"/>
            </a:endParaRPr>
          </a:p>
        </p:txBody>
      </p:sp>
      <p:sp>
        <p:nvSpPr>
          <p:cNvPr id="857" name="Google Shape;857;p60"/>
          <p:cNvSpPr/>
          <p:nvPr/>
        </p:nvSpPr>
        <p:spPr>
          <a:xfrm>
            <a:off x="245332" y="1140037"/>
            <a:ext cx="4317341" cy="47889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ru-RU" sz="2000">
                <a:solidFill>
                  <a:srgbClr val="0B769C"/>
                </a:solidFill>
                <a:latin typeface="Arial"/>
                <a:ea typeface="Arial"/>
                <a:cs typeface="Arial"/>
                <a:sym typeface="Arial"/>
              </a:rPr>
              <a:t>Измерение качества модели</a:t>
            </a:r>
            <a:endParaRPr/>
          </a:p>
        </p:txBody>
      </p:sp>
      <p:sp>
        <p:nvSpPr>
          <p:cNvPr id="858" name="Google Shape;858;p60"/>
          <p:cNvSpPr/>
          <p:nvPr/>
        </p:nvSpPr>
        <p:spPr>
          <a:xfrm>
            <a:off x="431601" y="5014808"/>
            <a:ext cx="9657160" cy="16312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000">
                <a:solidFill>
                  <a:srgbClr val="000000"/>
                </a:solidFill>
                <a:latin typeface="Times New Roman"/>
                <a:ea typeface="Times New Roman"/>
                <a:cs typeface="Times New Roman"/>
                <a:sym typeface="Times New Roman"/>
              </a:rPr>
              <a:t>Рис 7. Слева: </a:t>
            </a:r>
            <a:r>
              <a:rPr i="1" lang="ru-RU" sz="2000">
                <a:solidFill>
                  <a:srgbClr val="000000"/>
                </a:solidFill>
                <a:latin typeface="Times New Roman"/>
                <a:ea typeface="Times New Roman"/>
                <a:cs typeface="Times New Roman"/>
                <a:sym typeface="Times New Roman"/>
              </a:rPr>
              <a:t>данные, имитированные на основе</a:t>
            </a:r>
            <a:r>
              <a:rPr lang="ru-RU" sz="2000">
                <a:solidFill>
                  <a:srgbClr val="000000"/>
                </a:solidFill>
                <a:latin typeface="Times New Roman"/>
                <a:ea typeface="Times New Roman"/>
                <a:cs typeface="Times New Roman"/>
                <a:sym typeface="Times New Roman"/>
              </a:rPr>
              <a:t> </a:t>
            </a:r>
            <a:r>
              <a:rPr i="1" lang="ru-RU" sz="2000">
                <a:solidFill>
                  <a:srgbClr val="000000"/>
                </a:solidFill>
                <a:latin typeface="Times New Roman"/>
                <a:ea typeface="Times New Roman"/>
                <a:cs typeface="Times New Roman"/>
                <a:sym typeface="Times New Roman"/>
              </a:rPr>
              <a:t>f</a:t>
            </a:r>
            <a:r>
              <a:rPr lang="ru-RU" sz="2000">
                <a:solidFill>
                  <a:srgbClr val="000000"/>
                </a:solidFill>
                <a:latin typeface="Times New Roman"/>
                <a:ea typeface="Times New Roman"/>
                <a:cs typeface="Times New Roman"/>
                <a:sym typeface="Times New Roman"/>
              </a:rPr>
              <a:t>, </a:t>
            </a:r>
            <a:r>
              <a:rPr i="1" lang="ru-RU" sz="2000">
                <a:solidFill>
                  <a:srgbClr val="000000"/>
                </a:solidFill>
                <a:latin typeface="Times New Roman"/>
                <a:ea typeface="Times New Roman"/>
                <a:cs typeface="Times New Roman"/>
                <a:sym typeface="Times New Roman"/>
              </a:rPr>
              <a:t>показаны полыми точками черного цвета. Представлены три способа подгонки f: линейная регрессия (оранжевая линия) и две модели гладких сплайнов (голубая и зеленая линии).</a:t>
            </a:r>
            <a:r>
              <a:rPr lang="ru-RU" sz="2000">
                <a:solidFill>
                  <a:srgbClr val="000000"/>
                </a:solidFill>
                <a:latin typeface="Times New Roman"/>
                <a:ea typeface="Times New Roman"/>
                <a:cs typeface="Times New Roman"/>
                <a:sym typeface="Times New Roman"/>
              </a:rPr>
              <a:t> Справа: </a:t>
            </a:r>
            <a:r>
              <a:rPr i="1" lang="ru-RU" sz="2000">
                <a:solidFill>
                  <a:srgbClr val="000000"/>
                </a:solidFill>
                <a:latin typeface="Times New Roman"/>
                <a:ea typeface="Times New Roman"/>
                <a:cs typeface="Times New Roman"/>
                <a:sym typeface="Times New Roman"/>
              </a:rPr>
              <a:t>Квадратные символы соответствуют ошибкам на обучающих и контрольных выборках, которые были получены для трех моделей, изображенных на графике слева.</a:t>
            </a:r>
            <a:endParaRPr sz="2000">
              <a:solidFill>
                <a:schemeClr val="dk1"/>
              </a:solidFill>
              <a:latin typeface="Arial"/>
              <a:ea typeface="Arial"/>
              <a:cs typeface="Arial"/>
              <a:sym typeface="Arial"/>
            </a:endParaRPr>
          </a:p>
        </p:txBody>
      </p:sp>
      <p:grpSp>
        <p:nvGrpSpPr>
          <p:cNvPr id="859" name="Google Shape;859;p60"/>
          <p:cNvGrpSpPr/>
          <p:nvPr/>
        </p:nvGrpSpPr>
        <p:grpSpPr>
          <a:xfrm>
            <a:off x="555305" y="1733067"/>
            <a:ext cx="9481727" cy="3080822"/>
            <a:chOff x="555306" y="1369100"/>
            <a:chExt cx="9481727" cy="3080822"/>
          </a:xfrm>
        </p:grpSpPr>
        <p:pic>
          <p:nvPicPr>
            <p:cNvPr id="860" name="Google Shape;860;p60"/>
            <p:cNvPicPr preferRelativeResize="0"/>
            <p:nvPr/>
          </p:nvPicPr>
          <p:blipFill rotWithShape="1">
            <a:blip r:embed="rId3">
              <a:alphaModFix/>
            </a:blip>
            <a:srcRect b="0" l="0" r="0" t="0"/>
            <a:stretch/>
          </p:blipFill>
          <p:spPr>
            <a:xfrm>
              <a:off x="555306" y="1508504"/>
              <a:ext cx="5087487" cy="2941418"/>
            </a:xfrm>
            <a:prstGeom prst="rect">
              <a:avLst/>
            </a:prstGeom>
            <a:noFill/>
            <a:ln>
              <a:noFill/>
            </a:ln>
          </p:spPr>
        </p:pic>
        <p:sp>
          <p:nvSpPr>
            <p:cNvPr id="861" name="Google Shape;861;p60"/>
            <p:cNvSpPr/>
            <p:nvPr/>
          </p:nvSpPr>
          <p:spPr>
            <a:xfrm>
              <a:off x="6142185" y="3592204"/>
              <a:ext cx="3600400" cy="711943"/>
            </a:xfrm>
            <a:custGeom>
              <a:rect b="b" l="l" r="r" t="t"/>
              <a:pathLst>
                <a:path extrusionOk="0" h="120000" w="120000">
                  <a:moveTo>
                    <a:pt x="0" y="0"/>
                  </a:moveTo>
                  <a:lnTo>
                    <a:pt x="120000" y="0"/>
                  </a:lnTo>
                  <a:lnTo>
                    <a:pt x="120000" y="120000"/>
                  </a:lnTo>
                  <a:lnTo>
                    <a:pt x="0" y="120000"/>
                  </a:lnTo>
                  <a:close/>
                </a:path>
                <a:path extrusionOk="0" fill="none" h="120000" w="120000">
                  <a:moveTo>
                    <a:pt x="-2743" y="56750"/>
                  </a:moveTo>
                  <a:lnTo>
                    <a:pt x="-15163" y="-36215"/>
                  </a:lnTo>
                  <a:lnTo>
                    <a:pt x="-32320" y="-49826"/>
                  </a:lnTo>
                </a:path>
              </a:pathLst>
            </a:custGeom>
            <a:solidFill>
              <a:schemeClr val="lt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i="1" lang="ru-RU" sz="2000">
                  <a:solidFill>
                    <a:srgbClr val="000000"/>
                  </a:solidFill>
                  <a:latin typeface="Times New Roman"/>
                  <a:ea typeface="Times New Roman"/>
                  <a:cs typeface="Times New Roman"/>
                  <a:sym typeface="Times New Roman"/>
                </a:rPr>
                <a:t>среднеквадратичная ошибка на обучающих данных</a:t>
              </a:r>
              <a:endParaRPr b="0" i="0" sz="2000" u="none" cap="none" strike="noStrike">
                <a:solidFill>
                  <a:schemeClr val="dk1"/>
                </a:solidFill>
                <a:latin typeface="Arial"/>
                <a:ea typeface="Arial"/>
                <a:cs typeface="Arial"/>
                <a:sym typeface="Arial"/>
              </a:endParaRPr>
            </a:p>
          </p:txBody>
        </p:sp>
        <p:sp>
          <p:nvSpPr>
            <p:cNvPr id="862" name="Google Shape;862;p60"/>
            <p:cNvSpPr/>
            <p:nvPr/>
          </p:nvSpPr>
          <p:spPr>
            <a:xfrm>
              <a:off x="6142185" y="1369100"/>
              <a:ext cx="3569362" cy="729002"/>
            </a:xfrm>
            <a:custGeom>
              <a:rect b="b" l="l" r="r" t="t"/>
              <a:pathLst>
                <a:path extrusionOk="0" h="120000" w="120000">
                  <a:moveTo>
                    <a:pt x="0" y="0"/>
                  </a:moveTo>
                  <a:lnTo>
                    <a:pt x="120000" y="0"/>
                  </a:lnTo>
                  <a:lnTo>
                    <a:pt x="120000" y="120000"/>
                  </a:lnTo>
                  <a:lnTo>
                    <a:pt x="0" y="120000"/>
                  </a:lnTo>
                  <a:close/>
                </a:path>
                <a:path extrusionOk="0" fill="none" h="120000" w="120000">
                  <a:moveTo>
                    <a:pt x="-728" y="24889"/>
                  </a:moveTo>
                  <a:lnTo>
                    <a:pt x="-10729" y="65506"/>
                  </a:lnTo>
                  <a:lnTo>
                    <a:pt x="-22459" y="129320"/>
                  </a:lnTo>
                </a:path>
              </a:pathLst>
            </a:custGeom>
            <a:solidFill>
              <a:schemeClr val="lt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i="1" lang="ru-RU" sz="2000">
                  <a:solidFill>
                    <a:srgbClr val="000000"/>
                  </a:solidFill>
                  <a:latin typeface="Times New Roman"/>
                  <a:ea typeface="Times New Roman"/>
                  <a:cs typeface="Times New Roman"/>
                  <a:sym typeface="Times New Roman"/>
                </a:rPr>
                <a:t>среднеквадратичная ошибка на контрольных данных</a:t>
              </a:r>
              <a:endParaRPr b="0" i="0" sz="2000" u="none" cap="none" strike="noStrike">
                <a:solidFill>
                  <a:schemeClr val="dk1"/>
                </a:solidFill>
                <a:latin typeface="Arial"/>
                <a:ea typeface="Arial"/>
                <a:cs typeface="Arial"/>
                <a:sym typeface="Arial"/>
              </a:endParaRPr>
            </a:p>
          </p:txBody>
        </p:sp>
        <p:sp>
          <p:nvSpPr>
            <p:cNvPr id="863" name="Google Shape;863;p60"/>
            <p:cNvSpPr/>
            <p:nvPr/>
          </p:nvSpPr>
          <p:spPr>
            <a:xfrm>
              <a:off x="5952766" y="2275493"/>
              <a:ext cx="4084267" cy="970018"/>
            </a:xfrm>
            <a:custGeom>
              <a:rect b="b" l="l" r="r" t="t"/>
              <a:pathLst>
                <a:path extrusionOk="0" h="120000" w="120000">
                  <a:moveTo>
                    <a:pt x="0" y="0"/>
                  </a:moveTo>
                  <a:lnTo>
                    <a:pt x="120000" y="0"/>
                  </a:lnTo>
                  <a:lnTo>
                    <a:pt x="120000" y="120000"/>
                  </a:lnTo>
                  <a:lnTo>
                    <a:pt x="0" y="120000"/>
                  </a:lnTo>
                  <a:close/>
                </a:path>
                <a:path extrusionOk="0" fill="none" h="120000" w="120000">
                  <a:moveTo>
                    <a:pt x="661" y="20705"/>
                  </a:moveTo>
                  <a:lnTo>
                    <a:pt x="-13790" y="58248"/>
                  </a:lnTo>
                  <a:lnTo>
                    <a:pt x="-22703" y="79872"/>
                  </a:lnTo>
                </a:path>
              </a:pathLst>
            </a:custGeom>
            <a:solidFill>
              <a:schemeClr val="lt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i="1" lang="ru-RU" sz="1900">
                  <a:solidFill>
                    <a:srgbClr val="000000"/>
                  </a:solidFill>
                  <a:latin typeface="Times New Roman"/>
                  <a:ea typeface="Times New Roman"/>
                  <a:cs typeface="Times New Roman"/>
                  <a:sym typeface="Times New Roman"/>
                </a:rPr>
                <a:t>минимально возможное значение ошибки для контрольных данных, зависит от числа степеней свободы</a:t>
              </a:r>
              <a:endParaRPr b="0" i="0" sz="1900" u="none" cap="none" strike="noStrike">
                <a:solidFill>
                  <a:schemeClr val="dk1"/>
                </a:solidFill>
                <a:latin typeface="Arial"/>
                <a:ea typeface="Arial"/>
                <a:cs typeface="Arial"/>
                <a:sym typeface="Arial"/>
              </a:endParaRPr>
            </a:p>
          </p:txBody>
        </p:sp>
      </p:grpSp>
      <p:sp>
        <p:nvSpPr>
          <p:cNvPr id="864" name="Google Shape;864;p60"/>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sp>
        <p:nvSpPr>
          <p:cNvPr id="869" name="Google Shape;869;p61"/>
          <p:cNvSpPr/>
          <p:nvPr/>
        </p:nvSpPr>
        <p:spPr>
          <a:xfrm>
            <a:off x="245332" y="178768"/>
            <a:ext cx="9791700" cy="6625257"/>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870" name="Google Shape;870;p61"/>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871" name="Google Shape;871;p61"/>
          <p:cNvSpPr/>
          <p:nvPr/>
        </p:nvSpPr>
        <p:spPr>
          <a:xfrm>
            <a:off x="818257" y="394792"/>
            <a:ext cx="8604957" cy="661947"/>
          </a:xfrm>
          <a:prstGeom prst="roundRect">
            <a:avLst>
              <a:gd fmla="val 45749" name="adj"/>
            </a:avLst>
          </a:prstGeom>
          <a:solidFill>
            <a:srgbClr val="FFFFFF">
              <a:alpha val="52549"/>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ru-RU" sz="2800">
                <a:solidFill>
                  <a:schemeClr val="dk1"/>
                </a:solidFill>
                <a:latin typeface="Arial"/>
                <a:ea typeface="Arial"/>
                <a:cs typeface="Arial"/>
                <a:sym typeface="Arial"/>
              </a:rPr>
              <a:t>Задачи Data Mining</a:t>
            </a:r>
            <a:endParaRPr b="1" sz="2800">
              <a:solidFill>
                <a:schemeClr val="dk1"/>
              </a:solidFill>
              <a:latin typeface="Arial"/>
              <a:ea typeface="Arial"/>
              <a:cs typeface="Arial"/>
              <a:sym typeface="Arial"/>
            </a:endParaRPr>
          </a:p>
        </p:txBody>
      </p:sp>
      <p:sp>
        <p:nvSpPr>
          <p:cNvPr id="872" name="Google Shape;872;p61"/>
          <p:cNvSpPr/>
          <p:nvPr/>
        </p:nvSpPr>
        <p:spPr>
          <a:xfrm>
            <a:off x="245332" y="1140037"/>
            <a:ext cx="4317341" cy="47889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ru-RU" sz="2000">
                <a:solidFill>
                  <a:srgbClr val="0B769C"/>
                </a:solidFill>
                <a:latin typeface="Arial"/>
                <a:ea typeface="Arial"/>
                <a:cs typeface="Arial"/>
                <a:sym typeface="Arial"/>
              </a:rPr>
              <a:t>Измерение качества модели</a:t>
            </a:r>
            <a:endParaRPr/>
          </a:p>
        </p:txBody>
      </p:sp>
      <p:sp>
        <p:nvSpPr>
          <p:cNvPr id="873" name="Google Shape;873;p61"/>
          <p:cNvSpPr/>
          <p:nvPr/>
        </p:nvSpPr>
        <p:spPr>
          <a:xfrm>
            <a:off x="415984" y="4596637"/>
            <a:ext cx="9657160" cy="19389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000">
                <a:solidFill>
                  <a:srgbClr val="000000"/>
                </a:solidFill>
                <a:latin typeface="Bookman Old Style"/>
                <a:ea typeface="Bookman Old Style"/>
                <a:cs typeface="Bookman Old Style"/>
                <a:sym typeface="Bookman Old Style"/>
              </a:rPr>
              <a:t>MSE на обучающей выборке монотонно снижается по мере возрастания гибкости. В этом примере истинная функция </a:t>
            </a:r>
            <a:r>
              <a:rPr i="1" lang="ru-RU" sz="2000">
                <a:solidFill>
                  <a:srgbClr val="000000"/>
                </a:solidFill>
                <a:latin typeface="Bookman Old Style"/>
                <a:ea typeface="Bookman Old Style"/>
                <a:cs typeface="Bookman Old Style"/>
                <a:sym typeface="Bookman Old Style"/>
              </a:rPr>
              <a:t>f </a:t>
            </a:r>
            <a:r>
              <a:rPr lang="ru-RU" sz="2000">
                <a:solidFill>
                  <a:srgbClr val="000000"/>
                </a:solidFill>
                <a:latin typeface="Bookman Old Style"/>
                <a:ea typeface="Bookman Old Style"/>
                <a:cs typeface="Bookman Old Style"/>
                <a:sym typeface="Bookman Old Style"/>
              </a:rPr>
              <a:t>нелинейна, поэтому линейная модель (оранжевый) недостаточно гибка для получения удовлетворительной оценки  </a:t>
            </a:r>
            <a:r>
              <a:rPr i="1" lang="ru-RU" sz="2000">
                <a:solidFill>
                  <a:srgbClr val="000000"/>
                </a:solidFill>
                <a:latin typeface="Bookman Old Style"/>
                <a:ea typeface="Bookman Old Style"/>
                <a:cs typeface="Bookman Old Style"/>
                <a:sym typeface="Bookman Old Style"/>
              </a:rPr>
              <a:t>f </a:t>
            </a:r>
            <a:r>
              <a:rPr lang="ru-RU" sz="2000">
                <a:solidFill>
                  <a:srgbClr val="000000"/>
                </a:solidFill>
                <a:latin typeface="Bookman Old Style"/>
                <a:ea typeface="Bookman Old Style"/>
                <a:cs typeface="Bookman Old Style"/>
                <a:sym typeface="Bookman Old Style"/>
              </a:rPr>
              <a:t>. Из всех трех методов зеленая кривая имеет наименьшую MSE на обучающих данных, поскольку она соответствует наиболее гибкой из трех моделей.</a:t>
            </a:r>
            <a:endParaRPr/>
          </a:p>
        </p:txBody>
      </p:sp>
      <p:grpSp>
        <p:nvGrpSpPr>
          <p:cNvPr id="874" name="Google Shape;874;p61"/>
          <p:cNvGrpSpPr/>
          <p:nvPr/>
        </p:nvGrpSpPr>
        <p:grpSpPr>
          <a:xfrm>
            <a:off x="334887" y="1407812"/>
            <a:ext cx="9481727" cy="3080822"/>
            <a:chOff x="555306" y="1369100"/>
            <a:chExt cx="9481727" cy="3080822"/>
          </a:xfrm>
        </p:grpSpPr>
        <p:pic>
          <p:nvPicPr>
            <p:cNvPr id="875" name="Google Shape;875;p61"/>
            <p:cNvPicPr preferRelativeResize="0"/>
            <p:nvPr/>
          </p:nvPicPr>
          <p:blipFill rotWithShape="1">
            <a:blip r:embed="rId3">
              <a:alphaModFix/>
            </a:blip>
            <a:srcRect b="0" l="0" r="0" t="0"/>
            <a:stretch/>
          </p:blipFill>
          <p:spPr>
            <a:xfrm>
              <a:off x="555306" y="1508504"/>
              <a:ext cx="5087487" cy="2941418"/>
            </a:xfrm>
            <a:prstGeom prst="rect">
              <a:avLst/>
            </a:prstGeom>
            <a:noFill/>
            <a:ln>
              <a:noFill/>
            </a:ln>
          </p:spPr>
        </p:pic>
        <p:sp>
          <p:nvSpPr>
            <p:cNvPr id="876" name="Google Shape;876;p61"/>
            <p:cNvSpPr/>
            <p:nvPr/>
          </p:nvSpPr>
          <p:spPr>
            <a:xfrm>
              <a:off x="6142185" y="3592204"/>
              <a:ext cx="3600400" cy="711943"/>
            </a:xfrm>
            <a:custGeom>
              <a:rect b="b" l="l" r="r" t="t"/>
              <a:pathLst>
                <a:path extrusionOk="0" h="120000" w="120000">
                  <a:moveTo>
                    <a:pt x="0" y="0"/>
                  </a:moveTo>
                  <a:lnTo>
                    <a:pt x="120000" y="0"/>
                  </a:lnTo>
                  <a:lnTo>
                    <a:pt x="120000" y="120000"/>
                  </a:lnTo>
                  <a:lnTo>
                    <a:pt x="0" y="120000"/>
                  </a:lnTo>
                  <a:close/>
                </a:path>
                <a:path extrusionOk="0" fill="none" h="120000" w="120000">
                  <a:moveTo>
                    <a:pt x="-2743" y="56750"/>
                  </a:moveTo>
                  <a:lnTo>
                    <a:pt x="-15163" y="-36215"/>
                  </a:lnTo>
                  <a:lnTo>
                    <a:pt x="-32320" y="-49826"/>
                  </a:lnTo>
                </a:path>
              </a:pathLst>
            </a:custGeom>
            <a:solidFill>
              <a:schemeClr val="lt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i="1" lang="ru-RU" sz="2000">
                  <a:solidFill>
                    <a:srgbClr val="000000"/>
                  </a:solidFill>
                  <a:latin typeface="Times New Roman"/>
                  <a:ea typeface="Times New Roman"/>
                  <a:cs typeface="Times New Roman"/>
                  <a:sym typeface="Times New Roman"/>
                </a:rPr>
                <a:t>среднеквадратичная ошибка на обучающих данных</a:t>
              </a:r>
              <a:endParaRPr b="0" i="0" sz="2000" u="none" cap="none" strike="noStrike">
                <a:solidFill>
                  <a:schemeClr val="dk1"/>
                </a:solidFill>
                <a:latin typeface="Arial"/>
                <a:ea typeface="Arial"/>
                <a:cs typeface="Arial"/>
                <a:sym typeface="Arial"/>
              </a:endParaRPr>
            </a:p>
          </p:txBody>
        </p:sp>
        <p:sp>
          <p:nvSpPr>
            <p:cNvPr id="877" name="Google Shape;877;p61"/>
            <p:cNvSpPr/>
            <p:nvPr/>
          </p:nvSpPr>
          <p:spPr>
            <a:xfrm>
              <a:off x="6142185" y="1369100"/>
              <a:ext cx="3569362" cy="729002"/>
            </a:xfrm>
            <a:custGeom>
              <a:rect b="b" l="l" r="r" t="t"/>
              <a:pathLst>
                <a:path extrusionOk="0" h="120000" w="120000">
                  <a:moveTo>
                    <a:pt x="0" y="0"/>
                  </a:moveTo>
                  <a:lnTo>
                    <a:pt x="120000" y="0"/>
                  </a:lnTo>
                  <a:lnTo>
                    <a:pt x="120000" y="120000"/>
                  </a:lnTo>
                  <a:lnTo>
                    <a:pt x="0" y="120000"/>
                  </a:lnTo>
                  <a:close/>
                </a:path>
                <a:path extrusionOk="0" fill="none" h="120000" w="120000">
                  <a:moveTo>
                    <a:pt x="-728" y="24889"/>
                  </a:moveTo>
                  <a:lnTo>
                    <a:pt x="-10729" y="65506"/>
                  </a:lnTo>
                  <a:lnTo>
                    <a:pt x="-22459" y="129320"/>
                  </a:lnTo>
                </a:path>
              </a:pathLst>
            </a:custGeom>
            <a:solidFill>
              <a:schemeClr val="lt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i="1" lang="ru-RU" sz="2000">
                  <a:solidFill>
                    <a:srgbClr val="000000"/>
                  </a:solidFill>
                  <a:latin typeface="Times New Roman"/>
                  <a:ea typeface="Times New Roman"/>
                  <a:cs typeface="Times New Roman"/>
                  <a:sym typeface="Times New Roman"/>
                </a:rPr>
                <a:t>среднеквадратичная ошибка на контрольных данных</a:t>
              </a:r>
              <a:endParaRPr b="0" i="0" sz="2000" u="none" cap="none" strike="noStrike">
                <a:solidFill>
                  <a:schemeClr val="dk1"/>
                </a:solidFill>
                <a:latin typeface="Arial"/>
                <a:ea typeface="Arial"/>
                <a:cs typeface="Arial"/>
                <a:sym typeface="Arial"/>
              </a:endParaRPr>
            </a:p>
          </p:txBody>
        </p:sp>
        <p:sp>
          <p:nvSpPr>
            <p:cNvPr id="878" name="Google Shape;878;p61"/>
            <p:cNvSpPr/>
            <p:nvPr/>
          </p:nvSpPr>
          <p:spPr>
            <a:xfrm>
              <a:off x="5952766" y="2275493"/>
              <a:ext cx="4084267" cy="970018"/>
            </a:xfrm>
            <a:custGeom>
              <a:rect b="b" l="l" r="r" t="t"/>
              <a:pathLst>
                <a:path extrusionOk="0" h="120000" w="120000">
                  <a:moveTo>
                    <a:pt x="0" y="0"/>
                  </a:moveTo>
                  <a:lnTo>
                    <a:pt x="120000" y="0"/>
                  </a:lnTo>
                  <a:lnTo>
                    <a:pt x="120000" y="120000"/>
                  </a:lnTo>
                  <a:lnTo>
                    <a:pt x="0" y="120000"/>
                  </a:lnTo>
                  <a:close/>
                </a:path>
                <a:path extrusionOk="0" fill="none" h="120000" w="120000">
                  <a:moveTo>
                    <a:pt x="661" y="20705"/>
                  </a:moveTo>
                  <a:lnTo>
                    <a:pt x="-13790" y="58248"/>
                  </a:lnTo>
                  <a:lnTo>
                    <a:pt x="-22703" y="79872"/>
                  </a:lnTo>
                </a:path>
              </a:pathLst>
            </a:custGeom>
            <a:solidFill>
              <a:schemeClr val="lt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i="1" lang="ru-RU" sz="1900">
                  <a:solidFill>
                    <a:srgbClr val="000000"/>
                  </a:solidFill>
                  <a:latin typeface="Times New Roman"/>
                  <a:ea typeface="Times New Roman"/>
                  <a:cs typeface="Times New Roman"/>
                  <a:sym typeface="Times New Roman"/>
                </a:rPr>
                <a:t>минимально возможное значение ошибки для контрольных данных, зависит от числа степеней свободы</a:t>
              </a:r>
              <a:endParaRPr b="0" i="0" sz="1900" u="none" cap="none" strike="noStrike">
                <a:solidFill>
                  <a:schemeClr val="dk1"/>
                </a:solidFill>
                <a:latin typeface="Arial"/>
                <a:ea typeface="Arial"/>
                <a:cs typeface="Arial"/>
                <a:sym typeface="Arial"/>
              </a:endParaRPr>
            </a:p>
          </p:txBody>
        </p:sp>
      </p:grpSp>
      <p:sp>
        <p:nvSpPr>
          <p:cNvPr id="879" name="Google Shape;879;p61"/>
          <p:cNvSpPr txBox="1"/>
          <p:nvPr>
            <p:ph idx="12" type="sldNum"/>
          </p:nvPr>
        </p:nvSpPr>
        <p:spPr>
          <a:xfrm>
            <a:off x="9423214" y="6625013"/>
            <a:ext cx="649930"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3" name="Shape 883"/>
        <p:cNvGrpSpPr/>
        <p:nvPr/>
      </p:nvGrpSpPr>
      <p:grpSpPr>
        <a:xfrm>
          <a:off x="0" y="0"/>
          <a:ext cx="0" cy="0"/>
          <a:chOff x="0" y="0"/>
          <a:chExt cx="0" cy="0"/>
        </a:xfrm>
      </p:grpSpPr>
      <p:sp>
        <p:nvSpPr>
          <p:cNvPr id="884" name="Google Shape;884;p62"/>
          <p:cNvSpPr/>
          <p:nvPr/>
        </p:nvSpPr>
        <p:spPr>
          <a:xfrm>
            <a:off x="245332" y="178768"/>
            <a:ext cx="9791700" cy="6790504"/>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885" name="Google Shape;885;p62"/>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886" name="Google Shape;886;p62"/>
          <p:cNvSpPr/>
          <p:nvPr/>
        </p:nvSpPr>
        <p:spPr>
          <a:xfrm>
            <a:off x="818257" y="394792"/>
            <a:ext cx="8604957" cy="661947"/>
          </a:xfrm>
          <a:prstGeom prst="roundRect">
            <a:avLst>
              <a:gd fmla="val 45749" name="adj"/>
            </a:avLst>
          </a:prstGeom>
          <a:solidFill>
            <a:srgbClr val="FFFFFF">
              <a:alpha val="52549"/>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ru-RU" sz="2800">
                <a:solidFill>
                  <a:schemeClr val="dk1"/>
                </a:solidFill>
                <a:latin typeface="Arial"/>
                <a:ea typeface="Arial"/>
                <a:cs typeface="Arial"/>
                <a:sym typeface="Arial"/>
              </a:rPr>
              <a:t>Задачи Data Mining</a:t>
            </a:r>
            <a:endParaRPr b="1" sz="2800">
              <a:solidFill>
                <a:schemeClr val="dk1"/>
              </a:solidFill>
              <a:latin typeface="Arial"/>
              <a:ea typeface="Arial"/>
              <a:cs typeface="Arial"/>
              <a:sym typeface="Arial"/>
            </a:endParaRPr>
          </a:p>
        </p:txBody>
      </p:sp>
      <p:sp>
        <p:nvSpPr>
          <p:cNvPr id="887" name="Google Shape;887;p62"/>
          <p:cNvSpPr/>
          <p:nvPr/>
        </p:nvSpPr>
        <p:spPr>
          <a:xfrm>
            <a:off x="245332" y="1140037"/>
            <a:ext cx="4317341" cy="47889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ru-RU" sz="2000">
                <a:solidFill>
                  <a:srgbClr val="0B769C"/>
                </a:solidFill>
                <a:latin typeface="Arial"/>
                <a:ea typeface="Arial"/>
                <a:cs typeface="Arial"/>
                <a:sym typeface="Arial"/>
              </a:rPr>
              <a:t>Измерение качества модели</a:t>
            </a:r>
            <a:endParaRPr/>
          </a:p>
        </p:txBody>
      </p:sp>
      <p:sp>
        <p:nvSpPr>
          <p:cNvPr id="888" name="Google Shape;888;p62"/>
          <p:cNvSpPr/>
          <p:nvPr/>
        </p:nvSpPr>
        <p:spPr>
          <a:xfrm>
            <a:off x="4445585" y="1552404"/>
            <a:ext cx="5591447" cy="224676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000">
                <a:solidFill>
                  <a:srgbClr val="000000"/>
                </a:solidFill>
                <a:latin typeface="Bookman Old Style"/>
                <a:ea typeface="Bookman Old Style"/>
                <a:cs typeface="Bookman Old Style"/>
                <a:sym typeface="Bookman Old Style"/>
              </a:rPr>
              <a:t>Как и MSE на ОВ, MSE на КВ сначала снижается по мере увеличения гибкости. Однако в какой-то момент MSE на КВ снова начинает возрастать. Как следствие оранжевая и зеленая кривые имеют самые высокие ошибки на контрольных данных. </a:t>
            </a:r>
            <a:endParaRPr/>
          </a:p>
        </p:txBody>
      </p:sp>
      <p:sp>
        <p:nvSpPr>
          <p:cNvPr id="889" name="Google Shape;889;p62"/>
          <p:cNvSpPr/>
          <p:nvPr/>
        </p:nvSpPr>
        <p:spPr>
          <a:xfrm>
            <a:off x="245332" y="3846951"/>
            <a:ext cx="9898228" cy="224676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000">
                <a:solidFill>
                  <a:srgbClr val="000000"/>
                </a:solidFill>
                <a:latin typeface="Bookman Old Style"/>
                <a:ea typeface="Bookman Old Style"/>
                <a:cs typeface="Bookman Old Style"/>
                <a:sym typeface="Bookman Old Style"/>
              </a:rPr>
              <a:t>Синяя кривая имеет минимальную MSE на КВ, что не должно удивлять, поскольку визуально эта модель выглядит как наилучшая оценка </a:t>
            </a:r>
            <a:r>
              <a:rPr i="1" lang="ru-RU" sz="2000">
                <a:solidFill>
                  <a:srgbClr val="000000"/>
                </a:solidFill>
                <a:latin typeface="Bookman Old Style"/>
                <a:ea typeface="Bookman Old Style"/>
                <a:cs typeface="Bookman Old Style"/>
                <a:sym typeface="Bookman Old Style"/>
              </a:rPr>
              <a:t>f</a:t>
            </a:r>
            <a:r>
              <a:rPr lang="ru-RU" sz="2000">
                <a:solidFill>
                  <a:srgbClr val="000000"/>
                </a:solidFill>
                <a:latin typeface="Bookman Old Style"/>
                <a:ea typeface="Bookman Old Style"/>
                <a:cs typeface="Bookman Old Style"/>
                <a:sym typeface="Bookman Old Style"/>
              </a:rPr>
              <a:t>. Горизонтальная прерывистая линия показывает </a:t>
            </a:r>
            <a:r>
              <a:rPr i="1" lang="ru-RU" sz="2000">
                <a:solidFill>
                  <a:srgbClr val="000000"/>
                </a:solidFill>
                <a:latin typeface="Bookman Old Style"/>
                <a:ea typeface="Bookman Old Style"/>
                <a:cs typeface="Bookman Old Style"/>
                <a:sym typeface="Bookman Old Style"/>
              </a:rPr>
              <a:t>Var(ε) </a:t>
            </a:r>
            <a:r>
              <a:rPr lang="ru-RU" sz="2000">
                <a:solidFill>
                  <a:srgbClr val="000000"/>
                </a:solidFill>
                <a:latin typeface="Bookman Old Style"/>
                <a:ea typeface="Bookman Old Style"/>
                <a:cs typeface="Bookman Old Style"/>
                <a:sym typeface="Bookman Old Style"/>
              </a:rPr>
              <a:t>— неустранимую ошибку, которая соответствует наименьшей достижимой MSE на контрольных данных для всех возможных методов. Следовательно, сглаживающий сплайн, показанный в виде синей линии, близок к оптимуму. </a:t>
            </a:r>
            <a:endParaRPr/>
          </a:p>
        </p:txBody>
      </p:sp>
      <p:pic>
        <p:nvPicPr>
          <p:cNvPr id="890" name="Google Shape;890;p62"/>
          <p:cNvPicPr preferRelativeResize="0"/>
          <p:nvPr/>
        </p:nvPicPr>
        <p:blipFill rotWithShape="1">
          <a:blip r:embed="rId3">
            <a:alphaModFix/>
          </a:blip>
          <a:srcRect b="0" l="0" r="0" t="0"/>
          <a:stretch/>
        </p:blipFill>
        <p:spPr>
          <a:xfrm>
            <a:off x="393450" y="1552404"/>
            <a:ext cx="3959042" cy="2288988"/>
          </a:xfrm>
          <a:prstGeom prst="rect">
            <a:avLst/>
          </a:prstGeom>
          <a:noFill/>
          <a:ln>
            <a:noFill/>
          </a:ln>
        </p:spPr>
      </p:pic>
      <p:sp>
        <p:nvSpPr>
          <p:cNvPr id="891" name="Google Shape;891;p62"/>
          <p:cNvSpPr/>
          <p:nvPr/>
        </p:nvSpPr>
        <p:spPr>
          <a:xfrm>
            <a:off x="3733981" y="2566468"/>
            <a:ext cx="612668"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ru-RU" sz="1100">
                <a:solidFill>
                  <a:srgbClr val="000000"/>
                </a:solidFill>
                <a:latin typeface="Bookman Old Style"/>
                <a:ea typeface="Bookman Old Style"/>
                <a:cs typeface="Bookman Old Style"/>
                <a:sym typeface="Bookman Old Style"/>
              </a:rPr>
              <a:t>Var(ε) </a:t>
            </a:r>
            <a:endParaRPr sz="1100">
              <a:solidFill>
                <a:schemeClr val="dk1"/>
              </a:solidFill>
              <a:latin typeface="Arial"/>
              <a:ea typeface="Arial"/>
              <a:cs typeface="Arial"/>
              <a:sym typeface="Arial"/>
            </a:endParaRPr>
          </a:p>
        </p:txBody>
      </p:sp>
      <p:sp>
        <p:nvSpPr>
          <p:cNvPr id="892" name="Google Shape;892;p62"/>
          <p:cNvSpPr/>
          <p:nvPr/>
        </p:nvSpPr>
        <p:spPr>
          <a:xfrm>
            <a:off x="842466" y="5952435"/>
            <a:ext cx="9073008"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000">
                <a:solidFill>
                  <a:srgbClr val="000000"/>
                </a:solidFill>
                <a:latin typeface="Bookman Old Style"/>
                <a:ea typeface="Bookman Old Style"/>
                <a:cs typeface="Bookman Old Style"/>
                <a:sym typeface="Bookman Old Style"/>
              </a:rPr>
              <a:t>По мере возрастания гибкости метода статистического обучения происходит монотонное снижение MSE на обучающих данных и U-образное изменение MSE на контрольных данных.</a:t>
            </a:r>
            <a:endParaRPr/>
          </a:p>
        </p:txBody>
      </p:sp>
      <p:sp>
        <p:nvSpPr>
          <p:cNvPr id="893" name="Google Shape;893;p62"/>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7" name="Shape 897"/>
        <p:cNvGrpSpPr/>
        <p:nvPr/>
      </p:nvGrpSpPr>
      <p:grpSpPr>
        <a:xfrm>
          <a:off x="0" y="0"/>
          <a:ext cx="0" cy="0"/>
          <a:chOff x="0" y="0"/>
          <a:chExt cx="0" cy="0"/>
        </a:xfrm>
      </p:grpSpPr>
      <p:sp>
        <p:nvSpPr>
          <p:cNvPr id="898" name="Google Shape;898;p63"/>
          <p:cNvSpPr/>
          <p:nvPr/>
        </p:nvSpPr>
        <p:spPr>
          <a:xfrm>
            <a:off x="245332" y="178768"/>
            <a:ext cx="9791700" cy="6790504"/>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899" name="Google Shape;899;p63"/>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900" name="Google Shape;900;p63"/>
          <p:cNvSpPr/>
          <p:nvPr/>
        </p:nvSpPr>
        <p:spPr>
          <a:xfrm>
            <a:off x="818257" y="394792"/>
            <a:ext cx="8604957" cy="661947"/>
          </a:xfrm>
          <a:prstGeom prst="roundRect">
            <a:avLst>
              <a:gd fmla="val 45749" name="adj"/>
            </a:avLst>
          </a:prstGeom>
          <a:solidFill>
            <a:srgbClr val="FFFFFF">
              <a:alpha val="52549"/>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ru-RU" sz="2800">
                <a:solidFill>
                  <a:schemeClr val="dk1"/>
                </a:solidFill>
                <a:latin typeface="Arial"/>
                <a:ea typeface="Arial"/>
                <a:cs typeface="Arial"/>
                <a:sym typeface="Arial"/>
              </a:rPr>
              <a:t>Задачи Data Mining</a:t>
            </a:r>
            <a:endParaRPr b="1" sz="2800">
              <a:solidFill>
                <a:schemeClr val="dk1"/>
              </a:solidFill>
              <a:latin typeface="Arial"/>
              <a:ea typeface="Arial"/>
              <a:cs typeface="Arial"/>
              <a:sym typeface="Arial"/>
            </a:endParaRPr>
          </a:p>
        </p:txBody>
      </p:sp>
      <p:sp>
        <p:nvSpPr>
          <p:cNvPr id="901" name="Google Shape;901;p63"/>
          <p:cNvSpPr/>
          <p:nvPr/>
        </p:nvSpPr>
        <p:spPr>
          <a:xfrm>
            <a:off x="245332" y="1140037"/>
            <a:ext cx="8853845" cy="47889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ru-RU" sz="2000">
                <a:solidFill>
                  <a:srgbClr val="0B769C"/>
                </a:solidFill>
                <a:latin typeface="Arial"/>
                <a:ea typeface="Arial"/>
                <a:cs typeface="Arial"/>
                <a:sym typeface="Arial"/>
              </a:rPr>
              <a:t>Фундаментальное свойство статистического обучения</a:t>
            </a:r>
            <a:endParaRPr/>
          </a:p>
        </p:txBody>
      </p:sp>
      <p:sp>
        <p:nvSpPr>
          <p:cNvPr id="902" name="Google Shape;902;p63"/>
          <p:cNvSpPr/>
          <p:nvPr/>
        </p:nvSpPr>
        <p:spPr>
          <a:xfrm>
            <a:off x="425330" y="1466000"/>
            <a:ext cx="9669701" cy="5170646"/>
          </a:xfrm>
          <a:prstGeom prst="rect">
            <a:avLst/>
          </a:prstGeom>
          <a:noFill/>
          <a:ln>
            <a:noFill/>
          </a:ln>
        </p:spPr>
        <p:txBody>
          <a:bodyPr anchorCtr="0" anchor="t" bIns="45700" lIns="91425" spcFirstLastPara="1" rIns="91425" wrap="square" tIns="45700">
            <a:spAutoFit/>
          </a:bodyPr>
          <a:lstStyle/>
          <a:p>
            <a:pPr indent="449263" lvl="0" marL="0" marR="0" rtl="0" algn="l">
              <a:spcBef>
                <a:spcPts val="0"/>
              </a:spcBef>
              <a:spcAft>
                <a:spcPts val="0"/>
              </a:spcAft>
              <a:buNone/>
            </a:pPr>
            <a:r>
              <a:rPr lang="ru-RU" sz="2200">
                <a:solidFill>
                  <a:srgbClr val="000000"/>
                </a:solidFill>
                <a:latin typeface="Bookman Old Style"/>
                <a:ea typeface="Bookman Old Style"/>
                <a:cs typeface="Bookman Old Style"/>
                <a:sym typeface="Bookman Old Style"/>
              </a:rPr>
              <a:t>Это является </a:t>
            </a:r>
            <a:r>
              <a:rPr b="1" i="1" lang="ru-RU" sz="2200">
                <a:solidFill>
                  <a:srgbClr val="000000"/>
                </a:solidFill>
                <a:latin typeface="Bookman Old Style"/>
                <a:ea typeface="Bookman Old Style"/>
                <a:cs typeface="Bookman Old Style"/>
                <a:sym typeface="Bookman Old Style"/>
              </a:rPr>
              <a:t>фундаментальным свойством статистического обучения</a:t>
            </a:r>
            <a:r>
              <a:rPr lang="ru-RU" sz="2200">
                <a:solidFill>
                  <a:srgbClr val="000000"/>
                </a:solidFill>
                <a:latin typeface="Bookman Old Style"/>
                <a:ea typeface="Bookman Old Style"/>
                <a:cs typeface="Bookman Old Style"/>
                <a:sym typeface="Bookman Old Style"/>
              </a:rPr>
              <a:t>, которое остается справедливым для любого имеющегося набора данных и для любого применяемого статистического метода. </a:t>
            </a:r>
            <a:endParaRPr/>
          </a:p>
          <a:p>
            <a:pPr indent="449263" lvl="0" marL="0" marR="0" rtl="0" algn="l">
              <a:spcBef>
                <a:spcPts val="0"/>
              </a:spcBef>
              <a:spcAft>
                <a:spcPts val="0"/>
              </a:spcAft>
              <a:buNone/>
            </a:pPr>
            <a:r>
              <a:rPr b="1" i="1" lang="ru-RU" sz="2200">
                <a:solidFill>
                  <a:srgbClr val="000000"/>
                </a:solidFill>
                <a:latin typeface="Bookman Old Style"/>
                <a:ea typeface="Bookman Old Style"/>
                <a:cs typeface="Bookman Old Style"/>
                <a:sym typeface="Bookman Old Style"/>
              </a:rPr>
              <a:t>По мере увеличения гибкости модели MSE на обучающей выборке будет снижаться, но MSE на контрольной выборке необязательно будет вести себя тем же образом.</a:t>
            </a:r>
            <a:r>
              <a:rPr lang="ru-RU" sz="2200">
                <a:solidFill>
                  <a:srgbClr val="000000"/>
                </a:solidFill>
                <a:latin typeface="Bookman Old Style"/>
                <a:ea typeface="Bookman Old Style"/>
                <a:cs typeface="Bookman Old Style"/>
                <a:sym typeface="Bookman Old Style"/>
              </a:rPr>
              <a:t> </a:t>
            </a:r>
            <a:endParaRPr/>
          </a:p>
          <a:p>
            <a:pPr indent="449263" lvl="0" marL="0" marR="0" rtl="0" algn="l">
              <a:spcBef>
                <a:spcPts val="0"/>
              </a:spcBef>
              <a:spcAft>
                <a:spcPts val="0"/>
              </a:spcAft>
              <a:buNone/>
            </a:pPr>
            <a:r>
              <a:rPr lang="ru-RU" sz="2200">
                <a:solidFill>
                  <a:srgbClr val="000000"/>
                </a:solidFill>
                <a:latin typeface="Bookman Old Style"/>
                <a:ea typeface="Bookman Old Style"/>
                <a:cs typeface="Bookman Old Style"/>
                <a:sym typeface="Bookman Old Style"/>
              </a:rPr>
              <a:t>Ситуацию, когда некоторый метод обеспечивает небольшую MSE на обучающих данных и высокую MSE на проверочных данных, называют </a:t>
            </a:r>
            <a:r>
              <a:rPr b="1" i="1" lang="ru-RU" sz="2200">
                <a:solidFill>
                  <a:srgbClr val="000000"/>
                </a:solidFill>
                <a:latin typeface="Bookman Old Style"/>
                <a:ea typeface="Bookman Old Style"/>
                <a:cs typeface="Bookman Old Style"/>
                <a:sym typeface="Bookman Old Style"/>
              </a:rPr>
              <a:t>переобучением модели</a:t>
            </a:r>
            <a:r>
              <a:rPr lang="ru-RU" sz="2200">
                <a:solidFill>
                  <a:srgbClr val="000000"/>
                </a:solidFill>
                <a:latin typeface="Bookman Old Style"/>
                <a:ea typeface="Bookman Old Style"/>
                <a:cs typeface="Bookman Old Style"/>
                <a:sym typeface="Bookman Old Style"/>
              </a:rPr>
              <a:t>. </a:t>
            </a:r>
            <a:endParaRPr/>
          </a:p>
          <a:p>
            <a:pPr indent="449263" lvl="0" marL="0" marR="0" rtl="0" algn="l">
              <a:spcBef>
                <a:spcPts val="0"/>
              </a:spcBef>
              <a:spcAft>
                <a:spcPts val="0"/>
              </a:spcAft>
              <a:buNone/>
            </a:pPr>
            <a:r>
              <a:rPr lang="ru-RU" sz="2200">
                <a:solidFill>
                  <a:srgbClr val="000000"/>
                </a:solidFill>
                <a:latin typeface="Bookman Old Style"/>
                <a:ea typeface="Bookman Old Style"/>
                <a:cs typeface="Bookman Old Style"/>
                <a:sym typeface="Bookman Old Style"/>
              </a:rPr>
              <a:t>Это происходит потому, что наша процедура статистического обучения слишком усердно пытается найти закономерности в обучающих данных и в результате может обнаружить некоторые закономерности, которые просто случайны и никак не связаны с истинными свойствами неизвестной функции </a:t>
            </a:r>
            <a:r>
              <a:rPr i="1" lang="ru-RU" sz="2200">
                <a:solidFill>
                  <a:srgbClr val="000000"/>
                </a:solidFill>
                <a:latin typeface="Bookman Old Style"/>
                <a:ea typeface="Bookman Old Style"/>
                <a:cs typeface="Bookman Old Style"/>
                <a:sym typeface="Bookman Old Style"/>
              </a:rPr>
              <a:t>f</a:t>
            </a:r>
            <a:r>
              <a:rPr lang="ru-RU" sz="2200">
                <a:solidFill>
                  <a:srgbClr val="000000"/>
                </a:solidFill>
                <a:latin typeface="Bookman Old Style"/>
                <a:ea typeface="Bookman Old Style"/>
                <a:cs typeface="Bookman Old Style"/>
                <a:sym typeface="Bookman Old Style"/>
              </a:rPr>
              <a:t>. </a:t>
            </a:r>
            <a:endParaRPr/>
          </a:p>
        </p:txBody>
      </p:sp>
      <p:sp>
        <p:nvSpPr>
          <p:cNvPr id="903" name="Google Shape;903;p63"/>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7" name="Shape 907"/>
        <p:cNvGrpSpPr/>
        <p:nvPr/>
      </p:nvGrpSpPr>
      <p:grpSpPr>
        <a:xfrm>
          <a:off x="0" y="0"/>
          <a:ext cx="0" cy="0"/>
          <a:chOff x="0" y="0"/>
          <a:chExt cx="0" cy="0"/>
        </a:xfrm>
      </p:grpSpPr>
      <p:sp>
        <p:nvSpPr>
          <p:cNvPr id="908" name="Google Shape;908;p64"/>
          <p:cNvSpPr/>
          <p:nvPr/>
        </p:nvSpPr>
        <p:spPr>
          <a:xfrm>
            <a:off x="245332" y="178768"/>
            <a:ext cx="9791700" cy="6790504"/>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909" name="Google Shape;909;p64"/>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910" name="Google Shape;910;p64"/>
          <p:cNvSpPr/>
          <p:nvPr/>
        </p:nvSpPr>
        <p:spPr>
          <a:xfrm>
            <a:off x="818257" y="394792"/>
            <a:ext cx="8604957" cy="661947"/>
          </a:xfrm>
          <a:prstGeom prst="roundRect">
            <a:avLst>
              <a:gd fmla="val 45749" name="adj"/>
            </a:avLst>
          </a:prstGeom>
          <a:solidFill>
            <a:srgbClr val="FFFFFF">
              <a:alpha val="52549"/>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ru-RU" sz="2800">
                <a:solidFill>
                  <a:schemeClr val="dk1"/>
                </a:solidFill>
                <a:latin typeface="Arial"/>
                <a:ea typeface="Arial"/>
                <a:cs typeface="Arial"/>
                <a:sym typeface="Arial"/>
              </a:rPr>
              <a:t>Задачи Data Mining</a:t>
            </a:r>
            <a:endParaRPr b="1" sz="2800">
              <a:solidFill>
                <a:schemeClr val="dk1"/>
              </a:solidFill>
              <a:latin typeface="Arial"/>
              <a:ea typeface="Arial"/>
              <a:cs typeface="Arial"/>
              <a:sym typeface="Arial"/>
            </a:endParaRPr>
          </a:p>
        </p:txBody>
      </p:sp>
      <p:sp>
        <p:nvSpPr>
          <p:cNvPr id="911" name="Google Shape;911;p64"/>
          <p:cNvSpPr/>
          <p:nvPr/>
        </p:nvSpPr>
        <p:spPr>
          <a:xfrm>
            <a:off x="423782" y="1797696"/>
            <a:ext cx="9467483" cy="4154984"/>
          </a:xfrm>
          <a:prstGeom prst="rect">
            <a:avLst/>
          </a:prstGeom>
          <a:noFill/>
          <a:ln>
            <a:noFill/>
          </a:ln>
        </p:spPr>
        <p:txBody>
          <a:bodyPr anchorCtr="0" anchor="t" bIns="45700" lIns="91425" spcFirstLastPara="1" rIns="91425" wrap="square" tIns="45700">
            <a:spAutoFit/>
          </a:bodyPr>
          <a:lstStyle/>
          <a:p>
            <a:pPr indent="449263" lvl="0" marL="0" marR="0" rtl="0" algn="l">
              <a:spcBef>
                <a:spcPts val="0"/>
              </a:spcBef>
              <a:spcAft>
                <a:spcPts val="0"/>
              </a:spcAft>
              <a:buNone/>
            </a:pPr>
            <a:r>
              <a:rPr lang="ru-RU" sz="2200">
                <a:solidFill>
                  <a:srgbClr val="000000"/>
                </a:solidFill>
                <a:latin typeface="Bookman Old Style"/>
                <a:ea typeface="Bookman Old Style"/>
                <a:cs typeface="Bookman Old Style"/>
                <a:sym typeface="Bookman Old Style"/>
              </a:rPr>
              <a:t>При переобучении модели MSE на контрольной выборке будет большой потому, что предполагаемые закономерности, найденные нашим методом в обучающих данных, в проверочных данных просто не существуют. </a:t>
            </a:r>
            <a:endParaRPr/>
          </a:p>
          <a:p>
            <a:pPr indent="449263" lvl="0" marL="0" marR="0" rtl="0" algn="l">
              <a:spcBef>
                <a:spcPts val="0"/>
              </a:spcBef>
              <a:spcAft>
                <a:spcPts val="0"/>
              </a:spcAft>
              <a:buNone/>
            </a:pPr>
            <a:r>
              <a:rPr lang="ru-RU" sz="2200">
                <a:solidFill>
                  <a:srgbClr val="000000"/>
                </a:solidFill>
                <a:latin typeface="Bookman Old Style"/>
                <a:ea typeface="Bookman Old Style"/>
                <a:cs typeface="Bookman Old Style"/>
                <a:sym typeface="Bookman Old Style"/>
              </a:rPr>
              <a:t>Вне зависимости от того, случилось ли переобучение, мы почти всегда ожидаем, что MSE на обучающих данных будет ниже, чем MSE на контрольных данных, поскольку большинство методов статистического обучения так или иначе пытаются минимизировать ошибку обучения. </a:t>
            </a:r>
            <a:endParaRPr/>
          </a:p>
          <a:p>
            <a:pPr indent="449263" lvl="0" marL="0" marR="0" rtl="0" algn="l">
              <a:spcBef>
                <a:spcPts val="0"/>
              </a:spcBef>
              <a:spcAft>
                <a:spcPts val="0"/>
              </a:spcAft>
              <a:buNone/>
            </a:pPr>
            <a:r>
              <a:rPr lang="ru-RU" sz="2200">
                <a:solidFill>
                  <a:srgbClr val="000000"/>
                </a:solidFill>
                <a:latin typeface="Bookman Old Style"/>
                <a:ea typeface="Bookman Old Style"/>
                <a:cs typeface="Bookman Old Style"/>
                <a:sym typeface="Bookman Old Style"/>
              </a:rPr>
              <a:t>К переобучению относят также частный случай, когда менее гибкая модель обеспечивает меньшую MSE на контрольных данных.</a:t>
            </a:r>
            <a:endParaRPr/>
          </a:p>
        </p:txBody>
      </p:sp>
      <p:sp>
        <p:nvSpPr>
          <p:cNvPr id="912" name="Google Shape;912;p64"/>
          <p:cNvSpPr/>
          <p:nvPr/>
        </p:nvSpPr>
        <p:spPr>
          <a:xfrm>
            <a:off x="245332" y="1140037"/>
            <a:ext cx="8853845" cy="47889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ru-RU" sz="2000">
                <a:solidFill>
                  <a:srgbClr val="0B769C"/>
                </a:solidFill>
                <a:latin typeface="Arial"/>
                <a:ea typeface="Arial"/>
                <a:cs typeface="Arial"/>
                <a:sym typeface="Arial"/>
              </a:rPr>
              <a:t>Фундаментальное свойство статистического обучения</a:t>
            </a:r>
            <a:endParaRPr/>
          </a:p>
        </p:txBody>
      </p:sp>
      <p:sp>
        <p:nvSpPr>
          <p:cNvPr id="913" name="Google Shape;913;p64"/>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7" name="Shape 917"/>
        <p:cNvGrpSpPr/>
        <p:nvPr/>
      </p:nvGrpSpPr>
      <p:grpSpPr>
        <a:xfrm>
          <a:off x="0" y="0"/>
          <a:ext cx="0" cy="0"/>
          <a:chOff x="0" y="0"/>
          <a:chExt cx="0" cy="0"/>
        </a:xfrm>
      </p:grpSpPr>
      <p:sp>
        <p:nvSpPr>
          <p:cNvPr id="918" name="Google Shape;918;p65"/>
          <p:cNvSpPr/>
          <p:nvPr/>
        </p:nvSpPr>
        <p:spPr>
          <a:xfrm>
            <a:off x="245332" y="178768"/>
            <a:ext cx="9791700" cy="6790504"/>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919" name="Google Shape;919;p65"/>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920" name="Google Shape;920;p65"/>
          <p:cNvSpPr/>
          <p:nvPr/>
        </p:nvSpPr>
        <p:spPr>
          <a:xfrm>
            <a:off x="818257" y="394792"/>
            <a:ext cx="8604957" cy="661947"/>
          </a:xfrm>
          <a:prstGeom prst="roundRect">
            <a:avLst>
              <a:gd fmla="val 45749" name="adj"/>
            </a:avLst>
          </a:prstGeom>
          <a:solidFill>
            <a:srgbClr val="FFFFFF">
              <a:alpha val="52549"/>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ru-RU" sz="2800">
                <a:solidFill>
                  <a:schemeClr val="dk1"/>
                </a:solidFill>
                <a:latin typeface="Arial"/>
                <a:ea typeface="Arial"/>
                <a:cs typeface="Arial"/>
                <a:sym typeface="Arial"/>
              </a:rPr>
              <a:t>Задачи Data Mining</a:t>
            </a:r>
            <a:endParaRPr b="1" sz="2800">
              <a:solidFill>
                <a:schemeClr val="dk1"/>
              </a:solidFill>
              <a:latin typeface="Arial"/>
              <a:ea typeface="Arial"/>
              <a:cs typeface="Arial"/>
              <a:sym typeface="Arial"/>
            </a:endParaRPr>
          </a:p>
        </p:txBody>
      </p:sp>
      <p:sp>
        <p:nvSpPr>
          <p:cNvPr id="921" name="Google Shape;921;p65"/>
          <p:cNvSpPr/>
          <p:nvPr/>
        </p:nvSpPr>
        <p:spPr>
          <a:xfrm>
            <a:off x="245332" y="1140037"/>
            <a:ext cx="8853845" cy="47889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ru-RU" sz="2000">
                <a:solidFill>
                  <a:srgbClr val="0B769C"/>
                </a:solidFill>
                <a:latin typeface="Arial"/>
                <a:ea typeface="Arial"/>
                <a:cs typeface="Arial"/>
                <a:sym typeface="Arial"/>
              </a:rPr>
              <a:t>Фундаментальное свойство статистического обучения</a:t>
            </a:r>
            <a:endParaRPr/>
          </a:p>
        </p:txBody>
      </p:sp>
      <p:pic>
        <p:nvPicPr>
          <p:cNvPr id="922" name="Google Shape;922;p65"/>
          <p:cNvPicPr preferRelativeResize="0"/>
          <p:nvPr/>
        </p:nvPicPr>
        <p:blipFill rotWithShape="1">
          <a:blip r:embed="rId3">
            <a:alphaModFix/>
          </a:blip>
          <a:srcRect b="0" l="0" r="0" t="0"/>
          <a:stretch/>
        </p:blipFill>
        <p:spPr>
          <a:xfrm>
            <a:off x="497840" y="1618928"/>
            <a:ext cx="5577001" cy="3100755"/>
          </a:xfrm>
          <a:prstGeom prst="rect">
            <a:avLst/>
          </a:prstGeom>
          <a:noFill/>
          <a:ln>
            <a:noFill/>
          </a:ln>
        </p:spPr>
      </p:pic>
      <p:sp>
        <p:nvSpPr>
          <p:cNvPr id="923" name="Google Shape;923;p65"/>
          <p:cNvSpPr/>
          <p:nvPr/>
        </p:nvSpPr>
        <p:spPr>
          <a:xfrm>
            <a:off x="245332" y="4743460"/>
            <a:ext cx="6155901" cy="823302"/>
          </a:xfrm>
          <a:prstGeom prst="rect">
            <a:avLst/>
          </a:prstGeom>
          <a:noFill/>
          <a:ln>
            <a:noFill/>
          </a:ln>
        </p:spPr>
        <p:txBody>
          <a:bodyPr anchorCtr="0" anchor="t" bIns="45700" lIns="91425" spcFirstLastPara="1" rIns="91425" wrap="square" tIns="45700">
            <a:spAutoFit/>
          </a:bodyPr>
          <a:lstStyle/>
          <a:p>
            <a:pPr indent="0" lvl="0" marL="0" marR="0" rtl="0" algn="l">
              <a:lnSpc>
                <a:spcPct val="95000"/>
              </a:lnSpc>
              <a:spcBef>
                <a:spcPts val="0"/>
              </a:spcBef>
              <a:spcAft>
                <a:spcPts val="0"/>
              </a:spcAft>
              <a:buNone/>
            </a:pPr>
            <a:r>
              <a:rPr lang="ru-RU" sz="2000">
                <a:solidFill>
                  <a:srgbClr val="000000"/>
                </a:solidFill>
                <a:latin typeface="Times New Roman"/>
                <a:ea typeface="Times New Roman"/>
                <a:cs typeface="Times New Roman"/>
                <a:sym typeface="Times New Roman"/>
              </a:rPr>
              <a:t>Рис. 8. </a:t>
            </a:r>
            <a:r>
              <a:rPr i="1" lang="ru-RU" sz="2000">
                <a:solidFill>
                  <a:srgbClr val="000000"/>
                </a:solidFill>
                <a:latin typeface="Times New Roman"/>
                <a:ea typeface="Times New Roman"/>
                <a:cs typeface="Times New Roman"/>
                <a:sym typeface="Times New Roman"/>
              </a:rPr>
              <a:t>То же, что на рис. 7, но с истинной функцией f, которая намного ближе к линейной. В этой ситуации линейная регрессия очень хорошо описывает данные.</a:t>
            </a:r>
            <a:endParaRPr sz="3200">
              <a:solidFill>
                <a:srgbClr val="000000"/>
              </a:solidFill>
              <a:latin typeface="Times New Roman"/>
              <a:ea typeface="Times New Roman"/>
              <a:cs typeface="Times New Roman"/>
              <a:sym typeface="Times New Roman"/>
            </a:endParaRPr>
          </a:p>
        </p:txBody>
      </p:sp>
      <p:sp>
        <p:nvSpPr>
          <p:cNvPr id="924" name="Google Shape;924;p65"/>
          <p:cNvSpPr/>
          <p:nvPr/>
        </p:nvSpPr>
        <p:spPr>
          <a:xfrm>
            <a:off x="6211566" y="1702226"/>
            <a:ext cx="3678817" cy="3170099"/>
          </a:xfrm>
          <a:prstGeom prst="rect">
            <a:avLst/>
          </a:prstGeom>
          <a:noFill/>
          <a:ln>
            <a:noFill/>
          </a:ln>
        </p:spPr>
        <p:txBody>
          <a:bodyPr anchorCtr="0" anchor="t" bIns="45700" lIns="91425" spcFirstLastPara="1" rIns="91425" wrap="square" tIns="45700">
            <a:spAutoFit/>
          </a:bodyPr>
          <a:lstStyle/>
          <a:p>
            <a:pPr indent="449263" lvl="0" marL="0" marR="0" rtl="0" algn="l">
              <a:spcBef>
                <a:spcPts val="0"/>
              </a:spcBef>
              <a:spcAft>
                <a:spcPts val="0"/>
              </a:spcAft>
              <a:buNone/>
            </a:pPr>
            <a:r>
              <a:rPr lang="ru-RU" sz="2000">
                <a:solidFill>
                  <a:srgbClr val="0070C0"/>
                </a:solidFill>
                <a:latin typeface="Bookman Old Style"/>
                <a:ea typeface="Bookman Old Style"/>
                <a:cs typeface="Bookman Old Style"/>
                <a:sym typeface="Bookman Old Style"/>
              </a:rPr>
              <a:t>Истинная функция </a:t>
            </a:r>
            <a:r>
              <a:rPr i="1" lang="ru-RU" sz="2000">
                <a:solidFill>
                  <a:srgbClr val="0070C0"/>
                </a:solidFill>
                <a:latin typeface="Bookman Old Style"/>
                <a:ea typeface="Bookman Old Style"/>
                <a:cs typeface="Bookman Old Style"/>
                <a:sym typeface="Bookman Old Style"/>
              </a:rPr>
              <a:t>f</a:t>
            </a:r>
            <a:r>
              <a:rPr lang="ru-RU" sz="2000">
                <a:solidFill>
                  <a:srgbClr val="0070C0"/>
                </a:solidFill>
                <a:latin typeface="Bookman Old Style"/>
                <a:ea typeface="Bookman Old Style"/>
                <a:cs typeface="Bookman Old Style"/>
                <a:sym typeface="Bookman Old Style"/>
              </a:rPr>
              <a:t> ≈ линейна. </a:t>
            </a:r>
            <a:r>
              <a:rPr lang="ru-RU" sz="2000">
                <a:solidFill>
                  <a:srgbClr val="000000"/>
                </a:solidFill>
                <a:latin typeface="Bookman Old Style"/>
                <a:ea typeface="Bookman Old Style"/>
                <a:cs typeface="Bookman Old Style"/>
                <a:sym typeface="Bookman Old Style"/>
              </a:rPr>
              <a:t>Как и раньше, мы наблюдаем монотонное снижение MSE на обучающих данных по мере возрастания гибкости модели, а кривая MSE на контрольных данных имеет U -образную форму. </a:t>
            </a:r>
            <a:endParaRPr/>
          </a:p>
        </p:txBody>
      </p:sp>
      <p:sp>
        <p:nvSpPr>
          <p:cNvPr id="925" name="Google Shape;925;p65"/>
          <p:cNvSpPr/>
          <p:nvPr/>
        </p:nvSpPr>
        <p:spPr>
          <a:xfrm>
            <a:off x="257397" y="5557183"/>
            <a:ext cx="9779635" cy="1015663"/>
          </a:xfrm>
          <a:prstGeom prst="rect">
            <a:avLst/>
          </a:prstGeom>
          <a:noFill/>
          <a:ln>
            <a:noFill/>
          </a:ln>
        </p:spPr>
        <p:txBody>
          <a:bodyPr anchorCtr="0" anchor="t" bIns="45700" lIns="91425" spcFirstLastPara="1" rIns="91425" wrap="square" tIns="45700">
            <a:spAutoFit/>
          </a:bodyPr>
          <a:lstStyle/>
          <a:p>
            <a:pPr indent="449263" lvl="0" marL="0" marR="0" rtl="0" algn="l">
              <a:spcBef>
                <a:spcPts val="0"/>
              </a:spcBef>
              <a:spcAft>
                <a:spcPts val="0"/>
              </a:spcAft>
              <a:buNone/>
            </a:pPr>
            <a:r>
              <a:rPr lang="ru-RU" sz="2000">
                <a:solidFill>
                  <a:srgbClr val="000000"/>
                </a:solidFill>
                <a:latin typeface="Bookman Old Style"/>
                <a:ea typeface="Bookman Old Style"/>
                <a:cs typeface="Bookman Old Style"/>
                <a:sym typeface="Bookman Old Style"/>
              </a:rPr>
              <a:t>Однако в связи с тем, что истинная зависимость близка к линейной, MSE на контрольных данных лишь незначительно снижается перед последующим возрастанием.</a:t>
            </a:r>
            <a:endParaRPr/>
          </a:p>
        </p:txBody>
      </p:sp>
      <p:sp>
        <p:nvSpPr>
          <p:cNvPr id="926" name="Google Shape;926;p65"/>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sp>
        <p:nvSpPr>
          <p:cNvPr id="931" name="Google Shape;931;p66"/>
          <p:cNvSpPr/>
          <p:nvPr/>
        </p:nvSpPr>
        <p:spPr>
          <a:xfrm>
            <a:off x="245332" y="204095"/>
            <a:ext cx="9791700" cy="6790504"/>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932" name="Google Shape;932;p66"/>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933" name="Google Shape;933;p66"/>
          <p:cNvSpPr/>
          <p:nvPr/>
        </p:nvSpPr>
        <p:spPr>
          <a:xfrm>
            <a:off x="818257" y="394792"/>
            <a:ext cx="8604957" cy="661947"/>
          </a:xfrm>
          <a:prstGeom prst="roundRect">
            <a:avLst>
              <a:gd fmla="val 45749" name="adj"/>
            </a:avLst>
          </a:prstGeom>
          <a:solidFill>
            <a:srgbClr val="FFFFFF">
              <a:alpha val="52549"/>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ru-RU" sz="2800">
                <a:solidFill>
                  <a:schemeClr val="dk1"/>
                </a:solidFill>
                <a:latin typeface="Arial"/>
                <a:ea typeface="Arial"/>
                <a:cs typeface="Arial"/>
                <a:sym typeface="Arial"/>
              </a:rPr>
              <a:t>Задачи Data Mining</a:t>
            </a:r>
            <a:endParaRPr b="1" sz="2800">
              <a:solidFill>
                <a:schemeClr val="dk1"/>
              </a:solidFill>
              <a:latin typeface="Arial"/>
              <a:ea typeface="Arial"/>
              <a:cs typeface="Arial"/>
              <a:sym typeface="Arial"/>
            </a:endParaRPr>
          </a:p>
        </p:txBody>
      </p:sp>
      <p:sp>
        <p:nvSpPr>
          <p:cNvPr id="934" name="Google Shape;934;p66"/>
          <p:cNvSpPr/>
          <p:nvPr/>
        </p:nvSpPr>
        <p:spPr>
          <a:xfrm>
            <a:off x="245332" y="1140037"/>
            <a:ext cx="8853845" cy="47889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ru-RU" sz="2000">
                <a:solidFill>
                  <a:srgbClr val="0B769C"/>
                </a:solidFill>
                <a:latin typeface="Arial"/>
                <a:ea typeface="Arial"/>
                <a:cs typeface="Arial"/>
                <a:sym typeface="Arial"/>
              </a:rPr>
              <a:t>Фундаментальное свойство статистического обучения</a:t>
            </a:r>
            <a:endParaRPr/>
          </a:p>
        </p:txBody>
      </p:sp>
      <p:sp>
        <p:nvSpPr>
          <p:cNvPr id="935" name="Google Shape;935;p66"/>
          <p:cNvSpPr/>
          <p:nvPr/>
        </p:nvSpPr>
        <p:spPr>
          <a:xfrm>
            <a:off x="520835" y="5051090"/>
            <a:ext cx="5686797" cy="132343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000">
                <a:solidFill>
                  <a:srgbClr val="000000"/>
                </a:solidFill>
                <a:latin typeface="Times New Roman"/>
                <a:ea typeface="Times New Roman"/>
                <a:cs typeface="Times New Roman"/>
                <a:sym typeface="Times New Roman"/>
              </a:rPr>
              <a:t>Рис. 9. </a:t>
            </a:r>
            <a:r>
              <a:rPr i="1" lang="ru-RU" sz="2000">
                <a:solidFill>
                  <a:srgbClr val="000000"/>
                </a:solidFill>
                <a:latin typeface="Times New Roman"/>
                <a:ea typeface="Times New Roman"/>
                <a:cs typeface="Times New Roman"/>
                <a:sym typeface="Times New Roman"/>
              </a:rPr>
              <a:t>То же, что на рис. 7,8, но с истинной функцией f, существенно отличной от линейной. В этой ситуации линейная регрессия описывает данные очень плохо.</a:t>
            </a:r>
            <a:endParaRPr/>
          </a:p>
        </p:txBody>
      </p:sp>
      <p:sp>
        <p:nvSpPr>
          <p:cNvPr id="936" name="Google Shape;936;p66"/>
          <p:cNvSpPr/>
          <p:nvPr/>
        </p:nvSpPr>
        <p:spPr>
          <a:xfrm>
            <a:off x="6211566" y="1702226"/>
            <a:ext cx="3678817" cy="1323439"/>
          </a:xfrm>
          <a:prstGeom prst="rect">
            <a:avLst/>
          </a:prstGeom>
          <a:noFill/>
          <a:ln>
            <a:noFill/>
          </a:ln>
        </p:spPr>
        <p:txBody>
          <a:bodyPr anchorCtr="0" anchor="t" bIns="45700" lIns="91425" spcFirstLastPara="1" rIns="91425" wrap="square" tIns="45700">
            <a:spAutoFit/>
          </a:bodyPr>
          <a:lstStyle/>
          <a:p>
            <a:pPr indent="449263" lvl="0" marL="0" marR="0" rtl="0" algn="l">
              <a:spcBef>
                <a:spcPts val="0"/>
              </a:spcBef>
              <a:spcAft>
                <a:spcPts val="0"/>
              </a:spcAft>
              <a:buNone/>
            </a:pPr>
            <a:r>
              <a:rPr lang="ru-RU" sz="2000">
                <a:solidFill>
                  <a:srgbClr val="000000"/>
                </a:solidFill>
                <a:latin typeface="Bookman Old Style"/>
                <a:ea typeface="Bookman Old Style"/>
                <a:cs typeface="Bookman Old Style"/>
                <a:sym typeface="Bookman Old Style"/>
              </a:rPr>
              <a:t>Рис. 9 иллюстрирует пример, в котором функция </a:t>
            </a:r>
            <a:r>
              <a:rPr i="1" lang="ru-RU" sz="2000">
                <a:solidFill>
                  <a:srgbClr val="0070C0"/>
                </a:solidFill>
                <a:latin typeface="Bookman Old Style"/>
                <a:ea typeface="Bookman Old Style"/>
                <a:cs typeface="Bookman Old Style"/>
                <a:sym typeface="Bookman Old Style"/>
              </a:rPr>
              <a:t>f</a:t>
            </a:r>
            <a:r>
              <a:rPr lang="ru-RU" sz="2000">
                <a:solidFill>
                  <a:srgbClr val="0070C0"/>
                </a:solidFill>
                <a:latin typeface="Bookman Old Style"/>
                <a:ea typeface="Bookman Old Style"/>
                <a:cs typeface="Bookman Old Style"/>
                <a:sym typeface="Bookman Old Style"/>
              </a:rPr>
              <a:t> в значительной мере нелинейна</a:t>
            </a:r>
            <a:r>
              <a:rPr lang="ru-RU" sz="2000">
                <a:solidFill>
                  <a:srgbClr val="000000"/>
                </a:solidFill>
                <a:latin typeface="Bookman Old Style"/>
                <a:ea typeface="Bookman Old Style"/>
                <a:cs typeface="Bookman Old Style"/>
                <a:sym typeface="Bookman Old Style"/>
              </a:rPr>
              <a:t>.</a:t>
            </a:r>
            <a:endParaRPr/>
          </a:p>
        </p:txBody>
      </p:sp>
      <p:sp>
        <p:nvSpPr>
          <p:cNvPr id="937" name="Google Shape;937;p66"/>
          <p:cNvSpPr/>
          <p:nvPr/>
        </p:nvSpPr>
        <p:spPr>
          <a:xfrm>
            <a:off x="6211120" y="3028602"/>
            <a:ext cx="3679264" cy="3477875"/>
          </a:xfrm>
          <a:prstGeom prst="rect">
            <a:avLst/>
          </a:prstGeom>
          <a:noFill/>
          <a:ln>
            <a:noFill/>
          </a:ln>
        </p:spPr>
        <p:txBody>
          <a:bodyPr anchorCtr="0" anchor="t" bIns="45700" lIns="91425" spcFirstLastPara="1" rIns="91425" wrap="square" tIns="45700">
            <a:spAutoFit/>
          </a:bodyPr>
          <a:lstStyle/>
          <a:p>
            <a:pPr indent="449263" lvl="0" marL="0" marR="0" rtl="0" algn="l">
              <a:spcBef>
                <a:spcPts val="0"/>
              </a:spcBef>
              <a:spcAft>
                <a:spcPts val="0"/>
              </a:spcAft>
              <a:buNone/>
            </a:pPr>
            <a:r>
              <a:rPr lang="ru-RU" sz="2000">
                <a:solidFill>
                  <a:srgbClr val="000000"/>
                </a:solidFill>
                <a:latin typeface="Bookman Old Style"/>
                <a:ea typeface="Bookman Old Style"/>
                <a:cs typeface="Bookman Old Style"/>
                <a:sym typeface="Bookman Old Style"/>
              </a:rPr>
              <a:t>Кривые MSE для обучающих и контрольных выборок по-прежнему демонстрируют те же общие закономерности, но теперь имеет место быстрое снижение обеих этих кривых, перед тем как MSE на контрольных данных начинает медленно возрастать.</a:t>
            </a:r>
            <a:endParaRPr/>
          </a:p>
        </p:txBody>
      </p:sp>
      <p:pic>
        <p:nvPicPr>
          <p:cNvPr id="938" name="Google Shape;938;p66"/>
          <p:cNvPicPr preferRelativeResize="0"/>
          <p:nvPr/>
        </p:nvPicPr>
        <p:blipFill rotWithShape="1">
          <a:blip r:embed="rId3">
            <a:alphaModFix/>
          </a:blip>
          <a:srcRect b="0" l="0" r="0" t="0"/>
          <a:stretch/>
        </p:blipFill>
        <p:spPr>
          <a:xfrm>
            <a:off x="502464" y="1587037"/>
            <a:ext cx="5709102" cy="3261248"/>
          </a:xfrm>
          <a:prstGeom prst="rect">
            <a:avLst/>
          </a:prstGeom>
          <a:noFill/>
          <a:ln>
            <a:noFill/>
          </a:ln>
        </p:spPr>
      </p:pic>
      <p:sp>
        <p:nvSpPr>
          <p:cNvPr id="939" name="Google Shape;939;p66"/>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3" name="Shape 943"/>
        <p:cNvGrpSpPr/>
        <p:nvPr/>
      </p:nvGrpSpPr>
      <p:grpSpPr>
        <a:xfrm>
          <a:off x="0" y="0"/>
          <a:ext cx="0" cy="0"/>
          <a:chOff x="0" y="0"/>
          <a:chExt cx="0" cy="0"/>
        </a:xfrm>
      </p:grpSpPr>
      <p:sp>
        <p:nvSpPr>
          <p:cNvPr id="944" name="Google Shape;944;p67"/>
          <p:cNvSpPr/>
          <p:nvPr/>
        </p:nvSpPr>
        <p:spPr>
          <a:xfrm>
            <a:off x="245332" y="178768"/>
            <a:ext cx="9791700" cy="6790504"/>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945" name="Google Shape;945;p67"/>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946" name="Google Shape;946;p67"/>
          <p:cNvSpPr/>
          <p:nvPr/>
        </p:nvSpPr>
        <p:spPr>
          <a:xfrm>
            <a:off x="818257" y="394792"/>
            <a:ext cx="8604957" cy="661947"/>
          </a:xfrm>
          <a:prstGeom prst="roundRect">
            <a:avLst>
              <a:gd fmla="val 45749" name="adj"/>
            </a:avLst>
          </a:prstGeom>
          <a:solidFill>
            <a:srgbClr val="FFFFFF">
              <a:alpha val="52549"/>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ru-RU" sz="2800">
                <a:solidFill>
                  <a:schemeClr val="dk1"/>
                </a:solidFill>
                <a:latin typeface="Arial"/>
                <a:ea typeface="Arial"/>
                <a:cs typeface="Arial"/>
                <a:sym typeface="Arial"/>
              </a:rPr>
              <a:t>Задачи Data Mining</a:t>
            </a:r>
            <a:endParaRPr b="1" sz="2800">
              <a:solidFill>
                <a:schemeClr val="dk1"/>
              </a:solidFill>
              <a:latin typeface="Arial"/>
              <a:ea typeface="Arial"/>
              <a:cs typeface="Arial"/>
              <a:sym typeface="Arial"/>
            </a:endParaRPr>
          </a:p>
        </p:txBody>
      </p:sp>
      <p:sp>
        <p:nvSpPr>
          <p:cNvPr id="947" name="Google Shape;947;p67"/>
          <p:cNvSpPr/>
          <p:nvPr/>
        </p:nvSpPr>
        <p:spPr>
          <a:xfrm>
            <a:off x="333275" y="1526407"/>
            <a:ext cx="9722831" cy="1015663"/>
          </a:xfrm>
          <a:prstGeom prst="rect">
            <a:avLst/>
          </a:prstGeom>
          <a:noFill/>
          <a:ln>
            <a:noFill/>
          </a:ln>
        </p:spPr>
        <p:txBody>
          <a:bodyPr anchorCtr="0" anchor="t" bIns="45700" lIns="91425" spcFirstLastPara="1" rIns="91425" wrap="square" tIns="45700">
            <a:spAutoFit/>
          </a:bodyPr>
          <a:lstStyle/>
          <a:p>
            <a:pPr indent="449263" lvl="0" marL="0" marR="0" rtl="0" algn="l">
              <a:spcBef>
                <a:spcPts val="0"/>
              </a:spcBef>
              <a:spcAft>
                <a:spcPts val="0"/>
              </a:spcAft>
              <a:buNone/>
            </a:pPr>
            <a:r>
              <a:rPr lang="ru-RU" sz="2000">
                <a:solidFill>
                  <a:srgbClr val="000000"/>
                </a:solidFill>
                <a:latin typeface="Bookman Old Style"/>
                <a:ea typeface="Bookman Old Style"/>
                <a:cs typeface="Bookman Old Style"/>
                <a:sym typeface="Bookman Old Style"/>
              </a:rPr>
              <a:t>Оказывается, что U-образная форма кривых, описывающих MSE на контрольных данных (рис. 7-9), является результатом двух конкурирующих свойств методов статистического обучения.</a:t>
            </a:r>
            <a:endParaRPr/>
          </a:p>
        </p:txBody>
      </p:sp>
      <p:sp>
        <p:nvSpPr>
          <p:cNvPr id="948" name="Google Shape;948;p67"/>
          <p:cNvSpPr/>
          <p:nvPr/>
        </p:nvSpPr>
        <p:spPr>
          <a:xfrm>
            <a:off x="280917" y="958132"/>
            <a:ext cx="8853845" cy="47889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ru-RU" sz="2000">
                <a:solidFill>
                  <a:srgbClr val="0B769C"/>
                </a:solidFill>
                <a:latin typeface="Arial"/>
                <a:ea typeface="Arial"/>
                <a:cs typeface="Arial"/>
                <a:sym typeface="Arial"/>
              </a:rPr>
              <a:t>Фундаментальное свойство статистического обучения</a:t>
            </a:r>
            <a:endParaRPr/>
          </a:p>
        </p:txBody>
      </p:sp>
      <p:sp>
        <p:nvSpPr>
          <p:cNvPr id="949" name="Google Shape;949;p67"/>
          <p:cNvSpPr/>
          <p:nvPr/>
        </p:nvSpPr>
        <p:spPr>
          <a:xfrm>
            <a:off x="470534" y="2631454"/>
            <a:ext cx="9361040" cy="4093428"/>
          </a:xfrm>
          <a:prstGeom prst="rect">
            <a:avLst/>
          </a:prstGeom>
          <a:noFill/>
          <a:ln>
            <a:noFill/>
          </a:ln>
        </p:spPr>
        <p:txBody>
          <a:bodyPr anchorCtr="0" anchor="t" bIns="45700" lIns="91425" spcFirstLastPara="1" rIns="91425" wrap="square" tIns="45700">
            <a:spAutoFit/>
          </a:bodyPr>
          <a:lstStyle/>
          <a:p>
            <a:pPr indent="449263" lvl="0" marL="0" marR="0" rtl="0" algn="l">
              <a:spcBef>
                <a:spcPts val="0"/>
              </a:spcBef>
              <a:spcAft>
                <a:spcPts val="0"/>
              </a:spcAft>
              <a:buNone/>
            </a:pPr>
            <a:r>
              <a:rPr lang="ru-RU" sz="2000">
                <a:solidFill>
                  <a:srgbClr val="000000"/>
                </a:solidFill>
                <a:latin typeface="Bookman Old Style"/>
                <a:ea typeface="Bookman Old Style"/>
                <a:cs typeface="Bookman Old Style"/>
                <a:sym typeface="Bookman Old Style"/>
              </a:rPr>
              <a:t>Для некоторого контрольного значения </a:t>
            </a:r>
            <a:r>
              <a:rPr i="1" lang="ru-RU" sz="2000">
                <a:solidFill>
                  <a:srgbClr val="000000"/>
                </a:solidFill>
                <a:latin typeface="Bookman Old Style"/>
                <a:ea typeface="Bookman Old Style"/>
                <a:cs typeface="Bookman Old Style"/>
                <a:sym typeface="Bookman Old Style"/>
              </a:rPr>
              <a:t>x</a:t>
            </a:r>
            <a:r>
              <a:rPr baseline="-25000" i="1" lang="ru-RU" sz="2000">
                <a:solidFill>
                  <a:srgbClr val="000000"/>
                </a:solidFill>
                <a:latin typeface="Bookman Old Style"/>
                <a:ea typeface="Bookman Old Style"/>
                <a:cs typeface="Bookman Old Style"/>
                <a:sym typeface="Bookman Old Style"/>
              </a:rPr>
              <a:t>0</a:t>
            </a:r>
            <a:r>
              <a:rPr i="1" lang="ru-RU" sz="2000">
                <a:solidFill>
                  <a:srgbClr val="000000"/>
                </a:solidFill>
                <a:latin typeface="Bookman Old Style"/>
                <a:ea typeface="Bookman Old Style"/>
                <a:cs typeface="Bookman Old Style"/>
                <a:sym typeface="Bookman Old Style"/>
              </a:rPr>
              <a:t> </a:t>
            </a:r>
            <a:r>
              <a:rPr lang="ru-RU" sz="2000">
                <a:solidFill>
                  <a:srgbClr val="000000"/>
                </a:solidFill>
                <a:latin typeface="Bookman Old Style"/>
                <a:ea typeface="Bookman Old Style"/>
                <a:cs typeface="Bookman Old Style"/>
                <a:sym typeface="Bookman Old Style"/>
              </a:rPr>
              <a:t>ожидаемую MSE всегда можно разложить на сумму трех фундаментальных величин: </a:t>
            </a:r>
            <a:r>
              <a:rPr i="1" lang="ru-RU" sz="2000">
                <a:solidFill>
                  <a:srgbClr val="000000"/>
                </a:solidFill>
                <a:latin typeface="Bookman Old Style"/>
                <a:ea typeface="Bookman Old Style"/>
                <a:cs typeface="Bookman Old Style"/>
                <a:sym typeface="Bookman Old Style"/>
              </a:rPr>
              <a:t>дисперсии</a:t>
            </a:r>
            <a:r>
              <a:rPr lang="ru-RU" sz="2000">
                <a:solidFill>
                  <a:srgbClr val="000000"/>
                </a:solidFill>
                <a:latin typeface="Bookman Old Style"/>
                <a:ea typeface="Bookman Old Style"/>
                <a:cs typeface="Bookman Old Style"/>
                <a:sym typeface="Bookman Old Style"/>
              </a:rPr>
              <a:t> </a:t>
            </a:r>
            <a:r>
              <a:rPr i="1" lang="ru-RU" sz="2000">
                <a:solidFill>
                  <a:srgbClr val="000000"/>
                </a:solidFill>
                <a:latin typeface="Bookman Old Style"/>
                <a:ea typeface="Bookman Old Style"/>
                <a:cs typeface="Bookman Old Style"/>
                <a:sym typeface="Bookman Old Style"/>
              </a:rPr>
              <a:t>f (x</a:t>
            </a:r>
            <a:r>
              <a:rPr baseline="-25000" i="1" lang="ru-RU" sz="2000">
                <a:solidFill>
                  <a:srgbClr val="000000"/>
                </a:solidFill>
                <a:latin typeface="Bookman Old Style"/>
                <a:ea typeface="Bookman Old Style"/>
                <a:cs typeface="Bookman Old Style"/>
                <a:sym typeface="Bookman Old Style"/>
              </a:rPr>
              <a:t>0</a:t>
            </a:r>
            <a:r>
              <a:rPr i="1" lang="ru-RU" sz="2000">
                <a:solidFill>
                  <a:srgbClr val="000000"/>
                </a:solidFill>
                <a:latin typeface="Bookman Old Style"/>
                <a:ea typeface="Bookman Old Style"/>
                <a:cs typeface="Bookman Old Style"/>
                <a:sym typeface="Bookman Old Style"/>
              </a:rPr>
              <a:t> )</a:t>
            </a:r>
            <a:r>
              <a:rPr lang="ru-RU" sz="2000">
                <a:solidFill>
                  <a:srgbClr val="000000"/>
                </a:solidFill>
                <a:latin typeface="Bookman Old Style"/>
                <a:ea typeface="Bookman Old Style"/>
                <a:cs typeface="Bookman Old Style"/>
                <a:sym typeface="Bookman Old Style"/>
              </a:rPr>
              <a:t>, </a:t>
            </a:r>
            <a:r>
              <a:rPr i="1" lang="ru-RU" sz="2000">
                <a:solidFill>
                  <a:srgbClr val="000000"/>
                </a:solidFill>
                <a:latin typeface="Bookman Old Style"/>
                <a:ea typeface="Bookman Old Style"/>
                <a:cs typeface="Bookman Old Style"/>
                <a:sym typeface="Bookman Old Style"/>
              </a:rPr>
              <a:t>квадрата смещения f (x</a:t>
            </a:r>
            <a:r>
              <a:rPr baseline="-25000" i="1" lang="ru-RU" sz="2000">
                <a:solidFill>
                  <a:srgbClr val="000000"/>
                </a:solidFill>
                <a:latin typeface="Bookman Old Style"/>
                <a:ea typeface="Bookman Old Style"/>
                <a:cs typeface="Bookman Old Style"/>
                <a:sym typeface="Bookman Old Style"/>
              </a:rPr>
              <a:t>0</a:t>
            </a:r>
            <a:r>
              <a:rPr i="1" lang="ru-RU" sz="2000">
                <a:solidFill>
                  <a:srgbClr val="000000"/>
                </a:solidFill>
                <a:latin typeface="Bookman Old Style"/>
                <a:ea typeface="Bookman Old Style"/>
                <a:cs typeface="Bookman Old Style"/>
                <a:sym typeface="Bookman Old Style"/>
              </a:rPr>
              <a:t> )</a:t>
            </a:r>
            <a:r>
              <a:rPr lang="ru-RU" sz="2000">
                <a:solidFill>
                  <a:srgbClr val="000000"/>
                </a:solidFill>
                <a:latin typeface="Bookman Old Style"/>
                <a:ea typeface="Bookman Old Style"/>
                <a:cs typeface="Bookman Old Style"/>
                <a:sym typeface="Bookman Old Style"/>
              </a:rPr>
              <a:t> </a:t>
            </a:r>
            <a:r>
              <a:rPr i="1" lang="ru-RU" sz="2000">
                <a:solidFill>
                  <a:srgbClr val="000000"/>
                </a:solidFill>
                <a:latin typeface="Bookman Old Style"/>
                <a:ea typeface="Bookman Old Style"/>
                <a:cs typeface="Bookman Old Style"/>
                <a:sym typeface="Bookman Old Style"/>
              </a:rPr>
              <a:t>и дисперсии остатков ε</a:t>
            </a:r>
            <a:r>
              <a:rPr lang="ru-RU" sz="2000">
                <a:solidFill>
                  <a:srgbClr val="000000"/>
                </a:solidFill>
                <a:latin typeface="Bookman Old Style"/>
                <a:ea typeface="Bookman Old Style"/>
                <a:cs typeface="Bookman Old Style"/>
                <a:sym typeface="Bookman Old Style"/>
              </a:rPr>
              <a:t>:</a:t>
            </a:r>
            <a:endParaRPr/>
          </a:p>
          <a:p>
            <a:pPr indent="449263" lvl="0" marL="0" marR="0" rtl="0" algn="l">
              <a:spcBef>
                <a:spcPts val="0"/>
              </a:spcBef>
              <a:spcAft>
                <a:spcPts val="0"/>
              </a:spcAft>
              <a:buNone/>
            </a:pPr>
            <a:r>
              <a:t/>
            </a:r>
            <a:endParaRPr sz="2000">
              <a:solidFill>
                <a:srgbClr val="000000"/>
              </a:solidFill>
              <a:latin typeface="Bookman Old Style"/>
              <a:ea typeface="Bookman Old Style"/>
              <a:cs typeface="Bookman Old Style"/>
              <a:sym typeface="Bookman Old Style"/>
            </a:endParaRPr>
          </a:p>
          <a:p>
            <a:pPr indent="449263" lvl="0" marL="0" marR="0" rtl="0" algn="l">
              <a:spcBef>
                <a:spcPts val="0"/>
              </a:spcBef>
              <a:spcAft>
                <a:spcPts val="0"/>
              </a:spcAft>
              <a:buNone/>
            </a:pPr>
            <a:r>
              <a:rPr b="1" i="1" lang="ru-RU" sz="2000">
                <a:solidFill>
                  <a:srgbClr val="000000"/>
                </a:solidFill>
                <a:latin typeface="Bookman Old Style"/>
                <a:ea typeface="Bookman Old Style"/>
                <a:cs typeface="Bookman Old Style"/>
                <a:sym typeface="Bookman Old Style"/>
              </a:rPr>
              <a:t>E(у</a:t>
            </a:r>
            <a:r>
              <a:rPr b="1" baseline="-25000" i="1" lang="ru-RU" sz="2000">
                <a:solidFill>
                  <a:srgbClr val="000000"/>
                </a:solidFill>
                <a:latin typeface="Bookman Old Style"/>
                <a:ea typeface="Bookman Old Style"/>
                <a:cs typeface="Bookman Old Style"/>
                <a:sym typeface="Bookman Old Style"/>
              </a:rPr>
              <a:t>0</a:t>
            </a:r>
            <a:r>
              <a:rPr b="1" i="1" lang="ru-RU" sz="2000">
                <a:solidFill>
                  <a:srgbClr val="000000"/>
                </a:solidFill>
                <a:latin typeface="Bookman Old Style"/>
                <a:ea typeface="Bookman Old Style"/>
                <a:cs typeface="Bookman Old Style"/>
                <a:sym typeface="Bookman Old Style"/>
              </a:rPr>
              <a:t> - </a:t>
            </a:r>
            <a:r>
              <a:rPr i="1" lang="ru-RU" sz="2000">
                <a:solidFill>
                  <a:srgbClr val="000000"/>
                </a:solidFill>
                <a:latin typeface="Bookman Old Style"/>
                <a:ea typeface="Bookman Old Style"/>
                <a:cs typeface="Bookman Old Style"/>
                <a:sym typeface="Bookman Old Style"/>
              </a:rPr>
              <a:t>f</a:t>
            </a:r>
            <a:r>
              <a:rPr b="1" i="1" lang="ru-RU" sz="2000">
                <a:solidFill>
                  <a:srgbClr val="000000"/>
                </a:solidFill>
                <a:latin typeface="Bookman Old Style"/>
                <a:ea typeface="Bookman Old Style"/>
                <a:cs typeface="Bookman Old Style"/>
                <a:sym typeface="Bookman Old Style"/>
              </a:rPr>
              <a:t>(x</a:t>
            </a:r>
            <a:r>
              <a:rPr b="1" baseline="-25000" i="1" lang="ru-RU" sz="2000">
                <a:solidFill>
                  <a:srgbClr val="000000"/>
                </a:solidFill>
                <a:latin typeface="Bookman Old Style"/>
                <a:ea typeface="Bookman Old Style"/>
                <a:cs typeface="Bookman Old Style"/>
                <a:sym typeface="Bookman Old Style"/>
              </a:rPr>
              <a:t>0</a:t>
            </a:r>
            <a:r>
              <a:rPr b="1" i="1" lang="ru-RU" sz="2000">
                <a:solidFill>
                  <a:srgbClr val="000000"/>
                </a:solidFill>
                <a:latin typeface="Bookman Old Style"/>
                <a:ea typeface="Bookman Old Style"/>
                <a:cs typeface="Bookman Old Style"/>
                <a:sym typeface="Bookman Old Style"/>
              </a:rPr>
              <a:t>))</a:t>
            </a:r>
            <a:r>
              <a:rPr b="1" baseline="30000" i="1" lang="ru-RU" sz="2000">
                <a:solidFill>
                  <a:srgbClr val="000000"/>
                </a:solidFill>
                <a:latin typeface="Bookman Old Style"/>
                <a:ea typeface="Bookman Old Style"/>
                <a:cs typeface="Bookman Old Style"/>
                <a:sym typeface="Bookman Old Style"/>
              </a:rPr>
              <a:t>2</a:t>
            </a:r>
            <a:r>
              <a:rPr b="1" i="1" lang="ru-RU" sz="2000">
                <a:solidFill>
                  <a:srgbClr val="000000"/>
                </a:solidFill>
                <a:latin typeface="Bookman Old Style"/>
                <a:ea typeface="Bookman Old Style"/>
                <a:cs typeface="Bookman Old Style"/>
                <a:sym typeface="Bookman Old Style"/>
              </a:rPr>
              <a:t> = Var( </a:t>
            </a:r>
            <a:r>
              <a:rPr i="1" lang="ru-RU" sz="2000">
                <a:solidFill>
                  <a:srgbClr val="000000"/>
                </a:solidFill>
                <a:latin typeface="Bookman Old Style"/>
                <a:ea typeface="Bookman Old Style"/>
                <a:cs typeface="Bookman Old Style"/>
                <a:sym typeface="Bookman Old Style"/>
              </a:rPr>
              <a:t>f</a:t>
            </a:r>
            <a:r>
              <a:rPr b="1" i="1" lang="ru-RU" sz="2000">
                <a:solidFill>
                  <a:srgbClr val="000000"/>
                </a:solidFill>
                <a:latin typeface="Bookman Old Style"/>
                <a:ea typeface="Bookman Old Style"/>
                <a:cs typeface="Bookman Old Style"/>
                <a:sym typeface="Bookman Old Style"/>
              </a:rPr>
              <a:t>(x</a:t>
            </a:r>
            <a:r>
              <a:rPr b="1" baseline="-25000" i="1" lang="ru-RU" sz="2000">
                <a:solidFill>
                  <a:srgbClr val="000000"/>
                </a:solidFill>
                <a:latin typeface="Bookman Old Style"/>
                <a:ea typeface="Bookman Old Style"/>
                <a:cs typeface="Bookman Old Style"/>
                <a:sym typeface="Bookman Old Style"/>
              </a:rPr>
              <a:t>0</a:t>
            </a:r>
            <a:r>
              <a:rPr b="1" i="1" lang="ru-RU" sz="2000">
                <a:solidFill>
                  <a:srgbClr val="000000"/>
                </a:solidFill>
                <a:latin typeface="Bookman Old Style"/>
                <a:ea typeface="Bookman Old Style"/>
                <a:cs typeface="Bookman Old Style"/>
                <a:sym typeface="Bookman Old Style"/>
              </a:rPr>
              <a:t>)) + [Bias( </a:t>
            </a:r>
            <a:r>
              <a:rPr i="1" lang="ru-RU" sz="2000">
                <a:solidFill>
                  <a:srgbClr val="000000"/>
                </a:solidFill>
                <a:latin typeface="Bookman Old Style"/>
                <a:ea typeface="Bookman Old Style"/>
                <a:cs typeface="Bookman Old Style"/>
                <a:sym typeface="Bookman Old Style"/>
              </a:rPr>
              <a:t>f</a:t>
            </a:r>
            <a:r>
              <a:rPr b="1" i="1" lang="ru-RU" sz="2000">
                <a:solidFill>
                  <a:srgbClr val="000000"/>
                </a:solidFill>
                <a:latin typeface="Bookman Old Style"/>
                <a:ea typeface="Bookman Old Style"/>
                <a:cs typeface="Bookman Old Style"/>
                <a:sym typeface="Bookman Old Style"/>
              </a:rPr>
              <a:t> (x</a:t>
            </a:r>
            <a:r>
              <a:rPr b="1" baseline="-25000" i="1" lang="ru-RU" sz="2000">
                <a:solidFill>
                  <a:srgbClr val="000000"/>
                </a:solidFill>
                <a:latin typeface="Bookman Old Style"/>
                <a:ea typeface="Bookman Old Style"/>
                <a:cs typeface="Bookman Old Style"/>
                <a:sym typeface="Bookman Old Style"/>
              </a:rPr>
              <a:t>0</a:t>
            </a:r>
            <a:r>
              <a:rPr b="1" i="1" lang="ru-RU" sz="2000">
                <a:solidFill>
                  <a:srgbClr val="000000"/>
                </a:solidFill>
                <a:latin typeface="Bookman Old Style"/>
                <a:ea typeface="Bookman Old Style"/>
                <a:cs typeface="Bookman Old Style"/>
                <a:sym typeface="Bookman Old Style"/>
              </a:rPr>
              <a:t>))]</a:t>
            </a:r>
            <a:r>
              <a:rPr b="1" baseline="30000" i="1" lang="ru-RU" sz="2000">
                <a:solidFill>
                  <a:srgbClr val="000000"/>
                </a:solidFill>
                <a:latin typeface="Bookman Old Style"/>
                <a:ea typeface="Bookman Old Style"/>
                <a:cs typeface="Bookman Old Style"/>
                <a:sym typeface="Bookman Old Style"/>
              </a:rPr>
              <a:t>2</a:t>
            </a:r>
            <a:r>
              <a:rPr b="1" i="1" lang="ru-RU" sz="2000">
                <a:solidFill>
                  <a:srgbClr val="000000"/>
                </a:solidFill>
                <a:latin typeface="Bookman Old Style"/>
                <a:ea typeface="Bookman Old Style"/>
                <a:cs typeface="Bookman Old Style"/>
                <a:sym typeface="Bookman Old Style"/>
              </a:rPr>
              <a:t> + Var(ε).             </a:t>
            </a:r>
            <a:r>
              <a:rPr lang="ru-RU" sz="2000">
                <a:solidFill>
                  <a:srgbClr val="000000"/>
                </a:solidFill>
                <a:latin typeface="Bookman Old Style"/>
                <a:ea typeface="Bookman Old Style"/>
                <a:cs typeface="Bookman Old Style"/>
                <a:sym typeface="Bookman Old Style"/>
              </a:rPr>
              <a:t>(7)</a:t>
            </a:r>
            <a:endParaRPr sz="2000">
              <a:solidFill>
                <a:srgbClr val="000000"/>
              </a:solidFill>
              <a:latin typeface="Bookman Old Style"/>
              <a:ea typeface="Bookman Old Style"/>
              <a:cs typeface="Bookman Old Style"/>
              <a:sym typeface="Bookman Old Style"/>
            </a:endParaRPr>
          </a:p>
          <a:p>
            <a:pPr indent="449263" lvl="0" marL="0" marR="0" rtl="0" algn="l">
              <a:spcBef>
                <a:spcPts val="0"/>
              </a:spcBef>
              <a:spcAft>
                <a:spcPts val="0"/>
              </a:spcAft>
              <a:buNone/>
            </a:pPr>
            <a:r>
              <a:t/>
            </a:r>
            <a:endParaRPr sz="2000">
              <a:solidFill>
                <a:srgbClr val="000000"/>
              </a:solidFill>
              <a:latin typeface="Bookman Old Style"/>
              <a:ea typeface="Bookman Old Style"/>
              <a:cs typeface="Bookman Old Style"/>
              <a:sym typeface="Bookman Old Style"/>
            </a:endParaRPr>
          </a:p>
          <a:p>
            <a:pPr indent="449263" lvl="0" marL="0" marR="0" rtl="0" algn="l">
              <a:spcBef>
                <a:spcPts val="0"/>
              </a:spcBef>
              <a:spcAft>
                <a:spcPts val="0"/>
              </a:spcAft>
              <a:buNone/>
            </a:pPr>
            <a:r>
              <a:rPr lang="ru-RU" sz="2000">
                <a:solidFill>
                  <a:srgbClr val="000000"/>
                </a:solidFill>
                <a:latin typeface="Bookman Old Style"/>
                <a:ea typeface="Bookman Old Style"/>
                <a:cs typeface="Bookman Old Style"/>
                <a:sym typeface="Bookman Old Style"/>
              </a:rPr>
              <a:t>Здесь </a:t>
            </a:r>
            <a:r>
              <a:rPr b="1" i="1" lang="ru-RU" sz="2000">
                <a:solidFill>
                  <a:srgbClr val="000000"/>
                </a:solidFill>
                <a:latin typeface="Bookman Old Style"/>
                <a:ea typeface="Bookman Old Style"/>
                <a:cs typeface="Bookman Old Style"/>
                <a:sym typeface="Bookman Old Style"/>
              </a:rPr>
              <a:t>E(у</a:t>
            </a:r>
            <a:r>
              <a:rPr b="1" baseline="-25000" i="1" lang="ru-RU" sz="2000">
                <a:solidFill>
                  <a:srgbClr val="000000"/>
                </a:solidFill>
                <a:latin typeface="Bookman Old Style"/>
                <a:ea typeface="Bookman Old Style"/>
                <a:cs typeface="Bookman Old Style"/>
                <a:sym typeface="Bookman Old Style"/>
              </a:rPr>
              <a:t>0</a:t>
            </a:r>
            <a:r>
              <a:rPr b="1" i="1" lang="ru-RU" sz="2000">
                <a:solidFill>
                  <a:srgbClr val="000000"/>
                </a:solidFill>
                <a:latin typeface="Bookman Old Style"/>
                <a:ea typeface="Bookman Old Style"/>
                <a:cs typeface="Bookman Old Style"/>
                <a:sym typeface="Bookman Old Style"/>
              </a:rPr>
              <a:t> - </a:t>
            </a:r>
            <a:r>
              <a:rPr i="1" lang="ru-RU" sz="2000">
                <a:solidFill>
                  <a:srgbClr val="000000"/>
                </a:solidFill>
                <a:latin typeface="Bookman Old Style"/>
                <a:ea typeface="Bookman Old Style"/>
                <a:cs typeface="Bookman Old Style"/>
                <a:sym typeface="Bookman Old Style"/>
              </a:rPr>
              <a:t>f</a:t>
            </a:r>
            <a:r>
              <a:rPr b="1" i="1" lang="ru-RU" sz="2000">
                <a:solidFill>
                  <a:srgbClr val="000000"/>
                </a:solidFill>
                <a:latin typeface="Bookman Old Style"/>
                <a:ea typeface="Bookman Old Style"/>
                <a:cs typeface="Bookman Old Style"/>
                <a:sym typeface="Bookman Old Style"/>
              </a:rPr>
              <a:t> (x</a:t>
            </a:r>
            <a:r>
              <a:rPr b="1" baseline="-25000" i="1" lang="ru-RU" sz="2000">
                <a:solidFill>
                  <a:srgbClr val="000000"/>
                </a:solidFill>
                <a:latin typeface="Bookman Old Style"/>
                <a:ea typeface="Bookman Old Style"/>
                <a:cs typeface="Bookman Old Style"/>
                <a:sym typeface="Bookman Old Style"/>
              </a:rPr>
              <a:t>0</a:t>
            </a:r>
            <a:r>
              <a:rPr b="1" i="1" lang="ru-RU" sz="2000">
                <a:solidFill>
                  <a:srgbClr val="000000"/>
                </a:solidFill>
                <a:latin typeface="Bookman Old Style"/>
                <a:ea typeface="Bookman Old Style"/>
                <a:cs typeface="Bookman Old Style"/>
                <a:sym typeface="Bookman Old Style"/>
              </a:rPr>
              <a:t> ))</a:t>
            </a:r>
            <a:r>
              <a:rPr b="1" baseline="30000" i="1" lang="ru-RU" sz="2000">
                <a:solidFill>
                  <a:srgbClr val="000000"/>
                </a:solidFill>
                <a:latin typeface="Bookman Old Style"/>
                <a:ea typeface="Bookman Old Style"/>
                <a:cs typeface="Bookman Old Style"/>
                <a:sym typeface="Bookman Old Style"/>
              </a:rPr>
              <a:t>2</a:t>
            </a:r>
            <a:r>
              <a:rPr b="1" i="1" lang="ru-RU" sz="2000">
                <a:solidFill>
                  <a:srgbClr val="000000"/>
                </a:solidFill>
                <a:latin typeface="Bookman Old Style"/>
                <a:ea typeface="Bookman Old Style"/>
                <a:cs typeface="Bookman Old Style"/>
                <a:sym typeface="Bookman Old Style"/>
              </a:rPr>
              <a:t> </a:t>
            </a:r>
            <a:r>
              <a:rPr lang="ru-RU" sz="2000">
                <a:solidFill>
                  <a:srgbClr val="000000"/>
                </a:solidFill>
                <a:latin typeface="Bookman Old Style"/>
                <a:ea typeface="Bookman Old Style"/>
                <a:cs typeface="Bookman Old Style"/>
                <a:sym typeface="Bookman Old Style"/>
              </a:rPr>
              <a:t>обозначает математическое ожидание ошибки на контрольной выборке и представляет собой среднее значение MSE, которое мы получили бы при многократном повторном оценивании </a:t>
            </a:r>
            <a:r>
              <a:rPr i="1" lang="ru-RU" sz="2000">
                <a:solidFill>
                  <a:srgbClr val="000000"/>
                </a:solidFill>
                <a:latin typeface="Bookman Old Style"/>
                <a:ea typeface="Bookman Old Style"/>
                <a:cs typeface="Bookman Old Style"/>
                <a:sym typeface="Bookman Old Style"/>
              </a:rPr>
              <a:t>f </a:t>
            </a:r>
            <a:r>
              <a:rPr lang="ru-RU" sz="2000">
                <a:solidFill>
                  <a:srgbClr val="000000"/>
                </a:solidFill>
                <a:latin typeface="Bookman Old Style"/>
                <a:ea typeface="Bookman Old Style"/>
                <a:cs typeface="Bookman Old Style"/>
                <a:sym typeface="Bookman Old Style"/>
              </a:rPr>
              <a:t>на основе большого числа обучающих выборок и вычислении ошибки для каждого контрольного значения </a:t>
            </a:r>
            <a:r>
              <a:rPr i="1" lang="ru-RU" sz="2000">
                <a:solidFill>
                  <a:srgbClr val="000000"/>
                </a:solidFill>
                <a:latin typeface="Bookman Old Style"/>
                <a:ea typeface="Bookman Old Style"/>
                <a:cs typeface="Bookman Old Style"/>
                <a:sym typeface="Bookman Old Style"/>
              </a:rPr>
              <a:t>x</a:t>
            </a:r>
            <a:r>
              <a:rPr baseline="-25000" i="1" lang="ru-RU" sz="2000">
                <a:solidFill>
                  <a:srgbClr val="000000"/>
                </a:solidFill>
                <a:latin typeface="Bookman Old Style"/>
                <a:ea typeface="Bookman Old Style"/>
                <a:cs typeface="Bookman Old Style"/>
                <a:sym typeface="Bookman Old Style"/>
              </a:rPr>
              <a:t>0</a:t>
            </a:r>
            <a:r>
              <a:rPr lang="ru-RU" sz="2000">
                <a:solidFill>
                  <a:srgbClr val="000000"/>
                </a:solidFill>
                <a:latin typeface="Bookman Old Style"/>
                <a:ea typeface="Bookman Old Style"/>
                <a:cs typeface="Bookman Old Style"/>
                <a:sym typeface="Bookman Old Style"/>
              </a:rPr>
              <a:t>. Общую ожидаемую MSE на контрольной выборке можно вычислить путем усреднения </a:t>
            </a:r>
            <a:r>
              <a:rPr i="1" lang="ru-RU" sz="2000">
                <a:solidFill>
                  <a:srgbClr val="000000"/>
                </a:solidFill>
                <a:latin typeface="Bookman Old Style"/>
                <a:ea typeface="Bookman Old Style"/>
                <a:cs typeface="Bookman Old Style"/>
                <a:sym typeface="Bookman Old Style"/>
              </a:rPr>
              <a:t>E(у</a:t>
            </a:r>
            <a:r>
              <a:rPr baseline="-25000" i="1" lang="ru-RU" sz="2000">
                <a:solidFill>
                  <a:srgbClr val="000000"/>
                </a:solidFill>
                <a:latin typeface="Bookman Old Style"/>
                <a:ea typeface="Bookman Old Style"/>
                <a:cs typeface="Bookman Old Style"/>
                <a:sym typeface="Bookman Old Style"/>
              </a:rPr>
              <a:t>0</a:t>
            </a:r>
            <a:r>
              <a:rPr i="1" lang="ru-RU" sz="2000">
                <a:solidFill>
                  <a:srgbClr val="000000"/>
                </a:solidFill>
                <a:latin typeface="Bookman Old Style"/>
                <a:ea typeface="Bookman Old Style"/>
                <a:cs typeface="Bookman Old Style"/>
                <a:sym typeface="Bookman Old Style"/>
              </a:rPr>
              <a:t> - f(x</a:t>
            </a:r>
            <a:r>
              <a:rPr baseline="-25000" i="1" lang="ru-RU" sz="2000">
                <a:solidFill>
                  <a:srgbClr val="000000"/>
                </a:solidFill>
                <a:latin typeface="Bookman Old Style"/>
                <a:ea typeface="Bookman Old Style"/>
                <a:cs typeface="Bookman Old Style"/>
                <a:sym typeface="Bookman Old Style"/>
              </a:rPr>
              <a:t>0</a:t>
            </a:r>
            <a:r>
              <a:rPr i="1" lang="ru-RU" sz="2000">
                <a:solidFill>
                  <a:srgbClr val="000000"/>
                </a:solidFill>
                <a:latin typeface="Bookman Old Style"/>
                <a:ea typeface="Bookman Old Style"/>
                <a:cs typeface="Bookman Old Style"/>
                <a:sym typeface="Bookman Old Style"/>
              </a:rPr>
              <a:t> ))</a:t>
            </a:r>
            <a:r>
              <a:rPr baseline="30000" i="1" lang="ru-RU" sz="2000">
                <a:solidFill>
                  <a:srgbClr val="000000"/>
                </a:solidFill>
                <a:latin typeface="Bookman Old Style"/>
                <a:ea typeface="Bookman Old Style"/>
                <a:cs typeface="Bookman Old Style"/>
                <a:sym typeface="Bookman Old Style"/>
              </a:rPr>
              <a:t>2</a:t>
            </a:r>
            <a:r>
              <a:rPr lang="ru-RU" sz="2000">
                <a:solidFill>
                  <a:srgbClr val="000000"/>
                </a:solidFill>
                <a:latin typeface="Bookman Old Style"/>
                <a:ea typeface="Bookman Old Style"/>
                <a:cs typeface="Bookman Old Style"/>
                <a:sym typeface="Bookman Old Style"/>
              </a:rPr>
              <a:t> для всех возможных проверочных значений </a:t>
            </a:r>
            <a:r>
              <a:rPr i="1" lang="ru-RU" sz="2000">
                <a:solidFill>
                  <a:srgbClr val="000000"/>
                </a:solidFill>
                <a:latin typeface="Bookman Old Style"/>
                <a:ea typeface="Bookman Old Style"/>
                <a:cs typeface="Bookman Old Style"/>
                <a:sym typeface="Bookman Old Style"/>
              </a:rPr>
              <a:t>x</a:t>
            </a:r>
            <a:r>
              <a:rPr baseline="-25000" i="1" lang="ru-RU" sz="2000">
                <a:solidFill>
                  <a:srgbClr val="000000"/>
                </a:solidFill>
                <a:latin typeface="Bookman Old Style"/>
                <a:ea typeface="Bookman Old Style"/>
                <a:cs typeface="Bookman Old Style"/>
                <a:sym typeface="Bookman Old Style"/>
              </a:rPr>
              <a:t>0</a:t>
            </a:r>
            <a:r>
              <a:rPr i="1" lang="ru-RU" sz="2000">
                <a:solidFill>
                  <a:srgbClr val="000000"/>
                </a:solidFill>
                <a:latin typeface="Bookman Old Style"/>
                <a:ea typeface="Bookman Old Style"/>
                <a:cs typeface="Bookman Old Style"/>
                <a:sym typeface="Bookman Old Style"/>
              </a:rPr>
              <a:t>.</a:t>
            </a:r>
            <a:endParaRPr sz="2000">
              <a:solidFill>
                <a:srgbClr val="000000"/>
              </a:solidFill>
              <a:latin typeface="Bookman Old Style"/>
              <a:ea typeface="Bookman Old Style"/>
              <a:cs typeface="Bookman Old Style"/>
              <a:sym typeface="Bookman Old Style"/>
            </a:endParaRPr>
          </a:p>
        </p:txBody>
      </p:sp>
      <p:sp>
        <p:nvSpPr>
          <p:cNvPr id="950" name="Google Shape;950;p67"/>
          <p:cNvSpPr/>
          <p:nvPr/>
        </p:nvSpPr>
        <p:spPr>
          <a:xfrm>
            <a:off x="1949177" y="3278870"/>
            <a:ext cx="123100" cy="55984"/>
          </a:xfrm>
          <a:custGeom>
            <a:rect b="b" l="l" r="r" t="t"/>
            <a:pathLst>
              <a:path extrusionOk="0" h="66689" w="190500">
                <a:moveTo>
                  <a:pt x="0" y="61927"/>
                </a:moveTo>
                <a:cubicBezTo>
                  <a:pt x="36512" y="30573"/>
                  <a:pt x="73025" y="-780"/>
                  <a:pt x="104775" y="14"/>
                </a:cubicBezTo>
                <a:cubicBezTo>
                  <a:pt x="136525" y="808"/>
                  <a:pt x="163512" y="33748"/>
                  <a:pt x="190500" y="66689"/>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51" name="Google Shape;951;p67"/>
          <p:cNvSpPr/>
          <p:nvPr/>
        </p:nvSpPr>
        <p:spPr>
          <a:xfrm>
            <a:off x="1787838" y="3876576"/>
            <a:ext cx="111909" cy="55984"/>
          </a:xfrm>
          <a:custGeom>
            <a:rect b="b" l="l" r="r" t="t"/>
            <a:pathLst>
              <a:path extrusionOk="0" h="66689" w="190500">
                <a:moveTo>
                  <a:pt x="0" y="61927"/>
                </a:moveTo>
                <a:cubicBezTo>
                  <a:pt x="36512" y="30573"/>
                  <a:pt x="73025" y="-780"/>
                  <a:pt x="104775" y="14"/>
                </a:cubicBezTo>
                <a:cubicBezTo>
                  <a:pt x="136525" y="808"/>
                  <a:pt x="163512" y="33748"/>
                  <a:pt x="190500" y="66689"/>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52" name="Google Shape;952;p67"/>
          <p:cNvSpPr/>
          <p:nvPr/>
        </p:nvSpPr>
        <p:spPr>
          <a:xfrm>
            <a:off x="3423732" y="3873302"/>
            <a:ext cx="111909" cy="55984"/>
          </a:xfrm>
          <a:custGeom>
            <a:rect b="b" l="l" r="r" t="t"/>
            <a:pathLst>
              <a:path extrusionOk="0" h="66689" w="190500">
                <a:moveTo>
                  <a:pt x="0" y="61927"/>
                </a:moveTo>
                <a:cubicBezTo>
                  <a:pt x="36512" y="30573"/>
                  <a:pt x="73025" y="-780"/>
                  <a:pt x="104775" y="14"/>
                </a:cubicBezTo>
                <a:cubicBezTo>
                  <a:pt x="136525" y="808"/>
                  <a:pt x="163512" y="33748"/>
                  <a:pt x="190500" y="66689"/>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53" name="Google Shape;953;p67"/>
          <p:cNvSpPr/>
          <p:nvPr/>
        </p:nvSpPr>
        <p:spPr>
          <a:xfrm>
            <a:off x="5138737" y="3861284"/>
            <a:ext cx="111909" cy="55984"/>
          </a:xfrm>
          <a:custGeom>
            <a:rect b="b" l="l" r="r" t="t"/>
            <a:pathLst>
              <a:path extrusionOk="0" h="66689" w="190500">
                <a:moveTo>
                  <a:pt x="0" y="61927"/>
                </a:moveTo>
                <a:cubicBezTo>
                  <a:pt x="36512" y="30573"/>
                  <a:pt x="73025" y="-780"/>
                  <a:pt x="104775" y="14"/>
                </a:cubicBezTo>
                <a:cubicBezTo>
                  <a:pt x="136525" y="808"/>
                  <a:pt x="163512" y="33748"/>
                  <a:pt x="190500" y="66689"/>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54" name="Google Shape;954;p67"/>
          <p:cNvSpPr/>
          <p:nvPr/>
        </p:nvSpPr>
        <p:spPr>
          <a:xfrm>
            <a:off x="2597954" y="4508794"/>
            <a:ext cx="111909" cy="55984"/>
          </a:xfrm>
          <a:custGeom>
            <a:rect b="b" l="l" r="r" t="t"/>
            <a:pathLst>
              <a:path extrusionOk="0" h="66689" w="190500">
                <a:moveTo>
                  <a:pt x="0" y="61927"/>
                </a:moveTo>
                <a:cubicBezTo>
                  <a:pt x="36512" y="30573"/>
                  <a:pt x="73025" y="-780"/>
                  <a:pt x="104775" y="14"/>
                </a:cubicBezTo>
                <a:cubicBezTo>
                  <a:pt x="136525" y="808"/>
                  <a:pt x="163512" y="33748"/>
                  <a:pt x="190500" y="66689"/>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55" name="Google Shape;955;p67"/>
          <p:cNvSpPr/>
          <p:nvPr/>
        </p:nvSpPr>
        <p:spPr>
          <a:xfrm>
            <a:off x="9022853" y="6011416"/>
            <a:ext cx="111909" cy="55984"/>
          </a:xfrm>
          <a:custGeom>
            <a:rect b="b" l="l" r="r" t="t"/>
            <a:pathLst>
              <a:path extrusionOk="0" h="66689" w="190500">
                <a:moveTo>
                  <a:pt x="0" y="61927"/>
                </a:moveTo>
                <a:cubicBezTo>
                  <a:pt x="36512" y="30573"/>
                  <a:pt x="73025" y="-780"/>
                  <a:pt x="104775" y="14"/>
                </a:cubicBezTo>
                <a:cubicBezTo>
                  <a:pt x="136525" y="808"/>
                  <a:pt x="163512" y="33748"/>
                  <a:pt x="190500" y="66689"/>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56" name="Google Shape;956;p67"/>
          <p:cNvSpPr/>
          <p:nvPr/>
        </p:nvSpPr>
        <p:spPr>
          <a:xfrm>
            <a:off x="5498777" y="3283638"/>
            <a:ext cx="111909" cy="55984"/>
          </a:xfrm>
          <a:custGeom>
            <a:rect b="b" l="l" r="r" t="t"/>
            <a:pathLst>
              <a:path extrusionOk="0" h="66689" w="190500">
                <a:moveTo>
                  <a:pt x="0" y="61927"/>
                </a:moveTo>
                <a:cubicBezTo>
                  <a:pt x="36512" y="30573"/>
                  <a:pt x="73025" y="-780"/>
                  <a:pt x="104775" y="14"/>
                </a:cubicBezTo>
                <a:cubicBezTo>
                  <a:pt x="136525" y="808"/>
                  <a:pt x="163512" y="33748"/>
                  <a:pt x="190500" y="66689"/>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57" name="Google Shape;957;p67"/>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
        <p:nvSpPr>
          <p:cNvPr id="958" name="Google Shape;958;p67"/>
          <p:cNvSpPr/>
          <p:nvPr/>
        </p:nvSpPr>
        <p:spPr>
          <a:xfrm>
            <a:off x="494718" y="6647444"/>
            <a:ext cx="892849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ru-RU" sz="1600">
                <a:solidFill>
                  <a:schemeClr val="dk1"/>
                </a:solidFill>
                <a:latin typeface="Arial"/>
                <a:ea typeface="Arial"/>
                <a:cs typeface="Arial"/>
                <a:sym typeface="Arial"/>
              </a:rPr>
              <a:t>Bias </a:t>
            </a:r>
            <a:r>
              <a:rPr i="1" lang="ru-RU" sz="1600">
                <a:solidFill>
                  <a:schemeClr val="dk1"/>
                </a:solidFill>
                <a:latin typeface="Arial"/>
                <a:ea typeface="Arial"/>
                <a:cs typeface="Arial"/>
                <a:sym typeface="Arial"/>
              </a:rPr>
              <a:t>– разница (смещение) между количеством целевого значения и прогнозом модели.</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sp>
        <p:nvSpPr>
          <p:cNvPr id="963" name="Google Shape;963;p68"/>
          <p:cNvSpPr/>
          <p:nvPr/>
        </p:nvSpPr>
        <p:spPr>
          <a:xfrm>
            <a:off x="245332" y="178768"/>
            <a:ext cx="9791700" cy="6790504"/>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964" name="Google Shape;964;p68"/>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965" name="Google Shape;965;p68"/>
          <p:cNvSpPr/>
          <p:nvPr/>
        </p:nvSpPr>
        <p:spPr>
          <a:xfrm>
            <a:off x="818257" y="394792"/>
            <a:ext cx="8604957" cy="661947"/>
          </a:xfrm>
          <a:prstGeom prst="roundRect">
            <a:avLst>
              <a:gd fmla="val 45749" name="adj"/>
            </a:avLst>
          </a:prstGeom>
          <a:solidFill>
            <a:srgbClr val="FFFFFF">
              <a:alpha val="52549"/>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ru-RU" sz="2800">
                <a:solidFill>
                  <a:schemeClr val="dk1"/>
                </a:solidFill>
                <a:latin typeface="Arial"/>
                <a:ea typeface="Arial"/>
                <a:cs typeface="Arial"/>
                <a:sym typeface="Arial"/>
              </a:rPr>
              <a:t>Задачи Data Mining</a:t>
            </a:r>
            <a:endParaRPr b="1" sz="2800">
              <a:solidFill>
                <a:schemeClr val="dk1"/>
              </a:solidFill>
              <a:latin typeface="Arial"/>
              <a:ea typeface="Arial"/>
              <a:cs typeface="Arial"/>
              <a:sym typeface="Arial"/>
            </a:endParaRPr>
          </a:p>
        </p:txBody>
      </p:sp>
      <p:sp>
        <p:nvSpPr>
          <p:cNvPr id="966" name="Google Shape;966;p68"/>
          <p:cNvSpPr/>
          <p:nvPr/>
        </p:nvSpPr>
        <p:spPr>
          <a:xfrm>
            <a:off x="245332" y="1140037"/>
            <a:ext cx="8853845" cy="47889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ru-RU" sz="2000">
                <a:solidFill>
                  <a:srgbClr val="0B769C"/>
                </a:solidFill>
                <a:latin typeface="Arial"/>
                <a:ea typeface="Arial"/>
                <a:cs typeface="Arial"/>
                <a:sym typeface="Arial"/>
              </a:rPr>
              <a:t>Фундаментальное свойство статистического обучения</a:t>
            </a:r>
            <a:endParaRPr/>
          </a:p>
        </p:txBody>
      </p:sp>
      <p:sp>
        <p:nvSpPr>
          <p:cNvPr id="967" name="Google Shape;967;p68"/>
          <p:cNvSpPr/>
          <p:nvPr/>
        </p:nvSpPr>
        <p:spPr>
          <a:xfrm>
            <a:off x="267227" y="1549030"/>
            <a:ext cx="9768054" cy="2554545"/>
          </a:xfrm>
          <a:prstGeom prst="rect">
            <a:avLst/>
          </a:prstGeom>
          <a:noFill/>
          <a:ln>
            <a:noFill/>
          </a:ln>
        </p:spPr>
        <p:txBody>
          <a:bodyPr anchorCtr="0" anchor="t" bIns="45700" lIns="91425" spcFirstLastPara="1" rIns="91425" wrap="square" tIns="45700">
            <a:spAutoFit/>
          </a:bodyPr>
          <a:lstStyle/>
          <a:p>
            <a:pPr indent="449263" lvl="0" marL="0" marR="0" rtl="0" algn="l">
              <a:spcBef>
                <a:spcPts val="0"/>
              </a:spcBef>
              <a:spcAft>
                <a:spcPts val="0"/>
              </a:spcAft>
              <a:buNone/>
            </a:pPr>
            <a:r>
              <a:rPr lang="ru-RU" sz="2000">
                <a:solidFill>
                  <a:srgbClr val="000000"/>
                </a:solidFill>
                <a:latin typeface="Bookman Old Style"/>
                <a:ea typeface="Bookman Old Style"/>
                <a:cs typeface="Bookman Old Style"/>
                <a:sym typeface="Bookman Old Style"/>
              </a:rPr>
              <a:t>Уравнение (7) говорит нам о том, что для минимизации ожидаемой ошибки на проверочных данных мы должны выбрать такой метод статистического обучения, который одновременно обеспечивает низкую дисперсию и низкое смещение. </a:t>
            </a:r>
            <a:endParaRPr/>
          </a:p>
          <a:p>
            <a:pPr indent="449263" lvl="0" marL="0" marR="0" rtl="0" algn="l">
              <a:spcBef>
                <a:spcPts val="0"/>
              </a:spcBef>
              <a:spcAft>
                <a:spcPts val="0"/>
              </a:spcAft>
              <a:buNone/>
            </a:pPr>
            <a:r>
              <a:rPr lang="ru-RU" sz="2000">
                <a:solidFill>
                  <a:srgbClr val="000000"/>
                </a:solidFill>
                <a:latin typeface="Bookman Old Style"/>
                <a:ea typeface="Bookman Old Style"/>
                <a:cs typeface="Bookman Old Style"/>
                <a:sym typeface="Bookman Old Style"/>
              </a:rPr>
              <a:t>Заметим, что дисперсия по определению является положительной величиной, равно как и квадрат смещения. В итоге мы видим. что математическое ожидание MSE на контрольной выборке никогда не может быть ниже неустранимой ошибки </a:t>
            </a:r>
            <a:r>
              <a:rPr i="1" lang="ru-RU" sz="2000">
                <a:solidFill>
                  <a:srgbClr val="000000"/>
                </a:solidFill>
                <a:latin typeface="Bookman Old Style"/>
                <a:ea typeface="Bookman Old Style"/>
                <a:cs typeface="Bookman Old Style"/>
                <a:sym typeface="Bookman Old Style"/>
              </a:rPr>
              <a:t>Var(ε)</a:t>
            </a:r>
            <a:r>
              <a:rPr lang="ru-RU" sz="2000">
                <a:solidFill>
                  <a:srgbClr val="000000"/>
                </a:solidFill>
                <a:latin typeface="Bookman Old Style"/>
                <a:ea typeface="Bookman Old Style"/>
                <a:cs typeface="Bookman Old Style"/>
                <a:sym typeface="Bookman Old Style"/>
              </a:rPr>
              <a:t>.</a:t>
            </a:r>
            <a:endParaRPr/>
          </a:p>
        </p:txBody>
      </p:sp>
      <p:sp>
        <p:nvSpPr>
          <p:cNvPr id="968" name="Google Shape;968;p68"/>
          <p:cNvSpPr/>
          <p:nvPr/>
        </p:nvSpPr>
        <p:spPr>
          <a:xfrm>
            <a:off x="386210" y="4085198"/>
            <a:ext cx="9649072" cy="2862322"/>
          </a:xfrm>
          <a:prstGeom prst="rect">
            <a:avLst/>
          </a:prstGeom>
          <a:noFill/>
          <a:ln>
            <a:noFill/>
          </a:ln>
        </p:spPr>
        <p:txBody>
          <a:bodyPr anchorCtr="0" anchor="t" bIns="45700" lIns="91425" spcFirstLastPara="1" rIns="91425" wrap="square" tIns="45700">
            <a:spAutoFit/>
          </a:bodyPr>
          <a:lstStyle/>
          <a:p>
            <a:pPr indent="449263" lvl="0" marL="0" marR="0" rtl="0" algn="l">
              <a:spcBef>
                <a:spcPts val="0"/>
              </a:spcBef>
              <a:spcAft>
                <a:spcPts val="0"/>
              </a:spcAft>
              <a:buNone/>
            </a:pPr>
            <a:r>
              <a:rPr i="1" lang="ru-RU" sz="2000">
                <a:solidFill>
                  <a:srgbClr val="000000"/>
                </a:solidFill>
                <a:latin typeface="Bookman Old Style"/>
                <a:ea typeface="Bookman Old Style"/>
                <a:cs typeface="Bookman Old Style"/>
                <a:sym typeface="Bookman Old Style"/>
              </a:rPr>
              <a:t>Дисперсия</a:t>
            </a:r>
            <a:r>
              <a:rPr lang="ru-RU" sz="2000">
                <a:solidFill>
                  <a:srgbClr val="000000"/>
                </a:solidFill>
                <a:latin typeface="Bookman Old Style"/>
                <a:ea typeface="Bookman Old Style"/>
                <a:cs typeface="Bookman Old Style"/>
                <a:sym typeface="Bookman Old Style"/>
              </a:rPr>
              <a:t> означает величину, на которую </a:t>
            </a:r>
            <a:r>
              <a:rPr i="1" lang="ru-RU" sz="2000">
                <a:solidFill>
                  <a:srgbClr val="000000"/>
                </a:solidFill>
                <a:latin typeface="Bookman Old Style"/>
                <a:ea typeface="Bookman Old Style"/>
                <a:cs typeface="Bookman Old Style"/>
                <a:sym typeface="Bookman Old Style"/>
              </a:rPr>
              <a:t>f </a:t>
            </a:r>
            <a:r>
              <a:rPr lang="ru-RU" sz="2000">
                <a:solidFill>
                  <a:srgbClr val="000000"/>
                </a:solidFill>
                <a:latin typeface="Bookman Old Style"/>
                <a:ea typeface="Bookman Old Style"/>
                <a:cs typeface="Bookman Old Style"/>
                <a:sym typeface="Bookman Old Style"/>
              </a:rPr>
              <a:t>изменилась бы при оценивании этой функции с использованием другой обучающей выборки. Поскольку для подгонки модели используются обучающие данные, то разные обучающие выборки будут приводить к разным </a:t>
            </a:r>
            <a:r>
              <a:rPr i="1" lang="ru-RU" sz="2000">
                <a:solidFill>
                  <a:srgbClr val="000000"/>
                </a:solidFill>
                <a:latin typeface="Bookman Old Style"/>
                <a:ea typeface="Bookman Old Style"/>
                <a:cs typeface="Bookman Old Style"/>
                <a:sym typeface="Bookman Old Style"/>
              </a:rPr>
              <a:t>f </a:t>
            </a:r>
            <a:r>
              <a:rPr lang="ru-RU" sz="2000">
                <a:solidFill>
                  <a:srgbClr val="000000"/>
                </a:solidFill>
                <a:latin typeface="Bookman Old Style"/>
                <a:ea typeface="Bookman Old Style"/>
                <a:cs typeface="Bookman Old Style"/>
                <a:sym typeface="Bookman Old Style"/>
              </a:rPr>
              <a:t>. В идеале оценки  </a:t>
            </a:r>
            <a:r>
              <a:rPr i="1" lang="ru-RU" sz="2000">
                <a:solidFill>
                  <a:srgbClr val="000000"/>
                </a:solidFill>
                <a:latin typeface="Bookman Old Style"/>
                <a:ea typeface="Bookman Old Style"/>
                <a:cs typeface="Bookman Old Style"/>
                <a:sym typeface="Bookman Old Style"/>
              </a:rPr>
              <a:t>f</a:t>
            </a:r>
            <a:r>
              <a:rPr lang="ru-RU" sz="2000">
                <a:solidFill>
                  <a:srgbClr val="000000"/>
                </a:solidFill>
                <a:latin typeface="Bookman Old Style"/>
                <a:ea typeface="Bookman Old Style"/>
                <a:cs typeface="Bookman Old Style"/>
                <a:sym typeface="Bookman Old Style"/>
              </a:rPr>
              <a:t>, полученные на разных выборках, должны варьировать незначительно. Однако если некоторый метод обладает высокой дисперсией, то небольшие изменения в обучающих данных могут привести к большим изменениям в  </a:t>
            </a:r>
            <a:r>
              <a:rPr i="1" lang="ru-RU" sz="2000">
                <a:solidFill>
                  <a:srgbClr val="000000"/>
                </a:solidFill>
                <a:latin typeface="Bookman Old Style"/>
                <a:ea typeface="Bookman Old Style"/>
                <a:cs typeface="Bookman Old Style"/>
                <a:sym typeface="Bookman Old Style"/>
              </a:rPr>
              <a:t>f</a:t>
            </a:r>
            <a:r>
              <a:rPr lang="ru-RU" sz="2000">
                <a:solidFill>
                  <a:srgbClr val="000000"/>
                </a:solidFill>
                <a:latin typeface="Bookman Old Style"/>
                <a:ea typeface="Bookman Old Style"/>
                <a:cs typeface="Bookman Old Style"/>
                <a:sym typeface="Bookman Old Style"/>
              </a:rPr>
              <a:t>. В целом </a:t>
            </a:r>
            <a:r>
              <a:rPr b="1" i="1" lang="ru-RU" sz="2000">
                <a:solidFill>
                  <a:srgbClr val="000000"/>
                </a:solidFill>
                <a:latin typeface="Bookman Old Style"/>
                <a:ea typeface="Bookman Old Style"/>
                <a:cs typeface="Bookman Old Style"/>
                <a:sym typeface="Bookman Old Style"/>
              </a:rPr>
              <a:t>более гибкие статистические методы имеют более высокую дисперсию. </a:t>
            </a:r>
            <a:endParaRPr/>
          </a:p>
        </p:txBody>
      </p:sp>
      <p:sp>
        <p:nvSpPr>
          <p:cNvPr id="969" name="Google Shape;969;p68"/>
          <p:cNvSpPr/>
          <p:nvPr/>
        </p:nvSpPr>
        <p:spPr>
          <a:xfrm>
            <a:off x="6527805" y="4128573"/>
            <a:ext cx="123100" cy="55984"/>
          </a:xfrm>
          <a:custGeom>
            <a:rect b="b" l="l" r="r" t="t"/>
            <a:pathLst>
              <a:path extrusionOk="0" h="66689" w="190500">
                <a:moveTo>
                  <a:pt x="0" y="61927"/>
                </a:moveTo>
                <a:cubicBezTo>
                  <a:pt x="36512" y="30573"/>
                  <a:pt x="73025" y="-780"/>
                  <a:pt x="104775" y="14"/>
                </a:cubicBezTo>
                <a:cubicBezTo>
                  <a:pt x="136525" y="808"/>
                  <a:pt x="163512" y="33748"/>
                  <a:pt x="190500" y="66689"/>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70" name="Google Shape;970;p68"/>
          <p:cNvSpPr/>
          <p:nvPr/>
        </p:nvSpPr>
        <p:spPr>
          <a:xfrm>
            <a:off x="9347308" y="5007183"/>
            <a:ext cx="111909" cy="55984"/>
          </a:xfrm>
          <a:custGeom>
            <a:rect b="b" l="l" r="r" t="t"/>
            <a:pathLst>
              <a:path extrusionOk="0" h="66689" w="190500">
                <a:moveTo>
                  <a:pt x="0" y="61927"/>
                </a:moveTo>
                <a:cubicBezTo>
                  <a:pt x="36512" y="30573"/>
                  <a:pt x="73025" y="-780"/>
                  <a:pt x="104775" y="14"/>
                </a:cubicBezTo>
                <a:cubicBezTo>
                  <a:pt x="136525" y="808"/>
                  <a:pt x="163512" y="33748"/>
                  <a:pt x="190500" y="66689"/>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71" name="Google Shape;971;p68"/>
          <p:cNvSpPr/>
          <p:nvPr/>
        </p:nvSpPr>
        <p:spPr>
          <a:xfrm>
            <a:off x="5253026" y="6227440"/>
            <a:ext cx="101735" cy="55984"/>
          </a:xfrm>
          <a:custGeom>
            <a:rect b="b" l="l" r="r" t="t"/>
            <a:pathLst>
              <a:path extrusionOk="0" h="66689" w="190500">
                <a:moveTo>
                  <a:pt x="0" y="61927"/>
                </a:moveTo>
                <a:cubicBezTo>
                  <a:pt x="36512" y="30573"/>
                  <a:pt x="73025" y="-780"/>
                  <a:pt x="104775" y="14"/>
                </a:cubicBezTo>
                <a:cubicBezTo>
                  <a:pt x="136525" y="808"/>
                  <a:pt x="163512" y="33748"/>
                  <a:pt x="190500" y="66689"/>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972" name="Google Shape;972;p68"/>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69"/>
          <p:cNvSpPr/>
          <p:nvPr/>
        </p:nvSpPr>
        <p:spPr>
          <a:xfrm>
            <a:off x="245332" y="204095"/>
            <a:ext cx="9791700" cy="6790504"/>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978" name="Google Shape;978;p69"/>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979" name="Google Shape;979;p69"/>
          <p:cNvSpPr/>
          <p:nvPr/>
        </p:nvSpPr>
        <p:spPr>
          <a:xfrm>
            <a:off x="818257" y="394792"/>
            <a:ext cx="8604957" cy="661947"/>
          </a:xfrm>
          <a:prstGeom prst="roundRect">
            <a:avLst>
              <a:gd fmla="val 45749" name="adj"/>
            </a:avLst>
          </a:prstGeom>
          <a:solidFill>
            <a:srgbClr val="FFFFFF">
              <a:alpha val="52549"/>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ru-RU" sz="2800">
                <a:solidFill>
                  <a:schemeClr val="dk1"/>
                </a:solidFill>
                <a:latin typeface="Arial"/>
                <a:ea typeface="Arial"/>
                <a:cs typeface="Arial"/>
                <a:sym typeface="Arial"/>
              </a:rPr>
              <a:t>Задачи Data Mining</a:t>
            </a:r>
            <a:endParaRPr b="1" sz="2800">
              <a:solidFill>
                <a:schemeClr val="dk1"/>
              </a:solidFill>
              <a:latin typeface="Arial"/>
              <a:ea typeface="Arial"/>
              <a:cs typeface="Arial"/>
              <a:sym typeface="Arial"/>
            </a:endParaRPr>
          </a:p>
        </p:txBody>
      </p:sp>
      <p:sp>
        <p:nvSpPr>
          <p:cNvPr id="980" name="Google Shape;980;p69"/>
          <p:cNvSpPr/>
          <p:nvPr/>
        </p:nvSpPr>
        <p:spPr>
          <a:xfrm>
            <a:off x="245332" y="1140037"/>
            <a:ext cx="8853845" cy="47889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ru-RU" sz="2000">
                <a:solidFill>
                  <a:srgbClr val="0B769C"/>
                </a:solidFill>
                <a:latin typeface="Arial"/>
                <a:ea typeface="Arial"/>
                <a:cs typeface="Arial"/>
                <a:sym typeface="Arial"/>
              </a:rPr>
              <a:t>Фундаментальное свойство статистического обучения</a:t>
            </a:r>
            <a:endParaRPr/>
          </a:p>
        </p:txBody>
      </p:sp>
      <p:sp>
        <p:nvSpPr>
          <p:cNvPr id="981" name="Google Shape;981;p69"/>
          <p:cNvSpPr/>
          <p:nvPr/>
        </p:nvSpPr>
        <p:spPr>
          <a:xfrm>
            <a:off x="256795" y="1679232"/>
            <a:ext cx="9506807" cy="3170099"/>
          </a:xfrm>
          <a:prstGeom prst="rect">
            <a:avLst/>
          </a:prstGeom>
          <a:noFill/>
          <a:ln>
            <a:noFill/>
          </a:ln>
        </p:spPr>
        <p:txBody>
          <a:bodyPr anchorCtr="0" anchor="t" bIns="45700" lIns="91425" spcFirstLastPara="1" rIns="91425" wrap="square" tIns="45700">
            <a:spAutoFit/>
          </a:bodyPr>
          <a:lstStyle/>
          <a:p>
            <a:pPr indent="449263" lvl="0" marL="0" marR="0" rtl="0" algn="l">
              <a:spcBef>
                <a:spcPts val="0"/>
              </a:spcBef>
              <a:spcAft>
                <a:spcPts val="0"/>
              </a:spcAft>
              <a:buNone/>
            </a:pPr>
            <a:r>
              <a:rPr i="1" lang="ru-RU" sz="2000">
                <a:solidFill>
                  <a:srgbClr val="000000"/>
                </a:solidFill>
                <a:latin typeface="Bookman Old Style"/>
                <a:ea typeface="Bookman Old Style"/>
                <a:cs typeface="Bookman Old Style"/>
                <a:sym typeface="Bookman Old Style"/>
              </a:rPr>
              <a:t>Смещение </a:t>
            </a:r>
            <a:r>
              <a:rPr lang="ru-RU" sz="2000">
                <a:solidFill>
                  <a:srgbClr val="000000"/>
                </a:solidFill>
                <a:latin typeface="Bookman Old Style"/>
                <a:ea typeface="Bookman Old Style"/>
                <a:cs typeface="Bookman Old Style"/>
                <a:sym typeface="Bookman Old Style"/>
              </a:rPr>
              <a:t>означает ошибку, вводимую за счет аппроксимирования проблемы из реального мира, которая может оказаться чрезвычайно сложной, при помощи гораздо более простого метода. Например, линейная регрессия предполагает, что между Y и Х</a:t>
            </a:r>
            <a:r>
              <a:rPr baseline="-25000" lang="ru-RU" sz="2000">
                <a:solidFill>
                  <a:srgbClr val="000000"/>
                </a:solidFill>
                <a:latin typeface="Bookman Old Style"/>
                <a:ea typeface="Bookman Old Style"/>
                <a:cs typeface="Bookman Old Style"/>
                <a:sym typeface="Bookman Old Style"/>
              </a:rPr>
              <a:t>1</a:t>
            </a:r>
            <a:r>
              <a:rPr lang="ru-RU" sz="2000">
                <a:solidFill>
                  <a:srgbClr val="000000"/>
                </a:solidFill>
                <a:latin typeface="Bookman Old Style"/>
                <a:ea typeface="Bookman Old Style"/>
                <a:cs typeface="Bookman Old Style"/>
                <a:sym typeface="Bookman Old Style"/>
              </a:rPr>
              <a:t>, Х</a:t>
            </a:r>
            <a:r>
              <a:rPr baseline="-25000" lang="ru-RU" sz="2000">
                <a:solidFill>
                  <a:srgbClr val="000000"/>
                </a:solidFill>
                <a:latin typeface="Bookman Old Style"/>
                <a:ea typeface="Bookman Old Style"/>
                <a:cs typeface="Bookman Old Style"/>
                <a:sym typeface="Bookman Old Style"/>
              </a:rPr>
              <a:t>2</a:t>
            </a:r>
            <a:r>
              <a:rPr lang="ru-RU" sz="2000">
                <a:solidFill>
                  <a:srgbClr val="000000"/>
                </a:solidFill>
                <a:latin typeface="Bookman Old Style"/>
                <a:ea typeface="Bookman Old Style"/>
                <a:cs typeface="Bookman Old Style"/>
                <a:sym typeface="Bookman Old Style"/>
              </a:rPr>
              <a:t>,... ,Х</a:t>
            </a:r>
            <a:r>
              <a:rPr baseline="-25000" lang="ru-RU" sz="2000">
                <a:solidFill>
                  <a:srgbClr val="000000"/>
                </a:solidFill>
                <a:latin typeface="Bookman Old Style"/>
                <a:ea typeface="Bookman Old Style"/>
                <a:cs typeface="Bookman Old Style"/>
                <a:sym typeface="Bookman Old Style"/>
              </a:rPr>
              <a:t>Р</a:t>
            </a:r>
            <a:r>
              <a:rPr lang="ru-RU" sz="2000">
                <a:solidFill>
                  <a:srgbClr val="000000"/>
                </a:solidFill>
                <a:latin typeface="Bookman Old Style"/>
                <a:ea typeface="Bookman Old Style"/>
                <a:cs typeface="Bookman Old Style"/>
                <a:sym typeface="Bookman Old Style"/>
              </a:rPr>
              <a:t> имеется линейная зависимость. </a:t>
            </a:r>
            <a:endParaRPr/>
          </a:p>
          <a:p>
            <a:pPr indent="449263" lvl="0" marL="0" marR="0" rtl="0" algn="l">
              <a:spcBef>
                <a:spcPts val="0"/>
              </a:spcBef>
              <a:spcAft>
                <a:spcPts val="0"/>
              </a:spcAft>
              <a:buNone/>
            </a:pPr>
            <a:r>
              <a:rPr lang="ru-RU" sz="2000">
                <a:solidFill>
                  <a:srgbClr val="000000"/>
                </a:solidFill>
                <a:latin typeface="Bookman Old Style"/>
                <a:ea typeface="Bookman Old Style"/>
                <a:cs typeface="Bookman Old Style"/>
                <a:sym typeface="Bookman Old Style"/>
              </a:rPr>
              <a:t>Маловероятно, что какая-либо проблема из реального мира действительно описывается такой простой зависимостью, в связи с чем применение линейной регрессии несомненно приведет к определенному смещению оценки </a:t>
            </a:r>
            <a:r>
              <a:rPr i="1" lang="ru-RU" sz="2000">
                <a:solidFill>
                  <a:srgbClr val="000000"/>
                </a:solidFill>
                <a:latin typeface="Bookman Old Style"/>
                <a:ea typeface="Bookman Old Style"/>
                <a:cs typeface="Bookman Old Style"/>
                <a:sym typeface="Bookman Old Style"/>
              </a:rPr>
              <a:t>f (Bias)</a:t>
            </a:r>
            <a:r>
              <a:rPr lang="ru-RU" sz="2000">
                <a:solidFill>
                  <a:srgbClr val="000000"/>
                </a:solidFill>
                <a:latin typeface="Bookman Old Style"/>
                <a:ea typeface="Bookman Old Style"/>
                <a:cs typeface="Bookman Old Style"/>
                <a:sym typeface="Bookman Old Style"/>
              </a:rPr>
              <a:t>. </a:t>
            </a:r>
            <a:endParaRPr/>
          </a:p>
          <a:p>
            <a:pPr indent="449263" lvl="0" marL="0" marR="0" rtl="0" algn="l">
              <a:spcBef>
                <a:spcPts val="0"/>
              </a:spcBef>
              <a:spcAft>
                <a:spcPts val="0"/>
              </a:spcAft>
              <a:buNone/>
            </a:pPr>
            <a:r>
              <a:rPr b="1" i="1" lang="ru-RU" sz="2000">
                <a:solidFill>
                  <a:srgbClr val="000000"/>
                </a:solidFill>
                <a:latin typeface="Bookman Old Style"/>
                <a:ea typeface="Bookman Old Style"/>
                <a:cs typeface="Bookman Old Style"/>
                <a:sym typeface="Bookman Old Style"/>
              </a:rPr>
              <a:t>В целом более гибкие методы вызывают меньшее смещение.</a:t>
            </a:r>
            <a:endParaRPr/>
          </a:p>
        </p:txBody>
      </p:sp>
      <p:sp>
        <p:nvSpPr>
          <p:cNvPr id="982" name="Google Shape;982;p69"/>
          <p:cNvSpPr/>
          <p:nvPr/>
        </p:nvSpPr>
        <p:spPr>
          <a:xfrm>
            <a:off x="445887" y="4989535"/>
            <a:ext cx="8977328" cy="1631216"/>
          </a:xfrm>
          <a:prstGeom prst="rect">
            <a:avLst/>
          </a:prstGeom>
          <a:noFill/>
          <a:ln>
            <a:noFill/>
          </a:ln>
        </p:spPr>
        <p:txBody>
          <a:bodyPr anchorCtr="0" anchor="t" bIns="45700" lIns="91425" spcFirstLastPara="1" rIns="91425" wrap="square" tIns="45700">
            <a:spAutoFit/>
          </a:bodyPr>
          <a:lstStyle/>
          <a:p>
            <a:pPr indent="536575" lvl="0" marL="0" marR="0" rtl="0" algn="l">
              <a:spcBef>
                <a:spcPts val="0"/>
              </a:spcBef>
              <a:spcAft>
                <a:spcPts val="0"/>
              </a:spcAft>
              <a:buNone/>
            </a:pPr>
            <a:r>
              <a:rPr b="1" i="1" lang="ru-RU" sz="2000">
                <a:solidFill>
                  <a:srgbClr val="000000"/>
                </a:solidFill>
                <a:latin typeface="Bookman Old Style"/>
                <a:ea typeface="Bookman Old Style"/>
                <a:cs typeface="Bookman Old Style"/>
                <a:sym typeface="Bookman Old Style"/>
              </a:rPr>
              <a:t>Как правило, при использовании более гибких методов дисперсия будет возрастать, а смещение — снижаться.</a:t>
            </a:r>
            <a:r>
              <a:rPr lang="ru-RU" sz="2000">
                <a:solidFill>
                  <a:srgbClr val="000000"/>
                </a:solidFill>
                <a:latin typeface="Bookman Old Style"/>
                <a:ea typeface="Bookman Old Style"/>
                <a:cs typeface="Bookman Old Style"/>
                <a:sym typeface="Bookman Old Style"/>
              </a:rPr>
              <a:t> </a:t>
            </a:r>
            <a:r>
              <a:rPr b="1" i="1" lang="ru-RU" sz="2000">
                <a:solidFill>
                  <a:srgbClr val="000000"/>
                </a:solidFill>
                <a:latin typeface="Bookman Old Style"/>
                <a:ea typeface="Bookman Old Style"/>
                <a:cs typeface="Bookman Old Style"/>
                <a:sym typeface="Bookman Old Style"/>
              </a:rPr>
              <a:t>Относительная скорость изменения этих двух величин определяет направление изменения MSE на контрольной выборке. </a:t>
            </a:r>
            <a:endParaRPr/>
          </a:p>
        </p:txBody>
      </p:sp>
      <p:sp>
        <p:nvSpPr>
          <p:cNvPr id="983" name="Google Shape;983;p69"/>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p70"/>
          <p:cNvSpPr/>
          <p:nvPr/>
        </p:nvSpPr>
        <p:spPr>
          <a:xfrm>
            <a:off x="245332" y="204095"/>
            <a:ext cx="9791700" cy="6790504"/>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989" name="Google Shape;989;p70"/>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990" name="Google Shape;990;p70"/>
          <p:cNvSpPr/>
          <p:nvPr/>
        </p:nvSpPr>
        <p:spPr>
          <a:xfrm>
            <a:off x="818257" y="394792"/>
            <a:ext cx="8604957" cy="661947"/>
          </a:xfrm>
          <a:prstGeom prst="roundRect">
            <a:avLst>
              <a:gd fmla="val 45749" name="adj"/>
            </a:avLst>
          </a:prstGeom>
          <a:solidFill>
            <a:srgbClr val="FFFFFF">
              <a:alpha val="52549"/>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ru-RU" sz="2800">
                <a:solidFill>
                  <a:schemeClr val="dk1"/>
                </a:solidFill>
                <a:latin typeface="Arial"/>
                <a:ea typeface="Arial"/>
                <a:cs typeface="Arial"/>
                <a:sym typeface="Arial"/>
              </a:rPr>
              <a:t>Задачи Data Mining</a:t>
            </a:r>
            <a:endParaRPr b="1" sz="2800">
              <a:solidFill>
                <a:schemeClr val="dk1"/>
              </a:solidFill>
              <a:latin typeface="Arial"/>
              <a:ea typeface="Arial"/>
              <a:cs typeface="Arial"/>
              <a:sym typeface="Arial"/>
            </a:endParaRPr>
          </a:p>
        </p:txBody>
      </p:sp>
      <p:sp>
        <p:nvSpPr>
          <p:cNvPr id="991" name="Google Shape;991;p70"/>
          <p:cNvSpPr/>
          <p:nvPr/>
        </p:nvSpPr>
        <p:spPr>
          <a:xfrm>
            <a:off x="245332" y="1140037"/>
            <a:ext cx="8853845" cy="47889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ru-RU" sz="2000">
                <a:solidFill>
                  <a:srgbClr val="0B769C"/>
                </a:solidFill>
                <a:latin typeface="Arial"/>
                <a:ea typeface="Arial"/>
                <a:cs typeface="Arial"/>
                <a:sym typeface="Arial"/>
              </a:rPr>
              <a:t>Фундаментальное свойство статистического обучения</a:t>
            </a:r>
            <a:endParaRPr/>
          </a:p>
        </p:txBody>
      </p:sp>
      <p:sp>
        <p:nvSpPr>
          <p:cNvPr id="992" name="Google Shape;992;p70"/>
          <p:cNvSpPr/>
          <p:nvPr/>
        </p:nvSpPr>
        <p:spPr>
          <a:xfrm>
            <a:off x="351774" y="1467982"/>
            <a:ext cx="9578815" cy="2246769"/>
          </a:xfrm>
          <a:prstGeom prst="rect">
            <a:avLst/>
          </a:prstGeom>
          <a:noFill/>
          <a:ln>
            <a:noFill/>
          </a:ln>
        </p:spPr>
        <p:txBody>
          <a:bodyPr anchorCtr="0" anchor="t" bIns="45700" lIns="91425" spcFirstLastPara="1" rIns="91425" wrap="square" tIns="45700">
            <a:spAutoFit/>
          </a:bodyPr>
          <a:lstStyle/>
          <a:p>
            <a:pPr indent="449263" lvl="0" marL="0" marR="0" rtl="0" algn="l">
              <a:spcBef>
                <a:spcPts val="0"/>
              </a:spcBef>
              <a:spcAft>
                <a:spcPts val="0"/>
              </a:spcAft>
              <a:buNone/>
            </a:pPr>
            <a:r>
              <a:rPr lang="ru-RU" sz="2000">
                <a:solidFill>
                  <a:srgbClr val="000000"/>
                </a:solidFill>
                <a:latin typeface="Bookman Old Style"/>
                <a:ea typeface="Bookman Old Style"/>
                <a:cs typeface="Bookman Old Style"/>
                <a:sym typeface="Bookman Old Style"/>
              </a:rPr>
              <a:t>По мере увеличения гибкости некоторого класса методов снижение смещения вначале обычно происходит быстрее, чем рост дисперсии. В результате этого математическое ожидание MSE на контрольной выборке снижается. Однако в определенный момент возрастающая гибкость перестает оказывать влияние на смещение, но при этом вызывает рост дисперсии. Когда это происходит, MSE на контрольной выборке возрастает. </a:t>
            </a:r>
            <a:endParaRPr/>
          </a:p>
        </p:txBody>
      </p:sp>
      <p:pic>
        <p:nvPicPr>
          <p:cNvPr id="993" name="Google Shape;993;p70"/>
          <p:cNvPicPr preferRelativeResize="0"/>
          <p:nvPr/>
        </p:nvPicPr>
        <p:blipFill rotWithShape="1">
          <a:blip r:embed="rId3">
            <a:alphaModFix/>
          </a:blip>
          <a:srcRect b="0" l="0" r="0" t="0"/>
          <a:stretch/>
        </p:blipFill>
        <p:spPr>
          <a:xfrm>
            <a:off x="530225" y="3987603"/>
            <a:ext cx="5708873" cy="2334224"/>
          </a:xfrm>
          <a:prstGeom prst="rect">
            <a:avLst/>
          </a:prstGeom>
          <a:noFill/>
          <a:ln>
            <a:noFill/>
          </a:ln>
        </p:spPr>
      </p:pic>
      <p:sp>
        <p:nvSpPr>
          <p:cNvPr id="994" name="Google Shape;994;p70"/>
          <p:cNvSpPr/>
          <p:nvPr/>
        </p:nvSpPr>
        <p:spPr>
          <a:xfrm>
            <a:off x="6327998" y="3908731"/>
            <a:ext cx="3491259"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1800">
                <a:solidFill>
                  <a:srgbClr val="000000"/>
                </a:solidFill>
                <a:latin typeface="Bookman Old Style"/>
                <a:ea typeface="Bookman Old Style"/>
                <a:cs typeface="Bookman Old Style"/>
                <a:sym typeface="Bookman Old Style"/>
              </a:rPr>
              <a:t>Рис. 10. </a:t>
            </a:r>
            <a:r>
              <a:rPr i="1" lang="ru-RU" sz="1800">
                <a:solidFill>
                  <a:srgbClr val="000000"/>
                </a:solidFill>
                <a:latin typeface="Bookman Old Style"/>
                <a:ea typeface="Bookman Old Style"/>
                <a:cs typeface="Bookman Old Style"/>
                <a:sym typeface="Bookman Old Style"/>
              </a:rPr>
              <a:t>Квадрат смещения (голубая кривая), дисперсия (оранжевая кривая), Var(ε) (пунктирная линия) и MSE на контрольной выборке (красная кривая) для трех наборов данных, показанных на рис. 7- 9. </a:t>
            </a:r>
            <a:endParaRPr sz="1800">
              <a:solidFill>
                <a:schemeClr val="dk1"/>
              </a:solidFill>
              <a:latin typeface="Arial"/>
              <a:ea typeface="Arial"/>
              <a:cs typeface="Arial"/>
              <a:sym typeface="Arial"/>
            </a:endParaRPr>
          </a:p>
        </p:txBody>
      </p:sp>
      <p:sp>
        <p:nvSpPr>
          <p:cNvPr id="995" name="Google Shape;995;p70"/>
          <p:cNvSpPr/>
          <p:nvPr/>
        </p:nvSpPr>
        <p:spPr>
          <a:xfrm>
            <a:off x="674241" y="6329747"/>
            <a:ext cx="8208912" cy="707886"/>
          </a:xfrm>
          <a:prstGeom prst="rect">
            <a:avLst/>
          </a:prstGeom>
          <a:noFill/>
          <a:ln>
            <a:noFill/>
          </a:ln>
        </p:spPr>
        <p:txBody>
          <a:bodyPr anchorCtr="0" anchor="t" bIns="45700" lIns="91425" spcFirstLastPara="1" rIns="91425" wrap="square" tIns="45700">
            <a:spAutoFit/>
          </a:bodyPr>
          <a:lstStyle/>
          <a:p>
            <a:pPr indent="363538" lvl="0" marL="449263" marR="0" rtl="0" algn="l">
              <a:spcBef>
                <a:spcPts val="0"/>
              </a:spcBef>
              <a:spcAft>
                <a:spcPts val="0"/>
              </a:spcAft>
              <a:buNone/>
            </a:pPr>
            <a:r>
              <a:rPr lang="ru-RU" sz="2000">
                <a:solidFill>
                  <a:srgbClr val="000000"/>
                </a:solidFill>
                <a:latin typeface="Bookman Old Style"/>
                <a:ea typeface="Bookman Old Style"/>
                <a:cs typeface="Bookman Old Style"/>
                <a:sym typeface="Bookman Old Style"/>
              </a:rPr>
              <a:t>Вертикальная пунктирная линия показывает уровень гибкости, соответствующий наименьшей MSE</a:t>
            </a:r>
            <a:endParaRPr sz="2000">
              <a:solidFill>
                <a:srgbClr val="000000"/>
              </a:solidFill>
              <a:latin typeface="Bookman Old Style"/>
              <a:ea typeface="Bookman Old Style"/>
              <a:cs typeface="Bookman Old Style"/>
              <a:sym typeface="Bookman Old Style"/>
            </a:endParaRPr>
          </a:p>
        </p:txBody>
      </p:sp>
      <p:sp>
        <p:nvSpPr>
          <p:cNvPr id="996" name="Google Shape;996;p70"/>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
        <p:nvSpPr>
          <p:cNvPr id="997" name="Google Shape;997;p70"/>
          <p:cNvSpPr/>
          <p:nvPr/>
        </p:nvSpPr>
        <p:spPr>
          <a:xfrm>
            <a:off x="2745296" y="3677898"/>
            <a:ext cx="174537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1200">
                <a:solidFill>
                  <a:srgbClr val="0070C0"/>
                </a:solidFill>
                <a:latin typeface="Bookman Old Style"/>
                <a:ea typeface="Bookman Old Style"/>
                <a:cs typeface="Bookman Old Style"/>
                <a:sym typeface="Bookman Old Style"/>
              </a:rPr>
              <a:t>Истинная функция </a:t>
            </a:r>
            <a:r>
              <a:rPr i="1" lang="ru-RU" sz="1200">
                <a:solidFill>
                  <a:srgbClr val="0070C0"/>
                </a:solidFill>
                <a:latin typeface="Bookman Old Style"/>
                <a:ea typeface="Bookman Old Style"/>
                <a:cs typeface="Bookman Old Style"/>
                <a:sym typeface="Bookman Old Style"/>
              </a:rPr>
              <a:t>f</a:t>
            </a:r>
            <a:r>
              <a:rPr lang="ru-RU" sz="1200">
                <a:solidFill>
                  <a:srgbClr val="0070C0"/>
                </a:solidFill>
                <a:latin typeface="Bookman Old Style"/>
                <a:ea typeface="Bookman Old Style"/>
                <a:cs typeface="Bookman Old Style"/>
                <a:sym typeface="Bookman Old Style"/>
              </a:rPr>
              <a:t> ≈ линейна. </a:t>
            </a:r>
            <a:endParaRPr sz="1200">
              <a:solidFill>
                <a:schemeClr val="dk1"/>
              </a:solidFill>
              <a:latin typeface="Arial"/>
              <a:ea typeface="Arial"/>
              <a:cs typeface="Arial"/>
              <a:sym typeface="Arial"/>
            </a:endParaRPr>
          </a:p>
        </p:txBody>
      </p:sp>
      <p:sp>
        <p:nvSpPr>
          <p:cNvPr id="998" name="Google Shape;998;p70"/>
          <p:cNvSpPr/>
          <p:nvPr/>
        </p:nvSpPr>
        <p:spPr>
          <a:xfrm>
            <a:off x="472033" y="3654723"/>
            <a:ext cx="228219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1200">
                <a:solidFill>
                  <a:srgbClr val="0070C0"/>
                </a:solidFill>
                <a:latin typeface="Bookman Old Style"/>
                <a:ea typeface="Bookman Old Style"/>
                <a:cs typeface="Bookman Old Style"/>
                <a:sym typeface="Bookman Old Style"/>
              </a:rPr>
              <a:t>f  может аппроксим-ся лин-й и нелин-й моделями</a:t>
            </a:r>
            <a:endParaRPr sz="1200">
              <a:solidFill>
                <a:schemeClr val="dk1"/>
              </a:solidFill>
              <a:latin typeface="Arial"/>
              <a:ea typeface="Arial"/>
              <a:cs typeface="Arial"/>
              <a:sym typeface="Arial"/>
            </a:endParaRPr>
          </a:p>
        </p:txBody>
      </p:sp>
      <p:sp>
        <p:nvSpPr>
          <p:cNvPr id="999" name="Google Shape;999;p70"/>
          <p:cNvSpPr/>
          <p:nvPr/>
        </p:nvSpPr>
        <p:spPr>
          <a:xfrm>
            <a:off x="4828994" y="3722671"/>
            <a:ext cx="134684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ru-RU" sz="1200">
                <a:solidFill>
                  <a:srgbClr val="0070C0"/>
                </a:solidFill>
                <a:latin typeface="Bookman Old Style"/>
                <a:ea typeface="Bookman Old Style"/>
                <a:cs typeface="Bookman Old Style"/>
                <a:sym typeface="Bookman Old Style"/>
              </a:rPr>
              <a:t>f</a:t>
            </a:r>
            <a:r>
              <a:rPr lang="ru-RU" sz="1200">
                <a:solidFill>
                  <a:srgbClr val="0070C0"/>
                </a:solidFill>
                <a:latin typeface="Bookman Old Style"/>
                <a:ea typeface="Bookman Old Style"/>
                <a:cs typeface="Bookman Old Style"/>
                <a:sym typeface="Bookman Old Style"/>
              </a:rPr>
              <a:t> ≈ нелинейна. </a:t>
            </a:r>
            <a:endParaRPr sz="1200">
              <a:solidFill>
                <a:schemeClr val="dk1"/>
              </a:solidFill>
              <a:latin typeface="Arial"/>
              <a:ea typeface="Arial"/>
              <a:cs typeface="Arial"/>
              <a:sym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3" name="Shape 1003"/>
        <p:cNvGrpSpPr/>
        <p:nvPr/>
      </p:nvGrpSpPr>
      <p:grpSpPr>
        <a:xfrm>
          <a:off x="0" y="0"/>
          <a:ext cx="0" cy="0"/>
          <a:chOff x="0" y="0"/>
          <a:chExt cx="0" cy="0"/>
        </a:xfrm>
      </p:grpSpPr>
      <p:sp>
        <p:nvSpPr>
          <p:cNvPr id="1004" name="Google Shape;1004;p71"/>
          <p:cNvSpPr/>
          <p:nvPr/>
        </p:nvSpPr>
        <p:spPr>
          <a:xfrm>
            <a:off x="433889" y="373757"/>
            <a:ext cx="9791700" cy="6790504"/>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005" name="Google Shape;1005;p71"/>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1006" name="Google Shape;1006;p71"/>
          <p:cNvSpPr/>
          <p:nvPr/>
        </p:nvSpPr>
        <p:spPr>
          <a:xfrm>
            <a:off x="818257" y="394792"/>
            <a:ext cx="8604957" cy="661947"/>
          </a:xfrm>
          <a:prstGeom prst="roundRect">
            <a:avLst>
              <a:gd fmla="val 45749" name="adj"/>
            </a:avLst>
          </a:prstGeom>
          <a:solidFill>
            <a:srgbClr val="FFFFFF">
              <a:alpha val="52549"/>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ru-RU" sz="2800">
                <a:solidFill>
                  <a:schemeClr val="dk1"/>
                </a:solidFill>
                <a:latin typeface="Arial"/>
                <a:ea typeface="Arial"/>
                <a:cs typeface="Arial"/>
                <a:sym typeface="Arial"/>
              </a:rPr>
              <a:t>Задачи Data Mining</a:t>
            </a:r>
            <a:endParaRPr b="1" sz="2800">
              <a:solidFill>
                <a:schemeClr val="dk1"/>
              </a:solidFill>
              <a:latin typeface="Arial"/>
              <a:ea typeface="Arial"/>
              <a:cs typeface="Arial"/>
              <a:sym typeface="Arial"/>
            </a:endParaRPr>
          </a:p>
        </p:txBody>
      </p:sp>
      <p:sp>
        <p:nvSpPr>
          <p:cNvPr id="1007" name="Google Shape;1007;p71"/>
          <p:cNvSpPr/>
          <p:nvPr/>
        </p:nvSpPr>
        <p:spPr>
          <a:xfrm>
            <a:off x="245332" y="1140037"/>
            <a:ext cx="8853845" cy="47889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ru-RU" sz="2000">
                <a:solidFill>
                  <a:srgbClr val="0B769C"/>
                </a:solidFill>
                <a:latin typeface="Arial"/>
                <a:ea typeface="Arial"/>
                <a:cs typeface="Arial"/>
                <a:sym typeface="Arial"/>
              </a:rPr>
              <a:t>Фундаментальное свойство статистического обучения</a:t>
            </a:r>
            <a:endParaRPr/>
          </a:p>
        </p:txBody>
      </p:sp>
      <p:pic>
        <p:nvPicPr>
          <p:cNvPr id="1008" name="Google Shape;1008;p71"/>
          <p:cNvPicPr preferRelativeResize="0"/>
          <p:nvPr/>
        </p:nvPicPr>
        <p:blipFill rotWithShape="1">
          <a:blip r:embed="rId3">
            <a:alphaModFix/>
          </a:blip>
          <a:srcRect b="0" l="0" r="0" t="0"/>
          <a:stretch/>
        </p:blipFill>
        <p:spPr>
          <a:xfrm>
            <a:off x="597222" y="4270790"/>
            <a:ext cx="5708873" cy="2334224"/>
          </a:xfrm>
          <a:prstGeom prst="rect">
            <a:avLst/>
          </a:prstGeom>
          <a:noFill/>
          <a:ln>
            <a:noFill/>
          </a:ln>
        </p:spPr>
      </p:pic>
      <p:sp>
        <p:nvSpPr>
          <p:cNvPr id="1009" name="Google Shape;1009;p71"/>
          <p:cNvSpPr/>
          <p:nvPr/>
        </p:nvSpPr>
        <p:spPr>
          <a:xfrm>
            <a:off x="6356246" y="4194643"/>
            <a:ext cx="3491259"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1800">
                <a:solidFill>
                  <a:srgbClr val="000000"/>
                </a:solidFill>
                <a:latin typeface="Bookman Old Style"/>
                <a:ea typeface="Bookman Old Style"/>
                <a:cs typeface="Bookman Old Style"/>
                <a:sym typeface="Bookman Old Style"/>
              </a:rPr>
              <a:t>Рис. 10. </a:t>
            </a:r>
            <a:r>
              <a:rPr i="1" lang="ru-RU" sz="1800">
                <a:solidFill>
                  <a:srgbClr val="000000"/>
                </a:solidFill>
                <a:latin typeface="Bookman Old Style"/>
                <a:ea typeface="Bookman Old Style"/>
                <a:cs typeface="Bookman Old Style"/>
                <a:sym typeface="Bookman Old Style"/>
              </a:rPr>
              <a:t>Квадрат смещения (голубая кривая), дисперсия (оранжевая кривая), Var(ε) (пунктирная линия) и MSE на контрольной выборке (красная кривая) для трех наборов данных, показанных на рис. 7- 9. </a:t>
            </a:r>
            <a:endParaRPr sz="1800">
              <a:solidFill>
                <a:schemeClr val="dk1"/>
              </a:solidFill>
              <a:latin typeface="Arial"/>
              <a:ea typeface="Arial"/>
              <a:cs typeface="Arial"/>
              <a:sym typeface="Arial"/>
            </a:endParaRPr>
          </a:p>
        </p:txBody>
      </p:sp>
      <p:sp>
        <p:nvSpPr>
          <p:cNvPr id="1010" name="Google Shape;1010;p71"/>
          <p:cNvSpPr/>
          <p:nvPr/>
        </p:nvSpPr>
        <p:spPr>
          <a:xfrm>
            <a:off x="459786" y="1669888"/>
            <a:ext cx="9362791" cy="1938992"/>
          </a:xfrm>
          <a:prstGeom prst="rect">
            <a:avLst/>
          </a:prstGeom>
          <a:noFill/>
          <a:ln>
            <a:noFill/>
          </a:ln>
        </p:spPr>
        <p:txBody>
          <a:bodyPr anchorCtr="0" anchor="t" bIns="45700" lIns="91425" spcFirstLastPara="1" rIns="91425" wrap="square" tIns="45700">
            <a:spAutoFit/>
          </a:bodyPr>
          <a:lstStyle/>
          <a:p>
            <a:pPr indent="449263" lvl="0" marL="0" marR="0" rtl="0" algn="l">
              <a:spcBef>
                <a:spcPts val="0"/>
              </a:spcBef>
              <a:spcAft>
                <a:spcPts val="0"/>
              </a:spcAft>
              <a:buNone/>
            </a:pPr>
            <a:r>
              <a:rPr lang="ru-RU" sz="2000">
                <a:solidFill>
                  <a:srgbClr val="000000"/>
                </a:solidFill>
                <a:latin typeface="Bookman Old Style"/>
                <a:ea typeface="Bookman Old Style"/>
                <a:cs typeface="Bookman Old Style"/>
                <a:sym typeface="Bookman Old Style"/>
              </a:rPr>
              <a:t>Связь между смещением, дисперсией и MSE на контрольной выборке, описанная в уравнении 7 и показанная на рис. 10, известна как </a:t>
            </a:r>
            <a:r>
              <a:rPr b="1" i="1" lang="ru-RU" sz="2000">
                <a:solidFill>
                  <a:srgbClr val="000000"/>
                </a:solidFill>
                <a:latin typeface="Bookman Old Style"/>
                <a:ea typeface="Bookman Old Style"/>
                <a:cs typeface="Bookman Old Style"/>
                <a:sym typeface="Bookman Old Style"/>
              </a:rPr>
              <a:t>компромисс между смещением и дисперсией</a:t>
            </a:r>
            <a:r>
              <a:rPr lang="ru-RU" sz="2000">
                <a:solidFill>
                  <a:srgbClr val="000000"/>
                </a:solidFill>
                <a:latin typeface="Bookman Old Style"/>
                <a:ea typeface="Bookman Old Style"/>
                <a:cs typeface="Bookman Old Style"/>
                <a:sym typeface="Bookman Old Style"/>
              </a:rPr>
              <a:t>. Хороший результат, достигаемый методом статистического обучения на контрольных данных, требует как низкой дисперсии, так и низкого квадрата смещения. </a:t>
            </a:r>
            <a:endParaRPr/>
          </a:p>
        </p:txBody>
      </p:sp>
      <p:sp>
        <p:nvSpPr>
          <p:cNvPr id="1011" name="Google Shape;1011;p71"/>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
        <p:nvSpPr>
          <p:cNvPr id="1012" name="Google Shape;1012;p71"/>
          <p:cNvSpPr/>
          <p:nvPr/>
        </p:nvSpPr>
        <p:spPr>
          <a:xfrm>
            <a:off x="2933853" y="3847560"/>
            <a:ext cx="174537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1200">
                <a:solidFill>
                  <a:srgbClr val="0070C0"/>
                </a:solidFill>
                <a:latin typeface="Bookman Old Style"/>
                <a:ea typeface="Bookman Old Style"/>
                <a:cs typeface="Bookman Old Style"/>
                <a:sym typeface="Bookman Old Style"/>
              </a:rPr>
              <a:t>Истинная функция </a:t>
            </a:r>
            <a:r>
              <a:rPr i="1" lang="ru-RU" sz="1200">
                <a:solidFill>
                  <a:srgbClr val="0070C0"/>
                </a:solidFill>
                <a:latin typeface="Bookman Old Style"/>
                <a:ea typeface="Bookman Old Style"/>
                <a:cs typeface="Bookman Old Style"/>
                <a:sym typeface="Bookman Old Style"/>
              </a:rPr>
              <a:t>f</a:t>
            </a:r>
            <a:r>
              <a:rPr lang="ru-RU" sz="1200">
                <a:solidFill>
                  <a:srgbClr val="0070C0"/>
                </a:solidFill>
                <a:latin typeface="Bookman Old Style"/>
                <a:ea typeface="Bookman Old Style"/>
                <a:cs typeface="Bookman Old Style"/>
                <a:sym typeface="Bookman Old Style"/>
              </a:rPr>
              <a:t> ≈ линейна. </a:t>
            </a:r>
            <a:endParaRPr sz="1200">
              <a:solidFill>
                <a:schemeClr val="dk1"/>
              </a:solidFill>
              <a:latin typeface="Arial"/>
              <a:ea typeface="Arial"/>
              <a:cs typeface="Arial"/>
              <a:sym typeface="Arial"/>
            </a:endParaRPr>
          </a:p>
        </p:txBody>
      </p:sp>
      <p:sp>
        <p:nvSpPr>
          <p:cNvPr id="1013" name="Google Shape;1013;p71"/>
          <p:cNvSpPr/>
          <p:nvPr/>
        </p:nvSpPr>
        <p:spPr>
          <a:xfrm>
            <a:off x="660590" y="3824385"/>
            <a:ext cx="228219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1200">
                <a:solidFill>
                  <a:srgbClr val="0070C0"/>
                </a:solidFill>
                <a:latin typeface="Bookman Old Style"/>
                <a:ea typeface="Bookman Old Style"/>
                <a:cs typeface="Bookman Old Style"/>
                <a:sym typeface="Bookman Old Style"/>
              </a:rPr>
              <a:t>f  может аппроксим-ся лин-й и нелин-й моделями</a:t>
            </a:r>
            <a:endParaRPr sz="1200">
              <a:solidFill>
                <a:schemeClr val="dk1"/>
              </a:solidFill>
              <a:latin typeface="Arial"/>
              <a:ea typeface="Arial"/>
              <a:cs typeface="Arial"/>
              <a:sym typeface="Arial"/>
            </a:endParaRPr>
          </a:p>
        </p:txBody>
      </p:sp>
      <p:sp>
        <p:nvSpPr>
          <p:cNvPr id="1014" name="Google Shape;1014;p71"/>
          <p:cNvSpPr/>
          <p:nvPr/>
        </p:nvSpPr>
        <p:spPr>
          <a:xfrm>
            <a:off x="5017551" y="3892333"/>
            <a:ext cx="134684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ru-RU" sz="1200">
                <a:solidFill>
                  <a:srgbClr val="0070C0"/>
                </a:solidFill>
                <a:latin typeface="Bookman Old Style"/>
                <a:ea typeface="Bookman Old Style"/>
                <a:cs typeface="Bookman Old Style"/>
                <a:sym typeface="Bookman Old Style"/>
              </a:rPr>
              <a:t>f</a:t>
            </a:r>
            <a:r>
              <a:rPr lang="ru-RU" sz="1200">
                <a:solidFill>
                  <a:srgbClr val="0070C0"/>
                </a:solidFill>
                <a:latin typeface="Bookman Old Style"/>
                <a:ea typeface="Bookman Old Style"/>
                <a:cs typeface="Bookman Old Style"/>
                <a:sym typeface="Bookman Old Style"/>
              </a:rPr>
              <a:t> ≈ нелинейна. </a:t>
            </a:r>
            <a:endParaRPr sz="1200">
              <a:solidFill>
                <a:schemeClr val="dk1"/>
              </a:solidFill>
              <a:latin typeface="Arial"/>
              <a:ea typeface="Arial"/>
              <a:cs typeface="Arial"/>
              <a:sym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8" name="Shape 1018"/>
        <p:cNvGrpSpPr/>
        <p:nvPr/>
      </p:nvGrpSpPr>
      <p:grpSpPr>
        <a:xfrm>
          <a:off x="0" y="0"/>
          <a:ext cx="0" cy="0"/>
          <a:chOff x="0" y="0"/>
          <a:chExt cx="0" cy="0"/>
        </a:xfrm>
      </p:grpSpPr>
      <p:grpSp>
        <p:nvGrpSpPr>
          <p:cNvPr id="1019" name="Google Shape;1019;p72"/>
          <p:cNvGrpSpPr/>
          <p:nvPr/>
        </p:nvGrpSpPr>
        <p:grpSpPr>
          <a:xfrm>
            <a:off x="242888" y="322263"/>
            <a:ext cx="9791700" cy="6553200"/>
            <a:chOff x="153" y="203"/>
            <a:chExt cx="6168" cy="4128"/>
          </a:xfrm>
        </p:grpSpPr>
        <p:sp>
          <p:nvSpPr>
            <p:cNvPr id="1020" name="Google Shape;1020;p72"/>
            <p:cNvSpPr/>
            <p:nvPr/>
          </p:nvSpPr>
          <p:spPr>
            <a:xfrm>
              <a:off x="153" y="203"/>
              <a:ext cx="6168" cy="4128"/>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021" name="Google Shape;1021;p72"/>
            <p:cNvSpPr/>
            <p:nvPr/>
          </p:nvSpPr>
          <p:spPr>
            <a:xfrm>
              <a:off x="561" y="249"/>
              <a:ext cx="5261" cy="391"/>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022" name="Google Shape;1022;p72"/>
            <p:cNvSpPr/>
            <p:nvPr/>
          </p:nvSpPr>
          <p:spPr>
            <a:xfrm>
              <a:off x="244" y="686"/>
              <a:ext cx="5941" cy="3554"/>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grpSp>
      <p:sp>
        <p:nvSpPr>
          <p:cNvPr id="1023" name="Google Shape;1023;p72"/>
          <p:cNvSpPr txBox="1"/>
          <p:nvPr>
            <p:ph idx="4294967295" type="title"/>
          </p:nvPr>
        </p:nvSpPr>
        <p:spPr>
          <a:xfrm>
            <a:off x="1598613" y="432003"/>
            <a:ext cx="7643813" cy="596900"/>
          </a:xfrm>
          <a:prstGeom prst="rect">
            <a:avLst/>
          </a:prstGeom>
          <a:noFill/>
          <a:ln>
            <a:noFill/>
          </a:ln>
        </p:spPr>
        <p:txBody>
          <a:bodyPr anchorCtr="0" anchor="ctr" bIns="49700" lIns="99425" spcFirstLastPara="1" rIns="99425" wrap="square" tIns="49700">
            <a:normAutofit/>
          </a:bodyPr>
          <a:lstStyle/>
          <a:p>
            <a:pPr indent="0" lvl="0" marL="0" rtl="0" algn="ctr">
              <a:spcBef>
                <a:spcPts val="0"/>
              </a:spcBef>
              <a:spcAft>
                <a:spcPts val="0"/>
              </a:spcAft>
              <a:buClr>
                <a:schemeClr val="dk1"/>
              </a:buClr>
              <a:buSzPts val="3100"/>
              <a:buFont typeface="Calibri"/>
              <a:buNone/>
            </a:pPr>
            <a:r>
              <a:rPr b="1" lang="ru-RU" sz="3100"/>
              <a:t>Вопросы к экзамену</a:t>
            </a:r>
            <a:endParaRPr/>
          </a:p>
        </p:txBody>
      </p:sp>
      <p:sp>
        <p:nvSpPr>
          <p:cNvPr id="1024" name="Google Shape;1024;p72"/>
          <p:cNvSpPr txBox="1"/>
          <p:nvPr>
            <p:ph idx="4294967295" type="body"/>
          </p:nvPr>
        </p:nvSpPr>
        <p:spPr>
          <a:xfrm>
            <a:off x="458788" y="1174952"/>
            <a:ext cx="9575800" cy="5797347"/>
          </a:xfrm>
          <a:prstGeom prst="rect">
            <a:avLst/>
          </a:prstGeom>
          <a:noFill/>
          <a:ln>
            <a:noFill/>
          </a:ln>
        </p:spPr>
        <p:txBody>
          <a:bodyPr anchorCtr="0" anchor="t" bIns="45700" lIns="91425" spcFirstLastPara="1" rIns="91425" wrap="square" tIns="45700">
            <a:noAutofit/>
          </a:bodyPr>
          <a:lstStyle/>
          <a:p>
            <a:pPr indent="-457200" lvl="0" marL="457200" rtl="0" algn="l">
              <a:spcBef>
                <a:spcPts val="0"/>
              </a:spcBef>
              <a:spcAft>
                <a:spcPts val="0"/>
              </a:spcAft>
              <a:buClr>
                <a:schemeClr val="dk1"/>
              </a:buClr>
              <a:buSzPts val="2000"/>
              <a:buFont typeface="Calibri"/>
              <a:buAutoNum type="arabicPeriod"/>
            </a:pPr>
            <a:r>
              <a:rPr lang="ru-RU" sz="2000"/>
              <a:t>Опишите стандарты жизненного цикла Big Data.</a:t>
            </a:r>
            <a:endParaRPr/>
          </a:p>
          <a:p>
            <a:pPr indent="-457200" lvl="0" marL="457200" rtl="0" algn="l">
              <a:spcBef>
                <a:spcPts val="400"/>
              </a:spcBef>
              <a:spcAft>
                <a:spcPts val="0"/>
              </a:spcAft>
              <a:buClr>
                <a:schemeClr val="dk1"/>
              </a:buClr>
              <a:buSzPts val="2000"/>
              <a:buFont typeface="Calibri"/>
              <a:buAutoNum type="arabicPeriod"/>
            </a:pPr>
            <a:r>
              <a:rPr lang="ru-RU" sz="2000"/>
              <a:t>Что называется когнитивным анализом данных?</a:t>
            </a:r>
            <a:endParaRPr/>
          </a:p>
          <a:p>
            <a:pPr indent="-457200" lvl="0" marL="457200" rtl="0" algn="l">
              <a:spcBef>
                <a:spcPts val="400"/>
              </a:spcBef>
              <a:spcAft>
                <a:spcPts val="0"/>
              </a:spcAft>
              <a:buClr>
                <a:schemeClr val="dk1"/>
              </a:buClr>
              <a:buSzPts val="2000"/>
              <a:buFont typeface="Calibri"/>
              <a:buAutoNum type="arabicPeriod"/>
            </a:pPr>
            <a:r>
              <a:rPr lang="ru-RU" sz="2000"/>
              <a:t>Этапы интеллектуального анализа данных.</a:t>
            </a:r>
            <a:endParaRPr/>
          </a:p>
          <a:p>
            <a:pPr indent="-457200" lvl="0" marL="457200" rtl="0" algn="l">
              <a:spcBef>
                <a:spcPts val="400"/>
              </a:spcBef>
              <a:spcAft>
                <a:spcPts val="0"/>
              </a:spcAft>
              <a:buClr>
                <a:schemeClr val="dk1"/>
              </a:buClr>
              <a:buSzPts val="2000"/>
              <a:buFont typeface="Calibri"/>
              <a:buAutoNum type="arabicPeriod"/>
            </a:pPr>
            <a:r>
              <a:rPr lang="ru-RU" sz="2000"/>
              <a:t>Что такое статистическое обучение?</a:t>
            </a:r>
            <a:endParaRPr/>
          </a:p>
          <a:p>
            <a:pPr indent="-457200" lvl="0" marL="457200" rtl="0" algn="l">
              <a:spcBef>
                <a:spcPts val="400"/>
              </a:spcBef>
              <a:spcAft>
                <a:spcPts val="0"/>
              </a:spcAft>
              <a:buClr>
                <a:schemeClr val="dk1"/>
              </a:buClr>
              <a:buSzPts val="2000"/>
              <a:buFont typeface="Calibri"/>
              <a:buAutoNum type="arabicPeriod"/>
            </a:pPr>
            <a:r>
              <a:rPr lang="ru-RU" sz="2000"/>
              <a:t>В чем разница между описательными и предсказательными задачами DM? Какие методы анализа лучше приспособлены для описательных, а какие для предсказательных задач?</a:t>
            </a:r>
            <a:endParaRPr/>
          </a:p>
          <a:p>
            <a:pPr indent="-457200" lvl="0" marL="457200" rtl="0" algn="l">
              <a:spcBef>
                <a:spcPts val="400"/>
              </a:spcBef>
              <a:spcAft>
                <a:spcPts val="0"/>
              </a:spcAft>
              <a:buClr>
                <a:schemeClr val="dk1"/>
              </a:buClr>
              <a:buSzPts val="2000"/>
              <a:buFont typeface="Calibri"/>
              <a:buAutoNum type="arabicPeriod"/>
            </a:pPr>
            <a:r>
              <a:rPr lang="ru-RU" sz="2000"/>
              <a:t>В каких случаях лучше использовать линейные, а когда нелинейные модели анализа данных?</a:t>
            </a:r>
            <a:endParaRPr/>
          </a:p>
          <a:p>
            <a:pPr indent="-457200" lvl="0" marL="457200" rtl="0" algn="l">
              <a:spcBef>
                <a:spcPts val="400"/>
              </a:spcBef>
              <a:spcAft>
                <a:spcPts val="0"/>
              </a:spcAft>
              <a:buClr>
                <a:schemeClr val="dk1"/>
              </a:buClr>
              <a:buSzPts val="2000"/>
              <a:buFont typeface="Calibri"/>
              <a:buAutoNum type="arabicPeriod"/>
            </a:pPr>
            <a:r>
              <a:rPr lang="ru-RU" sz="2000"/>
              <a:t>Приведите математическое выражение для параметрической модели, для каких задач анализа данных их лучше использовать?</a:t>
            </a:r>
            <a:endParaRPr/>
          </a:p>
          <a:p>
            <a:pPr indent="-457200" lvl="0" marL="457200" rtl="0" algn="l">
              <a:spcBef>
                <a:spcPts val="400"/>
              </a:spcBef>
              <a:spcAft>
                <a:spcPts val="0"/>
              </a:spcAft>
              <a:buClr>
                <a:schemeClr val="dk1"/>
              </a:buClr>
              <a:buSzPts val="2000"/>
              <a:buFont typeface="Calibri"/>
              <a:buAutoNum type="arabicPeriod"/>
            </a:pPr>
            <a:r>
              <a:rPr lang="ru-RU" sz="2000"/>
              <a:t> В чем состоят преимущества и недостатки непараметрических моделей анализа данных, как осуществить выбор между параметрической и непараметрической моделью?</a:t>
            </a:r>
            <a:endParaRPr/>
          </a:p>
          <a:p>
            <a:pPr indent="-457200" lvl="0" marL="457200" rtl="0" algn="l">
              <a:spcBef>
                <a:spcPts val="400"/>
              </a:spcBef>
              <a:spcAft>
                <a:spcPts val="0"/>
              </a:spcAft>
              <a:buClr>
                <a:schemeClr val="dk1"/>
              </a:buClr>
              <a:buSzPts val="2000"/>
              <a:buFont typeface="Calibri"/>
              <a:buAutoNum type="arabicPeriod"/>
            </a:pPr>
            <a:r>
              <a:rPr lang="ru-RU" sz="2000"/>
              <a:t>Как выполняется измерение качества модели?</a:t>
            </a:r>
            <a:endParaRPr/>
          </a:p>
          <a:p>
            <a:pPr indent="-457200" lvl="0" marL="457200" rtl="0" algn="l">
              <a:spcBef>
                <a:spcPts val="400"/>
              </a:spcBef>
              <a:spcAft>
                <a:spcPts val="0"/>
              </a:spcAft>
              <a:buClr>
                <a:schemeClr val="dk1"/>
              </a:buClr>
              <a:buSzPts val="2000"/>
              <a:buFont typeface="Calibri"/>
              <a:buAutoNum type="arabicPeriod"/>
            </a:pPr>
            <a:r>
              <a:rPr lang="ru-RU" sz="2000"/>
              <a:t>В чем состоит фундаментальное свойство статистического обучения?</a:t>
            </a:r>
            <a:endParaRPr/>
          </a:p>
          <a:p>
            <a:pPr indent="-330200" lvl="0" marL="457200" rtl="0" algn="l">
              <a:lnSpc>
                <a:spcPct val="75000"/>
              </a:lnSpc>
              <a:spcBef>
                <a:spcPts val="400"/>
              </a:spcBef>
              <a:spcAft>
                <a:spcPts val="0"/>
              </a:spcAft>
              <a:buClr>
                <a:schemeClr val="dk1"/>
              </a:buClr>
              <a:buSzPts val="2000"/>
              <a:buFont typeface="Calibri"/>
              <a:buNone/>
            </a:pPr>
            <a:r>
              <a:t/>
            </a:r>
            <a:endParaRPr sz="2000"/>
          </a:p>
          <a:p>
            <a:pPr indent="-330200" lvl="0" marL="457200" rtl="0" algn="l">
              <a:lnSpc>
                <a:spcPct val="75000"/>
              </a:lnSpc>
              <a:spcBef>
                <a:spcPts val="400"/>
              </a:spcBef>
              <a:spcAft>
                <a:spcPts val="0"/>
              </a:spcAft>
              <a:buClr>
                <a:schemeClr val="dk1"/>
              </a:buClr>
              <a:buSzPts val="2000"/>
              <a:buFont typeface="Calibri"/>
              <a:buNone/>
            </a:pPr>
            <a:r>
              <a:t/>
            </a:r>
            <a:endParaRPr sz="2000"/>
          </a:p>
          <a:p>
            <a:pPr indent="-330200" lvl="0" marL="457200" rtl="0" algn="l">
              <a:lnSpc>
                <a:spcPct val="75000"/>
              </a:lnSpc>
              <a:spcBef>
                <a:spcPts val="400"/>
              </a:spcBef>
              <a:spcAft>
                <a:spcPts val="0"/>
              </a:spcAft>
              <a:buClr>
                <a:schemeClr val="dk1"/>
              </a:buClr>
              <a:buSzPts val="2000"/>
              <a:buFont typeface="Calibri"/>
              <a:buNone/>
            </a:pPr>
            <a:r>
              <a:t/>
            </a:r>
            <a:endParaRPr sz="2000"/>
          </a:p>
        </p:txBody>
      </p:sp>
      <p:sp>
        <p:nvSpPr>
          <p:cNvPr id="1025" name="Google Shape;1025;p72"/>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sp>
        <p:nvSpPr>
          <p:cNvPr id="1026" name="Google Shape;1026;p72"/>
          <p:cNvSpPr txBox="1"/>
          <p:nvPr>
            <p:ph idx="12" type="sldNum"/>
          </p:nvPr>
        </p:nvSpPr>
        <p:spPr>
          <a:xfrm>
            <a:off x="9099176" y="6605014"/>
            <a:ext cx="664425"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0" name="Shape 1030"/>
        <p:cNvGrpSpPr/>
        <p:nvPr/>
      </p:nvGrpSpPr>
      <p:grpSpPr>
        <a:xfrm>
          <a:off x="0" y="0"/>
          <a:ext cx="0" cy="0"/>
          <a:chOff x="0" y="0"/>
          <a:chExt cx="0" cy="0"/>
        </a:xfrm>
      </p:grpSpPr>
      <p:grpSp>
        <p:nvGrpSpPr>
          <p:cNvPr id="1031" name="Google Shape;1031;p73"/>
          <p:cNvGrpSpPr/>
          <p:nvPr/>
        </p:nvGrpSpPr>
        <p:grpSpPr>
          <a:xfrm>
            <a:off x="242888" y="322263"/>
            <a:ext cx="9791700" cy="6553200"/>
            <a:chOff x="153" y="203"/>
            <a:chExt cx="6168" cy="4128"/>
          </a:xfrm>
        </p:grpSpPr>
        <p:sp>
          <p:nvSpPr>
            <p:cNvPr id="1032" name="Google Shape;1032;p73"/>
            <p:cNvSpPr/>
            <p:nvPr/>
          </p:nvSpPr>
          <p:spPr>
            <a:xfrm>
              <a:off x="153" y="203"/>
              <a:ext cx="6168" cy="4128"/>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033" name="Google Shape;1033;p73"/>
            <p:cNvSpPr/>
            <p:nvPr/>
          </p:nvSpPr>
          <p:spPr>
            <a:xfrm>
              <a:off x="561" y="249"/>
              <a:ext cx="5261" cy="589"/>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034" name="Google Shape;1034;p73"/>
            <p:cNvSpPr/>
            <p:nvPr/>
          </p:nvSpPr>
          <p:spPr>
            <a:xfrm>
              <a:off x="244" y="1119"/>
              <a:ext cx="5941" cy="3121"/>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grpSp>
      <p:sp>
        <p:nvSpPr>
          <p:cNvPr id="1035" name="Google Shape;1035;p73"/>
          <p:cNvSpPr txBox="1"/>
          <p:nvPr>
            <p:ph idx="4294967295" type="title"/>
          </p:nvPr>
        </p:nvSpPr>
        <p:spPr>
          <a:xfrm>
            <a:off x="0" y="419100"/>
            <a:ext cx="7643813" cy="596900"/>
          </a:xfrm>
          <a:prstGeom prst="rect">
            <a:avLst/>
          </a:prstGeom>
          <a:noFill/>
          <a:ln>
            <a:noFill/>
          </a:ln>
        </p:spPr>
        <p:txBody>
          <a:bodyPr anchorCtr="0" anchor="ctr" bIns="49700" lIns="99425" spcFirstLastPara="1" rIns="99425" wrap="square" tIns="49700">
            <a:normAutofit/>
          </a:bodyPr>
          <a:lstStyle/>
          <a:p>
            <a:pPr indent="0" lvl="0" marL="0" rtl="0" algn="ctr">
              <a:spcBef>
                <a:spcPts val="0"/>
              </a:spcBef>
              <a:spcAft>
                <a:spcPts val="0"/>
              </a:spcAft>
              <a:buClr>
                <a:schemeClr val="dk1"/>
              </a:buClr>
              <a:buSzPts val="3100"/>
              <a:buFont typeface="Calibri"/>
              <a:buNone/>
            </a:pPr>
            <a:r>
              <a:rPr b="1" lang="ru-RU" sz="3100"/>
              <a:t>Пример по анализу данных</a:t>
            </a:r>
            <a:endParaRPr/>
          </a:p>
        </p:txBody>
      </p:sp>
      <p:sp>
        <p:nvSpPr>
          <p:cNvPr id="1036" name="Google Shape;1036;p73"/>
          <p:cNvSpPr txBox="1"/>
          <p:nvPr/>
        </p:nvSpPr>
        <p:spPr>
          <a:xfrm>
            <a:off x="2709863" y="0"/>
            <a:ext cx="5100637" cy="408190"/>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Л5</a:t>
            </a:r>
            <a:endParaRPr/>
          </a:p>
        </p:txBody>
      </p:sp>
      <p:pic>
        <p:nvPicPr>
          <p:cNvPr id="1037" name="Google Shape;1037;p73"/>
          <p:cNvPicPr preferRelativeResize="0"/>
          <p:nvPr/>
        </p:nvPicPr>
        <p:blipFill rotWithShape="1">
          <a:blip r:embed="rId3">
            <a:alphaModFix/>
          </a:blip>
          <a:srcRect b="0" l="0" r="0" t="0"/>
          <a:stretch/>
        </p:blipFill>
        <p:spPr>
          <a:xfrm>
            <a:off x="717960" y="2470150"/>
            <a:ext cx="3810000" cy="4114800"/>
          </a:xfrm>
          <a:prstGeom prst="rect">
            <a:avLst/>
          </a:prstGeom>
          <a:noFill/>
          <a:ln>
            <a:noFill/>
          </a:ln>
        </p:spPr>
      </p:pic>
      <p:sp>
        <p:nvSpPr>
          <p:cNvPr id="1038" name="Google Shape;1038;p73"/>
          <p:cNvSpPr/>
          <p:nvPr/>
        </p:nvSpPr>
        <p:spPr>
          <a:xfrm>
            <a:off x="1040329" y="1902489"/>
            <a:ext cx="8853845" cy="47889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ru-RU" sz="2000">
                <a:solidFill>
                  <a:srgbClr val="0B769C"/>
                </a:solidFill>
                <a:latin typeface="Arial"/>
                <a:ea typeface="Arial"/>
                <a:cs typeface="Arial"/>
                <a:sym typeface="Arial"/>
              </a:rPr>
              <a:t>Определить подлинность швейцарских банкнот</a:t>
            </a:r>
            <a:endParaRPr/>
          </a:p>
        </p:txBody>
      </p:sp>
      <p:sp>
        <p:nvSpPr>
          <p:cNvPr id="1039" name="Google Shape;1039;p73"/>
          <p:cNvSpPr/>
          <p:nvPr/>
        </p:nvSpPr>
        <p:spPr>
          <a:xfrm>
            <a:off x="4633959" y="2574794"/>
            <a:ext cx="4307009"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000">
                <a:solidFill>
                  <a:srgbClr val="000000"/>
                </a:solidFill>
                <a:latin typeface="Bookman Old Style"/>
                <a:ea typeface="Bookman Old Style"/>
                <a:cs typeface="Bookman Old Style"/>
                <a:sym typeface="Bookman Old Style"/>
              </a:rPr>
              <a:t>В 1939г. Швейцария решила сменить банкноты.</a:t>
            </a:r>
            <a:endParaRPr sz="2000">
              <a:solidFill>
                <a:schemeClr val="dk1"/>
              </a:solidFill>
              <a:latin typeface="Arial"/>
              <a:ea typeface="Arial"/>
              <a:cs typeface="Arial"/>
              <a:sym typeface="Arial"/>
            </a:endParaRPr>
          </a:p>
        </p:txBody>
      </p:sp>
      <p:sp>
        <p:nvSpPr>
          <p:cNvPr id="1040" name="Google Shape;1040;p73"/>
          <p:cNvSpPr/>
          <p:nvPr/>
        </p:nvSpPr>
        <p:spPr>
          <a:xfrm>
            <a:off x="4619527" y="3409621"/>
            <a:ext cx="5137150" cy="28623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000">
                <a:solidFill>
                  <a:srgbClr val="000000"/>
                </a:solidFill>
                <a:latin typeface="Bookman Old Style"/>
                <a:ea typeface="Bookman Old Style"/>
                <a:cs typeface="Bookman Old Style"/>
                <a:sym typeface="Bookman Old Style"/>
              </a:rPr>
              <a:t>Задача: предложить процедуру, которая различала бы фальшивые </a:t>
            </a:r>
            <a:endParaRPr/>
          </a:p>
          <a:p>
            <a:pPr indent="0" lvl="0" marL="0" marR="0" rtl="0" algn="l">
              <a:spcBef>
                <a:spcPts val="0"/>
              </a:spcBef>
              <a:spcAft>
                <a:spcPts val="0"/>
              </a:spcAft>
              <a:buNone/>
            </a:pPr>
            <a:r>
              <a:rPr lang="ru-RU" sz="2000">
                <a:solidFill>
                  <a:srgbClr val="000000"/>
                </a:solidFill>
                <a:latin typeface="Bookman Old Style"/>
                <a:ea typeface="Bookman Old Style"/>
                <a:cs typeface="Bookman Old Style"/>
                <a:sym typeface="Bookman Old Style"/>
              </a:rPr>
              <a:t>и подлинные банкноты в Швейцарии</a:t>
            </a:r>
            <a:endParaRPr/>
          </a:p>
          <a:p>
            <a:pPr indent="0" lvl="0" marL="0" marR="0" rtl="0" algn="l">
              <a:spcBef>
                <a:spcPts val="0"/>
              </a:spcBef>
              <a:spcAft>
                <a:spcPts val="0"/>
              </a:spcAft>
              <a:buNone/>
            </a:pPr>
            <a:r>
              <a:rPr lang="ru-RU" sz="2000">
                <a:solidFill>
                  <a:srgbClr val="000000"/>
                </a:solidFill>
                <a:latin typeface="Bookman Old Style"/>
                <a:ea typeface="Bookman Old Style"/>
                <a:cs typeface="Bookman Old Style"/>
                <a:sym typeface="Bookman Old Style"/>
              </a:rPr>
              <a:t>Описание данных находится в файле Swiss_BankNotes.R</a:t>
            </a:r>
            <a:endParaRPr sz="2000">
              <a:solidFill>
                <a:srgbClr val="000000"/>
              </a:solidFill>
              <a:latin typeface="Bookman Old Style"/>
              <a:ea typeface="Bookman Old Style"/>
              <a:cs typeface="Bookman Old Style"/>
              <a:sym typeface="Bookman Old Style"/>
            </a:endParaRPr>
          </a:p>
          <a:p>
            <a:pPr indent="0" lvl="0" marL="0" marR="0" rtl="0" algn="l">
              <a:spcBef>
                <a:spcPts val="0"/>
              </a:spcBef>
              <a:spcAft>
                <a:spcPts val="0"/>
              </a:spcAft>
              <a:buNone/>
            </a:pPr>
            <a:r>
              <a:rPr lang="ru-RU" sz="2000">
                <a:solidFill>
                  <a:srgbClr val="000000"/>
                </a:solidFill>
                <a:latin typeface="Bookman Old Style"/>
                <a:ea typeface="Bookman Old Style"/>
                <a:cs typeface="Bookman Old Style"/>
                <a:sym typeface="Bookman Old Style"/>
              </a:rPr>
              <a:t>Имеется 200 наблюдений швейцарских банкнот. Первые 100 из них  подлинные, остальные 100 - фальшивые.</a:t>
            </a:r>
            <a:endParaRPr/>
          </a:p>
        </p:txBody>
      </p:sp>
      <p:sp>
        <p:nvSpPr>
          <p:cNvPr id="1041" name="Google Shape;1041;p73"/>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Тема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xno">
  <a:themeElements>
    <a:clrScheme name="Воздушный поток">
      <a:dk1>
        <a:srgbClr val="000000"/>
      </a:dk1>
      <a:lt1>
        <a:srgbClr val="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2015-01-17T09:44:41Z</dcterms:created>
  <dc:creator>Tatyana</dc:creator>
</cp:coreProperties>
</file>