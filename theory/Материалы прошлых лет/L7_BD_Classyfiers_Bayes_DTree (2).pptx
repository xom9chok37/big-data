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Lst>
  <p:sldSz cy="6858000" cx="9144000"/>
  <p:notesSz cx="6819900" cy="9105900"/>
  <p:embeddedFontLst>
    <p:embeddedFont>
      <p:font typeface="Quattrocento Sans"/>
      <p:regular r:id="rId114"/>
      <p:bold r:id="rId115"/>
      <p:italic r:id="rId116"/>
      <p:boldItalic r:id="rId117"/>
    </p:embeddedFont>
    <p:embeddedFont>
      <p:font typeface="Helvetica Neue"/>
      <p:regular r:id="rId118"/>
      <p:bold r:id="rId119"/>
      <p:italic r:id="rId120"/>
      <p:boldItalic r:id="rId121"/>
    </p:embeddedFont>
    <p:embeddedFont>
      <p:font typeface="Cambria Math"/>
      <p:regular r:id="rId1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53">
          <p15:clr>
            <a:srgbClr val="000000"/>
          </p15:clr>
        </p15:guide>
        <p15:guide id="2" orient="horz" pos="144">
          <p15:clr>
            <a:srgbClr val="000000"/>
          </p15:clr>
        </p15:guide>
        <p15:guide id="3" orient="horz" pos="890">
          <p15:clr>
            <a:srgbClr val="000000"/>
          </p15:clr>
        </p15:guide>
        <p15:guide id="4" orient="horz" pos="1126">
          <p15:clr>
            <a:srgbClr val="000000"/>
          </p15:clr>
        </p15:guide>
        <p15:guide id="5" pos="2878">
          <p15:clr>
            <a:srgbClr val="000000"/>
          </p15:clr>
        </p15:guide>
      </p15:sldGuideLst>
    </p:ext>
    <p:ext uri="{2D200454-40CA-4A62-9FC3-DE9A4176ACB9}">
      <p15:notesGuideLst>
        <p15:guide id="1" orient="horz" pos="2868">
          <p15:clr>
            <a:srgbClr val="000000"/>
          </p15:clr>
        </p15:guide>
        <p15:guide id="2" pos="2148">
          <p15:clr>
            <a:srgbClr val="000000"/>
          </p15:clr>
        </p15:guide>
      </p15:notesGuideLst>
    </p:ext>
    <p:ext uri="GoogleSlidesCustomDataVersion2">
      <go:slidesCustomData xmlns:go="http://customooxmlschemas.google.com/" r:id="rId123" roundtripDataSignature="AMtx7mgRkGFJHiKQ2W78JXdpYQCvRLXB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A9718B0-E53D-4CFF-AC7E-A2A48AE619F5}">
  <a:tblStyle styleId="{4A9718B0-E53D-4CFF-AC7E-A2A48AE619F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53" orient="horz"/>
        <p:guide pos="144" orient="horz"/>
        <p:guide pos="890" orient="horz"/>
        <p:guide pos="1126" orient="horz"/>
        <p:guide pos="2878"/>
      </p:guideLst>
    </p:cSldViewPr>
  </p:slideViewPr>
  <p:notesViewPr>
    <p:cSldViewPr snapToGrid="0">
      <p:cViewPr varScale="1">
        <p:scale>
          <a:sx n="100" d="100"/>
          <a:sy n="100" d="100"/>
        </p:scale>
        <p:origin x="0" y="0"/>
      </p:cViewPr>
      <p:guideLst>
        <p:guide pos="2868" orient="horz"/>
        <p:guide pos="2148"/>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9" Type="http://schemas.openxmlformats.org/officeDocument/2006/relationships/slide" Target="slides/slide102.xml"/><Relationship Id="rId108" Type="http://schemas.openxmlformats.org/officeDocument/2006/relationships/slide" Target="slides/slide101.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121" Type="http://schemas.openxmlformats.org/officeDocument/2006/relationships/font" Target="fonts/HelveticaNeue-boldItalic.fntdata"/><Relationship Id="rId25" Type="http://schemas.openxmlformats.org/officeDocument/2006/relationships/slide" Target="slides/slide18.xml"/><Relationship Id="rId120" Type="http://schemas.openxmlformats.org/officeDocument/2006/relationships/font" Target="fonts/HelveticaNeue-italic.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123" Type="http://customschemas.google.com/relationships/presentationmetadata" Target="metadata"/><Relationship Id="rId122" Type="http://schemas.openxmlformats.org/officeDocument/2006/relationships/font" Target="fonts/CambriaMath-regular.fntdata"/><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font" Target="fonts/HelveticaNeue-regular.fntdata"/><Relationship Id="rId117" Type="http://schemas.openxmlformats.org/officeDocument/2006/relationships/font" Target="fonts/QuattrocentoSans-boldItalic.fntdata"/><Relationship Id="rId116" Type="http://schemas.openxmlformats.org/officeDocument/2006/relationships/font" Target="fonts/QuattrocentoSans-italic.fntdata"/><Relationship Id="rId115" Type="http://schemas.openxmlformats.org/officeDocument/2006/relationships/font" Target="fonts/QuattrocentoSans-bold.fntdata"/><Relationship Id="rId119" Type="http://schemas.openxmlformats.org/officeDocument/2006/relationships/font" Target="fonts/HelveticaNeue-bold.fntdata"/><Relationship Id="rId15" Type="http://schemas.openxmlformats.org/officeDocument/2006/relationships/slide" Target="slides/slide8.xml"/><Relationship Id="rId110" Type="http://schemas.openxmlformats.org/officeDocument/2006/relationships/slide" Target="slides/slide103.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font" Target="fonts/QuattrocentoSans-regular.fntdata"/><Relationship Id="rId18" Type="http://schemas.openxmlformats.org/officeDocument/2006/relationships/slide" Target="slides/slide11.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1pPr>
            <a:lvl2pPr lvl="1"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2pPr>
            <a:lvl3pPr lvl="2"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3pPr>
            <a:lvl4pPr lvl="3"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4pPr>
            <a:lvl5pPr lvl="4"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5pPr>
            <a:lvl6pPr lvl="5"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6pPr>
            <a:lvl7pPr lvl="6"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7pPr>
            <a:lvl8pPr lvl="7"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8pPr>
            <a:lvl9pPr lvl="8"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9pPr>
          </a:lstStyle>
          <a:p/>
        </p:txBody>
      </p:sp>
      <p:sp>
        <p:nvSpPr>
          <p:cNvPr id="4" name="Google Shape;4;n"/>
          <p:cNvSpPr txBox="1"/>
          <p:nvPr>
            <p:ph idx="10" type="dt"/>
          </p:nvPr>
        </p:nvSpPr>
        <p:spPr>
          <a:xfrm>
            <a:off x="3886200" y="0"/>
            <a:ext cx="2895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1pPr>
            <a:lvl2pPr lvl="1"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2pPr>
            <a:lvl3pPr lvl="2"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3pPr>
            <a:lvl4pPr lvl="3"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4pPr>
            <a:lvl5pPr lvl="4"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5pPr>
            <a:lvl6pPr lvl="5"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6pPr>
            <a:lvl7pPr lvl="6"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7pPr>
            <a:lvl8pPr lvl="7"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8pPr>
            <a:lvl9pPr lvl="8"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6800"/>
            <a:ext cx="2971800" cy="3810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1pPr>
            <a:lvl2pPr lvl="1"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2pPr>
            <a:lvl3pPr lvl="2"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3pPr>
            <a:lvl4pPr lvl="3"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4pPr>
            <a:lvl5pPr lvl="4"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5pPr>
            <a:lvl6pPr lvl="5"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6pPr>
            <a:lvl7pPr lvl="6"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7pPr>
            <a:lvl8pPr lvl="7"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8pPr>
            <a:lvl9pPr lvl="8" marR="0" rtl="0" algn="l">
              <a:lnSpc>
                <a:spcPct val="100000"/>
              </a:lnSpc>
              <a:spcBef>
                <a:spcPts val="0"/>
              </a:spcBef>
              <a:spcAft>
                <a:spcPts val="0"/>
              </a:spcAft>
              <a:buSzPts val="1400"/>
              <a:buNone/>
              <a:defRPr b="1" i="0" sz="1800" u="none" cap="none" strike="noStrike">
                <a:solidFill>
                  <a:srgbClr val="000000"/>
                </a:solidFill>
                <a:latin typeface="Quattrocento Sans"/>
                <a:ea typeface="Quattrocento Sans"/>
                <a:cs typeface="Quattrocento Sans"/>
                <a:sym typeface="Quattrocento Sans"/>
              </a:defRPr>
            </a:lvl9pPr>
          </a:lstStyle>
          <a:p/>
        </p:txBody>
      </p:sp>
      <p:sp>
        <p:nvSpPr>
          <p:cNvPr id="8" name="Google Shape;8;n"/>
          <p:cNvSpPr txBox="1"/>
          <p:nvPr>
            <p:ph idx="12" type="sldNum"/>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a:p>
        </p:txBody>
      </p:sp>
      <p:sp>
        <p:nvSpPr>
          <p:cNvPr id="53" name="Google Shape;53;p1:notes"/>
          <p:cNvSpPr/>
          <p:nvPr>
            <p:ph idx="2" type="sldImg"/>
          </p:nvPr>
        </p:nvSpPr>
        <p:spPr>
          <a:xfrm>
            <a:off x="1133475" y="682625"/>
            <a:ext cx="4552950" cy="34147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p1:notes"/>
          <p:cNvSpPr txBox="1"/>
          <p:nvPr>
            <p:ph idx="1" type="body"/>
          </p:nvPr>
        </p:nvSpPr>
        <p:spPr>
          <a:xfrm>
            <a:off x="682625" y="4325937"/>
            <a:ext cx="5454650" cy="4097337"/>
          </a:xfrm>
          <a:prstGeom prst="rect">
            <a:avLst/>
          </a:prstGeom>
          <a:noFill/>
          <a:ln>
            <a:noFill/>
          </a:ln>
        </p:spPr>
        <p:txBody>
          <a:bodyPr anchorCtr="0" anchor="t" bIns="45500" lIns="91000" spcFirstLastPara="1" rIns="91000" wrap="square" tIns="45500">
            <a:noAutofit/>
          </a:bodyPr>
          <a:lstStyle/>
          <a:p>
            <a:pPr indent="0" lvl="0" marL="0" rtl="0" algn="l">
              <a:spcBef>
                <a:spcPts val="0"/>
              </a:spcBef>
              <a:spcAft>
                <a:spcPts val="0"/>
              </a:spcAft>
              <a:buNone/>
            </a:pPr>
            <a:r>
              <a:t/>
            </a:r>
            <a:endParaRPr/>
          </a:p>
        </p:txBody>
      </p:sp>
      <p:sp>
        <p:nvSpPr>
          <p:cNvPr id="55" name="Google Shape;55;p1:notes"/>
          <p:cNvSpPr txBox="1"/>
          <p:nvPr/>
        </p:nvSpPr>
        <p:spPr>
          <a:xfrm>
            <a:off x="3862387" y="8648700"/>
            <a:ext cx="2955925" cy="455612"/>
          </a:xfrm>
          <a:prstGeom prst="rect">
            <a:avLst/>
          </a:prstGeom>
          <a:noFill/>
          <a:ln>
            <a:noFill/>
          </a:ln>
        </p:spPr>
        <p:txBody>
          <a:bodyPr anchorCtr="0" anchor="b" bIns="45500" lIns="91000" spcFirstLastPara="1" rIns="91000" wrap="square" tIns="455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1" i="0" lang="en-US" sz="18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62" name="Google Shape;62;p2:notes"/>
          <p:cNvSpPr/>
          <p:nvPr>
            <p:ph idx="2" type="sldImg"/>
          </p:nvPr>
        </p:nvSpPr>
        <p:spPr>
          <a:xfrm>
            <a:off x="1133475" y="682625"/>
            <a:ext cx="4552950" cy="3414712"/>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 name="Google Shape;63;p2:notes"/>
          <p:cNvSpPr txBox="1"/>
          <p:nvPr>
            <p:ph idx="1" type="body"/>
          </p:nvPr>
        </p:nvSpPr>
        <p:spPr>
          <a:xfrm>
            <a:off x="682625" y="4325937"/>
            <a:ext cx="5454650" cy="409733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3: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85" name="Google Shape;85;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 name="Google Shape;86;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4: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94" name="Google Shape;9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104" name="Google Shape;10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115" name="Google Shape;11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8: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131" name="Google Shape;13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 name="Google Shape;132;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9: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140" name="Google Shape;14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0: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151" name="Google Shape;15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162" name="Google Shape;16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2: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174" name="Google Shape;17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4: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189" name="Google Shape;18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5: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200" name="Google Shape;20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6: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210" name="Google Shape;21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 name="Google Shape;211;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7: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221" name="Google Shape;22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2" name="Google Shape;222;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8: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234" name="Google Shape;23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9: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243" name="Google Shape;24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27: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6" name="Google Shape;356;p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31: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3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5" name="Google Shape;395;p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35: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3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p3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37: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3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7" name="Google Shape;447;p3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p3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1"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2" name="Google Shape;462;p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p40: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2" name="Google Shape;472;p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p41: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2" name="Google Shape;482;p4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 name="Google Shape;483;p42: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4" name="Google Shape;494;p4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5" name="Google Shape;495;p43: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7" name="Google Shape;507;p4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p44: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8" name="Google Shape;518;p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9" name="Google Shape;519;p45: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8" name="Google Shape;528;p4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9" name="Google Shape;529;p46: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0" name="Google Shape;540;p4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p47: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4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1" name="Google Shape;551;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4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5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3" name="Google Shape;573;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5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9" name="Google Shape;589;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5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5" name="Google Shape;595;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5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2" name="Google Shape;602;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5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8" name="Google Shape;608;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5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5" name="Google Shape;615;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5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2" name="Google Shape;622;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5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5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4" name="Google Shape;644;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5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3" name="Google Shape;653;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6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4" name="Google Shape;664;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6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3" name="Google Shape;673;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6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1" name="Google Shape;681;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8" name="Google Shape;688;p6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9" name="Google Shape;689;p63: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0" name="Google Shape;700;p6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1" name="Google Shape;701;p64:notes"/>
          <p:cNvSpPr txBox="1"/>
          <p:nvPr/>
        </p:nvSpPr>
        <p:spPr>
          <a:xfrm>
            <a:off x="3886200" y="8686800"/>
            <a:ext cx="2895600" cy="3810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6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9" name="Google Shape;709;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6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6" name="Google Shape;716;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6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3" name="Google Shape;723;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6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0" name="Google Shape;730;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6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7" name="Google Shape;737;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7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5" name="Google Shape;745;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7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7" name="Google Shape;757;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7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6" name="Google Shape;766;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7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8" name="Google Shape;778;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7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9" name="Google Shape;789;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7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9" name="Google Shape;799;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7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9" name="Google Shape;819;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p7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7" name="Google Shape;827;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p7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9" name="Google Shape;849;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7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8" name="Google Shape;858;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3" name="Google Shape;863;p8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4" name="Google Shape;864;p8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1"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0" name="Google Shape;880;p8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1" name="Google Shape;881;p8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1"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2" name="Google Shape;892;p8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3" name="Google Shape;893;p8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1"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3" name="Google Shape;903;p8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4" name="Google Shape;904;p8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1"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4" name="Google Shape;914;p8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5" name="Google Shape;915;p8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1"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5" name="Google Shape;925;p8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6" name="Google Shape;926;p8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1"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6" name="Google Shape;936;p8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7" name="Google Shape;937;p8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1"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7" name="Google Shape;947;p8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Функция plot() позволяет очень наглядно визуализировать построенную модель дерева решений. </a:t>
            </a:r>
            <a:endParaRPr/>
          </a:p>
        </p:txBody>
      </p:sp>
      <p:sp>
        <p:nvSpPr>
          <p:cNvPr id="948" name="Google Shape;948;p8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1"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8" name="Google Shape;958;p8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Функция plot() позволяет очень наглядно визуализировать построенную модель дерева решений. </a:t>
            </a:r>
            <a:endParaRPr/>
          </a:p>
        </p:txBody>
      </p:sp>
      <p:sp>
        <p:nvSpPr>
          <p:cNvPr id="959" name="Google Shape;959;p8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1"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1" name="Google Shape;971;p8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Функция plot() позволяет очень наглядно визуализировать построенную модель дерева решений. </a:t>
            </a:r>
            <a:endParaRPr/>
          </a:p>
        </p:txBody>
      </p:sp>
      <p:sp>
        <p:nvSpPr>
          <p:cNvPr id="972" name="Google Shape;972;p8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1"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4" name="Google Shape;984;p9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Функция plot() позволяет очень наглядно визуализировать построенную модель дерева решений. </a:t>
            </a:r>
            <a:endParaRPr/>
          </a:p>
        </p:txBody>
      </p:sp>
      <p:sp>
        <p:nvSpPr>
          <p:cNvPr id="985" name="Google Shape;985;p9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1"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7" name="Google Shape;997;p9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Функция plot() позволяет очень наглядно визуализировать построенную модель дерева решений. </a:t>
            </a:r>
            <a:endParaRPr/>
          </a:p>
        </p:txBody>
      </p:sp>
      <p:sp>
        <p:nvSpPr>
          <p:cNvPr id="998" name="Google Shape;998;p9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1"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0" name="Google Shape;1010;p9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Функция plot() позволяет очень наглядно визуализировать построенную модель дерева решений. </a:t>
            </a:r>
            <a:endParaRPr/>
          </a:p>
        </p:txBody>
      </p:sp>
      <p:sp>
        <p:nvSpPr>
          <p:cNvPr id="1011" name="Google Shape;1011;p9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1"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4" name="Google Shape;1024;p9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Более компактная визуализация.</a:t>
            </a:r>
            <a:endParaRPr/>
          </a:p>
        </p:txBody>
      </p:sp>
      <p:sp>
        <p:nvSpPr>
          <p:cNvPr id="1025" name="Google Shape;1025;p9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1"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5" name="Google Shape;1035;p9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Чтобы применить обученную модель для произвольной выборки, необходимо использовать функцию predict с параметром newdata.</a:t>
            </a:r>
            <a:endParaRPr/>
          </a:p>
        </p:txBody>
      </p:sp>
      <p:sp>
        <p:nvSpPr>
          <p:cNvPr id="1036" name="Google Shape;1036;p9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1"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8" name="Google Shape;1048;p9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9" name="Google Shape;1049;p9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1"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8" name="Google Shape;1058;p9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9" name="Google Shape;1059;p9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1"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8" name="Google Shape;1068;p9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9" name="Google Shape;1069;p9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1"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9" name="Google Shape;1079;p9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Часто бывает получить сводку о основных параметрах модели. В случае с randomForest это можно сделать с помощью функции print(). </a:t>
            </a:r>
            <a:endParaRPr/>
          </a:p>
        </p:txBody>
      </p:sp>
      <p:sp>
        <p:nvSpPr>
          <p:cNvPr id="1080" name="Google Shape;1080;p9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1"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8" name="Google Shape;1088;p9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Пакет party имеет альтернативную реализацию алгоритма Random Forest. Функция cforest(). Рассмотрим пример использования.</a:t>
            </a:r>
            <a:endParaRPr/>
          </a:p>
        </p:txBody>
      </p:sp>
      <p:sp>
        <p:nvSpPr>
          <p:cNvPr id="1089" name="Google Shape;1089;p9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1"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p10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8" name="Google Shape;1098;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p10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5" name="Google Shape;1105;p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p10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2" name="Google Shape;1112;p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p10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9" name="Google Shape;1119;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p10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6" name="Google Shape;1126;p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p10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3" name="Google Shape;1133;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p10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0" name="Google Shape;1140;p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устой слайд" type="blank">
  <p:cSld name="BLANK">
    <p:spTree>
      <p:nvGrpSpPr>
        <p:cNvPr id="12" name="Shape 12"/>
        <p:cNvGrpSpPr/>
        <p:nvPr/>
      </p:nvGrpSpPr>
      <p:grpSpPr>
        <a:xfrm>
          <a:off x="0" y="0"/>
          <a:ext cx="0" cy="0"/>
          <a:chOff x="0" y="0"/>
          <a:chExt cx="0" cy="0"/>
        </a:xfrm>
      </p:grpSpPr>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type="obj">
  <p:cSld name="OBJECT">
    <p:spTree>
      <p:nvGrpSpPr>
        <p:cNvPr id="13" name="Shape 13"/>
        <p:cNvGrpSpPr/>
        <p:nvPr/>
      </p:nvGrpSpPr>
      <p:grpSpPr>
        <a:xfrm>
          <a:off x="0" y="0"/>
          <a:ext cx="0" cy="0"/>
          <a:chOff x="0" y="0"/>
          <a:chExt cx="0" cy="0"/>
        </a:xfrm>
      </p:grpSpPr>
      <p:sp>
        <p:nvSpPr>
          <p:cNvPr id="14" name="Google Shape;14;p109"/>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5" name="Google Shape;15;p109"/>
          <p:cNvSpPr txBox="1"/>
          <p:nvPr>
            <p:ph idx="1" type="body"/>
          </p:nvPr>
        </p:nvSpPr>
        <p:spPr>
          <a:xfrm>
            <a:off x="390525" y="1412875"/>
            <a:ext cx="8356600" cy="1863725"/>
          </a:xfrm>
          <a:prstGeom prst="rect">
            <a:avLst/>
          </a:prstGeom>
          <a:noFill/>
          <a:ln>
            <a:noFill/>
          </a:ln>
        </p:spPr>
        <p:txBody>
          <a:bodyPr anchorCtr="0" anchor="t" bIns="45700" lIns="91425" spcFirstLastPara="1" rIns="91425" wrap="square" tIns="45700">
            <a:spAutoFit/>
          </a:bodyPr>
          <a:lstStyle>
            <a:lvl1pPr indent="-320040" lvl="0" marL="457200" algn="l">
              <a:lnSpc>
                <a:spcPct val="85000"/>
              </a:lnSpc>
              <a:spcBef>
                <a:spcPts val="450"/>
              </a:spcBef>
              <a:spcAft>
                <a:spcPts val="0"/>
              </a:spcAft>
              <a:buSzPts val="1440"/>
              <a:buChar char="•"/>
              <a:defRPr/>
            </a:lvl1pPr>
            <a:lvl2pPr indent="-314325" lvl="1" marL="914400" algn="l">
              <a:lnSpc>
                <a:spcPct val="85000"/>
              </a:lnSpc>
              <a:spcBef>
                <a:spcPts val="450"/>
              </a:spcBef>
              <a:spcAft>
                <a:spcPts val="0"/>
              </a:spcAft>
              <a:buSzPts val="1350"/>
              <a:buChar char="•"/>
              <a:defRPr/>
            </a:lvl2pPr>
            <a:lvl3pPr indent="-314325" lvl="2" marL="1371600" algn="l">
              <a:lnSpc>
                <a:spcPct val="85000"/>
              </a:lnSpc>
              <a:spcBef>
                <a:spcPts val="450"/>
              </a:spcBef>
              <a:spcAft>
                <a:spcPts val="0"/>
              </a:spcAft>
              <a:buSzPts val="1350"/>
              <a:buChar char="•"/>
              <a:defRPr/>
            </a:lvl3pPr>
            <a:lvl4pPr indent="-314325" lvl="3" marL="1828800" algn="l">
              <a:lnSpc>
                <a:spcPct val="85000"/>
              </a:lnSpc>
              <a:spcBef>
                <a:spcPts val="450"/>
              </a:spcBef>
              <a:spcAft>
                <a:spcPts val="0"/>
              </a:spcAft>
              <a:buSzPts val="1350"/>
              <a:buChar char="•"/>
              <a:defRPr/>
            </a:lvl4pPr>
            <a:lvl5pPr indent="-314325" lvl="4" marL="2286000" algn="l">
              <a:lnSpc>
                <a:spcPct val="85000"/>
              </a:lnSpc>
              <a:spcBef>
                <a:spcPts val="450"/>
              </a:spcBef>
              <a:spcAft>
                <a:spcPts val="0"/>
              </a:spcAft>
              <a:buSzPts val="135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раздела" type="secHead">
  <p:cSld name="SECTION_HEADER">
    <p:spTree>
      <p:nvGrpSpPr>
        <p:cNvPr id="16" name="Shape 16"/>
        <p:cNvGrpSpPr/>
        <p:nvPr/>
      </p:nvGrpSpPr>
      <p:grpSpPr>
        <a:xfrm>
          <a:off x="0" y="0"/>
          <a:ext cx="0" cy="0"/>
          <a:chOff x="0" y="0"/>
          <a:chExt cx="0" cy="0"/>
        </a:xfrm>
      </p:grpSpPr>
      <p:sp>
        <p:nvSpPr>
          <p:cNvPr id="17" name="Google Shape;17;p110"/>
          <p:cNvSpPr txBox="1"/>
          <p:nvPr>
            <p:ph type="title"/>
          </p:nvPr>
        </p:nvSpPr>
        <p:spPr>
          <a:xfrm>
            <a:off x="623888" y="1709738"/>
            <a:ext cx="7886700" cy="2852737"/>
          </a:xfrm>
          <a:prstGeom prst="rect">
            <a:avLst/>
          </a:prstGeom>
          <a:noFill/>
          <a:ln>
            <a:noFill/>
          </a:ln>
        </p:spPr>
        <p:txBody>
          <a:bodyPr anchorCtr="0" anchor="b" bIns="45700" lIns="91425" spcFirstLastPara="1" rIns="91425" wrap="square" tIns="45700">
            <a:spAutoFit/>
          </a:bodyPr>
          <a:lstStyle>
            <a:lvl1pPr lvl="0" algn="l">
              <a:lnSpc>
                <a:spcPct val="85000"/>
              </a:lnSpc>
              <a:spcBef>
                <a:spcPts val="0"/>
              </a:spcBef>
              <a:spcAft>
                <a:spcPts val="0"/>
              </a:spcAft>
              <a:buSzPts val="1400"/>
              <a:buNone/>
              <a:defRPr sz="6000"/>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8" name="Google Shape;18;p110"/>
          <p:cNvSpPr txBox="1"/>
          <p:nvPr>
            <p:ph idx="1" type="body"/>
          </p:nvPr>
        </p:nvSpPr>
        <p:spPr>
          <a:xfrm>
            <a:off x="623888" y="4589463"/>
            <a:ext cx="7886700" cy="1500187"/>
          </a:xfrm>
          <a:prstGeom prst="rect">
            <a:avLst/>
          </a:prstGeom>
          <a:noFill/>
          <a:ln>
            <a:noFill/>
          </a:ln>
        </p:spPr>
        <p:txBody>
          <a:bodyPr anchorCtr="0" anchor="t" bIns="45700" lIns="91425" spcFirstLastPara="1" rIns="91425" wrap="square" tIns="45700">
            <a:spAutoFit/>
          </a:bodyPr>
          <a:lstStyle>
            <a:lvl1pPr indent="-228600" lvl="0" marL="457200" algn="l">
              <a:lnSpc>
                <a:spcPct val="85000"/>
              </a:lnSpc>
              <a:spcBef>
                <a:spcPts val="600"/>
              </a:spcBef>
              <a:spcAft>
                <a:spcPts val="0"/>
              </a:spcAft>
              <a:buSzPts val="1920"/>
              <a:buNone/>
              <a:defRPr sz="2400"/>
            </a:lvl1pPr>
            <a:lvl2pPr indent="-228600" lvl="1" marL="914400" algn="l">
              <a:lnSpc>
                <a:spcPct val="85000"/>
              </a:lnSpc>
              <a:spcBef>
                <a:spcPts val="500"/>
              </a:spcBef>
              <a:spcAft>
                <a:spcPts val="0"/>
              </a:spcAft>
              <a:buSzPts val="1500"/>
              <a:buNone/>
              <a:defRPr sz="2000"/>
            </a:lvl2pPr>
            <a:lvl3pPr indent="-228600" lvl="2" marL="1371600" algn="l">
              <a:lnSpc>
                <a:spcPct val="85000"/>
              </a:lnSpc>
              <a:spcBef>
                <a:spcPts val="450"/>
              </a:spcBef>
              <a:spcAft>
                <a:spcPts val="0"/>
              </a:spcAft>
              <a:buSzPts val="1350"/>
              <a:buNone/>
              <a:defRPr sz="1800"/>
            </a:lvl3pPr>
            <a:lvl4pPr indent="-228600" lvl="3" marL="1828800" algn="l">
              <a:lnSpc>
                <a:spcPct val="85000"/>
              </a:lnSpc>
              <a:spcBef>
                <a:spcPts val="400"/>
              </a:spcBef>
              <a:spcAft>
                <a:spcPts val="0"/>
              </a:spcAft>
              <a:buSzPts val="1200"/>
              <a:buNone/>
              <a:defRPr sz="1600"/>
            </a:lvl4pPr>
            <a:lvl5pPr indent="-228600" lvl="4" marL="2286000" algn="l">
              <a:lnSpc>
                <a:spcPct val="85000"/>
              </a:lnSpc>
              <a:spcBef>
                <a:spcPts val="400"/>
              </a:spcBef>
              <a:spcAft>
                <a:spcPts val="0"/>
              </a:spcAft>
              <a:buSzPts val="1200"/>
              <a:buNone/>
              <a:defRPr sz="1600"/>
            </a:lvl5pPr>
            <a:lvl6pPr indent="-228600" lvl="5" marL="2743200" algn="l">
              <a:lnSpc>
                <a:spcPct val="90000"/>
              </a:lnSpc>
              <a:spcBef>
                <a:spcPts val="500"/>
              </a:spcBef>
              <a:spcAft>
                <a:spcPts val="0"/>
              </a:spcAft>
              <a:buClr>
                <a:schemeClr val="lt1"/>
              </a:buClr>
              <a:buSzPts val="1600"/>
              <a:buNone/>
              <a:defRPr sz="1600"/>
            </a:lvl6pPr>
            <a:lvl7pPr indent="-228600" lvl="6" marL="3200400" algn="l">
              <a:lnSpc>
                <a:spcPct val="90000"/>
              </a:lnSpc>
              <a:spcBef>
                <a:spcPts val="500"/>
              </a:spcBef>
              <a:spcAft>
                <a:spcPts val="0"/>
              </a:spcAft>
              <a:buClr>
                <a:schemeClr val="lt1"/>
              </a:buClr>
              <a:buSzPts val="1600"/>
              <a:buNone/>
              <a:defRPr sz="1600"/>
            </a:lvl7pPr>
            <a:lvl8pPr indent="-228600" lvl="7" marL="3657600" algn="l">
              <a:lnSpc>
                <a:spcPct val="90000"/>
              </a:lnSpc>
              <a:spcBef>
                <a:spcPts val="500"/>
              </a:spcBef>
              <a:spcAft>
                <a:spcPts val="0"/>
              </a:spcAft>
              <a:buClr>
                <a:schemeClr val="lt1"/>
              </a:buClr>
              <a:buSzPts val="1600"/>
              <a:buNone/>
              <a:defRPr sz="1600"/>
            </a:lvl8pPr>
            <a:lvl9pPr indent="-228600" lvl="8" marL="4114800" algn="l">
              <a:lnSpc>
                <a:spcPct val="90000"/>
              </a:lnSpc>
              <a:spcBef>
                <a:spcPts val="500"/>
              </a:spcBef>
              <a:spcAft>
                <a:spcPts val="0"/>
              </a:spcAft>
              <a:buClr>
                <a:schemeClr val="lt1"/>
              </a:buClr>
              <a:buSzPts val="1600"/>
              <a:buNone/>
              <a:defRPr sz="1600"/>
            </a:lvl9pPr>
          </a:lstStyle>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ертикальный заголовок и текст" type="vertTitleAndTx">
  <p:cSld name="VERTICAL_TITLE_AND_VERTICAL_TEXT">
    <p:spTree>
      <p:nvGrpSpPr>
        <p:cNvPr id="19" name="Shape 19"/>
        <p:cNvGrpSpPr/>
        <p:nvPr/>
      </p:nvGrpSpPr>
      <p:grpSpPr>
        <a:xfrm>
          <a:off x="0" y="0"/>
          <a:ext cx="0" cy="0"/>
          <a:chOff x="0" y="0"/>
          <a:chExt cx="0" cy="0"/>
        </a:xfrm>
      </p:grpSpPr>
      <p:sp>
        <p:nvSpPr>
          <p:cNvPr id="20" name="Google Shape;20;p111"/>
          <p:cNvSpPr txBox="1"/>
          <p:nvPr>
            <p:ph type="title"/>
          </p:nvPr>
        </p:nvSpPr>
        <p:spPr>
          <a:xfrm rot="5400000">
            <a:off x="6192838" y="706438"/>
            <a:ext cx="3048000" cy="2092325"/>
          </a:xfrm>
          <a:prstGeom prst="rect">
            <a:avLst/>
          </a:prstGeom>
          <a:noFill/>
          <a:ln>
            <a:noFill/>
          </a:ln>
        </p:spPr>
        <p:txBody>
          <a:bodyPr anchorCtr="0" anchor="t" bIns="45700" lIns="91425" spcFirstLastPara="1" rIns="91425" wrap="square" tIns="45700">
            <a:sp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21" name="Google Shape;21;p111"/>
          <p:cNvSpPr txBox="1"/>
          <p:nvPr>
            <p:ph idx="1" type="body"/>
          </p:nvPr>
        </p:nvSpPr>
        <p:spPr>
          <a:xfrm rot="5400000">
            <a:off x="1930400" y="-1311275"/>
            <a:ext cx="3048000" cy="6127750"/>
          </a:xfrm>
          <a:prstGeom prst="rect">
            <a:avLst/>
          </a:prstGeom>
          <a:noFill/>
          <a:ln>
            <a:noFill/>
          </a:ln>
        </p:spPr>
        <p:txBody>
          <a:bodyPr anchorCtr="0" anchor="t" bIns="45700" lIns="91425" spcFirstLastPara="1" rIns="91425" wrap="square" tIns="45700">
            <a:spAutoFit/>
          </a:bodyPr>
          <a:lstStyle>
            <a:lvl1pPr indent="-320040" lvl="0" marL="457200" algn="l">
              <a:lnSpc>
                <a:spcPct val="85000"/>
              </a:lnSpc>
              <a:spcBef>
                <a:spcPts val="450"/>
              </a:spcBef>
              <a:spcAft>
                <a:spcPts val="0"/>
              </a:spcAft>
              <a:buSzPts val="1440"/>
              <a:buChar char="•"/>
              <a:defRPr/>
            </a:lvl1pPr>
            <a:lvl2pPr indent="-314325" lvl="1" marL="914400" algn="l">
              <a:lnSpc>
                <a:spcPct val="85000"/>
              </a:lnSpc>
              <a:spcBef>
                <a:spcPts val="450"/>
              </a:spcBef>
              <a:spcAft>
                <a:spcPts val="0"/>
              </a:spcAft>
              <a:buSzPts val="1350"/>
              <a:buChar char="•"/>
              <a:defRPr/>
            </a:lvl2pPr>
            <a:lvl3pPr indent="-314325" lvl="2" marL="1371600" algn="l">
              <a:lnSpc>
                <a:spcPct val="85000"/>
              </a:lnSpc>
              <a:spcBef>
                <a:spcPts val="450"/>
              </a:spcBef>
              <a:spcAft>
                <a:spcPts val="0"/>
              </a:spcAft>
              <a:buSzPts val="1350"/>
              <a:buChar char="•"/>
              <a:defRPr/>
            </a:lvl3pPr>
            <a:lvl4pPr indent="-314325" lvl="3" marL="1828800" algn="l">
              <a:lnSpc>
                <a:spcPct val="85000"/>
              </a:lnSpc>
              <a:spcBef>
                <a:spcPts val="450"/>
              </a:spcBef>
              <a:spcAft>
                <a:spcPts val="0"/>
              </a:spcAft>
              <a:buSzPts val="1350"/>
              <a:buChar char="•"/>
              <a:defRPr/>
            </a:lvl4pPr>
            <a:lvl5pPr indent="-314325" lvl="4" marL="2286000" algn="l">
              <a:lnSpc>
                <a:spcPct val="85000"/>
              </a:lnSpc>
              <a:spcBef>
                <a:spcPts val="450"/>
              </a:spcBef>
              <a:spcAft>
                <a:spcPts val="0"/>
              </a:spcAft>
              <a:buSzPts val="135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вертикальный текст">
  <p:cSld name="Заголовок и вертикальный текст">
    <p:spTree>
      <p:nvGrpSpPr>
        <p:cNvPr id="22" name="Shape 22"/>
        <p:cNvGrpSpPr/>
        <p:nvPr/>
      </p:nvGrpSpPr>
      <p:grpSpPr>
        <a:xfrm>
          <a:off x="0" y="0"/>
          <a:ext cx="0" cy="0"/>
          <a:chOff x="0" y="0"/>
          <a:chExt cx="0" cy="0"/>
        </a:xfrm>
      </p:grpSpPr>
      <p:sp>
        <p:nvSpPr>
          <p:cNvPr id="23" name="Google Shape;23;p112"/>
          <p:cNvSpPr txBox="1"/>
          <p:nvPr>
            <p:ph idx="1" type="body"/>
          </p:nvPr>
        </p:nvSpPr>
        <p:spPr>
          <a:xfrm rot="5400000">
            <a:off x="3636963" y="-1833562"/>
            <a:ext cx="1863725" cy="8356600"/>
          </a:xfrm>
          <a:prstGeom prst="rect">
            <a:avLst/>
          </a:prstGeom>
          <a:noFill/>
          <a:ln>
            <a:noFill/>
          </a:ln>
        </p:spPr>
        <p:txBody>
          <a:bodyPr anchorCtr="0" anchor="t" bIns="45700" lIns="91425" spcFirstLastPara="1" rIns="91425" wrap="square" tIns="45700">
            <a:spAutoFit/>
          </a:bodyPr>
          <a:lstStyle>
            <a:lvl1pPr indent="-320040" lvl="0" marL="457200" algn="l">
              <a:lnSpc>
                <a:spcPct val="85000"/>
              </a:lnSpc>
              <a:spcBef>
                <a:spcPts val="450"/>
              </a:spcBef>
              <a:spcAft>
                <a:spcPts val="0"/>
              </a:spcAft>
              <a:buSzPts val="1440"/>
              <a:buChar char="•"/>
              <a:defRPr/>
            </a:lvl1pPr>
            <a:lvl2pPr indent="-314325" lvl="1" marL="914400" algn="l">
              <a:lnSpc>
                <a:spcPct val="85000"/>
              </a:lnSpc>
              <a:spcBef>
                <a:spcPts val="450"/>
              </a:spcBef>
              <a:spcAft>
                <a:spcPts val="0"/>
              </a:spcAft>
              <a:buSzPts val="1350"/>
              <a:buChar char="•"/>
              <a:defRPr/>
            </a:lvl2pPr>
            <a:lvl3pPr indent="-314325" lvl="2" marL="1371600" algn="l">
              <a:lnSpc>
                <a:spcPct val="85000"/>
              </a:lnSpc>
              <a:spcBef>
                <a:spcPts val="450"/>
              </a:spcBef>
              <a:spcAft>
                <a:spcPts val="0"/>
              </a:spcAft>
              <a:buSzPts val="1350"/>
              <a:buChar char="•"/>
              <a:defRPr/>
            </a:lvl3pPr>
            <a:lvl4pPr indent="-314325" lvl="3" marL="1828800" algn="l">
              <a:lnSpc>
                <a:spcPct val="85000"/>
              </a:lnSpc>
              <a:spcBef>
                <a:spcPts val="450"/>
              </a:spcBef>
              <a:spcAft>
                <a:spcPts val="0"/>
              </a:spcAft>
              <a:buSzPts val="1350"/>
              <a:buChar char="•"/>
              <a:defRPr/>
            </a:lvl4pPr>
            <a:lvl5pPr indent="-314325" lvl="4" marL="2286000" algn="l">
              <a:lnSpc>
                <a:spcPct val="85000"/>
              </a:lnSpc>
              <a:spcBef>
                <a:spcPts val="450"/>
              </a:spcBef>
              <a:spcAft>
                <a:spcPts val="0"/>
              </a:spcAft>
              <a:buSzPts val="135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4" name="Google Shape;24;p112"/>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исунок с подписью" type="picTx">
  <p:cSld name="PICTURE_WITH_CAPTION_TEXT">
    <p:spTree>
      <p:nvGrpSpPr>
        <p:cNvPr id="25" name="Shape 25"/>
        <p:cNvGrpSpPr/>
        <p:nvPr/>
      </p:nvGrpSpPr>
      <p:grpSpPr>
        <a:xfrm>
          <a:off x="0" y="0"/>
          <a:ext cx="0" cy="0"/>
          <a:chOff x="0" y="0"/>
          <a:chExt cx="0" cy="0"/>
        </a:xfrm>
      </p:grpSpPr>
      <p:sp>
        <p:nvSpPr>
          <p:cNvPr id="26" name="Google Shape;26;p113"/>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spAutoFit/>
          </a:bodyPr>
          <a:lstStyle>
            <a:lvl1pPr lvl="0" algn="l">
              <a:lnSpc>
                <a:spcPct val="85000"/>
              </a:lnSpc>
              <a:spcBef>
                <a:spcPts val="0"/>
              </a:spcBef>
              <a:spcAft>
                <a:spcPts val="0"/>
              </a:spcAft>
              <a:buSzPts val="1400"/>
              <a:buNone/>
              <a:defRPr sz="3200"/>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27" name="Google Shape;27;p113"/>
          <p:cNvSpPr/>
          <p:nvPr>
            <p:ph idx="2" type="pic"/>
          </p:nvPr>
        </p:nvSpPr>
        <p:spPr>
          <a:xfrm>
            <a:off x="3887788" y="987425"/>
            <a:ext cx="4629150" cy="4873625"/>
          </a:xfrm>
          <a:prstGeom prst="rect">
            <a:avLst/>
          </a:prstGeom>
          <a:noFill/>
          <a:ln>
            <a:noFill/>
          </a:ln>
        </p:spPr>
      </p:sp>
      <p:sp>
        <p:nvSpPr>
          <p:cNvPr id="28" name="Google Shape;28;p113"/>
          <p:cNvSpPr txBox="1"/>
          <p:nvPr>
            <p:ph idx="1" type="body"/>
          </p:nvPr>
        </p:nvSpPr>
        <p:spPr>
          <a:xfrm>
            <a:off x="630238" y="2057400"/>
            <a:ext cx="2949575" cy="3811588"/>
          </a:xfrm>
          <a:prstGeom prst="rect">
            <a:avLst/>
          </a:prstGeom>
          <a:noFill/>
          <a:ln>
            <a:noFill/>
          </a:ln>
        </p:spPr>
        <p:txBody>
          <a:bodyPr anchorCtr="0" anchor="t" bIns="45700" lIns="91425" spcFirstLastPara="1" rIns="91425" wrap="square" tIns="45700">
            <a:spAutoFit/>
          </a:bodyPr>
          <a:lstStyle>
            <a:lvl1pPr indent="-228600" lvl="0" marL="457200" algn="l">
              <a:lnSpc>
                <a:spcPct val="85000"/>
              </a:lnSpc>
              <a:spcBef>
                <a:spcPts val="400"/>
              </a:spcBef>
              <a:spcAft>
                <a:spcPts val="0"/>
              </a:spcAft>
              <a:buSzPts val="1280"/>
              <a:buNone/>
              <a:defRPr sz="1600"/>
            </a:lvl1pPr>
            <a:lvl2pPr indent="-228600" lvl="1" marL="914400" algn="l">
              <a:lnSpc>
                <a:spcPct val="85000"/>
              </a:lnSpc>
              <a:spcBef>
                <a:spcPts val="350"/>
              </a:spcBef>
              <a:spcAft>
                <a:spcPts val="0"/>
              </a:spcAft>
              <a:buSzPts val="1050"/>
              <a:buNone/>
              <a:defRPr sz="1400"/>
            </a:lvl2pPr>
            <a:lvl3pPr indent="-228600" lvl="2" marL="1371600" algn="l">
              <a:lnSpc>
                <a:spcPct val="85000"/>
              </a:lnSpc>
              <a:spcBef>
                <a:spcPts val="300"/>
              </a:spcBef>
              <a:spcAft>
                <a:spcPts val="0"/>
              </a:spcAft>
              <a:buSzPts val="900"/>
              <a:buNone/>
              <a:defRPr sz="1200"/>
            </a:lvl3pPr>
            <a:lvl4pPr indent="-228600" lvl="3" marL="1828800" algn="l">
              <a:lnSpc>
                <a:spcPct val="85000"/>
              </a:lnSpc>
              <a:spcBef>
                <a:spcPts val="250"/>
              </a:spcBef>
              <a:spcAft>
                <a:spcPts val="0"/>
              </a:spcAft>
              <a:buSzPts val="750"/>
              <a:buNone/>
              <a:defRPr sz="1000"/>
            </a:lvl4pPr>
            <a:lvl5pPr indent="-228600" lvl="4" marL="2286000" algn="l">
              <a:lnSpc>
                <a:spcPct val="85000"/>
              </a:lnSpc>
              <a:spcBef>
                <a:spcPts val="250"/>
              </a:spcBef>
              <a:spcAft>
                <a:spcPts val="0"/>
              </a:spcAft>
              <a:buSzPts val="75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бъект с подписью" type="objTx">
  <p:cSld name="OBJECT_WITH_CAPTION_TEXT">
    <p:spTree>
      <p:nvGrpSpPr>
        <p:cNvPr id="29" name="Shape 29"/>
        <p:cNvGrpSpPr/>
        <p:nvPr/>
      </p:nvGrpSpPr>
      <p:grpSpPr>
        <a:xfrm>
          <a:off x="0" y="0"/>
          <a:ext cx="0" cy="0"/>
          <a:chOff x="0" y="0"/>
          <a:chExt cx="0" cy="0"/>
        </a:xfrm>
      </p:grpSpPr>
      <p:sp>
        <p:nvSpPr>
          <p:cNvPr id="30" name="Google Shape;30;p114"/>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spAutoFit/>
          </a:bodyPr>
          <a:lstStyle>
            <a:lvl1pPr lvl="0" algn="l">
              <a:lnSpc>
                <a:spcPct val="85000"/>
              </a:lnSpc>
              <a:spcBef>
                <a:spcPts val="0"/>
              </a:spcBef>
              <a:spcAft>
                <a:spcPts val="0"/>
              </a:spcAft>
              <a:buSzPts val="1400"/>
              <a:buNone/>
              <a:defRPr sz="3200"/>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31" name="Google Shape;31;p114"/>
          <p:cNvSpPr txBox="1"/>
          <p:nvPr>
            <p:ph idx="1" type="body"/>
          </p:nvPr>
        </p:nvSpPr>
        <p:spPr>
          <a:xfrm>
            <a:off x="3887788" y="987425"/>
            <a:ext cx="4629150" cy="4873625"/>
          </a:xfrm>
          <a:prstGeom prst="rect">
            <a:avLst/>
          </a:prstGeom>
          <a:noFill/>
          <a:ln>
            <a:noFill/>
          </a:ln>
        </p:spPr>
        <p:txBody>
          <a:bodyPr anchorCtr="0" anchor="t" bIns="45700" lIns="91425" spcFirstLastPara="1" rIns="91425" wrap="square" tIns="45700">
            <a:spAutoFit/>
          </a:bodyPr>
          <a:lstStyle>
            <a:lvl1pPr indent="-391160" lvl="0" marL="457200" algn="l">
              <a:lnSpc>
                <a:spcPct val="85000"/>
              </a:lnSpc>
              <a:spcBef>
                <a:spcPts val="800"/>
              </a:spcBef>
              <a:spcAft>
                <a:spcPts val="0"/>
              </a:spcAft>
              <a:buSzPts val="2560"/>
              <a:buChar char="•"/>
              <a:defRPr sz="3200"/>
            </a:lvl1pPr>
            <a:lvl2pPr indent="-361950" lvl="1" marL="914400" algn="l">
              <a:lnSpc>
                <a:spcPct val="85000"/>
              </a:lnSpc>
              <a:spcBef>
                <a:spcPts val="700"/>
              </a:spcBef>
              <a:spcAft>
                <a:spcPts val="0"/>
              </a:spcAft>
              <a:buSzPts val="2100"/>
              <a:buChar char="•"/>
              <a:defRPr sz="2800"/>
            </a:lvl2pPr>
            <a:lvl3pPr indent="-342900" lvl="2" marL="1371600" algn="l">
              <a:lnSpc>
                <a:spcPct val="85000"/>
              </a:lnSpc>
              <a:spcBef>
                <a:spcPts val="600"/>
              </a:spcBef>
              <a:spcAft>
                <a:spcPts val="0"/>
              </a:spcAft>
              <a:buSzPts val="1800"/>
              <a:buChar char="•"/>
              <a:defRPr sz="2400"/>
            </a:lvl3pPr>
            <a:lvl4pPr indent="-323850" lvl="3" marL="1828800" algn="l">
              <a:lnSpc>
                <a:spcPct val="85000"/>
              </a:lnSpc>
              <a:spcBef>
                <a:spcPts val="500"/>
              </a:spcBef>
              <a:spcAft>
                <a:spcPts val="0"/>
              </a:spcAft>
              <a:buSzPts val="1500"/>
              <a:buChar char="•"/>
              <a:defRPr sz="2000"/>
            </a:lvl4pPr>
            <a:lvl5pPr indent="-323850" lvl="4" marL="2286000" algn="l">
              <a:lnSpc>
                <a:spcPct val="85000"/>
              </a:lnSpc>
              <a:spcBef>
                <a:spcPts val="500"/>
              </a:spcBef>
              <a:spcAft>
                <a:spcPts val="0"/>
              </a:spcAft>
              <a:buSzPts val="1500"/>
              <a:buChar char="•"/>
              <a:defRPr sz="2000"/>
            </a:lvl5pPr>
            <a:lvl6pPr indent="-355600" lvl="5" marL="2743200" algn="l">
              <a:lnSpc>
                <a:spcPct val="90000"/>
              </a:lnSpc>
              <a:spcBef>
                <a:spcPts val="500"/>
              </a:spcBef>
              <a:spcAft>
                <a:spcPts val="0"/>
              </a:spcAft>
              <a:buClr>
                <a:schemeClr val="lt1"/>
              </a:buClr>
              <a:buSzPts val="2000"/>
              <a:buChar char="•"/>
              <a:defRPr sz="2000"/>
            </a:lvl6pPr>
            <a:lvl7pPr indent="-355600" lvl="6" marL="3200400" algn="l">
              <a:lnSpc>
                <a:spcPct val="90000"/>
              </a:lnSpc>
              <a:spcBef>
                <a:spcPts val="500"/>
              </a:spcBef>
              <a:spcAft>
                <a:spcPts val="0"/>
              </a:spcAft>
              <a:buClr>
                <a:schemeClr val="lt1"/>
              </a:buClr>
              <a:buSzPts val="2000"/>
              <a:buChar char="•"/>
              <a:defRPr sz="2000"/>
            </a:lvl7pPr>
            <a:lvl8pPr indent="-355600" lvl="7" marL="3657600" algn="l">
              <a:lnSpc>
                <a:spcPct val="90000"/>
              </a:lnSpc>
              <a:spcBef>
                <a:spcPts val="500"/>
              </a:spcBef>
              <a:spcAft>
                <a:spcPts val="0"/>
              </a:spcAft>
              <a:buClr>
                <a:schemeClr val="lt1"/>
              </a:buClr>
              <a:buSzPts val="2000"/>
              <a:buChar char="•"/>
              <a:defRPr sz="2000"/>
            </a:lvl8pPr>
            <a:lvl9pPr indent="-355600" lvl="8" marL="4114800" algn="l">
              <a:lnSpc>
                <a:spcPct val="90000"/>
              </a:lnSpc>
              <a:spcBef>
                <a:spcPts val="500"/>
              </a:spcBef>
              <a:spcAft>
                <a:spcPts val="0"/>
              </a:spcAft>
              <a:buClr>
                <a:schemeClr val="lt1"/>
              </a:buClr>
              <a:buSzPts val="2000"/>
              <a:buChar char="•"/>
              <a:defRPr sz="2000"/>
            </a:lvl9pPr>
          </a:lstStyle>
          <a:p/>
        </p:txBody>
      </p:sp>
      <p:sp>
        <p:nvSpPr>
          <p:cNvPr id="32" name="Google Shape;32;p114"/>
          <p:cNvSpPr txBox="1"/>
          <p:nvPr>
            <p:ph idx="2" type="body"/>
          </p:nvPr>
        </p:nvSpPr>
        <p:spPr>
          <a:xfrm>
            <a:off x="630238" y="2057400"/>
            <a:ext cx="2949575" cy="3811588"/>
          </a:xfrm>
          <a:prstGeom prst="rect">
            <a:avLst/>
          </a:prstGeom>
          <a:noFill/>
          <a:ln>
            <a:noFill/>
          </a:ln>
        </p:spPr>
        <p:txBody>
          <a:bodyPr anchorCtr="0" anchor="t" bIns="45700" lIns="91425" spcFirstLastPara="1" rIns="91425" wrap="square" tIns="45700">
            <a:spAutoFit/>
          </a:bodyPr>
          <a:lstStyle>
            <a:lvl1pPr indent="-228600" lvl="0" marL="457200" algn="l">
              <a:lnSpc>
                <a:spcPct val="85000"/>
              </a:lnSpc>
              <a:spcBef>
                <a:spcPts val="400"/>
              </a:spcBef>
              <a:spcAft>
                <a:spcPts val="0"/>
              </a:spcAft>
              <a:buSzPts val="1280"/>
              <a:buNone/>
              <a:defRPr sz="1600"/>
            </a:lvl1pPr>
            <a:lvl2pPr indent="-228600" lvl="1" marL="914400" algn="l">
              <a:lnSpc>
                <a:spcPct val="85000"/>
              </a:lnSpc>
              <a:spcBef>
                <a:spcPts val="350"/>
              </a:spcBef>
              <a:spcAft>
                <a:spcPts val="0"/>
              </a:spcAft>
              <a:buSzPts val="1050"/>
              <a:buNone/>
              <a:defRPr sz="1400"/>
            </a:lvl2pPr>
            <a:lvl3pPr indent="-228600" lvl="2" marL="1371600" algn="l">
              <a:lnSpc>
                <a:spcPct val="85000"/>
              </a:lnSpc>
              <a:spcBef>
                <a:spcPts val="300"/>
              </a:spcBef>
              <a:spcAft>
                <a:spcPts val="0"/>
              </a:spcAft>
              <a:buSzPts val="900"/>
              <a:buNone/>
              <a:defRPr sz="1200"/>
            </a:lvl3pPr>
            <a:lvl4pPr indent="-228600" lvl="3" marL="1828800" algn="l">
              <a:lnSpc>
                <a:spcPct val="85000"/>
              </a:lnSpc>
              <a:spcBef>
                <a:spcPts val="250"/>
              </a:spcBef>
              <a:spcAft>
                <a:spcPts val="0"/>
              </a:spcAft>
              <a:buSzPts val="750"/>
              <a:buNone/>
              <a:defRPr sz="1000"/>
            </a:lvl4pPr>
            <a:lvl5pPr indent="-228600" lvl="4" marL="2286000" algn="l">
              <a:lnSpc>
                <a:spcPct val="85000"/>
              </a:lnSpc>
              <a:spcBef>
                <a:spcPts val="250"/>
              </a:spcBef>
              <a:spcAft>
                <a:spcPts val="0"/>
              </a:spcAft>
              <a:buSzPts val="75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олько заголовок" type="titleOnly">
  <p:cSld name="TITLE_ONLY">
    <p:spTree>
      <p:nvGrpSpPr>
        <p:cNvPr id="33" name="Shape 33"/>
        <p:cNvGrpSpPr/>
        <p:nvPr/>
      </p:nvGrpSpPr>
      <p:grpSpPr>
        <a:xfrm>
          <a:off x="0" y="0"/>
          <a:ext cx="0" cy="0"/>
          <a:chOff x="0" y="0"/>
          <a:chExt cx="0" cy="0"/>
        </a:xfrm>
      </p:grpSpPr>
      <p:sp>
        <p:nvSpPr>
          <p:cNvPr id="34" name="Google Shape;34;p115"/>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равнение" type="twoTxTwoObj">
  <p:cSld name="TWO_OBJECTS_WITH_TEXT">
    <p:spTree>
      <p:nvGrpSpPr>
        <p:cNvPr id="35" name="Shape 35"/>
        <p:cNvGrpSpPr/>
        <p:nvPr/>
      </p:nvGrpSpPr>
      <p:grpSpPr>
        <a:xfrm>
          <a:off x="0" y="0"/>
          <a:ext cx="0" cy="0"/>
          <a:chOff x="0" y="0"/>
          <a:chExt cx="0" cy="0"/>
        </a:xfrm>
      </p:grpSpPr>
      <p:sp>
        <p:nvSpPr>
          <p:cNvPr id="36" name="Google Shape;36;p116"/>
          <p:cNvSpPr txBox="1"/>
          <p:nvPr>
            <p:ph type="title"/>
          </p:nvPr>
        </p:nvSpPr>
        <p:spPr>
          <a:xfrm>
            <a:off x="630238" y="365125"/>
            <a:ext cx="7886700" cy="1325563"/>
          </a:xfrm>
          <a:prstGeom prst="rect">
            <a:avLst/>
          </a:prstGeom>
          <a:noFill/>
          <a:ln>
            <a:noFill/>
          </a:ln>
        </p:spPr>
        <p:txBody>
          <a:bodyPr anchorCtr="0" anchor="t" bIns="45700" lIns="91425" spcFirstLastPara="1" rIns="91425" wrap="square" tIns="45700">
            <a:sp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37" name="Google Shape;37;p116"/>
          <p:cNvSpPr txBox="1"/>
          <p:nvPr>
            <p:ph idx="1" type="body"/>
          </p:nvPr>
        </p:nvSpPr>
        <p:spPr>
          <a:xfrm>
            <a:off x="630238" y="1681163"/>
            <a:ext cx="3868737" cy="823912"/>
          </a:xfrm>
          <a:prstGeom prst="rect">
            <a:avLst/>
          </a:prstGeom>
          <a:noFill/>
          <a:ln>
            <a:noFill/>
          </a:ln>
        </p:spPr>
        <p:txBody>
          <a:bodyPr anchorCtr="0" anchor="b" bIns="45700" lIns="91425" spcFirstLastPara="1" rIns="91425" wrap="square" tIns="45700">
            <a:spAutoFit/>
          </a:bodyPr>
          <a:lstStyle>
            <a:lvl1pPr indent="-228600" lvl="0" marL="457200" algn="l">
              <a:lnSpc>
                <a:spcPct val="85000"/>
              </a:lnSpc>
              <a:spcBef>
                <a:spcPts val="600"/>
              </a:spcBef>
              <a:spcAft>
                <a:spcPts val="0"/>
              </a:spcAft>
              <a:buSzPts val="1920"/>
              <a:buNone/>
              <a:defRPr b="1" sz="2400"/>
            </a:lvl1pPr>
            <a:lvl2pPr indent="-228600" lvl="1" marL="914400" algn="l">
              <a:lnSpc>
                <a:spcPct val="85000"/>
              </a:lnSpc>
              <a:spcBef>
                <a:spcPts val="500"/>
              </a:spcBef>
              <a:spcAft>
                <a:spcPts val="0"/>
              </a:spcAft>
              <a:buSzPts val="1500"/>
              <a:buNone/>
              <a:defRPr b="1" sz="2000"/>
            </a:lvl2pPr>
            <a:lvl3pPr indent="-228600" lvl="2" marL="1371600" algn="l">
              <a:lnSpc>
                <a:spcPct val="85000"/>
              </a:lnSpc>
              <a:spcBef>
                <a:spcPts val="450"/>
              </a:spcBef>
              <a:spcAft>
                <a:spcPts val="0"/>
              </a:spcAft>
              <a:buSzPts val="1350"/>
              <a:buNone/>
              <a:defRPr b="1" sz="1800"/>
            </a:lvl3pPr>
            <a:lvl4pPr indent="-228600" lvl="3" marL="1828800" algn="l">
              <a:lnSpc>
                <a:spcPct val="85000"/>
              </a:lnSpc>
              <a:spcBef>
                <a:spcPts val="400"/>
              </a:spcBef>
              <a:spcAft>
                <a:spcPts val="0"/>
              </a:spcAft>
              <a:buSzPts val="1200"/>
              <a:buNone/>
              <a:defRPr b="1" sz="1600"/>
            </a:lvl4pPr>
            <a:lvl5pPr indent="-228600" lvl="4" marL="2286000" algn="l">
              <a:lnSpc>
                <a:spcPct val="85000"/>
              </a:lnSpc>
              <a:spcBef>
                <a:spcPts val="400"/>
              </a:spcBef>
              <a:spcAft>
                <a:spcPts val="0"/>
              </a:spcAft>
              <a:buSzPts val="12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38" name="Google Shape;38;p116"/>
          <p:cNvSpPr txBox="1"/>
          <p:nvPr>
            <p:ph idx="2" type="body"/>
          </p:nvPr>
        </p:nvSpPr>
        <p:spPr>
          <a:xfrm>
            <a:off x="630238" y="2505075"/>
            <a:ext cx="3868737" cy="3684588"/>
          </a:xfrm>
          <a:prstGeom prst="rect">
            <a:avLst/>
          </a:prstGeom>
          <a:noFill/>
          <a:ln>
            <a:noFill/>
          </a:ln>
        </p:spPr>
        <p:txBody>
          <a:bodyPr anchorCtr="0" anchor="t" bIns="45700" lIns="91425" spcFirstLastPara="1" rIns="91425" wrap="square" tIns="45700">
            <a:spAutoFit/>
          </a:bodyPr>
          <a:lstStyle>
            <a:lvl1pPr indent="-320040" lvl="0" marL="457200" algn="l">
              <a:lnSpc>
                <a:spcPct val="85000"/>
              </a:lnSpc>
              <a:spcBef>
                <a:spcPts val="450"/>
              </a:spcBef>
              <a:spcAft>
                <a:spcPts val="0"/>
              </a:spcAft>
              <a:buSzPts val="1440"/>
              <a:buChar char="•"/>
              <a:defRPr/>
            </a:lvl1pPr>
            <a:lvl2pPr indent="-314325" lvl="1" marL="914400" algn="l">
              <a:lnSpc>
                <a:spcPct val="85000"/>
              </a:lnSpc>
              <a:spcBef>
                <a:spcPts val="450"/>
              </a:spcBef>
              <a:spcAft>
                <a:spcPts val="0"/>
              </a:spcAft>
              <a:buSzPts val="1350"/>
              <a:buChar char="•"/>
              <a:defRPr/>
            </a:lvl2pPr>
            <a:lvl3pPr indent="-314325" lvl="2" marL="1371600" algn="l">
              <a:lnSpc>
                <a:spcPct val="85000"/>
              </a:lnSpc>
              <a:spcBef>
                <a:spcPts val="450"/>
              </a:spcBef>
              <a:spcAft>
                <a:spcPts val="0"/>
              </a:spcAft>
              <a:buSzPts val="1350"/>
              <a:buChar char="•"/>
              <a:defRPr/>
            </a:lvl3pPr>
            <a:lvl4pPr indent="-314325" lvl="3" marL="1828800" algn="l">
              <a:lnSpc>
                <a:spcPct val="85000"/>
              </a:lnSpc>
              <a:spcBef>
                <a:spcPts val="450"/>
              </a:spcBef>
              <a:spcAft>
                <a:spcPts val="0"/>
              </a:spcAft>
              <a:buSzPts val="1350"/>
              <a:buChar char="•"/>
              <a:defRPr/>
            </a:lvl4pPr>
            <a:lvl5pPr indent="-314325" lvl="4" marL="2286000" algn="l">
              <a:lnSpc>
                <a:spcPct val="85000"/>
              </a:lnSpc>
              <a:spcBef>
                <a:spcPts val="450"/>
              </a:spcBef>
              <a:spcAft>
                <a:spcPts val="0"/>
              </a:spcAft>
              <a:buSzPts val="135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9" name="Google Shape;39;p116"/>
          <p:cNvSpPr txBox="1"/>
          <p:nvPr>
            <p:ph idx="3" type="body"/>
          </p:nvPr>
        </p:nvSpPr>
        <p:spPr>
          <a:xfrm>
            <a:off x="4629150" y="1681163"/>
            <a:ext cx="3887788" cy="823912"/>
          </a:xfrm>
          <a:prstGeom prst="rect">
            <a:avLst/>
          </a:prstGeom>
          <a:noFill/>
          <a:ln>
            <a:noFill/>
          </a:ln>
        </p:spPr>
        <p:txBody>
          <a:bodyPr anchorCtr="0" anchor="b" bIns="45700" lIns="91425" spcFirstLastPara="1" rIns="91425" wrap="square" tIns="45700">
            <a:spAutoFit/>
          </a:bodyPr>
          <a:lstStyle>
            <a:lvl1pPr indent="-228600" lvl="0" marL="457200" algn="l">
              <a:lnSpc>
                <a:spcPct val="85000"/>
              </a:lnSpc>
              <a:spcBef>
                <a:spcPts val="600"/>
              </a:spcBef>
              <a:spcAft>
                <a:spcPts val="0"/>
              </a:spcAft>
              <a:buSzPts val="1920"/>
              <a:buNone/>
              <a:defRPr b="1" sz="2400"/>
            </a:lvl1pPr>
            <a:lvl2pPr indent="-228600" lvl="1" marL="914400" algn="l">
              <a:lnSpc>
                <a:spcPct val="85000"/>
              </a:lnSpc>
              <a:spcBef>
                <a:spcPts val="500"/>
              </a:spcBef>
              <a:spcAft>
                <a:spcPts val="0"/>
              </a:spcAft>
              <a:buSzPts val="1500"/>
              <a:buNone/>
              <a:defRPr b="1" sz="2000"/>
            </a:lvl2pPr>
            <a:lvl3pPr indent="-228600" lvl="2" marL="1371600" algn="l">
              <a:lnSpc>
                <a:spcPct val="85000"/>
              </a:lnSpc>
              <a:spcBef>
                <a:spcPts val="450"/>
              </a:spcBef>
              <a:spcAft>
                <a:spcPts val="0"/>
              </a:spcAft>
              <a:buSzPts val="1350"/>
              <a:buNone/>
              <a:defRPr b="1" sz="1800"/>
            </a:lvl3pPr>
            <a:lvl4pPr indent="-228600" lvl="3" marL="1828800" algn="l">
              <a:lnSpc>
                <a:spcPct val="85000"/>
              </a:lnSpc>
              <a:spcBef>
                <a:spcPts val="400"/>
              </a:spcBef>
              <a:spcAft>
                <a:spcPts val="0"/>
              </a:spcAft>
              <a:buSzPts val="1200"/>
              <a:buNone/>
              <a:defRPr b="1" sz="1600"/>
            </a:lvl4pPr>
            <a:lvl5pPr indent="-228600" lvl="4" marL="2286000" algn="l">
              <a:lnSpc>
                <a:spcPct val="85000"/>
              </a:lnSpc>
              <a:spcBef>
                <a:spcPts val="400"/>
              </a:spcBef>
              <a:spcAft>
                <a:spcPts val="0"/>
              </a:spcAft>
              <a:buSzPts val="12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0" name="Google Shape;40;p116"/>
          <p:cNvSpPr txBox="1"/>
          <p:nvPr>
            <p:ph idx="4" type="body"/>
          </p:nvPr>
        </p:nvSpPr>
        <p:spPr>
          <a:xfrm>
            <a:off x="4629150" y="2505075"/>
            <a:ext cx="3887788" cy="3684588"/>
          </a:xfrm>
          <a:prstGeom prst="rect">
            <a:avLst/>
          </a:prstGeom>
          <a:noFill/>
          <a:ln>
            <a:noFill/>
          </a:ln>
        </p:spPr>
        <p:txBody>
          <a:bodyPr anchorCtr="0" anchor="t" bIns="45700" lIns="91425" spcFirstLastPara="1" rIns="91425" wrap="square" tIns="45700">
            <a:spAutoFit/>
          </a:bodyPr>
          <a:lstStyle>
            <a:lvl1pPr indent="-320040" lvl="0" marL="457200" algn="l">
              <a:lnSpc>
                <a:spcPct val="85000"/>
              </a:lnSpc>
              <a:spcBef>
                <a:spcPts val="450"/>
              </a:spcBef>
              <a:spcAft>
                <a:spcPts val="0"/>
              </a:spcAft>
              <a:buSzPts val="1440"/>
              <a:buChar char="•"/>
              <a:defRPr/>
            </a:lvl1pPr>
            <a:lvl2pPr indent="-314325" lvl="1" marL="914400" algn="l">
              <a:lnSpc>
                <a:spcPct val="85000"/>
              </a:lnSpc>
              <a:spcBef>
                <a:spcPts val="450"/>
              </a:spcBef>
              <a:spcAft>
                <a:spcPts val="0"/>
              </a:spcAft>
              <a:buSzPts val="1350"/>
              <a:buChar char="•"/>
              <a:defRPr/>
            </a:lvl2pPr>
            <a:lvl3pPr indent="-314325" lvl="2" marL="1371600" algn="l">
              <a:lnSpc>
                <a:spcPct val="85000"/>
              </a:lnSpc>
              <a:spcBef>
                <a:spcPts val="450"/>
              </a:spcBef>
              <a:spcAft>
                <a:spcPts val="0"/>
              </a:spcAft>
              <a:buSzPts val="1350"/>
              <a:buChar char="•"/>
              <a:defRPr/>
            </a:lvl3pPr>
            <a:lvl4pPr indent="-314325" lvl="3" marL="1828800" algn="l">
              <a:lnSpc>
                <a:spcPct val="85000"/>
              </a:lnSpc>
              <a:spcBef>
                <a:spcPts val="450"/>
              </a:spcBef>
              <a:spcAft>
                <a:spcPts val="0"/>
              </a:spcAft>
              <a:buSzPts val="1350"/>
              <a:buChar char="•"/>
              <a:defRPr/>
            </a:lvl4pPr>
            <a:lvl5pPr indent="-314325" lvl="4" marL="2286000" algn="l">
              <a:lnSpc>
                <a:spcPct val="85000"/>
              </a:lnSpc>
              <a:spcBef>
                <a:spcPts val="450"/>
              </a:spcBef>
              <a:spcAft>
                <a:spcPts val="0"/>
              </a:spcAft>
              <a:buSzPts val="135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Два объекта" type="twoObj">
  <p:cSld name="TWO_OBJECTS">
    <p:spTree>
      <p:nvGrpSpPr>
        <p:cNvPr id="41" name="Shape 41"/>
        <p:cNvGrpSpPr/>
        <p:nvPr/>
      </p:nvGrpSpPr>
      <p:grpSpPr>
        <a:xfrm>
          <a:off x="0" y="0"/>
          <a:ext cx="0" cy="0"/>
          <a:chOff x="0" y="0"/>
          <a:chExt cx="0" cy="0"/>
        </a:xfrm>
      </p:grpSpPr>
      <p:sp>
        <p:nvSpPr>
          <p:cNvPr id="42" name="Google Shape;42;p117"/>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43" name="Google Shape;43;p117"/>
          <p:cNvSpPr txBox="1"/>
          <p:nvPr>
            <p:ph idx="1" type="body"/>
          </p:nvPr>
        </p:nvSpPr>
        <p:spPr>
          <a:xfrm>
            <a:off x="390525" y="1412875"/>
            <a:ext cx="4102100" cy="1863725"/>
          </a:xfrm>
          <a:prstGeom prst="rect">
            <a:avLst/>
          </a:prstGeom>
          <a:noFill/>
          <a:ln>
            <a:noFill/>
          </a:ln>
        </p:spPr>
        <p:txBody>
          <a:bodyPr anchorCtr="0" anchor="t" bIns="45700" lIns="91425" spcFirstLastPara="1" rIns="91425" wrap="square" tIns="45700">
            <a:spAutoFit/>
          </a:bodyPr>
          <a:lstStyle>
            <a:lvl1pPr indent="-320040" lvl="0" marL="457200" algn="l">
              <a:lnSpc>
                <a:spcPct val="85000"/>
              </a:lnSpc>
              <a:spcBef>
                <a:spcPts val="450"/>
              </a:spcBef>
              <a:spcAft>
                <a:spcPts val="0"/>
              </a:spcAft>
              <a:buSzPts val="1440"/>
              <a:buChar char="•"/>
              <a:defRPr/>
            </a:lvl1pPr>
            <a:lvl2pPr indent="-314325" lvl="1" marL="914400" algn="l">
              <a:lnSpc>
                <a:spcPct val="85000"/>
              </a:lnSpc>
              <a:spcBef>
                <a:spcPts val="450"/>
              </a:spcBef>
              <a:spcAft>
                <a:spcPts val="0"/>
              </a:spcAft>
              <a:buSzPts val="1350"/>
              <a:buChar char="•"/>
              <a:defRPr/>
            </a:lvl2pPr>
            <a:lvl3pPr indent="-314325" lvl="2" marL="1371600" algn="l">
              <a:lnSpc>
                <a:spcPct val="85000"/>
              </a:lnSpc>
              <a:spcBef>
                <a:spcPts val="450"/>
              </a:spcBef>
              <a:spcAft>
                <a:spcPts val="0"/>
              </a:spcAft>
              <a:buSzPts val="1350"/>
              <a:buChar char="•"/>
              <a:defRPr/>
            </a:lvl3pPr>
            <a:lvl4pPr indent="-314325" lvl="3" marL="1828800" algn="l">
              <a:lnSpc>
                <a:spcPct val="85000"/>
              </a:lnSpc>
              <a:spcBef>
                <a:spcPts val="450"/>
              </a:spcBef>
              <a:spcAft>
                <a:spcPts val="0"/>
              </a:spcAft>
              <a:buSzPts val="1350"/>
              <a:buChar char="•"/>
              <a:defRPr/>
            </a:lvl4pPr>
            <a:lvl5pPr indent="-314325" lvl="4" marL="2286000" algn="l">
              <a:lnSpc>
                <a:spcPct val="85000"/>
              </a:lnSpc>
              <a:spcBef>
                <a:spcPts val="450"/>
              </a:spcBef>
              <a:spcAft>
                <a:spcPts val="0"/>
              </a:spcAft>
              <a:buSzPts val="135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4" name="Google Shape;44;p117"/>
          <p:cNvSpPr txBox="1"/>
          <p:nvPr>
            <p:ph idx="2" type="body"/>
          </p:nvPr>
        </p:nvSpPr>
        <p:spPr>
          <a:xfrm>
            <a:off x="4645025" y="1412875"/>
            <a:ext cx="4102100" cy="1863725"/>
          </a:xfrm>
          <a:prstGeom prst="rect">
            <a:avLst/>
          </a:prstGeom>
          <a:noFill/>
          <a:ln>
            <a:noFill/>
          </a:ln>
        </p:spPr>
        <p:txBody>
          <a:bodyPr anchorCtr="0" anchor="t" bIns="45700" lIns="91425" spcFirstLastPara="1" rIns="91425" wrap="square" tIns="45700">
            <a:spAutoFit/>
          </a:bodyPr>
          <a:lstStyle>
            <a:lvl1pPr indent="-320040" lvl="0" marL="457200" algn="l">
              <a:lnSpc>
                <a:spcPct val="85000"/>
              </a:lnSpc>
              <a:spcBef>
                <a:spcPts val="450"/>
              </a:spcBef>
              <a:spcAft>
                <a:spcPts val="0"/>
              </a:spcAft>
              <a:buSzPts val="1440"/>
              <a:buChar char="•"/>
              <a:defRPr/>
            </a:lvl1pPr>
            <a:lvl2pPr indent="-314325" lvl="1" marL="914400" algn="l">
              <a:lnSpc>
                <a:spcPct val="85000"/>
              </a:lnSpc>
              <a:spcBef>
                <a:spcPts val="450"/>
              </a:spcBef>
              <a:spcAft>
                <a:spcPts val="0"/>
              </a:spcAft>
              <a:buSzPts val="1350"/>
              <a:buChar char="•"/>
              <a:defRPr/>
            </a:lvl2pPr>
            <a:lvl3pPr indent="-314325" lvl="2" marL="1371600" algn="l">
              <a:lnSpc>
                <a:spcPct val="85000"/>
              </a:lnSpc>
              <a:spcBef>
                <a:spcPts val="450"/>
              </a:spcBef>
              <a:spcAft>
                <a:spcPts val="0"/>
              </a:spcAft>
              <a:buSzPts val="1350"/>
              <a:buChar char="•"/>
              <a:defRPr/>
            </a:lvl3pPr>
            <a:lvl4pPr indent="-314325" lvl="3" marL="1828800" algn="l">
              <a:lnSpc>
                <a:spcPct val="85000"/>
              </a:lnSpc>
              <a:spcBef>
                <a:spcPts val="450"/>
              </a:spcBef>
              <a:spcAft>
                <a:spcPts val="0"/>
              </a:spcAft>
              <a:buSzPts val="1350"/>
              <a:buChar char="•"/>
              <a:defRPr/>
            </a:lvl4pPr>
            <a:lvl5pPr indent="-314325" lvl="4" marL="2286000" algn="l">
              <a:lnSpc>
                <a:spcPct val="85000"/>
              </a:lnSpc>
              <a:spcBef>
                <a:spcPts val="450"/>
              </a:spcBef>
              <a:spcAft>
                <a:spcPts val="0"/>
              </a:spcAft>
              <a:buSzPts val="135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слайд" type="title">
  <p:cSld name="TITLE">
    <p:spTree>
      <p:nvGrpSpPr>
        <p:cNvPr id="48" name="Shape 48"/>
        <p:cNvGrpSpPr/>
        <p:nvPr/>
      </p:nvGrpSpPr>
      <p:grpSpPr>
        <a:xfrm>
          <a:off x="0" y="0"/>
          <a:ext cx="0" cy="0"/>
          <a:chOff x="0" y="0"/>
          <a:chExt cx="0" cy="0"/>
        </a:xfrm>
      </p:grpSpPr>
      <p:sp>
        <p:nvSpPr>
          <p:cNvPr id="49" name="Google Shape;49;p119"/>
          <p:cNvSpPr txBox="1"/>
          <p:nvPr>
            <p:ph type="ctrTitle"/>
          </p:nvPr>
        </p:nvSpPr>
        <p:spPr>
          <a:xfrm>
            <a:off x="692150" y="1898650"/>
            <a:ext cx="7934325" cy="558800"/>
          </a:xfrm>
          <a:prstGeom prst="rect">
            <a:avLst/>
          </a:prstGeom>
          <a:noFill/>
          <a:ln>
            <a:noFill/>
          </a:ln>
        </p:spPr>
        <p:txBody>
          <a:bodyPr anchorCtr="0" anchor="t" bIns="45700" lIns="91425" spcFirstLastPara="1" rIns="91425" wrap="square" tIns="45700">
            <a:spAutoFit/>
          </a:bodyPr>
          <a:lstStyle>
            <a:lvl1pPr lvl="0" algn="l">
              <a:lnSpc>
                <a:spcPct val="85000"/>
              </a:lnSpc>
              <a:spcBef>
                <a:spcPts val="0"/>
              </a:spcBef>
              <a:spcAft>
                <a:spcPts val="0"/>
              </a:spcAft>
              <a:buSzPts val="1400"/>
              <a:buNone/>
              <a:defRPr sz="3600"/>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50" name="Google Shape;50;p119"/>
          <p:cNvSpPr txBox="1"/>
          <p:nvPr>
            <p:ph idx="1" type="subTitle"/>
          </p:nvPr>
        </p:nvSpPr>
        <p:spPr>
          <a:xfrm>
            <a:off x="692150" y="4070350"/>
            <a:ext cx="7942263" cy="403225"/>
          </a:xfrm>
          <a:prstGeom prst="rect">
            <a:avLst/>
          </a:prstGeom>
          <a:noFill/>
          <a:ln>
            <a:noFill/>
          </a:ln>
        </p:spPr>
        <p:txBody>
          <a:bodyPr anchorCtr="0" anchor="t" bIns="45700" lIns="91425" spcFirstLastPara="1" rIns="91425" wrap="square" tIns="45700">
            <a:spAutoFit/>
          </a:bodyPr>
          <a:lstStyle>
            <a:lvl1pPr lvl="0" algn="l">
              <a:lnSpc>
                <a:spcPct val="85000"/>
              </a:lnSpc>
              <a:spcBef>
                <a:spcPts val="0"/>
              </a:spcBef>
              <a:spcAft>
                <a:spcPts val="0"/>
              </a:spcAft>
              <a:buSzPts val="1920"/>
              <a:buFont typeface="Quattrocento Sans"/>
              <a:buNone/>
              <a:defRPr sz="2400">
                <a:solidFill>
                  <a:schemeClr val="accent1"/>
                </a:solidFill>
              </a:defRPr>
            </a:lvl1pPr>
            <a:lvl2pPr lvl="1" algn="l">
              <a:lnSpc>
                <a:spcPct val="85000"/>
              </a:lnSpc>
              <a:spcBef>
                <a:spcPts val="450"/>
              </a:spcBef>
              <a:spcAft>
                <a:spcPts val="0"/>
              </a:spcAft>
              <a:buSzPts val="1350"/>
              <a:buChar char="•"/>
              <a:defRPr/>
            </a:lvl2pPr>
            <a:lvl3pPr lvl="2" algn="l">
              <a:lnSpc>
                <a:spcPct val="85000"/>
              </a:lnSpc>
              <a:spcBef>
                <a:spcPts val="450"/>
              </a:spcBef>
              <a:spcAft>
                <a:spcPts val="0"/>
              </a:spcAft>
              <a:buSzPts val="1350"/>
              <a:buChar char="•"/>
              <a:defRPr/>
            </a:lvl3pPr>
            <a:lvl4pPr lvl="3" algn="l">
              <a:lnSpc>
                <a:spcPct val="85000"/>
              </a:lnSpc>
              <a:spcBef>
                <a:spcPts val="450"/>
              </a:spcBef>
              <a:spcAft>
                <a:spcPts val="0"/>
              </a:spcAft>
              <a:buSzPts val="1350"/>
              <a:buChar char="•"/>
              <a:defRPr/>
            </a:lvl4pPr>
            <a:lvl5pPr lvl="4" algn="l">
              <a:lnSpc>
                <a:spcPct val="85000"/>
              </a:lnSpc>
              <a:spcBef>
                <a:spcPts val="450"/>
              </a:spcBef>
              <a:spcAft>
                <a:spcPts val="0"/>
              </a:spcAft>
              <a:buSzPts val="1350"/>
              <a:buChar char="•"/>
              <a:defRPr/>
            </a:lvl5pPr>
            <a:lvl6pPr lvl="5" algn="l">
              <a:lnSpc>
                <a:spcPct val="90000"/>
              </a:lnSpc>
              <a:spcBef>
                <a:spcPts val="500"/>
              </a:spcBef>
              <a:spcAft>
                <a:spcPts val="0"/>
              </a:spcAft>
              <a:buClr>
                <a:schemeClr val="lt1"/>
              </a:buClr>
              <a:buSzPts val="1800"/>
              <a:buChar char="•"/>
              <a:defRPr/>
            </a:lvl6pPr>
            <a:lvl7pPr lvl="6" algn="l">
              <a:lnSpc>
                <a:spcPct val="90000"/>
              </a:lnSpc>
              <a:spcBef>
                <a:spcPts val="500"/>
              </a:spcBef>
              <a:spcAft>
                <a:spcPts val="0"/>
              </a:spcAft>
              <a:buClr>
                <a:schemeClr val="lt1"/>
              </a:buClr>
              <a:buSzPts val="1800"/>
              <a:buChar char="•"/>
              <a:defRPr/>
            </a:lvl7pPr>
            <a:lvl8pPr lvl="7" algn="l">
              <a:lnSpc>
                <a:spcPct val="90000"/>
              </a:lnSpc>
              <a:spcBef>
                <a:spcPts val="500"/>
              </a:spcBef>
              <a:spcAft>
                <a:spcPts val="0"/>
              </a:spcAft>
              <a:buClr>
                <a:schemeClr val="lt1"/>
              </a:buClr>
              <a:buSzPts val="1800"/>
              <a:buChar char="•"/>
              <a:defRPr/>
            </a:lvl8pPr>
            <a:lvl9pPr lvl="8" algn="l">
              <a:lnSpc>
                <a:spcPct val="90000"/>
              </a:lnSpc>
              <a:spcBef>
                <a:spcPts val="500"/>
              </a:spcBef>
              <a:spcAft>
                <a:spcPts val="0"/>
              </a:spcAft>
              <a:buClr>
                <a:schemeClr val="lt1"/>
              </a:buClr>
              <a:buSzPts val="1800"/>
              <a:buChar char="•"/>
              <a:defRPr/>
            </a:lvl9pPr>
          </a:lstStyle>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2.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1.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07"/>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lvl1pPr lvl="0" marR="0" rtl="0" algn="l">
              <a:lnSpc>
                <a:spcPct val="85000"/>
              </a:lnSpc>
              <a:spcBef>
                <a:spcPts val="0"/>
              </a:spcBef>
              <a:spcAft>
                <a:spcPts val="0"/>
              </a:spcAft>
              <a:buSzPts val="1400"/>
              <a:buNone/>
              <a:defRPr b="0" i="0" sz="4000" u="none" cap="none" strike="noStrike">
                <a:solidFill>
                  <a:schemeClr val="lt2"/>
                </a:solidFill>
                <a:latin typeface="Quattrocento Sans"/>
                <a:ea typeface="Quattrocento Sans"/>
                <a:cs typeface="Quattrocento Sans"/>
                <a:sym typeface="Quattrocento Sans"/>
              </a:defRPr>
            </a:lvl1pPr>
            <a:lvl2pPr lvl="1" marR="0" rtl="0" algn="l">
              <a:lnSpc>
                <a:spcPct val="85000"/>
              </a:lnSpc>
              <a:spcBef>
                <a:spcPts val="0"/>
              </a:spcBef>
              <a:spcAft>
                <a:spcPts val="0"/>
              </a:spcAft>
              <a:buSzPts val="1400"/>
              <a:buNone/>
              <a:defRPr b="0" i="0" sz="4000" u="none" cap="none" strike="noStrike">
                <a:solidFill>
                  <a:schemeClr val="lt2"/>
                </a:solidFill>
                <a:latin typeface="Quattrocento Sans"/>
                <a:ea typeface="Quattrocento Sans"/>
                <a:cs typeface="Quattrocento Sans"/>
                <a:sym typeface="Quattrocento Sans"/>
              </a:defRPr>
            </a:lvl2pPr>
            <a:lvl3pPr lvl="2" marR="0" rtl="0" algn="l">
              <a:lnSpc>
                <a:spcPct val="85000"/>
              </a:lnSpc>
              <a:spcBef>
                <a:spcPts val="0"/>
              </a:spcBef>
              <a:spcAft>
                <a:spcPts val="0"/>
              </a:spcAft>
              <a:buSzPts val="1400"/>
              <a:buNone/>
              <a:defRPr b="0" i="0" sz="4000" u="none" cap="none" strike="noStrike">
                <a:solidFill>
                  <a:schemeClr val="lt2"/>
                </a:solidFill>
                <a:latin typeface="Quattrocento Sans"/>
                <a:ea typeface="Quattrocento Sans"/>
                <a:cs typeface="Quattrocento Sans"/>
                <a:sym typeface="Quattrocento Sans"/>
              </a:defRPr>
            </a:lvl3pPr>
            <a:lvl4pPr lvl="3" marR="0" rtl="0" algn="l">
              <a:lnSpc>
                <a:spcPct val="85000"/>
              </a:lnSpc>
              <a:spcBef>
                <a:spcPts val="0"/>
              </a:spcBef>
              <a:spcAft>
                <a:spcPts val="0"/>
              </a:spcAft>
              <a:buSzPts val="1400"/>
              <a:buNone/>
              <a:defRPr b="0" i="0" sz="4000" u="none" cap="none" strike="noStrike">
                <a:solidFill>
                  <a:schemeClr val="lt2"/>
                </a:solidFill>
                <a:latin typeface="Quattrocento Sans"/>
                <a:ea typeface="Quattrocento Sans"/>
                <a:cs typeface="Quattrocento Sans"/>
                <a:sym typeface="Quattrocento Sans"/>
              </a:defRPr>
            </a:lvl4pPr>
            <a:lvl5pPr lvl="4" marR="0" rtl="0" algn="l">
              <a:lnSpc>
                <a:spcPct val="85000"/>
              </a:lnSpc>
              <a:spcBef>
                <a:spcPts val="0"/>
              </a:spcBef>
              <a:spcAft>
                <a:spcPts val="0"/>
              </a:spcAft>
              <a:buSzPts val="1400"/>
              <a:buNone/>
              <a:defRPr b="0" i="0" sz="4000" u="none" cap="none" strike="noStrike">
                <a:solidFill>
                  <a:schemeClr val="lt2"/>
                </a:solidFill>
                <a:latin typeface="Quattrocento Sans"/>
                <a:ea typeface="Quattrocento Sans"/>
                <a:cs typeface="Quattrocento Sans"/>
                <a:sym typeface="Quattrocento Sans"/>
              </a:defRPr>
            </a:lvl5pPr>
            <a:lvl6pPr lvl="5" marR="0" rtl="0" algn="l">
              <a:lnSpc>
                <a:spcPct val="85000"/>
              </a:lnSpc>
              <a:spcBef>
                <a:spcPts val="0"/>
              </a:spcBef>
              <a:spcAft>
                <a:spcPts val="0"/>
              </a:spcAft>
              <a:buSzPts val="1400"/>
              <a:buNone/>
              <a:defRPr b="0" i="0" sz="4000" u="none" cap="none" strike="noStrike">
                <a:solidFill>
                  <a:schemeClr val="lt2"/>
                </a:solidFill>
                <a:latin typeface="Quattrocento Sans"/>
                <a:ea typeface="Quattrocento Sans"/>
                <a:cs typeface="Quattrocento Sans"/>
                <a:sym typeface="Quattrocento Sans"/>
              </a:defRPr>
            </a:lvl6pPr>
            <a:lvl7pPr lvl="6" marR="0" rtl="0" algn="l">
              <a:lnSpc>
                <a:spcPct val="85000"/>
              </a:lnSpc>
              <a:spcBef>
                <a:spcPts val="0"/>
              </a:spcBef>
              <a:spcAft>
                <a:spcPts val="0"/>
              </a:spcAft>
              <a:buSzPts val="1400"/>
              <a:buNone/>
              <a:defRPr b="0" i="0" sz="4000" u="none" cap="none" strike="noStrike">
                <a:solidFill>
                  <a:schemeClr val="lt2"/>
                </a:solidFill>
                <a:latin typeface="Quattrocento Sans"/>
                <a:ea typeface="Quattrocento Sans"/>
                <a:cs typeface="Quattrocento Sans"/>
                <a:sym typeface="Quattrocento Sans"/>
              </a:defRPr>
            </a:lvl7pPr>
            <a:lvl8pPr lvl="7" marR="0" rtl="0" algn="l">
              <a:lnSpc>
                <a:spcPct val="85000"/>
              </a:lnSpc>
              <a:spcBef>
                <a:spcPts val="0"/>
              </a:spcBef>
              <a:spcAft>
                <a:spcPts val="0"/>
              </a:spcAft>
              <a:buSzPts val="1400"/>
              <a:buNone/>
              <a:defRPr b="0" i="0" sz="4000" u="none" cap="none" strike="noStrike">
                <a:solidFill>
                  <a:schemeClr val="lt2"/>
                </a:solidFill>
                <a:latin typeface="Quattrocento Sans"/>
                <a:ea typeface="Quattrocento Sans"/>
                <a:cs typeface="Quattrocento Sans"/>
                <a:sym typeface="Quattrocento Sans"/>
              </a:defRPr>
            </a:lvl8pPr>
            <a:lvl9pPr lvl="8" marR="0" rtl="0" algn="l">
              <a:lnSpc>
                <a:spcPct val="85000"/>
              </a:lnSpc>
              <a:spcBef>
                <a:spcPts val="0"/>
              </a:spcBef>
              <a:spcAft>
                <a:spcPts val="0"/>
              </a:spcAft>
              <a:buSzPts val="1400"/>
              <a:buNone/>
              <a:defRPr b="0" i="0" sz="4000" u="none" cap="none" strike="noStrike">
                <a:solidFill>
                  <a:schemeClr val="lt2"/>
                </a:solidFill>
                <a:latin typeface="Quattrocento Sans"/>
                <a:ea typeface="Quattrocento Sans"/>
                <a:cs typeface="Quattrocento Sans"/>
                <a:sym typeface="Quattrocento Sans"/>
              </a:defRPr>
            </a:lvl9pPr>
          </a:lstStyle>
          <a:p/>
        </p:txBody>
      </p:sp>
      <p:sp>
        <p:nvSpPr>
          <p:cNvPr id="11" name="Google Shape;11;p107"/>
          <p:cNvSpPr txBox="1"/>
          <p:nvPr>
            <p:ph idx="1" type="body"/>
          </p:nvPr>
        </p:nvSpPr>
        <p:spPr>
          <a:xfrm>
            <a:off x="390525" y="1412875"/>
            <a:ext cx="8356600" cy="1863725"/>
          </a:xfrm>
          <a:prstGeom prst="rect">
            <a:avLst/>
          </a:prstGeom>
          <a:noFill/>
          <a:ln>
            <a:noFill/>
          </a:ln>
        </p:spPr>
        <p:txBody>
          <a:bodyPr anchorCtr="0" anchor="t" bIns="45700" lIns="91425" spcFirstLastPara="1" rIns="91425" wrap="square" tIns="45700">
            <a:spAutoFit/>
          </a:bodyPr>
          <a:lstStyle>
            <a:lvl1pPr indent="-370840" lvl="0" marL="457200" marR="0" rtl="0" algn="l">
              <a:lnSpc>
                <a:spcPct val="85000"/>
              </a:lnSpc>
              <a:spcBef>
                <a:spcPts val="700"/>
              </a:spcBef>
              <a:spcAft>
                <a:spcPts val="0"/>
              </a:spcAft>
              <a:buClr>
                <a:srgbClr val="F4BE96"/>
              </a:buClr>
              <a:buSzPts val="2240"/>
              <a:buFont typeface="Quattrocento Sans"/>
              <a:buChar char="•"/>
              <a:defRPr b="0" i="0" sz="2800" u="none" cap="none" strike="noStrike">
                <a:solidFill>
                  <a:schemeClr val="lt1"/>
                </a:solidFill>
                <a:latin typeface="Quattrocento Sans"/>
                <a:ea typeface="Quattrocento Sans"/>
                <a:cs typeface="Quattrocento Sans"/>
                <a:sym typeface="Quattrocento Sans"/>
              </a:defRPr>
            </a:lvl1pPr>
            <a:lvl2pPr indent="-342900" lvl="1" marL="914400" marR="0" rtl="0" algn="l">
              <a:lnSpc>
                <a:spcPct val="85000"/>
              </a:lnSpc>
              <a:spcBef>
                <a:spcPts val="600"/>
              </a:spcBef>
              <a:spcAft>
                <a:spcPts val="0"/>
              </a:spcAft>
              <a:buClr>
                <a:srgbClr val="FFFFFF"/>
              </a:buClr>
              <a:buSzPts val="1800"/>
              <a:buFont typeface="Quattrocento Sans"/>
              <a:buChar char="•"/>
              <a:defRPr b="0" i="0" sz="2400" u="none" cap="none" strike="noStrike">
                <a:solidFill>
                  <a:schemeClr val="lt1"/>
                </a:solidFill>
                <a:latin typeface="Quattrocento Sans"/>
                <a:ea typeface="Quattrocento Sans"/>
                <a:cs typeface="Quattrocento Sans"/>
                <a:sym typeface="Quattrocento Sans"/>
              </a:defRPr>
            </a:lvl2pPr>
            <a:lvl3pPr indent="-323850" lvl="2" marL="1371600" marR="0" rtl="0" algn="l">
              <a:lnSpc>
                <a:spcPct val="85000"/>
              </a:lnSpc>
              <a:spcBef>
                <a:spcPts val="500"/>
              </a:spcBef>
              <a:spcAft>
                <a:spcPts val="0"/>
              </a:spcAft>
              <a:buClr>
                <a:srgbClr val="FFFFFF"/>
              </a:buClr>
              <a:buSzPts val="1500"/>
              <a:buFont typeface="Quattrocento Sans"/>
              <a:buChar char="•"/>
              <a:defRPr b="0" i="0" sz="2000" u="none" cap="none" strike="noStrike">
                <a:solidFill>
                  <a:schemeClr val="lt1"/>
                </a:solidFill>
                <a:latin typeface="Quattrocento Sans"/>
                <a:ea typeface="Quattrocento Sans"/>
                <a:cs typeface="Quattrocento Sans"/>
                <a:sym typeface="Quattrocento Sans"/>
              </a:defRPr>
            </a:lvl3pPr>
            <a:lvl4pPr indent="-323850" lvl="3" marL="1828800" marR="0" rtl="0" algn="l">
              <a:lnSpc>
                <a:spcPct val="85000"/>
              </a:lnSpc>
              <a:spcBef>
                <a:spcPts val="500"/>
              </a:spcBef>
              <a:spcAft>
                <a:spcPts val="0"/>
              </a:spcAft>
              <a:buClr>
                <a:srgbClr val="FFFFFF"/>
              </a:buClr>
              <a:buSzPts val="1500"/>
              <a:buFont typeface="Quattrocento Sans"/>
              <a:buChar char="•"/>
              <a:defRPr b="0" i="0" sz="2000" u="none" cap="none" strike="noStrike">
                <a:solidFill>
                  <a:schemeClr val="lt1"/>
                </a:solidFill>
                <a:latin typeface="Quattrocento Sans"/>
                <a:ea typeface="Quattrocento Sans"/>
                <a:cs typeface="Quattrocento Sans"/>
                <a:sym typeface="Quattrocento Sans"/>
              </a:defRPr>
            </a:lvl4pPr>
            <a:lvl5pPr indent="-323850" lvl="4" marL="2286000" marR="0" rtl="0" algn="l">
              <a:lnSpc>
                <a:spcPct val="85000"/>
              </a:lnSpc>
              <a:spcBef>
                <a:spcPts val="500"/>
              </a:spcBef>
              <a:spcAft>
                <a:spcPts val="0"/>
              </a:spcAft>
              <a:buClr>
                <a:srgbClr val="FFFFFF"/>
              </a:buClr>
              <a:buSzPts val="1500"/>
              <a:buFont typeface="Quattrocento Sans"/>
              <a:buChar char="•"/>
              <a:defRPr b="0" i="0" sz="2000" u="none" cap="none" strike="noStrike">
                <a:solidFill>
                  <a:schemeClr val="lt1"/>
                </a:solidFill>
                <a:latin typeface="Quattrocento Sans"/>
                <a:ea typeface="Quattrocento Sans"/>
                <a:cs typeface="Quattrocento Sans"/>
                <a:sym typeface="Quattrocento Sans"/>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Quattrocento Sans"/>
                <a:ea typeface="Quattrocento Sans"/>
                <a:cs typeface="Quattrocento Sans"/>
                <a:sym typeface="Quattrocento Sans"/>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Quattrocento Sans"/>
                <a:ea typeface="Quattrocento Sans"/>
                <a:cs typeface="Quattrocento Sans"/>
                <a:sym typeface="Quattrocento Sans"/>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Quattrocento Sans"/>
                <a:ea typeface="Quattrocento Sans"/>
                <a:cs typeface="Quattrocento Sans"/>
                <a:sym typeface="Quattrocento Sans"/>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Quattrocento Sans"/>
                <a:ea typeface="Quattrocento Sans"/>
                <a:cs typeface="Quattrocento Sans"/>
                <a:sym typeface="Quattrocento Sans"/>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slow">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45" name="Shape 45"/>
        <p:cNvGrpSpPr/>
        <p:nvPr/>
      </p:nvGrpSpPr>
      <p:grpSpPr>
        <a:xfrm>
          <a:off x="0" y="0"/>
          <a:ext cx="0" cy="0"/>
          <a:chOff x="0" y="0"/>
          <a:chExt cx="0" cy="0"/>
        </a:xfrm>
      </p:grpSpPr>
      <p:sp>
        <p:nvSpPr>
          <p:cNvPr id="46" name="Google Shape;46;p118"/>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lvl1pPr lvl="0" marR="0" rtl="0" algn="l">
              <a:lnSpc>
                <a:spcPct val="85000"/>
              </a:lnSpc>
              <a:spcBef>
                <a:spcPts val="0"/>
              </a:spcBef>
              <a:spcAft>
                <a:spcPts val="0"/>
              </a:spcAft>
              <a:buSzPts val="1400"/>
              <a:buNone/>
              <a:defRPr b="0" i="0" sz="4000" u="none" cap="none" strike="noStrike">
                <a:solidFill>
                  <a:schemeClr val="lt2"/>
                </a:solidFill>
                <a:latin typeface="Quattrocento Sans"/>
                <a:ea typeface="Quattrocento Sans"/>
                <a:cs typeface="Quattrocento Sans"/>
                <a:sym typeface="Quattrocento Sans"/>
              </a:defRPr>
            </a:lvl1pPr>
            <a:lvl2pPr lvl="1" marR="0" rtl="0" algn="l">
              <a:lnSpc>
                <a:spcPct val="85000"/>
              </a:lnSpc>
              <a:spcBef>
                <a:spcPts val="0"/>
              </a:spcBef>
              <a:spcAft>
                <a:spcPts val="0"/>
              </a:spcAft>
              <a:buSzPts val="1400"/>
              <a:buNone/>
              <a:defRPr b="0" i="0" sz="4000" u="none" cap="none" strike="noStrike">
                <a:solidFill>
                  <a:schemeClr val="lt2"/>
                </a:solidFill>
                <a:latin typeface="Quattrocento Sans"/>
                <a:ea typeface="Quattrocento Sans"/>
                <a:cs typeface="Quattrocento Sans"/>
                <a:sym typeface="Quattrocento Sans"/>
              </a:defRPr>
            </a:lvl2pPr>
            <a:lvl3pPr lvl="2" marR="0" rtl="0" algn="l">
              <a:lnSpc>
                <a:spcPct val="85000"/>
              </a:lnSpc>
              <a:spcBef>
                <a:spcPts val="0"/>
              </a:spcBef>
              <a:spcAft>
                <a:spcPts val="0"/>
              </a:spcAft>
              <a:buSzPts val="1400"/>
              <a:buNone/>
              <a:defRPr b="0" i="0" sz="4000" u="none" cap="none" strike="noStrike">
                <a:solidFill>
                  <a:schemeClr val="lt2"/>
                </a:solidFill>
                <a:latin typeface="Quattrocento Sans"/>
                <a:ea typeface="Quattrocento Sans"/>
                <a:cs typeface="Quattrocento Sans"/>
                <a:sym typeface="Quattrocento Sans"/>
              </a:defRPr>
            </a:lvl3pPr>
            <a:lvl4pPr lvl="3" marR="0" rtl="0" algn="l">
              <a:lnSpc>
                <a:spcPct val="85000"/>
              </a:lnSpc>
              <a:spcBef>
                <a:spcPts val="0"/>
              </a:spcBef>
              <a:spcAft>
                <a:spcPts val="0"/>
              </a:spcAft>
              <a:buSzPts val="1400"/>
              <a:buNone/>
              <a:defRPr b="0" i="0" sz="4000" u="none" cap="none" strike="noStrike">
                <a:solidFill>
                  <a:schemeClr val="lt2"/>
                </a:solidFill>
                <a:latin typeface="Quattrocento Sans"/>
                <a:ea typeface="Quattrocento Sans"/>
                <a:cs typeface="Quattrocento Sans"/>
                <a:sym typeface="Quattrocento Sans"/>
              </a:defRPr>
            </a:lvl4pPr>
            <a:lvl5pPr lvl="4" marR="0" rtl="0" algn="l">
              <a:lnSpc>
                <a:spcPct val="85000"/>
              </a:lnSpc>
              <a:spcBef>
                <a:spcPts val="0"/>
              </a:spcBef>
              <a:spcAft>
                <a:spcPts val="0"/>
              </a:spcAft>
              <a:buSzPts val="1400"/>
              <a:buNone/>
              <a:defRPr b="0" i="0" sz="4000" u="none" cap="none" strike="noStrike">
                <a:solidFill>
                  <a:schemeClr val="lt2"/>
                </a:solidFill>
                <a:latin typeface="Quattrocento Sans"/>
                <a:ea typeface="Quattrocento Sans"/>
                <a:cs typeface="Quattrocento Sans"/>
                <a:sym typeface="Quattrocento Sans"/>
              </a:defRPr>
            </a:lvl5pPr>
            <a:lvl6pPr lvl="5" marR="0" rtl="0" algn="l">
              <a:lnSpc>
                <a:spcPct val="85000"/>
              </a:lnSpc>
              <a:spcBef>
                <a:spcPts val="0"/>
              </a:spcBef>
              <a:spcAft>
                <a:spcPts val="0"/>
              </a:spcAft>
              <a:buSzPts val="1400"/>
              <a:buNone/>
              <a:defRPr b="0" i="0" sz="4000" u="none" cap="none" strike="noStrike">
                <a:solidFill>
                  <a:schemeClr val="lt2"/>
                </a:solidFill>
                <a:latin typeface="Quattrocento Sans"/>
                <a:ea typeface="Quattrocento Sans"/>
                <a:cs typeface="Quattrocento Sans"/>
                <a:sym typeface="Quattrocento Sans"/>
              </a:defRPr>
            </a:lvl6pPr>
            <a:lvl7pPr lvl="6" marR="0" rtl="0" algn="l">
              <a:lnSpc>
                <a:spcPct val="85000"/>
              </a:lnSpc>
              <a:spcBef>
                <a:spcPts val="0"/>
              </a:spcBef>
              <a:spcAft>
                <a:spcPts val="0"/>
              </a:spcAft>
              <a:buSzPts val="1400"/>
              <a:buNone/>
              <a:defRPr b="0" i="0" sz="4000" u="none" cap="none" strike="noStrike">
                <a:solidFill>
                  <a:schemeClr val="lt2"/>
                </a:solidFill>
                <a:latin typeface="Quattrocento Sans"/>
                <a:ea typeface="Quattrocento Sans"/>
                <a:cs typeface="Quattrocento Sans"/>
                <a:sym typeface="Quattrocento Sans"/>
              </a:defRPr>
            </a:lvl7pPr>
            <a:lvl8pPr lvl="7" marR="0" rtl="0" algn="l">
              <a:lnSpc>
                <a:spcPct val="85000"/>
              </a:lnSpc>
              <a:spcBef>
                <a:spcPts val="0"/>
              </a:spcBef>
              <a:spcAft>
                <a:spcPts val="0"/>
              </a:spcAft>
              <a:buSzPts val="1400"/>
              <a:buNone/>
              <a:defRPr b="0" i="0" sz="4000" u="none" cap="none" strike="noStrike">
                <a:solidFill>
                  <a:schemeClr val="lt2"/>
                </a:solidFill>
                <a:latin typeface="Quattrocento Sans"/>
                <a:ea typeface="Quattrocento Sans"/>
                <a:cs typeface="Quattrocento Sans"/>
                <a:sym typeface="Quattrocento Sans"/>
              </a:defRPr>
            </a:lvl8pPr>
            <a:lvl9pPr lvl="8" marR="0" rtl="0" algn="l">
              <a:lnSpc>
                <a:spcPct val="85000"/>
              </a:lnSpc>
              <a:spcBef>
                <a:spcPts val="0"/>
              </a:spcBef>
              <a:spcAft>
                <a:spcPts val="0"/>
              </a:spcAft>
              <a:buSzPts val="1400"/>
              <a:buNone/>
              <a:defRPr b="0" i="0" sz="4000" u="none" cap="none" strike="noStrike">
                <a:solidFill>
                  <a:schemeClr val="lt2"/>
                </a:solidFill>
                <a:latin typeface="Quattrocento Sans"/>
                <a:ea typeface="Quattrocento Sans"/>
                <a:cs typeface="Quattrocento Sans"/>
                <a:sym typeface="Quattrocento Sans"/>
              </a:defRPr>
            </a:lvl9pPr>
          </a:lstStyle>
          <a:p/>
        </p:txBody>
      </p:sp>
      <p:sp>
        <p:nvSpPr>
          <p:cNvPr id="47" name="Google Shape;47;p118"/>
          <p:cNvSpPr txBox="1"/>
          <p:nvPr>
            <p:ph idx="1" type="body"/>
          </p:nvPr>
        </p:nvSpPr>
        <p:spPr>
          <a:xfrm>
            <a:off x="390525" y="1412875"/>
            <a:ext cx="8356600" cy="1863725"/>
          </a:xfrm>
          <a:prstGeom prst="rect">
            <a:avLst/>
          </a:prstGeom>
          <a:noFill/>
          <a:ln>
            <a:noFill/>
          </a:ln>
        </p:spPr>
        <p:txBody>
          <a:bodyPr anchorCtr="0" anchor="t" bIns="45700" lIns="91425" spcFirstLastPara="1" rIns="91425" wrap="square" tIns="45700">
            <a:spAutoFit/>
          </a:bodyPr>
          <a:lstStyle>
            <a:lvl1pPr indent="-370840" lvl="0" marL="457200" marR="0" rtl="0" algn="l">
              <a:lnSpc>
                <a:spcPct val="85000"/>
              </a:lnSpc>
              <a:spcBef>
                <a:spcPts val="700"/>
              </a:spcBef>
              <a:spcAft>
                <a:spcPts val="0"/>
              </a:spcAft>
              <a:buClr>
                <a:srgbClr val="F4BE96"/>
              </a:buClr>
              <a:buSzPts val="2240"/>
              <a:buFont typeface="Quattrocento Sans"/>
              <a:buChar char="•"/>
              <a:defRPr b="0" i="0" sz="2800" u="none" cap="none" strike="noStrike">
                <a:solidFill>
                  <a:schemeClr val="lt1"/>
                </a:solidFill>
                <a:latin typeface="Quattrocento Sans"/>
                <a:ea typeface="Quattrocento Sans"/>
                <a:cs typeface="Quattrocento Sans"/>
                <a:sym typeface="Quattrocento Sans"/>
              </a:defRPr>
            </a:lvl1pPr>
            <a:lvl2pPr indent="-342900" lvl="1" marL="914400" marR="0" rtl="0" algn="l">
              <a:lnSpc>
                <a:spcPct val="85000"/>
              </a:lnSpc>
              <a:spcBef>
                <a:spcPts val="600"/>
              </a:spcBef>
              <a:spcAft>
                <a:spcPts val="0"/>
              </a:spcAft>
              <a:buClr>
                <a:srgbClr val="FFFFFF"/>
              </a:buClr>
              <a:buSzPts val="1800"/>
              <a:buFont typeface="Quattrocento Sans"/>
              <a:buChar char="•"/>
              <a:defRPr b="0" i="0" sz="2400" u="none" cap="none" strike="noStrike">
                <a:solidFill>
                  <a:schemeClr val="lt1"/>
                </a:solidFill>
                <a:latin typeface="Quattrocento Sans"/>
                <a:ea typeface="Quattrocento Sans"/>
                <a:cs typeface="Quattrocento Sans"/>
                <a:sym typeface="Quattrocento Sans"/>
              </a:defRPr>
            </a:lvl2pPr>
            <a:lvl3pPr indent="-323850" lvl="2" marL="1371600" marR="0" rtl="0" algn="l">
              <a:lnSpc>
                <a:spcPct val="85000"/>
              </a:lnSpc>
              <a:spcBef>
                <a:spcPts val="500"/>
              </a:spcBef>
              <a:spcAft>
                <a:spcPts val="0"/>
              </a:spcAft>
              <a:buClr>
                <a:srgbClr val="FFFFFF"/>
              </a:buClr>
              <a:buSzPts val="1500"/>
              <a:buFont typeface="Quattrocento Sans"/>
              <a:buChar char="•"/>
              <a:defRPr b="0" i="0" sz="2000" u="none" cap="none" strike="noStrike">
                <a:solidFill>
                  <a:schemeClr val="lt1"/>
                </a:solidFill>
                <a:latin typeface="Quattrocento Sans"/>
                <a:ea typeface="Quattrocento Sans"/>
                <a:cs typeface="Quattrocento Sans"/>
                <a:sym typeface="Quattrocento Sans"/>
              </a:defRPr>
            </a:lvl3pPr>
            <a:lvl4pPr indent="-323850" lvl="3" marL="1828800" marR="0" rtl="0" algn="l">
              <a:lnSpc>
                <a:spcPct val="85000"/>
              </a:lnSpc>
              <a:spcBef>
                <a:spcPts val="500"/>
              </a:spcBef>
              <a:spcAft>
                <a:spcPts val="0"/>
              </a:spcAft>
              <a:buClr>
                <a:srgbClr val="FFFFFF"/>
              </a:buClr>
              <a:buSzPts val="1500"/>
              <a:buFont typeface="Quattrocento Sans"/>
              <a:buChar char="•"/>
              <a:defRPr b="0" i="0" sz="2000" u="none" cap="none" strike="noStrike">
                <a:solidFill>
                  <a:schemeClr val="lt1"/>
                </a:solidFill>
                <a:latin typeface="Quattrocento Sans"/>
                <a:ea typeface="Quattrocento Sans"/>
                <a:cs typeface="Quattrocento Sans"/>
                <a:sym typeface="Quattrocento Sans"/>
              </a:defRPr>
            </a:lvl4pPr>
            <a:lvl5pPr indent="-323850" lvl="4" marL="2286000" marR="0" rtl="0" algn="l">
              <a:lnSpc>
                <a:spcPct val="85000"/>
              </a:lnSpc>
              <a:spcBef>
                <a:spcPts val="500"/>
              </a:spcBef>
              <a:spcAft>
                <a:spcPts val="0"/>
              </a:spcAft>
              <a:buClr>
                <a:srgbClr val="FFFFFF"/>
              </a:buClr>
              <a:buSzPts val="1500"/>
              <a:buFont typeface="Quattrocento Sans"/>
              <a:buChar char="•"/>
              <a:defRPr b="0" i="0" sz="2000" u="none" cap="none" strike="noStrike">
                <a:solidFill>
                  <a:schemeClr val="lt1"/>
                </a:solidFill>
                <a:latin typeface="Quattrocento Sans"/>
                <a:ea typeface="Quattrocento Sans"/>
                <a:cs typeface="Quattrocento Sans"/>
                <a:sym typeface="Quattrocento Sans"/>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Quattrocento Sans"/>
                <a:ea typeface="Quattrocento Sans"/>
                <a:cs typeface="Quattrocento Sans"/>
                <a:sym typeface="Quattrocento Sans"/>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Quattrocento Sans"/>
                <a:ea typeface="Quattrocento Sans"/>
                <a:cs typeface="Quattrocento Sans"/>
                <a:sym typeface="Quattrocento Sans"/>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Quattrocento Sans"/>
                <a:ea typeface="Quattrocento Sans"/>
                <a:cs typeface="Quattrocento Sans"/>
                <a:sym typeface="Quattrocento Sans"/>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Quattrocento Sans"/>
                <a:ea typeface="Quattrocento Sans"/>
                <a:cs typeface="Quattrocento Sans"/>
                <a:sym typeface="Quattrocento Sans"/>
              </a:defRPr>
            </a:lvl9pPr>
          </a:lstStyle>
          <a:p/>
        </p:txBody>
      </p:sp>
    </p:spTree>
  </p:cSld>
  <p:clrMap accent1="accent1" accent2="accent2" accent3="accent3" accent4="accent4" accent5="accent5" accent6="accent6" bg1="lt1" bg2="dk2" tx1="dk1" tx2="lt2" folHlink="folHlink" hlink="hlink"/>
  <p:sldLayoutIdLst>
    <p:sldLayoutId id="2147483660" r:id="rId2"/>
  </p:sldLayoutIdLst>
  <p:transition spd="slow">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en-m-wikipedia-org.translate.goog/wiki/Homoscedasticity?_x_tr_sl=auto&amp;_x_tr_tl=ru&amp;_x_tr_hl=ru"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ru.wikipedia.org/wiki/%D0%A2%D0%B5%D0%BE%D1%80%D0%B5%D0%BC%D0%B0_%D0%91%D0%B0%D0%B9%D0%B5%D1%81%D0%B0"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hyperlink" Target="http://en.wikipedia.org/wiki/Bag_of_words_model" TargetMode="External"/><Relationship Id="rId4" Type="http://schemas.openxmlformats.org/officeDocument/2006/relationships/image" Target="../media/image17.png"/><Relationship Id="rId5" Type="http://schemas.openxmlformats.org/officeDocument/2006/relationships/image" Target="../media/image24.png"/><Relationship Id="rId6" Type="http://schemas.openxmlformats.org/officeDocument/2006/relationships/image" Target="../media/image3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hyperlink" Target="http://en.wikipedia.org/wiki/Arithmetic_underflow" TargetMode="External"/><Relationship Id="rId4" Type="http://schemas.openxmlformats.org/officeDocument/2006/relationships/image" Target="../media/image33.png"/><Relationship Id="rId5"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hyperlink" Target="http://en.wikipedia.org/wiki/Additive_smoothing" TargetMode="External"/><Relationship Id="rId4" Type="http://schemas.openxmlformats.org/officeDocument/2006/relationships/image" Target="../media/image35.png"/><Relationship Id="rId5"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6.png"/><Relationship Id="rId4" Type="http://schemas.openxmlformats.org/officeDocument/2006/relationships/image" Target="../media/image41.jpg"/><Relationship Id="rId5" Type="http://schemas.openxmlformats.org/officeDocument/2006/relationships/image" Target="../media/image27.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9.png"/><Relationship Id="rId4" Type="http://schemas.openxmlformats.org/officeDocument/2006/relationships/image" Target="../media/image4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5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6.png"/><Relationship Id="rId4" Type="http://schemas.openxmlformats.org/officeDocument/2006/relationships/image" Target="../media/image4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4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4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3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52.png"/><Relationship Id="rId4" Type="http://schemas.openxmlformats.org/officeDocument/2006/relationships/image" Target="../media/image5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4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5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4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58.png"/><Relationship Id="rId4" Type="http://schemas.openxmlformats.org/officeDocument/2006/relationships/image" Target="../media/image6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5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66.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57.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5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76.png"/><Relationship Id="rId4" Type="http://schemas.openxmlformats.org/officeDocument/2006/relationships/image" Target="../media/image73.png"/><Relationship Id="rId5" Type="http://schemas.openxmlformats.org/officeDocument/2006/relationships/image" Target="../media/image49.png"/><Relationship Id="rId6" Type="http://schemas.openxmlformats.org/officeDocument/2006/relationships/image" Target="../media/image75.png"/><Relationship Id="rId7" Type="http://schemas.openxmlformats.org/officeDocument/2006/relationships/image" Target="../media/image67.png"/><Relationship Id="rId8" Type="http://schemas.openxmlformats.org/officeDocument/2006/relationships/image" Target="../media/image6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6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26.png"/><Relationship Id="rId4" Type="http://schemas.openxmlformats.org/officeDocument/2006/relationships/image" Target="../media/image68.jpg"/><Relationship Id="rId5" Type="http://schemas.openxmlformats.org/officeDocument/2006/relationships/image" Target="../media/image59.jpg"/><Relationship Id="rId6" Type="http://schemas.openxmlformats.org/officeDocument/2006/relationships/image" Target="../media/image7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3" Type="http://schemas.openxmlformats.org/officeDocument/2006/relationships/image" Target="../media/image6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6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65.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65.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3" Type="http://schemas.openxmlformats.org/officeDocument/2006/relationships/image" Target="../media/image65.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image" Target="../media/image63.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70.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7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74.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
          <p:cNvSpPr txBox="1"/>
          <p:nvPr>
            <p:ph idx="4294967295" type="ctrTitle"/>
          </p:nvPr>
        </p:nvSpPr>
        <p:spPr>
          <a:xfrm>
            <a:off x="199787" y="1923737"/>
            <a:ext cx="8086800" cy="1225200"/>
          </a:xfrm>
          <a:prstGeom prst="rect">
            <a:avLst/>
          </a:prstGeom>
          <a:noFill/>
          <a:ln>
            <a:noFill/>
          </a:ln>
        </p:spPr>
        <p:txBody>
          <a:bodyPr anchorCtr="0" anchor="b" bIns="45700" lIns="91425" spcFirstLastPara="1" rIns="91425" wrap="square" tIns="45700">
            <a:spAutoFit/>
          </a:bodyPr>
          <a:lstStyle/>
          <a:p>
            <a:pPr indent="0" lvl="0" marL="0" marR="0" rtl="0" algn="l">
              <a:lnSpc>
                <a:spcPct val="80000"/>
              </a:lnSpc>
              <a:spcBef>
                <a:spcPts val="0"/>
              </a:spcBef>
              <a:spcAft>
                <a:spcPts val="0"/>
              </a:spcAft>
              <a:buClr>
                <a:schemeClr val="lt1"/>
              </a:buClr>
              <a:buSzPts val="4800"/>
              <a:buFont typeface="Quattrocento Sans"/>
              <a:buNone/>
            </a:pPr>
            <a:r>
              <a:rPr b="0" i="0" lang="en-US" sz="4800" u="none" cap="none" strike="noStrike">
                <a:solidFill>
                  <a:schemeClr val="lt1"/>
                </a:solidFill>
                <a:latin typeface="Quattrocento Sans"/>
                <a:ea typeface="Quattrocento Sans"/>
                <a:cs typeface="Quattrocento Sans"/>
                <a:sym typeface="Quattrocento Sans"/>
              </a:rPr>
              <a:t>Курс</a:t>
            </a:r>
            <a:br>
              <a:rPr b="0" i="0" lang="en-US" sz="4800" u="none" cap="none" strike="noStrike">
                <a:solidFill>
                  <a:schemeClr val="lt1"/>
                </a:solidFill>
                <a:latin typeface="Quattrocento Sans"/>
                <a:ea typeface="Quattrocento Sans"/>
                <a:cs typeface="Quattrocento Sans"/>
                <a:sym typeface="Quattrocento Sans"/>
              </a:rPr>
            </a:br>
            <a:r>
              <a:rPr b="0" i="0" lang="en-US" sz="4400" u="none" cap="none" strike="noStrike">
                <a:solidFill>
                  <a:schemeClr val="lt1"/>
                </a:solidFill>
                <a:latin typeface="Quattrocento Sans"/>
                <a:ea typeface="Quattrocento Sans"/>
                <a:cs typeface="Quattrocento Sans"/>
                <a:sym typeface="Quattrocento Sans"/>
              </a:rPr>
              <a:t>Обработка больших данных</a:t>
            </a:r>
            <a:endParaRPr/>
          </a:p>
        </p:txBody>
      </p:sp>
      <p:sp>
        <p:nvSpPr>
          <p:cNvPr id="58" name="Google Shape;58;p1"/>
          <p:cNvSpPr txBox="1"/>
          <p:nvPr>
            <p:ph idx="4294967295" type="subTitle"/>
          </p:nvPr>
        </p:nvSpPr>
        <p:spPr>
          <a:xfrm>
            <a:off x="482600" y="4213225"/>
            <a:ext cx="8169275" cy="942975"/>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F4BE96"/>
              </a:buClr>
              <a:buSzPts val="2640"/>
              <a:buFont typeface="Quattrocento Sans"/>
              <a:buNone/>
            </a:pPr>
            <a:r>
              <a:rPr b="0" i="0" lang="en-US" sz="3300" u="none" cap="none" strike="noStrike">
                <a:solidFill>
                  <a:schemeClr val="accent1"/>
                </a:solidFill>
                <a:latin typeface="Quattrocento Sans"/>
                <a:ea typeface="Quattrocento Sans"/>
                <a:cs typeface="Quattrocento Sans"/>
                <a:sym typeface="Quattrocento Sans"/>
              </a:rPr>
              <a:t>Лекция 7. </a:t>
            </a:r>
            <a:r>
              <a:rPr b="0" i="0" lang="en-US" sz="3200" u="none" cap="none" strike="noStrike">
                <a:solidFill>
                  <a:schemeClr val="accent1"/>
                </a:solidFill>
                <a:latin typeface="Quattrocento Sans"/>
                <a:ea typeface="Quattrocento Sans"/>
                <a:cs typeface="Quattrocento Sans"/>
                <a:sym typeface="Quattrocento Sans"/>
              </a:rPr>
              <a:t>Методы классификации:</a:t>
            </a:r>
            <a:endParaRPr/>
          </a:p>
          <a:p>
            <a:pPr indent="0" lvl="0" marL="0" marR="0" rtl="0" algn="ctr">
              <a:lnSpc>
                <a:spcPct val="85000"/>
              </a:lnSpc>
              <a:spcBef>
                <a:spcPts val="0"/>
              </a:spcBef>
              <a:spcAft>
                <a:spcPts val="0"/>
              </a:spcAft>
              <a:buClr>
                <a:srgbClr val="F4BE96"/>
              </a:buClr>
              <a:buSzPts val="2560"/>
              <a:buFont typeface="Quattrocento Sans"/>
              <a:buNone/>
            </a:pPr>
            <a:r>
              <a:rPr b="0" i="0" lang="en-US" sz="3200" u="none" cap="none" strike="noStrike">
                <a:solidFill>
                  <a:schemeClr val="accent1"/>
                </a:solidFill>
                <a:latin typeface="Quattrocento Sans"/>
                <a:ea typeface="Quattrocento Sans"/>
                <a:cs typeface="Quattrocento Sans"/>
                <a:sym typeface="Quattrocento Sans"/>
              </a:rPr>
              <a:t>Наивный Байес, Деревья решений</a:t>
            </a:r>
            <a:endParaRPr/>
          </a:p>
        </p:txBody>
      </p:sp>
      <p:pic>
        <p:nvPicPr>
          <p:cNvPr descr="http://poradumo.pp.ua/uploads/posts/2015-02/derevo-rshen_942.jpeg" id="59" name="Google Shape;59;p1"/>
          <p:cNvPicPr preferRelativeResize="0"/>
          <p:nvPr/>
        </p:nvPicPr>
        <p:blipFill rotWithShape="1">
          <a:blip r:embed="rId3">
            <a:alphaModFix/>
          </a:blip>
          <a:srcRect b="0" l="0" r="0" t="0"/>
          <a:stretch/>
        </p:blipFill>
        <p:spPr>
          <a:xfrm>
            <a:off x="6556375" y="188912"/>
            <a:ext cx="2381250" cy="16478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2"/>
          <p:cNvSpPr txBox="1"/>
          <p:nvPr>
            <p:ph type="title"/>
          </p:nvPr>
        </p:nvSpPr>
        <p:spPr>
          <a:xfrm>
            <a:off x="727075" y="449262"/>
            <a:ext cx="7597775" cy="11430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Содержание</a:t>
            </a:r>
            <a:endParaRPr/>
          </a:p>
        </p:txBody>
      </p:sp>
      <p:grpSp>
        <p:nvGrpSpPr>
          <p:cNvPr id="66" name="Google Shape;66;p2"/>
          <p:cNvGrpSpPr/>
          <p:nvPr/>
        </p:nvGrpSpPr>
        <p:grpSpPr>
          <a:xfrm>
            <a:off x="735012" y="2157412"/>
            <a:ext cx="7453312" cy="838200"/>
            <a:chOff x="735013" y="2157886"/>
            <a:chExt cx="7452791" cy="838200"/>
          </a:xfrm>
        </p:grpSpPr>
        <p:sp>
          <p:nvSpPr>
            <p:cNvPr id="67" name="Google Shape;67;p2"/>
            <p:cNvSpPr/>
            <p:nvPr/>
          </p:nvSpPr>
          <p:spPr>
            <a:xfrm>
              <a:off x="735013" y="2234785"/>
              <a:ext cx="7452791" cy="761301"/>
            </a:xfrm>
            <a:prstGeom prst="roundRect">
              <a:avLst>
                <a:gd fmla="val 16667" name="adj"/>
              </a:avLst>
            </a:prstGeom>
            <a:solidFill>
              <a:srgbClr val="464646">
                <a:alpha val="4980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68" name="Google Shape;68;p2"/>
            <p:cNvSpPr/>
            <p:nvPr/>
          </p:nvSpPr>
          <p:spPr>
            <a:xfrm>
              <a:off x="1036148" y="2362437"/>
              <a:ext cx="516561" cy="505996"/>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800"/>
                <a:buFont typeface="Arial"/>
                <a:buNone/>
              </a:pPr>
              <a:r>
                <a:rPr b="1" i="0" lang="en-US" sz="2800" u="none">
                  <a:solidFill>
                    <a:schemeClr val="dk2"/>
                  </a:solidFill>
                  <a:latin typeface="Arial"/>
                  <a:ea typeface="Arial"/>
                  <a:cs typeface="Arial"/>
                  <a:sym typeface="Arial"/>
                </a:rPr>
                <a:t>1</a:t>
              </a:r>
              <a:endParaRPr/>
            </a:p>
          </p:txBody>
        </p:sp>
        <p:sp>
          <p:nvSpPr>
            <p:cNvPr id="69" name="Google Shape;69;p2"/>
            <p:cNvSpPr/>
            <p:nvPr/>
          </p:nvSpPr>
          <p:spPr>
            <a:xfrm>
              <a:off x="750975" y="2157886"/>
              <a:ext cx="6796238" cy="759763"/>
            </a:xfrm>
            <a:prstGeom prst="roundRect">
              <a:avLst>
                <a:gd fmla="val 16667" name="adj"/>
              </a:avLst>
            </a:prstGeom>
            <a:noFill/>
            <a:ln>
              <a:noFill/>
            </a:ln>
          </p:spPr>
          <p:txBody>
            <a:bodyPr anchorCtr="0" anchor="ctr" bIns="45700" lIns="91425" spcFirstLastPara="1" rIns="91425" wrap="square" tIns="45700">
              <a:noAutofit/>
            </a:bodyPr>
            <a:lstStyle/>
            <a:p>
              <a:pPr indent="0" lvl="0" marL="903287" marR="0" rtl="0" algn="l">
                <a:lnSpc>
                  <a:spcPct val="100000"/>
                </a:lnSpc>
                <a:spcBef>
                  <a:spcPts val="0"/>
                </a:spcBef>
                <a:spcAft>
                  <a:spcPts val="0"/>
                </a:spcAft>
                <a:buClr>
                  <a:schemeClr val="lt1"/>
                </a:buClr>
                <a:buSzPts val="3200"/>
                <a:buFont typeface="Arial"/>
                <a:buNone/>
              </a:pPr>
              <a:r>
                <a:rPr b="0" i="0" lang="en-US" sz="3200" u="none">
                  <a:solidFill>
                    <a:schemeClr val="lt1"/>
                  </a:solidFill>
                  <a:latin typeface="Arial"/>
                  <a:ea typeface="Arial"/>
                  <a:cs typeface="Arial"/>
                  <a:sym typeface="Arial"/>
                </a:rPr>
                <a:t>Регрессия</a:t>
              </a:r>
              <a:endParaRPr/>
            </a:p>
          </p:txBody>
        </p:sp>
      </p:grpSp>
      <p:grpSp>
        <p:nvGrpSpPr>
          <p:cNvPr id="70" name="Google Shape;70;p2"/>
          <p:cNvGrpSpPr/>
          <p:nvPr/>
        </p:nvGrpSpPr>
        <p:grpSpPr>
          <a:xfrm>
            <a:off x="735012" y="3255962"/>
            <a:ext cx="7461250" cy="763587"/>
            <a:chOff x="735013" y="3256042"/>
            <a:chExt cx="7460729" cy="763588"/>
          </a:xfrm>
        </p:grpSpPr>
        <p:sp>
          <p:nvSpPr>
            <p:cNvPr id="71" name="Google Shape;71;p2"/>
            <p:cNvSpPr/>
            <p:nvPr/>
          </p:nvSpPr>
          <p:spPr>
            <a:xfrm>
              <a:off x="735013" y="3256042"/>
              <a:ext cx="7460729" cy="763588"/>
            </a:xfrm>
            <a:prstGeom prst="roundRect">
              <a:avLst>
                <a:gd fmla="val 16667" name="adj"/>
              </a:avLst>
            </a:prstGeom>
            <a:solidFill>
              <a:srgbClr val="464646">
                <a:alpha val="4980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72" name="Google Shape;72;p2"/>
            <p:cNvSpPr/>
            <p:nvPr/>
          </p:nvSpPr>
          <p:spPr>
            <a:xfrm>
              <a:off x="1089002" y="3402959"/>
              <a:ext cx="516573" cy="507516"/>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800"/>
                <a:buFont typeface="Arial"/>
                <a:buNone/>
              </a:pPr>
              <a:r>
                <a:rPr b="1" i="0" lang="en-US" sz="2800" u="none">
                  <a:solidFill>
                    <a:schemeClr val="dk2"/>
                  </a:solidFill>
                  <a:latin typeface="Arial"/>
                  <a:ea typeface="Arial"/>
                  <a:cs typeface="Arial"/>
                  <a:sym typeface="Arial"/>
                </a:rPr>
                <a:t>2</a:t>
              </a:r>
              <a:endParaRPr/>
            </a:p>
          </p:txBody>
        </p:sp>
        <p:sp>
          <p:nvSpPr>
            <p:cNvPr id="73" name="Google Shape;73;p2"/>
            <p:cNvSpPr/>
            <p:nvPr/>
          </p:nvSpPr>
          <p:spPr>
            <a:xfrm>
              <a:off x="769838" y="3257585"/>
              <a:ext cx="6785313" cy="762045"/>
            </a:xfrm>
            <a:prstGeom prst="roundRect">
              <a:avLst>
                <a:gd fmla="val 16667" name="adj"/>
              </a:avLst>
            </a:prstGeom>
            <a:noFill/>
            <a:ln>
              <a:noFill/>
            </a:ln>
          </p:spPr>
          <p:txBody>
            <a:bodyPr anchorCtr="0" anchor="ctr" bIns="45700" lIns="91425" spcFirstLastPara="1" rIns="91425" wrap="square" tIns="45700">
              <a:noAutofit/>
            </a:bodyPr>
            <a:lstStyle/>
            <a:p>
              <a:pPr indent="0" lvl="0" marL="903287" marR="0" rtl="0" algn="l">
                <a:lnSpc>
                  <a:spcPct val="100000"/>
                </a:lnSpc>
                <a:spcBef>
                  <a:spcPts val="0"/>
                </a:spcBef>
                <a:spcAft>
                  <a:spcPts val="0"/>
                </a:spcAft>
                <a:buClr>
                  <a:schemeClr val="lt1"/>
                </a:buClr>
                <a:buSzPts val="3200"/>
                <a:buFont typeface="Arial"/>
                <a:buNone/>
              </a:pPr>
              <a:r>
                <a:rPr b="0" i="0" lang="en-US" sz="3200" u="none">
                  <a:solidFill>
                    <a:schemeClr val="lt1"/>
                  </a:solidFill>
                  <a:latin typeface="Arial"/>
                  <a:ea typeface="Arial"/>
                  <a:cs typeface="Arial"/>
                  <a:sym typeface="Arial"/>
                </a:rPr>
                <a:t>Машина опорных векторов</a:t>
              </a:r>
              <a:endParaRPr/>
            </a:p>
          </p:txBody>
        </p:sp>
      </p:grpSp>
      <p:pic>
        <p:nvPicPr>
          <p:cNvPr descr="Мозг со сплошной заливкой" id="74" name="Google Shape;74;p2"/>
          <p:cNvPicPr preferRelativeResize="0"/>
          <p:nvPr/>
        </p:nvPicPr>
        <p:blipFill rotWithShape="1">
          <a:blip r:embed="rId3">
            <a:alphaModFix/>
          </a:blip>
          <a:srcRect b="0" l="0" r="0" t="0"/>
          <a:stretch/>
        </p:blipFill>
        <p:spPr>
          <a:xfrm>
            <a:off x="4005262" y="1282700"/>
            <a:ext cx="914400" cy="914400"/>
          </a:xfrm>
          <a:prstGeom prst="rect">
            <a:avLst/>
          </a:prstGeom>
          <a:noFill/>
          <a:ln>
            <a:noFill/>
          </a:ln>
        </p:spPr>
      </p:pic>
      <p:grpSp>
        <p:nvGrpSpPr>
          <p:cNvPr id="75" name="Google Shape;75;p2"/>
          <p:cNvGrpSpPr/>
          <p:nvPr/>
        </p:nvGrpSpPr>
        <p:grpSpPr>
          <a:xfrm>
            <a:off x="769937" y="4113212"/>
            <a:ext cx="7453312" cy="838200"/>
            <a:chOff x="769840" y="4112560"/>
            <a:chExt cx="7453312" cy="838200"/>
          </a:xfrm>
        </p:grpSpPr>
        <p:sp>
          <p:nvSpPr>
            <p:cNvPr id="76" name="Google Shape;76;p2"/>
            <p:cNvSpPr/>
            <p:nvPr/>
          </p:nvSpPr>
          <p:spPr>
            <a:xfrm>
              <a:off x="769840" y="4189459"/>
              <a:ext cx="7453312" cy="761301"/>
            </a:xfrm>
            <a:prstGeom prst="roundRect">
              <a:avLst>
                <a:gd fmla="val 16667" name="adj"/>
              </a:avLst>
            </a:prstGeom>
            <a:solidFill>
              <a:srgbClr val="464646">
                <a:alpha val="4980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77" name="Google Shape;77;p2"/>
            <p:cNvSpPr/>
            <p:nvPr/>
          </p:nvSpPr>
          <p:spPr>
            <a:xfrm>
              <a:off x="785803" y="4112560"/>
              <a:ext cx="6796713" cy="759763"/>
            </a:xfrm>
            <a:prstGeom prst="roundRect">
              <a:avLst>
                <a:gd fmla="val 16667" name="adj"/>
              </a:avLst>
            </a:prstGeom>
            <a:noFill/>
            <a:ln>
              <a:noFill/>
            </a:ln>
          </p:spPr>
          <p:txBody>
            <a:bodyPr anchorCtr="0" anchor="ctr" bIns="45700" lIns="91425" spcFirstLastPara="1" rIns="91425" wrap="square" tIns="45700">
              <a:noAutofit/>
            </a:bodyPr>
            <a:lstStyle/>
            <a:p>
              <a:pPr indent="0" lvl="0" marL="903287" marR="0" rtl="0" algn="l">
                <a:lnSpc>
                  <a:spcPct val="100000"/>
                </a:lnSpc>
                <a:spcBef>
                  <a:spcPts val="0"/>
                </a:spcBef>
                <a:spcAft>
                  <a:spcPts val="0"/>
                </a:spcAft>
                <a:buClr>
                  <a:schemeClr val="lt1"/>
                </a:buClr>
                <a:buSzPts val="3200"/>
                <a:buFont typeface="Arial"/>
                <a:buNone/>
              </a:pPr>
              <a:r>
                <a:rPr b="0" i="0" lang="en-US" sz="3200" u="none">
                  <a:solidFill>
                    <a:schemeClr val="lt1"/>
                  </a:solidFill>
                  <a:latin typeface="Arial"/>
                  <a:ea typeface="Arial"/>
                  <a:cs typeface="Arial"/>
                  <a:sym typeface="Arial"/>
                </a:rPr>
                <a:t>Наивный Байесовский метод</a:t>
              </a:r>
              <a:endParaRPr/>
            </a:p>
          </p:txBody>
        </p:sp>
        <p:sp>
          <p:nvSpPr>
            <p:cNvPr id="78" name="Google Shape;78;p2"/>
            <p:cNvSpPr/>
            <p:nvPr/>
          </p:nvSpPr>
          <p:spPr>
            <a:xfrm>
              <a:off x="1070996" y="4317111"/>
              <a:ext cx="516597" cy="505996"/>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800"/>
                <a:buFont typeface="Arial"/>
                <a:buNone/>
              </a:pPr>
              <a:r>
                <a:rPr b="1" i="0" lang="en-US" sz="2800" u="none">
                  <a:solidFill>
                    <a:schemeClr val="dk2"/>
                  </a:solidFill>
                  <a:latin typeface="Arial"/>
                  <a:ea typeface="Arial"/>
                  <a:cs typeface="Arial"/>
                  <a:sym typeface="Arial"/>
                </a:rPr>
                <a:t>3</a:t>
              </a:r>
              <a:endParaRPr/>
            </a:p>
          </p:txBody>
        </p:sp>
      </p:grpSp>
      <p:grpSp>
        <p:nvGrpSpPr>
          <p:cNvPr id="79" name="Google Shape;79;p2"/>
          <p:cNvGrpSpPr/>
          <p:nvPr/>
        </p:nvGrpSpPr>
        <p:grpSpPr>
          <a:xfrm>
            <a:off x="769937" y="5211762"/>
            <a:ext cx="7461250" cy="763587"/>
            <a:chOff x="769840" y="5211110"/>
            <a:chExt cx="7461250" cy="763587"/>
          </a:xfrm>
        </p:grpSpPr>
        <p:sp>
          <p:nvSpPr>
            <p:cNvPr id="80" name="Google Shape;80;p2"/>
            <p:cNvSpPr/>
            <p:nvPr/>
          </p:nvSpPr>
          <p:spPr>
            <a:xfrm>
              <a:off x="769840" y="5211110"/>
              <a:ext cx="7461250" cy="763587"/>
            </a:xfrm>
            <a:prstGeom prst="roundRect">
              <a:avLst>
                <a:gd fmla="val 16667" name="adj"/>
              </a:avLst>
            </a:prstGeom>
            <a:solidFill>
              <a:srgbClr val="464646">
                <a:alpha val="4980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81" name="Google Shape;81;p2"/>
            <p:cNvSpPr/>
            <p:nvPr/>
          </p:nvSpPr>
          <p:spPr>
            <a:xfrm>
              <a:off x="804667" y="5212653"/>
              <a:ext cx="6785787" cy="762044"/>
            </a:xfrm>
            <a:prstGeom prst="roundRect">
              <a:avLst>
                <a:gd fmla="val 16667" name="adj"/>
              </a:avLst>
            </a:prstGeom>
            <a:noFill/>
            <a:ln>
              <a:noFill/>
            </a:ln>
          </p:spPr>
          <p:txBody>
            <a:bodyPr anchorCtr="0" anchor="ctr" bIns="45700" lIns="91425" spcFirstLastPara="1" rIns="91425" wrap="square" tIns="45700">
              <a:noAutofit/>
            </a:bodyPr>
            <a:lstStyle/>
            <a:p>
              <a:pPr indent="0" lvl="0" marL="903287" marR="0" rtl="0" algn="l">
                <a:lnSpc>
                  <a:spcPct val="100000"/>
                </a:lnSpc>
                <a:spcBef>
                  <a:spcPts val="0"/>
                </a:spcBef>
                <a:spcAft>
                  <a:spcPts val="0"/>
                </a:spcAft>
                <a:buClr>
                  <a:schemeClr val="lt1"/>
                </a:buClr>
                <a:buSzPts val="3200"/>
                <a:buFont typeface="Arial"/>
                <a:buNone/>
              </a:pPr>
              <a:r>
                <a:rPr b="0" i="0" lang="en-US" sz="3200" u="none">
                  <a:solidFill>
                    <a:schemeClr val="lt1"/>
                  </a:solidFill>
                  <a:latin typeface="Arial"/>
                  <a:ea typeface="Arial"/>
                  <a:cs typeface="Arial"/>
                  <a:sym typeface="Arial"/>
                </a:rPr>
                <a:t>Деревья решений</a:t>
              </a:r>
              <a:endParaRPr/>
            </a:p>
          </p:txBody>
        </p:sp>
        <p:sp>
          <p:nvSpPr>
            <p:cNvPr id="82" name="Google Shape;82;p2"/>
            <p:cNvSpPr/>
            <p:nvPr/>
          </p:nvSpPr>
          <p:spPr>
            <a:xfrm>
              <a:off x="1123854" y="5358027"/>
              <a:ext cx="516609" cy="507515"/>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800"/>
                <a:buFont typeface="Arial"/>
                <a:buNone/>
              </a:pPr>
              <a:r>
                <a:rPr b="1" i="0" lang="en-US" sz="2800" u="none">
                  <a:solidFill>
                    <a:schemeClr val="dk2"/>
                  </a:solidFill>
                  <a:latin typeface="Arial"/>
                  <a:ea typeface="Arial"/>
                  <a:cs typeface="Arial"/>
                  <a:sym typeface="Arial"/>
                </a:rPr>
                <a:t>4</a:t>
              </a:r>
              <a:endParaRPr/>
            </a:p>
          </p:txBody>
        </p:sp>
      </p:gr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3"/>
          <p:cNvSpPr/>
          <p:nvPr/>
        </p:nvSpPr>
        <p:spPr>
          <a:xfrm>
            <a:off x="215900" y="1606550"/>
            <a:ext cx="8712200" cy="4637087"/>
          </a:xfrm>
          <a:prstGeom prst="roundRect">
            <a:avLst>
              <a:gd fmla="val 16667" name="adj"/>
            </a:avLst>
          </a:prstGeom>
          <a:solidFill>
            <a:schemeClr val="dk2">
              <a:alpha val="49803"/>
            </a:schemeClr>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89" name="Google Shape;89;p3"/>
          <p:cNvSpPr txBox="1"/>
          <p:nvPr>
            <p:ph type="title"/>
          </p:nvPr>
        </p:nvSpPr>
        <p:spPr>
          <a:xfrm>
            <a:off x="457200" y="665162"/>
            <a:ext cx="8229600" cy="612600"/>
          </a:xfrm>
          <a:prstGeom prst="rect">
            <a:avLst/>
          </a:prstGeom>
          <a:noFill/>
          <a:ln>
            <a:noFill/>
          </a:ln>
        </p:spPr>
        <p:txBody>
          <a:bodyPr anchorCtr="0" anchor="t" bIns="44225" lIns="88450" spcFirstLastPara="1" rIns="88450" wrap="square" tIns="44225">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Задачи Data Mining</a:t>
            </a:r>
            <a:endParaRPr/>
          </a:p>
        </p:txBody>
      </p:sp>
      <p:sp>
        <p:nvSpPr>
          <p:cNvPr id="90" name="Google Shape;90;p3"/>
          <p:cNvSpPr txBox="1"/>
          <p:nvPr>
            <p:ph idx="1" type="body"/>
          </p:nvPr>
        </p:nvSpPr>
        <p:spPr>
          <a:xfrm>
            <a:off x="1255712" y="1738312"/>
            <a:ext cx="7069137" cy="4375150"/>
          </a:xfrm>
          <a:prstGeom prst="rect">
            <a:avLst/>
          </a:prstGeom>
          <a:noFill/>
          <a:ln>
            <a:noFill/>
          </a:ln>
        </p:spPr>
        <p:txBody>
          <a:bodyPr anchorCtr="0" anchor="t" bIns="44225" lIns="88450" spcFirstLastPara="1" rIns="88450" wrap="square" tIns="44225">
            <a:spAutoFit/>
          </a:bodyPr>
          <a:lstStyle/>
          <a:p>
            <a:pPr indent="-457200" lvl="0" marL="457200" rtl="0" algn="l">
              <a:lnSpc>
                <a:spcPct val="90000"/>
              </a:lnSpc>
              <a:spcBef>
                <a:spcPts val="0"/>
              </a:spcBef>
              <a:spcAft>
                <a:spcPts val="0"/>
              </a:spcAft>
              <a:buClr>
                <a:srgbClr val="F4BE96"/>
              </a:buClr>
              <a:buSzPts val="2160"/>
              <a:buFont typeface="Quattrocento Sans"/>
              <a:buAutoNum type="arabicPeriod"/>
            </a:pPr>
            <a:r>
              <a:rPr b="0" i="0" lang="en-US" sz="2700" u="none">
                <a:solidFill>
                  <a:schemeClr val="lt1"/>
                </a:solidFill>
                <a:latin typeface="Quattrocento Sans"/>
                <a:ea typeface="Quattrocento Sans"/>
                <a:cs typeface="Quattrocento Sans"/>
                <a:sym typeface="Quattrocento Sans"/>
              </a:rPr>
              <a:t>Классификация</a:t>
            </a:r>
            <a:endParaRPr/>
          </a:p>
          <a:p>
            <a:pPr indent="-457200" lvl="0" marL="457200" rtl="0" algn="l">
              <a:lnSpc>
                <a:spcPct val="90000"/>
              </a:lnSpc>
              <a:spcBef>
                <a:spcPts val="675"/>
              </a:spcBef>
              <a:spcAft>
                <a:spcPts val="0"/>
              </a:spcAft>
              <a:buClr>
                <a:srgbClr val="F4BE96"/>
              </a:buClr>
              <a:buSzPts val="2160"/>
              <a:buFont typeface="Quattrocento Sans"/>
              <a:buAutoNum type="arabicPeriod"/>
            </a:pPr>
            <a:r>
              <a:rPr b="0" i="0" lang="en-US" sz="2700" u="none">
                <a:solidFill>
                  <a:srgbClr val="BFBFBF"/>
                </a:solidFill>
                <a:latin typeface="Quattrocento Sans"/>
                <a:ea typeface="Quattrocento Sans"/>
                <a:cs typeface="Quattrocento Sans"/>
                <a:sym typeface="Quattrocento Sans"/>
              </a:rPr>
              <a:t>Кластеризация</a:t>
            </a:r>
            <a:endParaRPr/>
          </a:p>
          <a:p>
            <a:pPr indent="-457200" lvl="0" marL="457200" rtl="0" algn="l">
              <a:lnSpc>
                <a:spcPct val="90000"/>
              </a:lnSpc>
              <a:spcBef>
                <a:spcPts val="675"/>
              </a:spcBef>
              <a:spcAft>
                <a:spcPts val="0"/>
              </a:spcAft>
              <a:buClr>
                <a:srgbClr val="F4BE96"/>
              </a:buClr>
              <a:buSzPts val="2160"/>
              <a:buFont typeface="Quattrocento Sans"/>
              <a:buAutoNum type="arabicPeriod"/>
            </a:pPr>
            <a:r>
              <a:rPr b="0" i="0" lang="en-US" sz="2700" u="none">
                <a:solidFill>
                  <a:srgbClr val="BFBFBF"/>
                </a:solidFill>
                <a:latin typeface="Quattrocento Sans"/>
                <a:ea typeface="Quattrocento Sans"/>
                <a:cs typeface="Quattrocento Sans"/>
                <a:sym typeface="Quattrocento Sans"/>
              </a:rPr>
              <a:t>Прогнозирование</a:t>
            </a:r>
            <a:endParaRPr/>
          </a:p>
          <a:p>
            <a:pPr indent="-457200" lvl="0" marL="457200" rtl="0" algn="l">
              <a:lnSpc>
                <a:spcPct val="90000"/>
              </a:lnSpc>
              <a:spcBef>
                <a:spcPts val="675"/>
              </a:spcBef>
              <a:spcAft>
                <a:spcPts val="0"/>
              </a:spcAft>
              <a:buClr>
                <a:srgbClr val="F4BE96"/>
              </a:buClr>
              <a:buSzPts val="2160"/>
              <a:buFont typeface="Quattrocento Sans"/>
              <a:buAutoNum type="arabicPeriod"/>
            </a:pPr>
            <a:r>
              <a:rPr b="0" i="0" lang="en-US" sz="2700" u="none">
                <a:solidFill>
                  <a:srgbClr val="BFBFBF"/>
                </a:solidFill>
                <a:latin typeface="Quattrocento Sans"/>
                <a:ea typeface="Quattrocento Sans"/>
                <a:cs typeface="Quattrocento Sans"/>
                <a:sym typeface="Quattrocento Sans"/>
              </a:rPr>
              <a:t>Ассоциация</a:t>
            </a:r>
            <a:endParaRPr/>
          </a:p>
          <a:p>
            <a:pPr indent="-457200" lvl="0" marL="457200" rtl="0" algn="l">
              <a:lnSpc>
                <a:spcPct val="90000"/>
              </a:lnSpc>
              <a:spcBef>
                <a:spcPts val="675"/>
              </a:spcBef>
              <a:spcAft>
                <a:spcPts val="0"/>
              </a:spcAft>
              <a:buClr>
                <a:srgbClr val="F4BE96"/>
              </a:buClr>
              <a:buSzPts val="2160"/>
              <a:buFont typeface="Quattrocento Sans"/>
              <a:buAutoNum type="arabicPeriod"/>
            </a:pPr>
            <a:r>
              <a:rPr b="0" i="0" lang="en-US" sz="2700" u="none">
                <a:solidFill>
                  <a:srgbClr val="BFBFBF"/>
                </a:solidFill>
                <a:latin typeface="Quattrocento Sans"/>
                <a:ea typeface="Quattrocento Sans"/>
                <a:cs typeface="Quattrocento Sans"/>
                <a:sym typeface="Quattrocento Sans"/>
              </a:rPr>
              <a:t>Обнаружение и анализ и отклонений</a:t>
            </a:r>
            <a:endParaRPr/>
          </a:p>
          <a:p>
            <a:pPr indent="-457200" lvl="0" marL="457200" rtl="0" algn="l">
              <a:lnSpc>
                <a:spcPct val="90000"/>
              </a:lnSpc>
              <a:spcBef>
                <a:spcPts val="675"/>
              </a:spcBef>
              <a:spcAft>
                <a:spcPts val="0"/>
              </a:spcAft>
              <a:buClr>
                <a:srgbClr val="F4BE96"/>
              </a:buClr>
              <a:buSzPts val="2160"/>
              <a:buFont typeface="Quattrocento Sans"/>
              <a:buAutoNum type="arabicPeriod"/>
            </a:pPr>
            <a:r>
              <a:rPr b="0" i="0" lang="en-US" sz="2700" u="none">
                <a:solidFill>
                  <a:srgbClr val="BFBFBF"/>
                </a:solidFill>
                <a:latin typeface="Quattrocento Sans"/>
                <a:ea typeface="Quattrocento Sans"/>
                <a:cs typeface="Quattrocento Sans"/>
                <a:sym typeface="Quattrocento Sans"/>
              </a:rPr>
              <a:t>Оценивание</a:t>
            </a:r>
            <a:endParaRPr/>
          </a:p>
          <a:p>
            <a:pPr indent="-457200" lvl="0" marL="457200" rtl="0" algn="l">
              <a:lnSpc>
                <a:spcPct val="90000"/>
              </a:lnSpc>
              <a:spcBef>
                <a:spcPts val="675"/>
              </a:spcBef>
              <a:spcAft>
                <a:spcPts val="0"/>
              </a:spcAft>
              <a:buClr>
                <a:srgbClr val="F4BE96"/>
              </a:buClr>
              <a:buSzPts val="2160"/>
              <a:buFont typeface="Quattrocento Sans"/>
              <a:buAutoNum type="arabicPeriod"/>
            </a:pPr>
            <a:r>
              <a:rPr b="0" i="0" lang="en-US" sz="2700" u="none">
                <a:solidFill>
                  <a:srgbClr val="BFBFBF"/>
                </a:solidFill>
                <a:latin typeface="Quattrocento Sans"/>
                <a:ea typeface="Quattrocento Sans"/>
                <a:cs typeface="Quattrocento Sans"/>
                <a:sym typeface="Quattrocento Sans"/>
              </a:rPr>
              <a:t>Анализ связей</a:t>
            </a:r>
            <a:endParaRPr/>
          </a:p>
          <a:p>
            <a:pPr indent="-457200" lvl="0" marL="457200" rtl="0" algn="l">
              <a:lnSpc>
                <a:spcPct val="90000"/>
              </a:lnSpc>
              <a:spcBef>
                <a:spcPts val="675"/>
              </a:spcBef>
              <a:spcAft>
                <a:spcPts val="0"/>
              </a:spcAft>
              <a:buClr>
                <a:srgbClr val="F4BE96"/>
              </a:buClr>
              <a:buSzPts val="2160"/>
              <a:buFont typeface="Quattrocento Sans"/>
              <a:buAutoNum type="arabicPeriod"/>
            </a:pPr>
            <a:r>
              <a:rPr b="0" i="0" lang="en-US" sz="2700" u="none">
                <a:solidFill>
                  <a:srgbClr val="BFBFBF"/>
                </a:solidFill>
                <a:latin typeface="Quattrocento Sans"/>
                <a:ea typeface="Quattrocento Sans"/>
                <a:cs typeface="Quattrocento Sans"/>
                <a:sym typeface="Quattrocento Sans"/>
              </a:rPr>
              <a:t>Визуализация</a:t>
            </a:r>
            <a:endParaRPr/>
          </a:p>
          <a:p>
            <a:pPr indent="-457200" lvl="0" marL="457200" rtl="0" algn="l">
              <a:lnSpc>
                <a:spcPct val="90000"/>
              </a:lnSpc>
              <a:spcBef>
                <a:spcPts val="675"/>
              </a:spcBef>
              <a:spcAft>
                <a:spcPts val="0"/>
              </a:spcAft>
              <a:buClr>
                <a:srgbClr val="F4BE96"/>
              </a:buClr>
              <a:buSzPts val="2160"/>
              <a:buFont typeface="Quattrocento Sans"/>
              <a:buAutoNum type="arabicPeriod"/>
            </a:pPr>
            <a:r>
              <a:rPr b="0" i="0" lang="en-US" sz="2700" u="none">
                <a:solidFill>
                  <a:srgbClr val="BFBFBF"/>
                </a:solidFill>
                <a:latin typeface="Quattrocento Sans"/>
                <a:ea typeface="Quattrocento Sans"/>
                <a:cs typeface="Quattrocento Sans"/>
                <a:sym typeface="Quattrocento Sans"/>
              </a:rPr>
              <a:t>Подведение итогов (Summarization)</a:t>
            </a:r>
            <a:endParaRPr/>
          </a:p>
        </p:txBody>
      </p:sp>
      <p:sp>
        <p:nvSpPr>
          <p:cNvPr id="91" name="Google Shape;91;p3"/>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0">
                                            <p:txEl>
                                              <p:pRg end="0" st="0"/>
                                            </p:txEl>
                                          </p:spTgt>
                                        </p:tgtEl>
                                        <p:attrNameLst>
                                          <p:attrName>style.visibility</p:attrName>
                                        </p:attrNameLst>
                                      </p:cBhvr>
                                      <p:to>
                                        <p:strVal val="visible"/>
                                      </p:to>
                                    </p:set>
                                    <p:animEffect filter="fade" transition="in">
                                      <p:cBhvr>
                                        <p:cTn dur="2000"/>
                                        <p:tgtEl>
                                          <p:spTgt spid="90">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90">
                                            <p:txEl>
                                              <p:pRg end="1" st="1"/>
                                            </p:txEl>
                                          </p:spTgt>
                                        </p:tgtEl>
                                        <p:attrNameLst>
                                          <p:attrName>style.visibility</p:attrName>
                                        </p:attrNameLst>
                                      </p:cBhvr>
                                      <p:to>
                                        <p:strVal val="visible"/>
                                      </p:to>
                                    </p:set>
                                    <p:animEffect filter="fade" transition="in">
                                      <p:cBhvr>
                                        <p:cTn dur="2000"/>
                                        <p:tgtEl>
                                          <p:spTgt spid="90">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90">
                                            <p:txEl>
                                              <p:pRg end="2" st="2"/>
                                            </p:txEl>
                                          </p:spTgt>
                                        </p:tgtEl>
                                        <p:attrNameLst>
                                          <p:attrName>style.visibility</p:attrName>
                                        </p:attrNameLst>
                                      </p:cBhvr>
                                      <p:to>
                                        <p:strVal val="visible"/>
                                      </p:to>
                                    </p:set>
                                    <p:animEffect filter="fade" transition="in">
                                      <p:cBhvr>
                                        <p:cTn dur="2000"/>
                                        <p:tgtEl>
                                          <p:spTgt spid="90">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90">
                                            <p:txEl>
                                              <p:pRg end="3" st="3"/>
                                            </p:txEl>
                                          </p:spTgt>
                                        </p:tgtEl>
                                        <p:attrNameLst>
                                          <p:attrName>style.visibility</p:attrName>
                                        </p:attrNameLst>
                                      </p:cBhvr>
                                      <p:to>
                                        <p:strVal val="visible"/>
                                      </p:to>
                                    </p:set>
                                    <p:animEffect filter="fade" transition="in">
                                      <p:cBhvr>
                                        <p:cTn dur="2000"/>
                                        <p:tgtEl>
                                          <p:spTgt spid="90">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90">
                                            <p:txEl>
                                              <p:pRg end="4" st="4"/>
                                            </p:txEl>
                                          </p:spTgt>
                                        </p:tgtEl>
                                        <p:attrNameLst>
                                          <p:attrName>style.visibility</p:attrName>
                                        </p:attrNameLst>
                                      </p:cBhvr>
                                      <p:to>
                                        <p:strVal val="visible"/>
                                      </p:to>
                                    </p:set>
                                    <p:animEffect filter="fade" transition="in">
                                      <p:cBhvr>
                                        <p:cTn dur="2000"/>
                                        <p:tgtEl>
                                          <p:spTgt spid="90">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90">
                                            <p:txEl>
                                              <p:pRg end="5" st="5"/>
                                            </p:txEl>
                                          </p:spTgt>
                                        </p:tgtEl>
                                        <p:attrNameLst>
                                          <p:attrName>style.visibility</p:attrName>
                                        </p:attrNameLst>
                                      </p:cBhvr>
                                      <p:to>
                                        <p:strVal val="visible"/>
                                      </p:to>
                                    </p:set>
                                    <p:animEffect filter="fade" transition="in">
                                      <p:cBhvr>
                                        <p:cTn dur="2000"/>
                                        <p:tgtEl>
                                          <p:spTgt spid="90">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90">
                                            <p:txEl>
                                              <p:pRg end="6" st="6"/>
                                            </p:txEl>
                                          </p:spTgt>
                                        </p:tgtEl>
                                        <p:attrNameLst>
                                          <p:attrName>style.visibility</p:attrName>
                                        </p:attrNameLst>
                                      </p:cBhvr>
                                      <p:to>
                                        <p:strVal val="visible"/>
                                      </p:to>
                                    </p:set>
                                    <p:animEffect filter="fade" transition="in">
                                      <p:cBhvr>
                                        <p:cTn dur="2000"/>
                                        <p:tgtEl>
                                          <p:spTgt spid="90">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90">
                                            <p:txEl>
                                              <p:pRg end="7" st="7"/>
                                            </p:txEl>
                                          </p:spTgt>
                                        </p:tgtEl>
                                        <p:attrNameLst>
                                          <p:attrName>style.visibility</p:attrName>
                                        </p:attrNameLst>
                                      </p:cBhvr>
                                      <p:to>
                                        <p:strVal val="visible"/>
                                      </p:to>
                                    </p:set>
                                    <p:animEffect filter="fade" transition="in">
                                      <p:cBhvr>
                                        <p:cTn dur="2000"/>
                                        <p:tgtEl>
                                          <p:spTgt spid="90">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90">
                                            <p:txEl>
                                              <p:pRg end="8" st="8"/>
                                            </p:txEl>
                                          </p:spTgt>
                                        </p:tgtEl>
                                        <p:attrNameLst>
                                          <p:attrName>style.visibility</p:attrName>
                                        </p:attrNameLst>
                                      </p:cBhvr>
                                      <p:to>
                                        <p:strVal val="visible"/>
                                      </p:to>
                                    </p:set>
                                    <p:animEffect filter="fade" transition="in">
                                      <p:cBhvr>
                                        <p:cTn dur="2000"/>
                                        <p:tgtEl>
                                          <p:spTgt spid="90">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4"/>
          <p:cNvSpPr/>
          <p:nvPr/>
        </p:nvSpPr>
        <p:spPr>
          <a:xfrm>
            <a:off x="215900" y="1606550"/>
            <a:ext cx="8712200" cy="4975225"/>
          </a:xfrm>
          <a:prstGeom prst="roundRect">
            <a:avLst>
              <a:gd fmla="val 16667" name="adj"/>
            </a:avLst>
          </a:prstGeom>
          <a:solidFill>
            <a:schemeClr val="dk2">
              <a:alpha val="49803"/>
            </a:schemeClr>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98" name="Google Shape;98;p4"/>
          <p:cNvSpPr txBox="1"/>
          <p:nvPr>
            <p:ph type="title"/>
          </p:nvPr>
        </p:nvSpPr>
        <p:spPr>
          <a:xfrm>
            <a:off x="457200" y="512762"/>
            <a:ext cx="8229600" cy="612775"/>
          </a:xfrm>
          <a:prstGeom prst="rect">
            <a:avLst/>
          </a:prstGeom>
          <a:noFill/>
          <a:ln>
            <a:noFill/>
          </a:ln>
        </p:spPr>
        <p:txBody>
          <a:bodyPr anchorCtr="0" anchor="t" bIns="44225" lIns="88450" spcFirstLastPara="1" rIns="88450" wrap="square" tIns="44225">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Задачи Data Mining</a:t>
            </a:r>
            <a:endParaRPr/>
          </a:p>
        </p:txBody>
      </p:sp>
      <p:sp>
        <p:nvSpPr>
          <p:cNvPr id="99" name="Google Shape;99;p4"/>
          <p:cNvSpPr txBox="1"/>
          <p:nvPr>
            <p:ph idx="1" type="body"/>
          </p:nvPr>
        </p:nvSpPr>
        <p:spPr>
          <a:xfrm>
            <a:off x="457200" y="1179512"/>
            <a:ext cx="8124825" cy="854075"/>
          </a:xfrm>
          <a:prstGeom prst="rect">
            <a:avLst/>
          </a:prstGeom>
          <a:noFill/>
          <a:ln>
            <a:noFill/>
          </a:ln>
        </p:spPr>
        <p:txBody>
          <a:bodyPr anchorCtr="0" anchor="t" bIns="44225" lIns="88450" spcFirstLastPara="1" rIns="88450" wrap="square" tIns="44225">
            <a:spAutoFit/>
          </a:bodyPr>
          <a:lstStyle/>
          <a:p>
            <a:pPr indent="-457200" lvl="0" marL="457200" rtl="0" algn="l">
              <a:lnSpc>
                <a:spcPct val="90000"/>
              </a:lnSpc>
              <a:spcBef>
                <a:spcPts val="0"/>
              </a:spcBef>
              <a:spcAft>
                <a:spcPts val="0"/>
              </a:spcAft>
              <a:buClr>
                <a:srgbClr val="F4BE96"/>
              </a:buClr>
              <a:buSzPts val="2160"/>
              <a:buFont typeface="Quattrocento Sans"/>
              <a:buAutoNum type="arabicPeriod"/>
            </a:pPr>
            <a:r>
              <a:rPr b="0" i="0" lang="en-US" sz="2700" u="none">
                <a:solidFill>
                  <a:schemeClr val="lt1"/>
                </a:solidFill>
                <a:latin typeface="Quattrocento Sans"/>
                <a:ea typeface="Quattrocento Sans"/>
                <a:cs typeface="Quattrocento Sans"/>
                <a:sym typeface="Quattrocento Sans"/>
              </a:rPr>
              <a:t>Классификация реализуется алгоритмами:</a:t>
            </a:r>
            <a:endParaRPr/>
          </a:p>
        </p:txBody>
      </p:sp>
      <p:sp>
        <p:nvSpPr>
          <p:cNvPr id="100" name="Google Shape;100;p4"/>
          <p:cNvSpPr txBox="1"/>
          <p:nvPr/>
        </p:nvSpPr>
        <p:spPr>
          <a:xfrm>
            <a:off x="1077912" y="1779587"/>
            <a:ext cx="7519987" cy="48021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Times New Roman"/>
              <a:buNone/>
            </a:pPr>
            <a:r>
              <a:rPr b="1" i="0" lang="en-US" sz="1800" u="none">
                <a:solidFill>
                  <a:schemeClr val="lt1"/>
                </a:solidFill>
                <a:latin typeface="Times New Roman"/>
                <a:ea typeface="Times New Roman"/>
                <a:cs typeface="Times New Roman"/>
                <a:sym typeface="Times New Roman"/>
              </a:rPr>
              <a:t>1. Геометрические</a:t>
            </a:r>
            <a:endParaRPr/>
          </a:p>
          <a:p>
            <a:pPr indent="0" lvl="1" marL="457200" marR="0" rtl="0" algn="l">
              <a:lnSpc>
                <a:spcPct val="100000"/>
              </a:lnSpc>
              <a:spcBef>
                <a:spcPts val="0"/>
              </a:spcBef>
              <a:spcAft>
                <a:spcPts val="0"/>
              </a:spcAft>
              <a:buClr>
                <a:schemeClr val="lt1"/>
              </a:buClr>
              <a:buSzPts val="1800"/>
              <a:buFont typeface="Times New Roman"/>
              <a:buNone/>
            </a:pPr>
            <a:r>
              <a:rPr b="0" i="0" lang="en-US" sz="1800" u="none" cap="none" strike="noStrike">
                <a:solidFill>
                  <a:schemeClr val="lt1"/>
                </a:solidFill>
                <a:latin typeface="Times New Roman"/>
                <a:ea typeface="Times New Roman"/>
                <a:cs typeface="Times New Roman"/>
                <a:sym typeface="Times New Roman"/>
              </a:rPr>
              <a:t>a. K-ближайших соседей (kNN)</a:t>
            </a:r>
            <a:endParaRPr/>
          </a:p>
          <a:p>
            <a:pPr indent="0" lvl="1" marL="457200" marR="0" rtl="0" algn="l">
              <a:lnSpc>
                <a:spcPct val="100000"/>
              </a:lnSpc>
              <a:spcBef>
                <a:spcPts val="0"/>
              </a:spcBef>
              <a:spcAft>
                <a:spcPts val="0"/>
              </a:spcAft>
              <a:buClr>
                <a:srgbClr val="FFFF00"/>
              </a:buClr>
              <a:buSzPts val="1800"/>
              <a:buFont typeface="Times New Roman"/>
              <a:buNone/>
            </a:pPr>
            <a:r>
              <a:rPr b="0" i="0" lang="en-US" sz="1800" u="none" cap="none" strike="noStrike">
                <a:solidFill>
                  <a:srgbClr val="FFFF00"/>
                </a:solidFill>
                <a:latin typeface="Times New Roman"/>
                <a:ea typeface="Times New Roman"/>
                <a:cs typeface="Times New Roman"/>
                <a:sym typeface="Times New Roman"/>
              </a:rPr>
              <a:t>b. Логистическая регрессия</a:t>
            </a:r>
            <a:endParaRPr/>
          </a:p>
          <a:p>
            <a:pPr indent="0" lvl="1" marL="457200" marR="0" rtl="0" algn="l">
              <a:lnSpc>
                <a:spcPct val="100000"/>
              </a:lnSpc>
              <a:spcBef>
                <a:spcPts val="0"/>
              </a:spcBef>
              <a:spcAft>
                <a:spcPts val="0"/>
              </a:spcAft>
              <a:buClr>
                <a:srgbClr val="FFFF00"/>
              </a:buClr>
              <a:buSzPts val="1800"/>
              <a:buFont typeface="Times New Roman"/>
              <a:buNone/>
            </a:pPr>
            <a:r>
              <a:rPr b="0" i="0" lang="en-US" sz="1800" u="none" cap="none" strike="noStrike">
                <a:solidFill>
                  <a:srgbClr val="FFFF00"/>
                </a:solidFill>
                <a:latin typeface="Times New Roman"/>
                <a:ea typeface="Times New Roman"/>
                <a:cs typeface="Times New Roman"/>
                <a:sym typeface="Times New Roman"/>
              </a:rPr>
              <a:t>c. Машины опорных векторов (SVM)</a:t>
            </a:r>
            <a:endParaRPr b="1" i="0" sz="1800" u="none" cap="none" strike="noStrike">
              <a:solidFill>
                <a:srgbClr val="FFFF00"/>
              </a:solidFill>
              <a:latin typeface="Quattrocento Sans"/>
              <a:ea typeface="Quattrocento Sans"/>
              <a:cs typeface="Quattrocento Sans"/>
              <a:sym typeface="Quattrocento Sans"/>
            </a:endParaRPr>
          </a:p>
          <a:p>
            <a:pPr indent="0" lvl="1" marL="457200" marR="0" rtl="0" algn="l">
              <a:lnSpc>
                <a:spcPct val="100000"/>
              </a:lnSpc>
              <a:spcBef>
                <a:spcPts val="0"/>
              </a:spcBef>
              <a:spcAft>
                <a:spcPts val="0"/>
              </a:spcAft>
              <a:buClr>
                <a:schemeClr val="lt1"/>
              </a:buClr>
              <a:buSzPts val="1800"/>
              <a:buFont typeface="Times New Roman"/>
              <a:buNone/>
            </a:pPr>
            <a:r>
              <a:rPr b="0" i="0" lang="en-US" sz="1800" u="none" cap="none" strike="noStrike">
                <a:solidFill>
                  <a:schemeClr val="lt1"/>
                </a:solidFill>
                <a:latin typeface="Times New Roman"/>
                <a:ea typeface="Times New Roman"/>
                <a:cs typeface="Times New Roman"/>
                <a:sym typeface="Times New Roman"/>
              </a:rPr>
              <a:t>d. Кластеризация K-средних (K-means)</a:t>
            </a:r>
            <a:endParaRPr/>
          </a:p>
          <a:p>
            <a:pPr indent="0" lvl="0" marL="0" marR="0" rtl="0" algn="l">
              <a:lnSpc>
                <a:spcPct val="100000"/>
              </a:lnSpc>
              <a:spcBef>
                <a:spcPts val="0"/>
              </a:spcBef>
              <a:spcAft>
                <a:spcPts val="0"/>
              </a:spcAft>
              <a:buClr>
                <a:schemeClr val="lt1"/>
              </a:buClr>
              <a:buSzPts val="1800"/>
              <a:buFont typeface="Times New Roman"/>
              <a:buNone/>
            </a:pPr>
            <a:r>
              <a:rPr b="1" i="0" lang="en-US" sz="1800" u="none">
                <a:solidFill>
                  <a:schemeClr val="lt1"/>
                </a:solidFill>
                <a:latin typeface="Times New Roman"/>
                <a:ea typeface="Times New Roman"/>
                <a:cs typeface="Times New Roman"/>
                <a:sym typeface="Times New Roman"/>
              </a:rPr>
              <a:t>2. Вероятностные</a:t>
            </a:r>
            <a:endParaRPr/>
          </a:p>
          <a:p>
            <a:pPr indent="0" lvl="1" marL="457200" marR="0" rtl="0" algn="l">
              <a:lnSpc>
                <a:spcPct val="100000"/>
              </a:lnSpc>
              <a:spcBef>
                <a:spcPts val="0"/>
              </a:spcBef>
              <a:spcAft>
                <a:spcPts val="0"/>
              </a:spcAft>
              <a:buClr>
                <a:srgbClr val="FFFF00"/>
              </a:buClr>
              <a:buSzPts val="1800"/>
              <a:buFont typeface="Times New Roman"/>
              <a:buNone/>
            </a:pPr>
            <a:r>
              <a:rPr b="0" i="0" lang="en-US" sz="1800" u="none" cap="none" strike="noStrike">
                <a:solidFill>
                  <a:srgbClr val="FFFF00"/>
                </a:solidFill>
                <a:latin typeface="Times New Roman"/>
                <a:ea typeface="Times New Roman"/>
                <a:cs typeface="Times New Roman"/>
                <a:sym typeface="Times New Roman"/>
              </a:rPr>
              <a:t>a. Байесовский классификатор</a:t>
            </a:r>
            <a:endParaRPr/>
          </a:p>
          <a:p>
            <a:pPr indent="0" lvl="1" marL="457200" marR="0" rtl="0" algn="l">
              <a:lnSpc>
                <a:spcPct val="100000"/>
              </a:lnSpc>
              <a:spcBef>
                <a:spcPts val="0"/>
              </a:spcBef>
              <a:spcAft>
                <a:spcPts val="0"/>
              </a:spcAft>
              <a:buClr>
                <a:schemeClr val="lt1"/>
              </a:buClr>
              <a:buSzPts val="1800"/>
              <a:buFont typeface="Times New Roman"/>
              <a:buNone/>
            </a:pPr>
            <a:r>
              <a:rPr b="0" i="0" lang="en-US" sz="1800" u="none" cap="none" strike="noStrike">
                <a:solidFill>
                  <a:schemeClr val="lt1"/>
                </a:solidFill>
                <a:latin typeface="Times New Roman"/>
                <a:ea typeface="Times New Roman"/>
                <a:cs typeface="Times New Roman"/>
                <a:sym typeface="Times New Roman"/>
              </a:rPr>
              <a:t>b. Поиск максимального правдоподобия (EM)</a:t>
            </a:r>
            <a:endParaRPr/>
          </a:p>
          <a:p>
            <a:pPr indent="0" lvl="1" marL="457200" marR="0" rtl="0" algn="l">
              <a:lnSpc>
                <a:spcPct val="100000"/>
              </a:lnSpc>
              <a:spcBef>
                <a:spcPts val="0"/>
              </a:spcBef>
              <a:spcAft>
                <a:spcPts val="0"/>
              </a:spcAft>
              <a:buClr>
                <a:schemeClr val="lt1"/>
              </a:buClr>
              <a:buSzPts val="1800"/>
              <a:buFont typeface="Times New Roman"/>
              <a:buNone/>
            </a:pPr>
            <a:r>
              <a:rPr b="0" i="0" lang="en-US" sz="1800" u="none" cap="none" strike="noStrike">
                <a:solidFill>
                  <a:schemeClr val="lt1"/>
                </a:solidFill>
                <a:latin typeface="Times New Roman"/>
                <a:ea typeface="Times New Roman"/>
                <a:cs typeface="Times New Roman"/>
                <a:sym typeface="Times New Roman"/>
              </a:rPr>
              <a:t>c. Скрытые марковские модели (HMM)</a:t>
            </a:r>
            <a:endParaRPr/>
          </a:p>
          <a:p>
            <a:pPr indent="0" lvl="0" marL="0" marR="0" rtl="0" algn="l">
              <a:lnSpc>
                <a:spcPct val="100000"/>
              </a:lnSpc>
              <a:spcBef>
                <a:spcPts val="0"/>
              </a:spcBef>
              <a:spcAft>
                <a:spcPts val="0"/>
              </a:spcAft>
              <a:buClr>
                <a:schemeClr val="lt1"/>
              </a:buClr>
              <a:buSzPts val="1800"/>
              <a:buFont typeface="Times New Roman"/>
              <a:buNone/>
            </a:pPr>
            <a:r>
              <a:rPr b="1" i="0" lang="en-US" sz="1800" u="none">
                <a:solidFill>
                  <a:schemeClr val="lt1"/>
                </a:solidFill>
                <a:latin typeface="Times New Roman"/>
                <a:ea typeface="Times New Roman"/>
                <a:cs typeface="Times New Roman"/>
                <a:sym typeface="Times New Roman"/>
              </a:rPr>
              <a:t>3. Логические</a:t>
            </a:r>
            <a:endParaRPr/>
          </a:p>
          <a:p>
            <a:pPr indent="0" lvl="1" marL="457200" marR="0" rtl="0" algn="l">
              <a:lnSpc>
                <a:spcPct val="100000"/>
              </a:lnSpc>
              <a:spcBef>
                <a:spcPts val="0"/>
              </a:spcBef>
              <a:spcAft>
                <a:spcPts val="0"/>
              </a:spcAft>
              <a:buClr>
                <a:srgbClr val="FFFF00"/>
              </a:buClr>
              <a:buSzPts val="1800"/>
              <a:buFont typeface="Times New Roman"/>
              <a:buNone/>
            </a:pPr>
            <a:r>
              <a:rPr b="0" i="0" lang="en-US" sz="1800" u="none" cap="none" strike="noStrike">
                <a:solidFill>
                  <a:srgbClr val="FFFF00"/>
                </a:solidFill>
                <a:latin typeface="Times New Roman"/>
                <a:ea typeface="Times New Roman"/>
                <a:cs typeface="Times New Roman"/>
                <a:sym typeface="Times New Roman"/>
              </a:rPr>
              <a:t>a. Деревья решений</a:t>
            </a:r>
            <a:endParaRPr/>
          </a:p>
          <a:p>
            <a:pPr indent="0" lvl="1" marL="457200" marR="0" rtl="0" algn="l">
              <a:lnSpc>
                <a:spcPct val="100000"/>
              </a:lnSpc>
              <a:spcBef>
                <a:spcPts val="0"/>
              </a:spcBef>
              <a:spcAft>
                <a:spcPts val="0"/>
              </a:spcAft>
              <a:buClr>
                <a:schemeClr val="lt1"/>
              </a:buClr>
              <a:buSzPts val="1800"/>
              <a:buFont typeface="Times New Roman"/>
              <a:buNone/>
            </a:pPr>
            <a:r>
              <a:rPr b="0" i="0" lang="en-US" sz="1800" u="none" cap="none" strike="noStrike">
                <a:solidFill>
                  <a:schemeClr val="lt1"/>
                </a:solidFill>
                <a:latin typeface="Times New Roman"/>
                <a:ea typeface="Times New Roman"/>
                <a:cs typeface="Times New Roman"/>
                <a:sym typeface="Times New Roman"/>
              </a:rPr>
              <a:t>b. Ассоциативные правила</a:t>
            </a:r>
            <a:endParaRPr/>
          </a:p>
          <a:p>
            <a:pPr indent="0" lvl="0" marL="0" marR="0" rtl="0" algn="l">
              <a:lnSpc>
                <a:spcPct val="100000"/>
              </a:lnSpc>
              <a:spcBef>
                <a:spcPts val="0"/>
              </a:spcBef>
              <a:spcAft>
                <a:spcPts val="0"/>
              </a:spcAft>
              <a:buClr>
                <a:schemeClr val="lt1"/>
              </a:buClr>
              <a:buSzPts val="1800"/>
              <a:buFont typeface="Times New Roman"/>
              <a:buNone/>
            </a:pPr>
            <a:r>
              <a:rPr b="1" i="0" lang="en-US" sz="1800" u="none">
                <a:solidFill>
                  <a:schemeClr val="lt1"/>
                </a:solidFill>
                <a:latin typeface="Times New Roman"/>
                <a:ea typeface="Times New Roman"/>
                <a:cs typeface="Times New Roman"/>
                <a:sym typeface="Times New Roman"/>
              </a:rPr>
              <a:t>4. Ансамбли</a:t>
            </a:r>
            <a:endParaRPr/>
          </a:p>
          <a:p>
            <a:pPr indent="0" lvl="1" marL="457200" marR="0" rtl="0" algn="l">
              <a:lnSpc>
                <a:spcPct val="100000"/>
              </a:lnSpc>
              <a:spcBef>
                <a:spcPts val="0"/>
              </a:spcBef>
              <a:spcAft>
                <a:spcPts val="0"/>
              </a:spcAft>
              <a:buClr>
                <a:schemeClr val="lt1"/>
              </a:buClr>
              <a:buSzPts val="1800"/>
              <a:buFont typeface="Times New Roman"/>
              <a:buNone/>
            </a:pPr>
            <a:r>
              <a:rPr b="0" i="0" lang="en-US" sz="1800" u="none" cap="none" strike="noStrike">
                <a:solidFill>
                  <a:schemeClr val="lt1"/>
                </a:solidFill>
                <a:latin typeface="Times New Roman"/>
                <a:ea typeface="Times New Roman"/>
                <a:cs typeface="Times New Roman"/>
                <a:sym typeface="Times New Roman"/>
              </a:rPr>
              <a:t>a. </a:t>
            </a:r>
            <a:r>
              <a:rPr b="0" i="0" lang="en-US" sz="1800" u="none" cap="none" strike="noStrike">
                <a:solidFill>
                  <a:srgbClr val="FFFF00"/>
                </a:solidFill>
                <a:latin typeface="Times New Roman"/>
                <a:ea typeface="Times New Roman"/>
                <a:cs typeface="Times New Roman"/>
                <a:sym typeface="Times New Roman"/>
              </a:rPr>
              <a:t>Усиление (boosting) – Random Forest</a:t>
            </a:r>
            <a:endParaRPr/>
          </a:p>
          <a:p>
            <a:pPr indent="0" lvl="1" marL="457200" marR="0" rtl="0" algn="l">
              <a:lnSpc>
                <a:spcPct val="100000"/>
              </a:lnSpc>
              <a:spcBef>
                <a:spcPts val="0"/>
              </a:spcBef>
              <a:spcAft>
                <a:spcPts val="0"/>
              </a:spcAft>
              <a:buClr>
                <a:schemeClr val="lt1"/>
              </a:buClr>
              <a:buSzPts val="1800"/>
              <a:buFont typeface="Times New Roman"/>
              <a:buNone/>
            </a:pPr>
            <a:r>
              <a:rPr b="0" i="0" lang="en-US" sz="1800" u="none" cap="none" strike="noStrike">
                <a:solidFill>
                  <a:schemeClr val="lt1"/>
                </a:solidFill>
                <a:latin typeface="Times New Roman"/>
                <a:ea typeface="Times New Roman"/>
                <a:cs typeface="Times New Roman"/>
                <a:sym typeface="Times New Roman"/>
              </a:rPr>
              <a:t>b. Bagging</a:t>
            </a:r>
            <a:endParaRPr/>
          </a:p>
          <a:p>
            <a:pPr indent="0" lvl="1" marL="457200" marR="0" rtl="0" algn="l">
              <a:lnSpc>
                <a:spcPct val="100000"/>
              </a:lnSpc>
              <a:spcBef>
                <a:spcPts val="0"/>
              </a:spcBef>
              <a:spcAft>
                <a:spcPts val="0"/>
              </a:spcAft>
              <a:buClr>
                <a:schemeClr val="lt1"/>
              </a:buClr>
              <a:buSzPts val="1800"/>
              <a:buFont typeface="Times New Roman"/>
              <a:buNone/>
            </a:pPr>
            <a:r>
              <a:rPr b="0" i="0" lang="en-US" sz="1800" u="none" cap="none" strike="noStrike">
                <a:solidFill>
                  <a:schemeClr val="lt1"/>
                </a:solidFill>
                <a:latin typeface="Times New Roman"/>
                <a:ea typeface="Times New Roman"/>
                <a:cs typeface="Times New Roman"/>
                <a:sym typeface="Times New Roman"/>
              </a:rPr>
              <a:t>c. Стэковое обобщение</a:t>
            </a:r>
            <a:r>
              <a:rPr b="1" i="0" lang="en-US" sz="1800" u="none" cap="none" strike="noStrike">
                <a:solidFill>
                  <a:schemeClr val="lt1"/>
                </a:solidFill>
                <a:latin typeface="Quattrocento Sans"/>
                <a:ea typeface="Quattrocento Sans"/>
                <a:cs typeface="Quattrocento Sans"/>
                <a:sym typeface="Quattrocento Sans"/>
              </a:rPr>
              <a:t> </a:t>
            </a:r>
            <a:br>
              <a:rPr b="1" i="0" lang="en-US" sz="1800" u="none" cap="none" strike="noStrike">
                <a:solidFill>
                  <a:schemeClr val="lt1"/>
                </a:solidFill>
                <a:latin typeface="Quattrocento Sans"/>
                <a:ea typeface="Quattrocento Sans"/>
                <a:cs typeface="Quattrocento Sans"/>
                <a:sym typeface="Quattrocento Sans"/>
              </a:rPr>
            </a:br>
            <a:endParaRPr/>
          </a:p>
        </p:txBody>
      </p:sp>
      <p:sp>
        <p:nvSpPr>
          <p:cNvPr id="101" name="Google Shape;101;p4"/>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9">
                                            <p:txEl>
                                              <p:pRg end="0" st="0"/>
                                            </p:txEl>
                                          </p:spTgt>
                                        </p:tgtEl>
                                        <p:attrNameLst>
                                          <p:attrName>style.visibility</p:attrName>
                                        </p:attrNameLst>
                                      </p:cBhvr>
                                      <p:to>
                                        <p:strVal val="visible"/>
                                      </p:to>
                                    </p:set>
                                    <p:animEffect filter="fade" transition="in">
                                      <p:cBhvr>
                                        <p:cTn dur="2000"/>
                                        <p:tgtEl>
                                          <p:spTgt spid="99">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5"/>
          <p:cNvSpPr/>
          <p:nvPr/>
        </p:nvSpPr>
        <p:spPr>
          <a:xfrm>
            <a:off x="215900" y="1125537"/>
            <a:ext cx="8712200" cy="5456237"/>
          </a:xfrm>
          <a:prstGeom prst="roundRect">
            <a:avLst>
              <a:gd fmla="val 16667" name="adj"/>
            </a:avLst>
          </a:prstGeom>
          <a:solidFill>
            <a:schemeClr val="dk2">
              <a:alpha val="49803"/>
            </a:schemeClr>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108" name="Google Shape;108;p5"/>
          <p:cNvSpPr txBox="1"/>
          <p:nvPr>
            <p:ph type="title"/>
          </p:nvPr>
        </p:nvSpPr>
        <p:spPr>
          <a:xfrm>
            <a:off x="457200" y="512762"/>
            <a:ext cx="8229600" cy="612775"/>
          </a:xfrm>
          <a:prstGeom prst="rect">
            <a:avLst/>
          </a:prstGeom>
          <a:noFill/>
          <a:ln>
            <a:noFill/>
          </a:ln>
        </p:spPr>
        <p:txBody>
          <a:bodyPr anchorCtr="0" anchor="t" bIns="44225" lIns="88450" spcFirstLastPara="1" rIns="88450" wrap="square" tIns="44225">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Классификация</a:t>
            </a:r>
            <a:endParaRPr/>
          </a:p>
        </p:txBody>
      </p:sp>
      <p:sp>
        <p:nvSpPr>
          <p:cNvPr id="109" name="Google Shape;109;p5"/>
          <p:cNvSpPr txBox="1"/>
          <p:nvPr/>
        </p:nvSpPr>
        <p:spPr>
          <a:xfrm>
            <a:off x="561975" y="1295400"/>
            <a:ext cx="8020050" cy="19383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Times New Roman"/>
              <a:buNone/>
            </a:pPr>
            <a:r>
              <a:rPr b="0" i="0" lang="en-US" sz="2000" u="none">
                <a:solidFill>
                  <a:schemeClr val="lt1"/>
                </a:solidFill>
                <a:latin typeface="Times New Roman"/>
                <a:ea typeface="Times New Roman"/>
                <a:cs typeface="Times New Roman"/>
                <a:sym typeface="Times New Roman"/>
              </a:rPr>
              <a:t>Выбор того или иного алгоритма обусловливается задачей, которую предстоит решить, и имеющимися данными, их природой, полнотой и качеством описания. Разработчики самой популярной на настоящее время библиотеки для анализа данных scikit-learn на своем сайте [1] опубликовали диаграмму для выбора алгоритма:</a:t>
            </a:r>
            <a:br>
              <a:rPr b="1" i="0" lang="en-US" sz="2000" u="none">
                <a:solidFill>
                  <a:schemeClr val="lt1"/>
                </a:solidFill>
                <a:latin typeface="Quattrocento Sans"/>
                <a:ea typeface="Quattrocento Sans"/>
                <a:cs typeface="Quattrocento Sans"/>
                <a:sym typeface="Quattrocento Sans"/>
              </a:rPr>
            </a:br>
            <a:endParaRPr/>
          </a:p>
        </p:txBody>
      </p:sp>
      <p:sp>
        <p:nvSpPr>
          <p:cNvPr id="110" name="Google Shape;110;p5"/>
          <p:cNvSpPr txBox="1"/>
          <p:nvPr/>
        </p:nvSpPr>
        <p:spPr>
          <a:xfrm>
            <a:off x="869950" y="6021387"/>
            <a:ext cx="7404000" cy="647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Quattrocento Sans"/>
              <a:buNone/>
            </a:pPr>
            <a:r>
              <a:rPr b="1" i="0" lang="en-US" sz="1800" u="none">
                <a:solidFill>
                  <a:schemeClr val="lt1"/>
                </a:solidFill>
                <a:latin typeface="Quattrocento Sans"/>
                <a:ea typeface="Quattrocento Sans"/>
                <a:cs typeface="Quattrocento Sans"/>
                <a:sym typeface="Quattrocento Sans"/>
              </a:rPr>
              <a:t>[1] </a:t>
            </a:r>
            <a:r>
              <a:rPr b="0" i="0" lang="en-US" sz="1800" u="none">
                <a:solidFill>
                  <a:schemeClr val="lt1"/>
                </a:solidFill>
                <a:latin typeface="Times New Roman"/>
                <a:ea typeface="Times New Roman"/>
                <a:cs typeface="Times New Roman"/>
                <a:sym typeface="Times New Roman"/>
              </a:rPr>
              <a:t>Choosing the right estimator</a:t>
            </a:r>
            <a:r>
              <a:rPr b="1" i="0" lang="en-US" sz="1800" u="none">
                <a:solidFill>
                  <a:schemeClr val="lt1"/>
                </a:solidFill>
                <a:latin typeface="Quattrocento Sans"/>
                <a:ea typeface="Quattrocento Sans"/>
                <a:cs typeface="Quattrocento Sans"/>
                <a:sym typeface="Quattrocento Sans"/>
              </a:rPr>
              <a:t> </a:t>
            </a:r>
            <a:br>
              <a:rPr b="1" i="0" lang="en-US" sz="1800" u="none">
                <a:solidFill>
                  <a:schemeClr val="lt1"/>
                </a:solidFill>
                <a:latin typeface="Quattrocento Sans"/>
                <a:ea typeface="Quattrocento Sans"/>
                <a:cs typeface="Quattrocento Sans"/>
                <a:sym typeface="Quattrocento Sans"/>
              </a:rPr>
            </a:br>
            <a:r>
              <a:rPr b="1" i="0" lang="en-US" sz="1800" u="none">
                <a:solidFill>
                  <a:schemeClr val="lt1"/>
                </a:solidFill>
                <a:latin typeface="Quattrocento Sans"/>
                <a:ea typeface="Quattrocento Sans"/>
                <a:cs typeface="Quattrocento Sans"/>
                <a:sym typeface="Quattrocento Sans"/>
              </a:rPr>
              <a:t>  </a:t>
            </a:r>
            <a:r>
              <a:rPr b="1" i="0" lang="en-US" sz="1600" u="none">
                <a:solidFill>
                  <a:schemeClr val="lt1"/>
                </a:solidFill>
                <a:latin typeface="Quattrocento Sans"/>
                <a:ea typeface="Quattrocento Sans"/>
                <a:cs typeface="Quattrocento Sans"/>
                <a:sym typeface="Quattrocento Sans"/>
              </a:rPr>
              <a:t>https://scikit-learn.org/stable/tutorial/machine_learning_map/index.htm</a:t>
            </a:r>
            <a:r>
              <a:rPr b="1" i="0" lang="en-US" sz="1600" u="none">
                <a:solidFill>
                  <a:schemeClr val="lt1"/>
                </a:solidFill>
                <a:latin typeface="Quattrocento Sans"/>
                <a:ea typeface="Quattrocento Sans"/>
                <a:cs typeface="Quattrocento Sans"/>
                <a:sym typeface="Quattrocento Sans"/>
              </a:rPr>
              <a:t>l</a:t>
            </a:r>
            <a:endParaRPr/>
          </a:p>
        </p:txBody>
      </p:sp>
      <p:pic>
        <p:nvPicPr>
          <p:cNvPr id="111" name="Google Shape;111;p5"/>
          <p:cNvPicPr preferRelativeResize="0"/>
          <p:nvPr/>
        </p:nvPicPr>
        <p:blipFill rotWithShape="1">
          <a:blip r:embed="rId3">
            <a:alphaModFix/>
          </a:blip>
          <a:srcRect b="0" l="0" r="0" t="0"/>
          <a:stretch/>
        </p:blipFill>
        <p:spPr>
          <a:xfrm>
            <a:off x="1577975" y="2889250"/>
            <a:ext cx="5635625" cy="3063875"/>
          </a:xfrm>
          <a:prstGeom prst="rect">
            <a:avLst/>
          </a:prstGeom>
          <a:noFill/>
          <a:ln>
            <a:noFill/>
          </a:ln>
        </p:spPr>
      </p:pic>
      <p:sp>
        <p:nvSpPr>
          <p:cNvPr id="112" name="Google Shape;112;p5"/>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6"/>
          <p:cNvSpPr/>
          <p:nvPr/>
        </p:nvSpPr>
        <p:spPr>
          <a:xfrm>
            <a:off x="215900" y="1125537"/>
            <a:ext cx="8712200" cy="5456237"/>
          </a:xfrm>
          <a:prstGeom prst="roundRect">
            <a:avLst>
              <a:gd fmla="val 16667" name="adj"/>
            </a:avLst>
          </a:prstGeom>
          <a:solidFill>
            <a:schemeClr val="dk2">
              <a:alpha val="49803"/>
            </a:schemeClr>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119" name="Google Shape;119;p6"/>
          <p:cNvSpPr txBox="1"/>
          <p:nvPr>
            <p:ph type="title"/>
          </p:nvPr>
        </p:nvSpPr>
        <p:spPr>
          <a:xfrm>
            <a:off x="457200" y="512762"/>
            <a:ext cx="8229600" cy="612775"/>
          </a:xfrm>
          <a:prstGeom prst="rect">
            <a:avLst/>
          </a:prstGeom>
          <a:noFill/>
          <a:ln>
            <a:noFill/>
          </a:ln>
        </p:spPr>
        <p:txBody>
          <a:bodyPr anchorCtr="0" anchor="t" bIns="44225" lIns="88450" spcFirstLastPara="1" rIns="88450" wrap="square" tIns="44225">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Классификация</a:t>
            </a:r>
            <a:endParaRPr/>
          </a:p>
        </p:txBody>
      </p:sp>
      <p:sp>
        <p:nvSpPr>
          <p:cNvPr id="120" name="Google Shape;120;p6"/>
          <p:cNvSpPr txBox="1"/>
          <p:nvPr/>
        </p:nvSpPr>
        <p:spPr>
          <a:xfrm>
            <a:off x="561975" y="2238375"/>
            <a:ext cx="8366125" cy="3848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200"/>
              <a:buFont typeface="Times New Roman"/>
              <a:buNone/>
            </a:pPr>
            <a:r>
              <a:rPr b="0" i="0" lang="en-US" sz="2200" u="none">
                <a:solidFill>
                  <a:schemeClr val="lt1"/>
                </a:solidFill>
                <a:latin typeface="Times New Roman"/>
                <a:ea typeface="Times New Roman"/>
                <a:cs typeface="Times New Roman"/>
                <a:sym typeface="Times New Roman"/>
              </a:rPr>
              <a:t>Чем выше размер обучающей выборки, тем выше точность. Теоретически… На самом деле наступает момент, когда с ростом размера выборки качество обучения либо выходит на плато, либо даже начинает падать. Это можно отследить по кривой обучения, показывающей зависимость между размером выборки и качеством модели. Малая обучающая выборка может плохо сказаться на обобщающей способности. Старайтесь, чтобы на каждый класс было не меньше </a:t>
            </a:r>
            <a:r>
              <a:rPr b="1" i="0" lang="en-US" sz="2200" u="none">
                <a:solidFill>
                  <a:srgbClr val="FFFF00"/>
                </a:solidFill>
                <a:latin typeface="Times New Roman"/>
                <a:ea typeface="Times New Roman"/>
                <a:cs typeface="Times New Roman"/>
                <a:sym typeface="Times New Roman"/>
              </a:rPr>
              <a:t>1000</a:t>
            </a:r>
            <a:r>
              <a:rPr b="0" i="0" lang="en-US" sz="2200" u="none">
                <a:solidFill>
                  <a:schemeClr val="lt1"/>
                </a:solidFill>
                <a:latin typeface="Times New Roman"/>
                <a:ea typeface="Times New Roman"/>
                <a:cs typeface="Times New Roman"/>
                <a:sym typeface="Times New Roman"/>
              </a:rPr>
              <a:t> примеров. Тем не менее, и на 100 примерах можно обучить качественную модель, во всяком случае до 2012 года так и делали.</a:t>
            </a:r>
            <a:br>
              <a:rPr b="1" i="0" lang="en-US" sz="2400" u="none">
                <a:solidFill>
                  <a:schemeClr val="lt1"/>
                </a:solidFill>
                <a:latin typeface="Quattrocento Sans"/>
                <a:ea typeface="Quattrocento Sans"/>
                <a:cs typeface="Quattrocento Sans"/>
                <a:sym typeface="Quattrocento Sans"/>
              </a:rPr>
            </a:br>
            <a:endParaRPr/>
          </a:p>
        </p:txBody>
      </p:sp>
      <p:sp>
        <p:nvSpPr>
          <p:cNvPr id="121" name="Google Shape;121;p6"/>
          <p:cNvSpPr txBox="1"/>
          <p:nvPr/>
        </p:nvSpPr>
        <p:spPr>
          <a:xfrm>
            <a:off x="1438275" y="1438275"/>
            <a:ext cx="6267450" cy="4016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000"/>
              <a:buFont typeface="Quattrocento Sans"/>
              <a:buNone/>
            </a:pPr>
            <a:r>
              <a:rPr b="1" i="0" lang="en-US" sz="2000" u="none">
                <a:solidFill>
                  <a:schemeClr val="lt1"/>
                </a:solidFill>
                <a:latin typeface="Quattrocento Sans"/>
                <a:ea typeface="Quattrocento Sans"/>
                <a:cs typeface="Quattrocento Sans"/>
                <a:sym typeface="Quattrocento Sans"/>
              </a:rPr>
              <a:t>Рекомендуемый размер обучающей выборки</a:t>
            </a:r>
            <a:endParaRPr/>
          </a:p>
        </p:txBody>
      </p:sp>
      <p:sp>
        <p:nvSpPr>
          <p:cNvPr id="122" name="Google Shape;122;p6"/>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7"/>
          <p:cNvSpPr txBox="1"/>
          <p:nvPr>
            <p:ph type="title"/>
          </p:nvPr>
        </p:nvSpPr>
        <p:spPr>
          <a:xfrm>
            <a:off x="628650" y="2859087"/>
            <a:ext cx="7886700" cy="877887"/>
          </a:xfrm>
          <a:prstGeom prst="rect">
            <a:avLst/>
          </a:prstGeom>
          <a:noFill/>
          <a:ln>
            <a:noFill/>
          </a:ln>
        </p:spPr>
        <p:txBody>
          <a:bodyPr anchorCtr="0" anchor="b" bIns="45700" lIns="91425" spcFirstLastPara="1" rIns="91425" wrap="square" tIns="45700">
            <a:spAutoFit/>
          </a:bodyPr>
          <a:lstStyle/>
          <a:p>
            <a:pPr indent="0" lvl="0" marL="0" rtl="0" algn="l">
              <a:lnSpc>
                <a:spcPct val="85000"/>
              </a:lnSpc>
              <a:spcBef>
                <a:spcPts val="0"/>
              </a:spcBef>
              <a:spcAft>
                <a:spcPts val="0"/>
              </a:spcAft>
              <a:buClr>
                <a:schemeClr val="lt2"/>
              </a:buClr>
              <a:buSzPts val="6000"/>
              <a:buFont typeface="Quattrocento Sans"/>
              <a:buNone/>
            </a:pPr>
            <a:r>
              <a:rPr b="0" i="0" lang="en-US" sz="6000" u="none">
                <a:solidFill>
                  <a:schemeClr val="lt2"/>
                </a:solidFill>
                <a:latin typeface="Quattrocento Sans"/>
                <a:ea typeface="Quattrocento Sans"/>
                <a:cs typeface="Quattrocento Sans"/>
                <a:sym typeface="Quattrocento Sans"/>
              </a:rPr>
              <a:t>Регрессия</a:t>
            </a:r>
            <a:endParaRPr/>
          </a:p>
        </p:txBody>
      </p:sp>
      <p:pic>
        <p:nvPicPr>
          <p:cNvPr id="128" name="Google Shape;128;p7"/>
          <p:cNvPicPr preferRelativeResize="0"/>
          <p:nvPr/>
        </p:nvPicPr>
        <p:blipFill rotWithShape="1">
          <a:blip r:embed="rId3">
            <a:alphaModFix/>
          </a:blip>
          <a:srcRect b="0" l="0" r="0" t="0"/>
          <a:stretch/>
        </p:blipFill>
        <p:spPr>
          <a:xfrm>
            <a:off x="5118100" y="3736975"/>
            <a:ext cx="3589337" cy="2297112"/>
          </a:xfrm>
          <a:prstGeom prst="rect">
            <a:avLst/>
          </a:prstGeom>
          <a:noFill/>
          <a:ln>
            <a:noFill/>
          </a:ln>
        </p:spPr>
      </p:pic>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8"/>
          <p:cNvSpPr/>
          <p:nvPr/>
        </p:nvSpPr>
        <p:spPr>
          <a:xfrm>
            <a:off x="215900" y="1125537"/>
            <a:ext cx="8712200" cy="5456237"/>
          </a:xfrm>
          <a:prstGeom prst="roundRect">
            <a:avLst>
              <a:gd fmla="val 16667" name="adj"/>
            </a:avLst>
          </a:prstGeom>
          <a:solidFill>
            <a:schemeClr val="dk2">
              <a:alpha val="49803"/>
            </a:schemeClr>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135" name="Google Shape;135;p8"/>
          <p:cNvSpPr txBox="1"/>
          <p:nvPr>
            <p:ph type="title"/>
          </p:nvPr>
        </p:nvSpPr>
        <p:spPr>
          <a:xfrm>
            <a:off x="457200" y="512762"/>
            <a:ext cx="8229600" cy="612775"/>
          </a:xfrm>
          <a:prstGeom prst="rect">
            <a:avLst/>
          </a:prstGeom>
          <a:noFill/>
          <a:ln>
            <a:noFill/>
          </a:ln>
        </p:spPr>
        <p:txBody>
          <a:bodyPr anchorCtr="0" anchor="t" bIns="44225" lIns="88450" spcFirstLastPara="1" rIns="88450" wrap="square" tIns="44225">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Регрессия</a:t>
            </a:r>
            <a:endParaRPr/>
          </a:p>
        </p:txBody>
      </p:sp>
      <p:sp>
        <p:nvSpPr>
          <p:cNvPr id="136" name="Google Shape;136;p8"/>
          <p:cNvSpPr txBox="1"/>
          <p:nvPr/>
        </p:nvSpPr>
        <p:spPr>
          <a:xfrm>
            <a:off x="457200" y="1125537"/>
            <a:ext cx="8229600" cy="48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200"/>
              <a:buFont typeface="Times New Roman"/>
              <a:buNone/>
            </a:pPr>
            <a:r>
              <a:rPr b="0" i="0" lang="en-US" sz="2200" u="none">
                <a:solidFill>
                  <a:schemeClr val="lt1"/>
                </a:solidFill>
                <a:latin typeface="Times New Roman"/>
                <a:ea typeface="Times New Roman"/>
                <a:cs typeface="Times New Roman"/>
                <a:sym typeface="Times New Roman"/>
              </a:rPr>
              <a:t>Классификация — это задача машинного обучения, цель которой — изучить прогностическую функцию вида</a:t>
            </a:r>
            <a:endParaRPr/>
          </a:p>
          <a:p>
            <a:pPr indent="0" lvl="0" marL="0" marR="0" rtl="0" algn="l">
              <a:lnSpc>
                <a:spcPct val="100000"/>
              </a:lnSpc>
              <a:spcBef>
                <a:spcPts val="0"/>
              </a:spcBef>
              <a:spcAft>
                <a:spcPts val="0"/>
              </a:spcAft>
              <a:buClr>
                <a:schemeClr val="lt1"/>
              </a:buClr>
              <a:buSzPts val="2200"/>
              <a:buFont typeface="Quattrocento Sans"/>
              <a:buNone/>
            </a:pPr>
            <a:r>
              <a:t/>
            </a:r>
            <a:endParaRPr b="0" i="0" sz="2200" u="none">
              <a:solidFill>
                <a:schemeClr val="lt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FFFF00"/>
              </a:buClr>
              <a:buSzPts val="2200"/>
              <a:buFont typeface="Times New Roman"/>
              <a:buNone/>
            </a:pPr>
            <a:r>
              <a:rPr b="1" i="0" lang="en-US" sz="2200" u="none">
                <a:solidFill>
                  <a:srgbClr val="FFFF00"/>
                </a:solidFill>
                <a:latin typeface="Times New Roman"/>
                <a:ea typeface="Times New Roman"/>
                <a:cs typeface="Times New Roman"/>
                <a:sym typeface="Times New Roman"/>
              </a:rPr>
              <a:t>y=f(x),</a:t>
            </a:r>
            <a:endParaRPr/>
          </a:p>
          <a:p>
            <a:pPr indent="0" lvl="0" marL="0" marR="0" rtl="0" algn="l">
              <a:lnSpc>
                <a:spcPct val="100000"/>
              </a:lnSpc>
              <a:spcBef>
                <a:spcPts val="0"/>
              </a:spcBef>
              <a:spcAft>
                <a:spcPts val="0"/>
              </a:spcAft>
              <a:buClr>
                <a:schemeClr val="lt1"/>
              </a:buClr>
              <a:buSzPts val="2200"/>
              <a:buFont typeface="Times New Roman"/>
              <a:buNone/>
            </a:pPr>
            <a:r>
              <a:rPr b="0" i="0" lang="en-US" sz="2200" u="none">
                <a:solidFill>
                  <a:schemeClr val="lt1"/>
                </a:solidFill>
                <a:latin typeface="Times New Roman"/>
                <a:ea typeface="Times New Roman"/>
                <a:cs typeface="Times New Roman"/>
                <a:sym typeface="Times New Roman"/>
              </a:rPr>
              <a:t>где </a:t>
            </a:r>
            <a:r>
              <a:rPr b="1" i="1" lang="en-US" sz="2200" u="none">
                <a:solidFill>
                  <a:srgbClr val="FFFF00"/>
                </a:solidFill>
                <a:latin typeface="Times New Roman"/>
                <a:ea typeface="Times New Roman"/>
                <a:cs typeface="Times New Roman"/>
                <a:sym typeface="Times New Roman"/>
              </a:rPr>
              <a:t>x</a:t>
            </a:r>
            <a:r>
              <a:rPr b="1" i="1" lang="en-US" sz="2200" u="none">
                <a:solidFill>
                  <a:schemeClr val="lt1"/>
                </a:solidFill>
                <a:latin typeface="Times New Roman"/>
                <a:ea typeface="Times New Roman"/>
                <a:cs typeface="Times New Roman"/>
                <a:sym typeface="Times New Roman"/>
              </a:rPr>
              <a:t> </a:t>
            </a:r>
            <a:r>
              <a:rPr b="0" i="0" lang="en-US" sz="2200" u="none">
                <a:solidFill>
                  <a:schemeClr val="lt1"/>
                </a:solidFill>
                <a:latin typeface="Times New Roman"/>
                <a:ea typeface="Times New Roman"/>
                <a:cs typeface="Times New Roman"/>
                <a:sym typeface="Times New Roman"/>
              </a:rPr>
              <a:t>называется набором атрибутов, а </a:t>
            </a:r>
            <a:r>
              <a:rPr b="1" i="1" lang="en-US" sz="2200" u="none">
                <a:solidFill>
                  <a:srgbClr val="FFFF00"/>
                </a:solidFill>
                <a:latin typeface="Times New Roman"/>
                <a:ea typeface="Times New Roman"/>
                <a:cs typeface="Times New Roman"/>
                <a:sym typeface="Times New Roman"/>
              </a:rPr>
              <a:t>y</a:t>
            </a:r>
            <a:r>
              <a:rPr b="1" i="1" lang="en-US" sz="2200" u="none">
                <a:solidFill>
                  <a:schemeClr val="lt1"/>
                </a:solidFill>
                <a:latin typeface="Times New Roman"/>
                <a:ea typeface="Times New Roman"/>
                <a:cs typeface="Times New Roman"/>
                <a:sym typeface="Times New Roman"/>
              </a:rPr>
              <a:t> </a:t>
            </a:r>
            <a:r>
              <a:rPr b="0" i="0" lang="en-US" sz="2200" u="none">
                <a:solidFill>
                  <a:schemeClr val="lt1"/>
                </a:solidFill>
                <a:latin typeface="Times New Roman"/>
                <a:ea typeface="Times New Roman"/>
                <a:cs typeface="Times New Roman"/>
                <a:sym typeface="Times New Roman"/>
              </a:rPr>
              <a:t>— меткой класса. </a:t>
            </a:r>
            <a:endParaRPr/>
          </a:p>
          <a:p>
            <a:pPr indent="0" lvl="0" marL="0" marR="0" rtl="0" algn="l">
              <a:lnSpc>
                <a:spcPct val="100000"/>
              </a:lnSpc>
              <a:spcBef>
                <a:spcPts val="0"/>
              </a:spcBef>
              <a:spcAft>
                <a:spcPts val="0"/>
              </a:spcAft>
              <a:buClr>
                <a:schemeClr val="lt1"/>
              </a:buClr>
              <a:buSzPts val="2000"/>
              <a:buFont typeface="Quattrocento Sans"/>
              <a:buNone/>
            </a:pPr>
            <a:r>
              <a:t/>
            </a:r>
            <a:endParaRPr b="0" i="0" sz="2000" u="none">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lt1"/>
              </a:buClr>
              <a:buSzPts val="2200"/>
              <a:buFont typeface="Times New Roman"/>
              <a:buNone/>
            </a:pPr>
            <a:r>
              <a:rPr b="0" i="0" lang="en-US" sz="2200" u="none">
                <a:solidFill>
                  <a:schemeClr val="lt1"/>
                </a:solidFill>
                <a:latin typeface="Times New Roman"/>
                <a:ea typeface="Times New Roman"/>
                <a:cs typeface="Times New Roman"/>
                <a:sym typeface="Times New Roman"/>
              </a:rPr>
              <a:t>Набор атрибутов состоит из признаков, описывающих объект. Эти характеристики можно измерить с использованием любой шкалы (т. е. номинальной, интервальной и т. д.). Метка класса является номинальным атрибутом. Если это двоичный атрибут, тогда проблема называется проблемой бинарной классификацией.</a:t>
            </a:r>
            <a:endParaRPr/>
          </a:p>
          <a:p>
            <a:pPr indent="0" lvl="0" marL="0" marR="0" rtl="0" algn="l">
              <a:lnSpc>
                <a:spcPct val="100000"/>
              </a:lnSpc>
              <a:spcBef>
                <a:spcPts val="0"/>
              </a:spcBef>
              <a:spcAft>
                <a:spcPts val="0"/>
              </a:spcAft>
              <a:buClr>
                <a:schemeClr val="lt1"/>
              </a:buClr>
              <a:buSzPts val="2200"/>
              <a:buFont typeface="Times New Roman"/>
              <a:buNone/>
            </a:pPr>
            <a:r>
              <a:rPr b="0" i="0" lang="en-US" sz="2200" u="none">
                <a:solidFill>
                  <a:schemeClr val="lt1"/>
                </a:solidFill>
                <a:latin typeface="Times New Roman"/>
                <a:ea typeface="Times New Roman"/>
                <a:cs typeface="Times New Roman"/>
                <a:sym typeface="Times New Roman"/>
              </a:rPr>
              <a:t>Связанная проблема обучения с учителем — это регрессия, где </a:t>
            </a:r>
            <a:r>
              <a:rPr b="1" i="1" lang="en-US" sz="2200" u="none">
                <a:solidFill>
                  <a:srgbClr val="FFFF00"/>
                </a:solidFill>
                <a:latin typeface="Times New Roman"/>
                <a:ea typeface="Times New Roman"/>
                <a:cs typeface="Times New Roman"/>
                <a:sym typeface="Times New Roman"/>
              </a:rPr>
              <a:t>y</a:t>
            </a:r>
            <a:r>
              <a:rPr b="0" i="0" lang="en-US" sz="2200" u="none">
                <a:solidFill>
                  <a:schemeClr val="lt1"/>
                </a:solidFill>
                <a:latin typeface="Times New Roman"/>
                <a:ea typeface="Times New Roman"/>
                <a:cs typeface="Times New Roman"/>
                <a:sym typeface="Times New Roman"/>
              </a:rPr>
              <a:t> — это число, а не метка. Линейная регрессия — очень популярная модель обучения с учителем.</a:t>
            </a:r>
            <a:endParaRPr/>
          </a:p>
        </p:txBody>
      </p:sp>
      <p:sp>
        <p:nvSpPr>
          <p:cNvPr id="137" name="Google Shape;137;p8"/>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9"/>
          <p:cNvSpPr/>
          <p:nvPr/>
        </p:nvSpPr>
        <p:spPr>
          <a:xfrm>
            <a:off x="215900" y="989012"/>
            <a:ext cx="8712200" cy="5592762"/>
          </a:xfrm>
          <a:prstGeom prst="roundRect">
            <a:avLst>
              <a:gd fmla="val 16667" name="adj"/>
            </a:avLst>
          </a:prstGeom>
          <a:solidFill>
            <a:schemeClr val="dk2">
              <a:alpha val="49803"/>
            </a:schemeClr>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144" name="Google Shape;144;p9"/>
          <p:cNvSpPr txBox="1"/>
          <p:nvPr>
            <p:ph type="title"/>
          </p:nvPr>
        </p:nvSpPr>
        <p:spPr>
          <a:xfrm>
            <a:off x="457200" y="512762"/>
            <a:ext cx="8229600" cy="612775"/>
          </a:xfrm>
          <a:prstGeom prst="rect">
            <a:avLst/>
          </a:prstGeom>
          <a:noFill/>
          <a:ln>
            <a:noFill/>
          </a:ln>
        </p:spPr>
        <p:txBody>
          <a:bodyPr anchorCtr="0" anchor="t" bIns="44225" lIns="88450" spcFirstLastPara="1" rIns="88450" wrap="square" tIns="44225">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Регрессия</a:t>
            </a:r>
            <a:endParaRPr/>
          </a:p>
        </p:txBody>
      </p:sp>
      <p:sp>
        <p:nvSpPr>
          <p:cNvPr id="145" name="Google Shape;145;p9"/>
          <p:cNvSpPr txBox="1"/>
          <p:nvPr/>
        </p:nvSpPr>
        <p:spPr>
          <a:xfrm>
            <a:off x="457200" y="1085850"/>
            <a:ext cx="8470900" cy="29860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Times New Roman"/>
              <a:buNone/>
            </a:pPr>
            <a:r>
              <a:rPr b="0" i="0" lang="en-US" sz="2000" u="none">
                <a:solidFill>
                  <a:schemeClr val="lt1"/>
                </a:solidFill>
                <a:latin typeface="Times New Roman"/>
                <a:ea typeface="Times New Roman"/>
                <a:cs typeface="Times New Roman"/>
                <a:sym typeface="Times New Roman"/>
              </a:rPr>
              <a:t>В статистике линейная регрессия — это статистическая модель, которая оценивает линейную связь между скалярным ответом и одной или несколькими объясняющими переменными (также известными как зависимые и независимые переменные). Случай одной объясняющей переменной называется </a:t>
            </a:r>
            <a:r>
              <a:rPr b="0" i="0" lang="en-US" sz="2000" u="none">
                <a:solidFill>
                  <a:srgbClr val="FFFF00"/>
                </a:solidFill>
                <a:latin typeface="Times New Roman"/>
                <a:ea typeface="Times New Roman"/>
                <a:cs typeface="Times New Roman"/>
                <a:sym typeface="Times New Roman"/>
              </a:rPr>
              <a:t>простой линейной регрессией</a:t>
            </a:r>
            <a:r>
              <a:rPr b="0" i="0" lang="en-US" sz="2000" u="none">
                <a:solidFill>
                  <a:schemeClr val="lt1"/>
                </a:solidFill>
                <a:latin typeface="Times New Roman"/>
                <a:ea typeface="Times New Roman"/>
                <a:cs typeface="Times New Roman"/>
                <a:sym typeface="Times New Roman"/>
              </a:rPr>
              <a:t>; для более чем одного этот процесс называется </a:t>
            </a:r>
            <a:r>
              <a:rPr b="0" i="0" lang="en-US" sz="2000" u="none">
                <a:solidFill>
                  <a:srgbClr val="FFFF00"/>
                </a:solidFill>
                <a:latin typeface="Times New Roman"/>
                <a:ea typeface="Times New Roman"/>
                <a:cs typeface="Times New Roman"/>
                <a:sym typeface="Times New Roman"/>
              </a:rPr>
              <a:t>множественной линейной регрессией.</a:t>
            </a:r>
            <a:endParaRPr/>
          </a:p>
          <a:p>
            <a:pPr indent="0" lvl="0" marL="0" marR="0" rtl="0" algn="l">
              <a:lnSpc>
                <a:spcPct val="100000"/>
              </a:lnSpc>
              <a:spcBef>
                <a:spcPts val="0"/>
              </a:spcBef>
              <a:spcAft>
                <a:spcPts val="0"/>
              </a:spcAft>
              <a:buClr>
                <a:schemeClr val="lt1"/>
              </a:buClr>
              <a:buSzPts val="2000"/>
              <a:buFont typeface="Quattrocento Sans"/>
              <a:buNone/>
            </a:pPr>
            <a:r>
              <a:t/>
            </a:r>
            <a:endParaRPr b="0" i="0" sz="2000" u="none">
              <a:solidFill>
                <a:srgbClr val="FFFF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FFFF00"/>
              </a:buClr>
              <a:buSzPts val="2400"/>
              <a:buFont typeface="Times New Roman"/>
              <a:buNone/>
            </a:pPr>
            <a:r>
              <a:rPr b="0" i="0" lang="en-US" sz="2400" u="none">
                <a:solidFill>
                  <a:srgbClr val="FFFF00"/>
                </a:solidFill>
                <a:latin typeface="Times New Roman"/>
                <a:ea typeface="Times New Roman"/>
                <a:cs typeface="Times New Roman"/>
                <a:sym typeface="Times New Roman"/>
              </a:rPr>
              <a:t>Регрессия может решать как задачи прогноза, так и задачи классификации.</a:t>
            </a:r>
            <a:endParaRPr/>
          </a:p>
        </p:txBody>
      </p:sp>
      <p:sp>
        <p:nvSpPr>
          <p:cNvPr id="146" name="Google Shape;146;p9"/>
          <p:cNvSpPr txBox="1"/>
          <p:nvPr/>
        </p:nvSpPr>
        <p:spPr>
          <a:xfrm>
            <a:off x="593725" y="4071937"/>
            <a:ext cx="5000625" cy="19383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Линейная модель — это математическая модель, которая представляет собой линейную комбинацию входных признаков.</a:t>
            </a:r>
            <a:endParaRPr/>
          </a:p>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В задаче классификации линейная модель используется для разделения данных на два или более классов.</a:t>
            </a:r>
            <a:endParaRPr/>
          </a:p>
        </p:txBody>
      </p:sp>
      <p:pic>
        <p:nvPicPr>
          <p:cNvPr id="147" name="Google Shape;147;p9"/>
          <p:cNvPicPr preferRelativeResize="0"/>
          <p:nvPr/>
        </p:nvPicPr>
        <p:blipFill rotWithShape="1">
          <a:blip r:embed="rId3">
            <a:alphaModFix/>
          </a:blip>
          <a:srcRect b="0" l="0" r="0" t="0"/>
          <a:stretch/>
        </p:blipFill>
        <p:spPr>
          <a:xfrm>
            <a:off x="5972175" y="3895725"/>
            <a:ext cx="2392362" cy="2281237"/>
          </a:xfrm>
          <a:prstGeom prst="rect">
            <a:avLst/>
          </a:prstGeom>
          <a:noFill/>
          <a:ln>
            <a:noFill/>
          </a:ln>
        </p:spPr>
      </p:pic>
      <p:sp>
        <p:nvSpPr>
          <p:cNvPr id="148" name="Google Shape;148;p9"/>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0"/>
          <p:cNvSpPr/>
          <p:nvPr/>
        </p:nvSpPr>
        <p:spPr>
          <a:xfrm>
            <a:off x="215900" y="989012"/>
            <a:ext cx="8712200" cy="5592762"/>
          </a:xfrm>
          <a:prstGeom prst="roundRect">
            <a:avLst>
              <a:gd fmla="val 16667" name="adj"/>
            </a:avLst>
          </a:prstGeom>
          <a:solidFill>
            <a:schemeClr val="dk2">
              <a:alpha val="49803"/>
            </a:schemeClr>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155" name="Google Shape;155;p10"/>
          <p:cNvSpPr txBox="1"/>
          <p:nvPr>
            <p:ph type="title"/>
          </p:nvPr>
        </p:nvSpPr>
        <p:spPr>
          <a:xfrm>
            <a:off x="457200" y="512762"/>
            <a:ext cx="8229600" cy="612775"/>
          </a:xfrm>
          <a:prstGeom prst="rect">
            <a:avLst/>
          </a:prstGeom>
          <a:noFill/>
          <a:ln>
            <a:noFill/>
          </a:ln>
        </p:spPr>
        <p:txBody>
          <a:bodyPr anchorCtr="0" anchor="t" bIns="44225" lIns="88450" spcFirstLastPara="1" rIns="88450" wrap="square" tIns="44225">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Регрессия</a:t>
            </a:r>
            <a:endParaRPr/>
          </a:p>
        </p:txBody>
      </p:sp>
      <p:sp>
        <p:nvSpPr>
          <p:cNvPr id="156" name="Google Shape;156;p10"/>
          <p:cNvSpPr txBox="1"/>
          <p:nvPr/>
        </p:nvSpPr>
        <p:spPr>
          <a:xfrm>
            <a:off x="457200" y="1017587"/>
            <a:ext cx="8470900" cy="2862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2000"/>
              <a:buFont typeface="Times New Roman"/>
              <a:buNone/>
            </a:pPr>
            <a:r>
              <a:rPr b="1" i="0" lang="en-US" sz="2000" u="none">
                <a:solidFill>
                  <a:srgbClr val="FFFF00"/>
                </a:solidFill>
                <a:latin typeface="Times New Roman"/>
                <a:ea typeface="Times New Roman"/>
                <a:cs typeface="Times New Roman"/>
                <a:sym typeface="Times New Roman"/>
              </a:rPr>
              <a:t>Логистическая регрессия </a:t>
            </a:r>
            <a:r>
              <a:rPr b="0" i="0" lang="en-US" sz="2000" u="none">
                <a:solidFill>
                  <a:srgbClr val="FFFFFF"/>
                </a:solidFill>
                <a:latin typeface="Times New Roman"/>
                <a:ea typeface="Times New Roman"/>
                <a:cs typeface="Times New Roman"/>
                <a:sym typeface="Times New Roman"/>
              </a:rPr>
              <a:t>— это алгоритм машинного обучения, который используется для решения задачи бинарной классификации, то есть разделения данных на два класса. Она получила своё название благодаря тому, что использует логистическую функцию для </a:t>
            </a:r>
            <a:r>
              <a:rPr b="0" i="0" lang="en-US" sz="2000" u="none">
                <a:solidFill>
                  <a:srgbClr val="FFFF00"/>
                </a:solidFill>
                <a:latin typeface="Times New Roman"/>
                <a:ea typeface="Times New Roman"/>
                <a:cs typeface="Times New Roman"/>
                <a:sym typeface="Times New Roman"/>
              </a:rPr>
              <a:t>прогнозирования вероятности принадлежности объекта к одному из классов.</a:t>
            </a:r>
            <a:endParaRPr/>
          </a:p>
          <a:p>
            <a:pPr indent="0" lvl="0" marL="0" marR="0" rtl="0" algn="l">
              <a:lnSpc>
                <a:spcPct val="100000"/>
              </a:lnSpc>
              <a:spcBef>
                <a:spcPts val="0"/>
              </a:spcBef>
              <a:spcAft>
                <a:spcPts val="0"/>
              </a:spcAft>
              <a:buClr>
                <a:schemeClr val="lt1"/>
              </a:buClr>
              <a:buSzPts val="2000"/>
              <a:buFont typeface="Quattrocento Sans"/>
              <a:buNone/>
            </a:pPr>
            <a:r>
              <a:t/>
            </a:r>
            <a:endParaRPr b="0" i="0" sz="2000" u="none">
              <a:solidFill>
                <a:srgbClr val="FFFFFF"/>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Логистическая регрессия также может быть использована для многоклассовой классификации, когда необходимо разделить данные на более чем два класса.</a:t>
            </a:r>
            <a:endParaRPr/>
          </a:p>
        </p:txBody>
      </p:sp>
      <p:sp>
        <p:nvSpPr>
          <p:cNvPr id="157" name="Google Shape;157;p10"/>
          <p:cNvSpPr txBox="1"/>
          <p:nvPr/>
        </p:nvSpPr>
        <p:spPr>
          <a:xfrm>
            <a:off x="457200" y="3771900"/>
            <a:ext cx="8470900" cy="224631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FF00"/>
              </a:buClr>
              <a:buSzPts val="2000"/>
              <a:buFont typeface="Times New Roman"/>
              <a:buNone/>
            </a:pPr>
            <a:r>
              <a:rPr b="0" i="0" lang="en-US" sz="2000" u="none">
                <a:solidFill>
                  <a:srgbClr val="FFFF00"/>
                </a:solidFill>
                <a:latin typeface="Times New Roman"/>
                <a:ea typeface="Times New Roman"/>
                <a:cs typeface="Times New Roman"/>
                <a:sym typeface="Times New Roman"/>
              </a:rPr>
              <a:t>Множественная линейная регрессия </a:t>
            </a:r>
            <a:r>
              <a:rPr b="0" i="0" lang="en-US" sz="2000" u="none">
                <a:solidFill>
                  <a:srgbClr val="FFFFFF"/>
                </a:solidFill>
                <a:latin typeface="Times New Roman"/>
                <a:ea typeface="Times New Roman"/>
                <a:cs typeface="Times New Roman"/>
                <a:sym typeface="Times New Roman"/>
              </a:rPr>
              <a:t>— это обобщение простой линейной регрессии на случай более чем одной независимой переменной и частный случай общих линейных моделей, ограниченных одной зависимой переменной. Базовая модель множественной линейной регрессии:</a:t>
            </a:r>
            <a:endParaRPr/>
          </a:p>
          <a:p>
            <a:pPr indent="0" lvl="1" marL="457200" marR="0" rtl="0" algn="l">
              <a:lnSpc>
                <a:spcPct val="100000"/>
              </a:lnSpc>
              <a:spcBef>
                <a:spcPts val="0"/>
              </a:spcBef>
              <a:spcAft>
                <a:spcPts val="0"/>
              </a:spcAft>
              <a:buClr>
                <a:srgbClr val="FFFFFF"/>
              </a:buClr>
              <a:buSzPts val="2000"/>
              <a:buFont typeface="Times New Roman"/>
              <a:buNone/>
            </a:pPr>
            <a:r>
              <a:rPr b="0" i="0" lang="en-US" sz="2000" u="none" cap="none" strike="noStrike">
                <a:solidFill>
                  <a:srgbClr val="FFFFFF"/>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chemeClr val="lt1"/>
              </a:buClr>
              <a:buSzPts val="2000"/>
              <a:buFont typeface="Quattrocento Sans"/>
              <a:buNone/>
            </a:pPr>
            <a:r>
              <a:t/>
            </a:r>
            <a:endParaRPr b="0" i="0" sz="2000" u="none">
              <a:solidFill>
                <a:srgbClr val="FFFFFF"/>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                         за каждое наблюдение   </a:t>
            </a:r>
            <a:r>
              <a:rPr b="1" i="1" lang="en-US" sz="2000" u="none">
                <a:solidFill>
                  <a:srgbClr val="FFFFFF"/>
                </a:solidFill>
                <a:latin typeface="Times New Roman"/>
                <a:ea typeface="Times New Roman"/>
                <a:cs typeface="Times New Roman"/>
                <a:sym typeface="Times New Roman"/>
              </a:rPr>
              <a:t>i=1,…n</a:t>
            </a:r>
            <a:r>
              <a:rPr b="0" i="0" lang="en-US" sz="2000" u="none">
                <a:solidFill>
                  <a:srgbClr val="FFFFFF"/>
                </a:solidFill>
                <a:latin typeface="Times New Roman"/>
                <a:ea typeface="Times New Roman"/>
                <a:cs typeface="Times New Roman"/>
                <a:sym typeface="Times New Roman"/>
              </a:rPr>
              <a:t> .</a:t>
            </a:r>
            <a:endParaRPr/>
          </a:p>
        </p:txBody>
      </p:sp>
      <p:pic>
        <p:nvPicPr>
          <p:cNvPr id="158" name="Google Shape;158;p10"/>
          <p:cNvPicPr preferRelativeResize="0"/>
          <p:nvPr/>
        </p:nvPicPr>
        <p:blipFill rotWithShape="1">
          <a:blip r:embed="rId3">
            <a:alphaModFix/>
          </a:blip>
          <a:srcRect b="0" l="0" r="0" t="0"/>
          <a:stretch/>
        </p:blipFill>
        <p:spPr>
          <a:xfrm>
            <a:off x="2133600" y="5143500"/>
            <a:ext cx="4876800" cy="371475"/>
          </a:xfrm>
          <a:prstGeom prst="rect">
            <a:avLst/>
          </a:prstGeom>
          <a:noFill/>
          <a:ln>
            <a:noFill/>
          </a:ln>
        </p:spPr>
      </p:pic>
      <p:sp>
        <p:nvSpPr>
          <p:cNvPr id="159" name="Google Shape;159;p10"/>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1"/>
          <p:cNvSpPr/>
          <p:nvPr/>
        </p:nvSpPr>
        <p:spPr>
          <a:xfrm>
            <a:off x="215900" y="1125537"/>
            <a:ext cx="8712200" cy="5456237"/>
          </a:xfrm>
          <a:prstGeom prst="roundRect">
            <a:avLst>
              <a:gd fmla="val 16667" name="adj"/>
            </a:avLst>
          </a:prstGeom>
          <a:solidFill>
            <a:schemeClr val="dk2">
              <a:alpha val="49803"/>
            </a:schemeClr>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166" name="Google Shape;166;p11"/>
          <p:cNvSpPr txBox="1"/>
          <p:nvPr>
            <p:ph type="title"/>
          </p:nvPr>
        </p:nvSpPr>
        <p:spPr>
          <a:xfrm>
            <a:off x="457200" y="512762"/>
            <a:ext cx="8229600" cy="612775"/>
          </a:xfrm>
          <a:prstGeom prst="rect">
            <a:avLst/>
          </a:prstGeom>
          <a:noFill/>
          <a:ln>
            <a:noFill/>
          </a:ln>
        </p:spPr>
        <p:txBody>
          <a:bodyPr anchorCtr="0" anchor="t" bIns="44225" lIns="88450" spcFirstLastPara="1" rIns="88450" wrap="square" tIns="44225">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Регрессия</a:t>
            </a:r>
            <a:endParaRPr/>
          </a:p>
        </p:txBody>
      </p:sp>
      <p:pic>
        <p:nvPicPr>
          <p:cNvPr id="167" name="Google Shape;167;p11"/>
          <p:cNvPicPr preferRelativeResize="0"/>
          <p:nvPr/>
        </p:nvPicPr>
        <p:blipFill rotWithShape="1">
          <a:blip r:embed="rId3">
            <a:alphaModFix/>
          </a:blip>
          <a:srcRect b="0" l="0" r="0" t="0"/>
          <a:stretch/>
        </p:blipFill>
        <p:spPr>
          <a:xfrm>
            <a:off x="674687" y="1117600"/>
            <a:ext cx="2157412" cy="2117725"/>
          </a:xfrm>
          <a:prstGeom prst="rect">
            <a:avLst/>
          </a:prstGeom>
          <a:noFill/>
          <a:ln>
            <a:noFill/>
          </a:ln>
        </p:spPr>
      </p:pic>
      <p:sp>
        <p:nvSpPr>
          <p:cNvPr id="168" name="Google Shape;168;p11"/>
          <p:cNvSpPr txBox="1"/>
          <p:nvPr/>
        </p:nvSpPr>
        <p:spPr>
          <a:xfrm>
            <a:off x="484187" y="3429000"/>
            <a:ext cx="3467100" cy="20621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Quattrocento Sans"/>
              <a:buNone/>
            </a:pPr>
            <a:r>
              <a:rPr b="1" i="0" lang="en-US" sz="1600" u="none">
                <a:solidFill>
                  <a:schemeClr val="lt1"/>
                </a:solidFill>
                <a:latin typeface="Quattrocento Sans"/>
                <a:ea typeface="Quattrocento Sans"/>
                <a:cs typeface="Quattrocento Sans"/>
                <a:sym typeface="Quattrocento Sans"/>
              </a:rPr>
              <a:t>В линейной регрессии предполагается, что наблюдения (</a:t>
            </a:r>
            <a:r>
              <a:rPr b="1" i="0" lang="en-US" sz="1600" u="none">
                <a:solidFill>
                  <a:srgbClr val="FF0000"/>
                </a:solidFill>
                <a:latin typeface="Quattrocento Sans"/>
                <a:ea typeface="Quattrocento Sans"/>
                <a:cs typeface="Quattrocento Sans"/>
                <a:sym typeface="Quattrocento Sans"/>
              </a:rPr>
              <a:t>красный</a:t>
            </a:r>
            <a:r>
              <a:rPr b="1" i="0" lang="en-US" sz="1600" u="none">
                <a:solidFill>
                  <a:schemeClr val="lt1"/>
                </a:solidFill>
                <a:latin typeface="Quattrocento Sans"/>
                <a:ea typeface="Quattrocento Sans"/>
                <a:cs typeface="Quattrocento Sans"/>
                <a:sym typeface="Quattrocento Sans"/>
              </a:rPr>
              <a:t>) являются результатом случайных отклонений (</a:t>
            </a:r>
            <a:r>
              <a:rPr b="1" i="0" lang="en-US" sz="1600" u="none">
                <a:solidFill>
                  <a:srgbClr val="008000"/>
                </a:solidFill>
                <a:latin typeface="Quattrocento Sans"/>
                <a:ea typeface="Quattrocento Sans"/>
                <a:cs typeface="Quattrocento Sans"/>
                <a:sym typeface="Quattrocento Sans"/>
              </a:rPr>
              <a:t>зеленый</a:t>
            </a:r>
            <a:r>
              <a:rPr b="1" i="0" lang="en-US" sz="1600" u="none">
                <a:solidFill>
                  <a:schemeClr val="lt1"/>
                </a:solidFill>
                <a:latin typeface="Quattrocento Sans"/>
                <a:ea typeface="Quattrocento Sans"/>
                <a:cs typeface="Quattrocento Sans"/>
                <a:sym typeface="Quattrocento Sans"/>
              </a:rPr>
              <a:t>) от базовой взаимосвязи (</a:t>
            </a:r>
            <a:r>
              <a:rPr b="1" i="0" lang="en-US" sz="1600" u="none">
                <a:solidFill>
                  <a:srgbClr val="0000FF"/>
                </a:solidFill>
                <a:latin typeface="Quattrocento Sans"/>
                <a:ea typeface="Quattrocento Sans"/>
                <a:cs typeface="Quattrocento Sans"/>
                <a:sym typeface="Quattrocento Sans"/>
              </a:rPr>
              <a:t>синий</a:t>
            </a:r>
            <a:r>
              <a:rPr b="1" i="0" lang="en-US" sz="1600" u="none">
                <a:solidFill>
                  <a:schemeClr val="lt1"/>
                </a:solidFill>
                <a:latin typeface="Quattrocento Sans"/>
                <a:ea typeface="Quattrocento Sans"/>
                <a:cs typeface="Quattrocento Sans"/>
                <a:sym typeface="Quattrocento Sans"/>
              </a:rPr>
              <a:t>) между зависимой переменной (</a:t>
            </a:r>
            <a:r>
              <a:rPr b="1" i="1" lang="en-US" sz="1600" u="none">
                <a:solidFill>
                  <a:schemeClr val="lt1"/>
                </a:solidFill>
                <a:latin typeface="Quattrocento Sans"/>
                <a:ea typeface="Quattrocento Sans"/>
                <a:cs typeface="Quattrocento Sans"/>
                <a:sym typeface="Quattrocento Sans"/>
              </a:rPr>
              <a:t>y</a:t>
            </a:r>
            <a:r>
              <a:rPr b="1" i="0" lang="en-US" sz="1600" u="none">
                <a:solidFill>
                  <a:schemeClr val="lt1"/>
                </a:solidFill>
                <a:latin typeface="Quattrocento Sans"/>
                <a:ea typeface="Quattrocento Sans"/>
                <a:cs typeface="Quattrocento Sans"/>
                <a:sym typeface="Quattrocento Sans"/>
              </a:rPr>
              <a:t>) и независимой переменной (</a:t>
            </a:r>
            <a:r>
              <a:rPr b="1" i="1" lang="en-US" sz="1600" u="none">
                <a:solidFill>
                  <a:schemeClr val="lt1"/>
                </a:solidFill>
                <a:latin typeface="Quattrocento Sans"/>
                <a:ea typeface="Quattrocento Sans"/>
                <a:cs typeface="Quattrocento Sans"/>
                <a:sym typeface="Quattrocento Sans"/>
              </a:rPr>
              <a:t>x</a:t>
            </a:r>
            <a:r>
              <a:rPr b="1" i="0" lang="en-US" sz="1600" u="none">
                <a:solidFill>
                  <a:schemeClr val="lt1"/>
                </a:solidFill>
                <a:latin typeface="Quattrocento Sans"/>
                <a:ea typeface="Quattrocento Sans"/>
                <a:cs typeface="Quattrocento Sans"/>
                <a:sym typeface="Quattrocento Sans"/>
              </a:rPr>
              <a:t>). </a:t>
            </a:r>
            <a:endParaRPr/>
          </a:p>
        </p:txBody>
      </p:sp>
      <p:pic>
        <p:nvPicPr>
          <p:cNvPr id="169" name="Google Shape;169;p11"/>
          <p:cNvPicPr preferRelativeResize="0"/>
          <p:nvPr/>
        </p:nvPicPr>
        <p:blipFill rotWithShape="1">
          <a:blip r:embed="rId4">
            <a:alphaModFix/>
          </a:blip>
          <a:srcRect b="0" l="0" r="0" t="0"/>
          <a:stretch/>
        </p:blipFill>
        <p:spPr>
          <a:xfrm>
            <a:off x="5240337" y="735012"/>
            <a:ext cx="3228975" cy="2152650"/>
          </a:xfrm>
          <a:prstGeom prst="rect">
            <a:avLst/>
          </a:prstGeom>
          <a:noFill/>
          <a:ln>
            <a:noFill/>
          </a:ln>
        </p:spPr>
      </p:pic>
      <p:sp>
        <p:nvSpPr>
          <p:cNvPr id="170" name="Google Shape;170;p11"/>
          <p:cNvSpPr txBox="1"/>
          <p:nvPr/>
        </p:nvSpPr>
        <p:spPr>
          <a:xfrm>
            <a:off x="4219575" y="3041650"/>
            <a:ext cx="4786312" cy="30464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Quattrocento Sans"/>
              <a:buNone/>
            </a:pPr>
            <a:r>
              <a:rPr b="1" i="0" lang="en-US" sz="1600" u="none">
                <a:solidFill>
                  <a:schemeClr val="lt1"/>
                </a:solidFill>
                <a:latin typeface="Quattrocento Sans"/>
                <a:ea typeface="Quattrocento Sans"/>
                <a:cs typeface="Quattrocento Sans"/>
                <a:sym typeface="Quattrocento Sans"/>
              </a:rPr>
              <a:t>Пример кубической полиномиальной регрессии, которая является </a:t>
            </a:r>
            <a:r>
              <a:rPr b="1" i="0" lang="en-US" sz="1600" u="none">
                <a:solidFill>
                  <a:srgbClr val="FFFF00"/>
                </a:solidFill>
                <a:latin typeface="Quattrocento Sans"/>
                <a:ea typeface="Quattrocento Sans"/>
                <a:cs typeface="Quattrocento Sans"/>
                <a:sym typeface="Quattrocento Sans"/>
              </a:rPr>
              <a:t>разновидностью линейной регрессии</a:t>
            </a:r>
            <a:r>
              <a:rPr b="1" i="0" lang="en-US" sz="1600" u="none">
                <a:solidFill>
                  <a:schemeClr val="lt1"/>
                </a:solidFill>
                <a:latin typeface="Quattrocento Sans"/>
                <a:ea typeface="Quattrocento Sans"/>
                <a:cs typeface="Quattrocento Sans"/>
                <a:sym typeface="Quattrocento Sans"/>
              </a:rPr>
              <a:t>. Хотя </a:t>
            </a:r>
            <a:r>
              <a:rPr b="1" i="1" lang="en-US" sz="1600" u="none">
                <a:solidFill>
                  <a:schemeClr val="lt1"/>
                </a:solidFill>
                <a:latin typeface="Quattrocento Sans"/>
                <a:ea typeface="Quattrocento Sans"/>
                <a:cs typeface="Quattrocento Sans"/>
                <a:sym typeface="Quattrocento Sans"/>
              </a:rPr>
              <a:t>полиномиальная регрессия</a:t>
            </a:r>
            <a:r>
              <a:rPr b="1" i="0" lang="en-US" sz="1600" u="none">
                <a:solidFill>
                  <a:schemeClr val="lt1"/>
                </a:solidFill>
                <a:latin typeface="Quattrocento Sans"/>
                <a:ea typeface="Quattrocento Sans"/>
                <a:cs typeface="Quattrocento Sans"/>
                <a:sym typeface="Quattrocento Sans"/>
              </a:rPr>
              <a:t> соответствует данным нелинейной модели, как задача статистической оценки она является линейной в том смысле, что функция регрессии E(</a:t>
            </a:r>
            <a:r>
              <a:rPr b="1" i="1" lang="en-US" sz="1600" u="none">
                <a:solidFill>
                  <a:schemeClr val="lt1"/>
                </a:solidFill>
                <a:latin typeface="Quattrocento Sans"/>
                <a:ea typeface="Quattrocento Sans"/>
                <a:cs typeface="Quattrocento Sans"/>
                <a:sym typeface="Quattrocento Sans"/>
              </a:rPr>
              <a:t>y</a:t>
            </a:r>
            <a:r>
              <a:rPr b="1" i="0" lang="en-US" sz="1600" u="none">
                <a:solidFill>
                  <a:schemeClr val="lt1"/>
                </a:solidFill>
                <a:latin typeface="Quattrocento Sans"/>
                <a:ea typeface="Quattrocento Sans"/>
                <a:cs typeface="Quattrocento Sans"/>
                <a:sym typeface="Quattrocento Sans"/>
              </a:rPr>
              <a:t> | </a:t>
            </a:r>
            <a:r>
              <a:rPr b="1" i="1" lang="en-US" sz="1600" u="none">
                <a:solidFill>
                  <a:schemeClr val="lt1"/>
                </a:solidFill>
                <a:latin typeface="Quattrocento Sans"/>
                <a:ea typeface="Quattrocento Sans"/>
                <a:cs typeface="Quattrocento Sans"/>
                <a:sym typeface="Quattrocento Sans"/>
              </a:rPr>
              <a:t>x</a:t>
            </a:r>
            <a:r>
              <a:rPr b="1" i="0" lang="en-US" sz="1600" u="none">
                <a:solidFill>
                  <a:schemeClr val="lt1"/>
                </a:solidFill>
                <a:latin typeface="Quattrocento Sans"/>
                <a:ea typeface="Quattrocento Sans"/>
                <a:cs typeface="Quattrocento Sans"/>
                <a:sym typeface="Quattrocento Sans"/>
              </a:rPr>
              <a:t>) линейна относительно неизвестных параметров, которые оцениваются на основе данных.    По этой причине полиномиальная регрессия считается частным случаем множественной линейной регрессии. </a:t>
            </a:r>
            <a:endParaRPr/>
          </a:p>
        </p:txBody>
      </p:sp>
      <p:sp>
        <p:nvSpPr>
          <p:cNvPr id="171" name="Google Shape;171;p11"/>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2"/>
          <p:cNvSpPr txBox="1"/>
          <p:nvPr>
            <p:ph type="title"/>
          </p:nvPr>
        </p:nvSpPr>
        <p:spPr>
          <a:xfrm>
            <a:off x="457200" y="512762"/>
            <a:ext cx="8229600" cy="612775"/>
          </a:xfrm>
          <a:prstGeom prst="rect">
            <a:avLst/>
          </a:prstGeom>
          <a:noFill/>
          <a:ln>
            <a:noFill/>
          </a:ln>
        </p:spPr>
        <p:txBody>
          <a:bodyPr anchorCtr="0" anchor="t" bIns="44225" lIns="88450" spcFirstLastPara="1" rIns="88450" wrap="square" tIns="44225">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Регрессия - свойства</a:t>
            </a:r>
            <a:endParaRPr/>
          </a:p>
        </p:txBody>
      </p:sp>
      <p:sp>
        <p:nvSpPr>
          <p:cNvPr id="178" name="Google Shape;178;p12"/>
          <p:cNvSpPr txBox="1"/>
          <p:nvPr/>
        </p:nvSpPr>
        <p:spPr>
          <a:xfrm>
            <a:off x="295275" y="1125537"/>
            <a:ext cx="8686800" cy="1477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1800"/>
              <a:buFont typeface="Times New Roman"/>
              <a:buNone/>
            </a:pPr>
            <a:r>
              <a:rPr b="1" i="0" lang="en-US" sz="1800" u="none">
                <a:solidFill>
                  <a:srgbClr val="FFFF00"/>
                </a:solidFill>
                <a:latin typeface="Times New Roman"/>
                <a:ea typeface="Times New Roman"/>
                <a:cs typeface="Times New Roman"/>
                <a:sym typeface="Times New Roman"/>
              </a:rPr>
              <a:t>Линейность  </a:t>
            </a:r>
            <a:r>
              <a:rPr b="1" i="0" lang="en-US" sz="1800" u="none">
                <a:solidFill>
                  <a:schemeClr val="lt1"/>
                </a:solidFill>
                <a:latin typeface="Times New Roman"/>
                <a:ea typeface="Times New Roman"/>
                <a:cs typeface="Times New Roman"/>
                <a:sym typeface="Times New Roman"/>
              </a:rPr>
              <a:t>означает, что среднее значение переменной ответа представляет собой </a:t>
            </a:r>
            <a:r>
              <a:rPr b="1" i="0" lang="en-US" sz="1800" u="none">
                <a:solidFill>
                  <a:srgbClr val="FFFF00"/>
                </a:solidFill>
                <a:latin typeface="Times New Roman"/>
                <a:ea typeface="Times New Roman"/>
                <a:cs typeface="Times New Roman"/>
                <a:sym typeface="Times New Roman"/>
              </a:rPr>
              <a:t>линейную комбинацию параметров </a:t>
            </a:r>
            <a:r>
              <a:rPr b="1" i="0" lang="en-US" sz="1800" u="none">
                <a:solidFill>
                  <a:schemeClr val="lt1"/>
                </a:solidFill>
                <a:latin typeface="Times New Roman"/>
                <a:ea typeface="Times New Roman"/>
                <a:cs typeface="Times New Roman"/>
                <a:sym typeface="Times New Roman"/>
              </a:rPr>
              <a:t>(коэффициентов регрессии) </a:t>
            </a:r>
            <a:r>
              <a:rPr b="1" i="0" lang="en-US" sz="1800" u="none">
                <a:solidFill>
                  <a:srgbClr val="FFFF00"/>
                </a:solidFill>
                <a:latin typeface="Times New Roman"/>
                <a:ea typeface="Times New Roman"/>
                <a:cs typeface="Times New Roman"/>
                <a:sym typeface="Times New Roman"/>
              </a:rPr>
              <a:t>и переменных-предикторов</a:t>
            </a:r>
            <a:r>
              <a:rPr b="1" i="0" lang="en-US" sz="1800" u="none">
                <a:solidFill>
                  <a:schemeClr val="lt1"/>
                </a:solidFill>
                <a:latin typeface="Times New Roman"/>
                <a:ea typeface="Times New Roman"/>
                <a:cs typeface="Times New Roman"/>
                <a:sym typeface="Times New Roman"/>
              </a:rPr>
              <a:t>. Поскольку переменные-предикторы рассматриваются как фиксированные значения, линейность на самом деле является лишь ограничением параметров.</a:t>
            </a:r>
            <a:endParaRPr/>
          </a:p>
        </p:txBody>
      </p:sp>
      <p:sp>
        <p:nvSpPr>
          <p:cNvPr id="179" name="Google Shape;179;p12"/>
          <p:cNvSpPr txBox="1"/>
          <p:nvPr/>
        </p:nvSpPr>
        <p:spPr>
          <a:xfrm>
            <a:off x="295275" y="2757487"/>
            <a:ext cx="8686800" cy="17541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1800"/>
              <a:buFont typeface="Times New Roman"/>
              <a:buNone/>
            </a:pPr>
            <a:r>
              <a:rPr b="1" i="0" lang="en-US" sz="1800" u="none">
                <a:solidFill>
                  <a:srgbClr val="FFFF00"/>
                </a:solidFill>
                <a:latin typeface="Times New Roman"/>
                <a:ea typeface="Times New Roman"/>
                <a:cs typeface="Times New Roman"/>
                <a:sym typeface="Times New Roman"/>
              </a:rPr>
              <a:t>Слабая экзогенность </a:t>
            </a:r>
            <a:r>
              <a:rPr b="1" i="0" lang="en-US" sz="1800" u="none">
                <a:solidFill>
                  <a:schemeClr val="lt1"/>
                </a:solidFill>
                <a:latin typeface="Times New Roman"/>
                <a:ea typeface="Times New Roman"/>
                <a:cs typeface="Times New Roman"/>
                <a:sym typeface="Times New Roman"/>
              </a:rPr>
              <a:t>означает, что переменные-предикторы x можно рассматривать как фиксированные значения, а не как случайные переменные . Это означает, например, что переменные-предикторы считаются безошибочными, то есть не содержат ошибок измерений. Хотя это предположение нереалистично во многих случаях, отказ от него приводит к значительно более сложным моделям ошибок в переменных. </a:t>
            </a:r>
            <a:endParaRPr/>
          </a:p>
        </p:txBody>
      </p:sp>
      <p:sp>
        <p:nvSpPr>
          <p:cNvPr id="180" name="Google Shape;180;p12"/>
          <p:cNvSpPr txBox="1"/>
          <p:nvPr/>
        </p:nvSpPr>
        <p:spPr>
          <a:xfrm>
            <a:off x="295275" y="4611687"/>
            <a:ext cx="8524875" cy="17541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1800"/>
              <a:buFont typeface="Times New Roman"/>
              <a:buNone/>
            </a:pPr>
            <a:r>
              <a:rPr b="1" i="0" lang="en-US" sz="1800" u="none">
                <a:solidFill>
                  <a:srgbClr val="FFFF00"/>
                </a:solidFill>
                <a:latin typeface="Times New Roman"/>
                <a:ea typeface="Times New Roman"/>
                <a:cs typeface="Times New Roman"/>
                <a:sym typeface="Times New Roman"/>
              </a:rPr>
              <a:t>Постоянная дисперсия (она же </a:t>
            </a:r>
            <a:r>
              <a:rPr b="1" i="0" lang="en-US" sz="1800" u="sng">
                <a:solidFill>
                  <a:srgbClr val="FFFF00"/>
                </a:solidFill>
                <a:latin typeface="Quattrocento Sans"/>
                <a:ea typeface="Quattrocento Sans"/>
                <a:cs typeface="Quattrocento Sans"/>
                <a:sym typeface="Quattrocento Sans"/>
                <a:hlinkClick r:id="rId3">
                  <a:extLst>
                    <a:ext uri="{A12FA001-AC4F-418D-AE19-62706E023703}">
                      <ahyp:hlinkClr val="tx"/>
                    </a:ext>
                  </a:extLst>
                </a:hlinkClick>
              </a:rPr>
              <a:t>гомоскедастичность</a:t>
            </a:r>
            <a:r>
              <a:rPr b="1" i="0" lang="en-US" sz="1800" u="none">
                <a:solidFill>
                  <a:srgbClr val="FFFF00"/>
                </a:solidFill>
                <a:latin typeface="Times New Roman"/>
                <a:ea typeface="Times New Roman"/>
                <a:cs typeface="Times New Roman"/>
                <a:sym typeface="Times New Roman"/>
              </a:rPr>
              <a:t> ) </a:t>
            </a:r>
            <a:r>
              <a:rPr b="1" i="0" lang="en-US" sz="1800" u="none">
                <a:solidFill>
                  <a:schemeClr val="lt1"/>
                </a:solidFill>
                <a:latin typeface="Times New Roman"/>
                <a:ea typeface="Times New Roman"/>
                <a:cs typeface="Times New Roman"/>
                <a:sym typeface="Times New Roman"/>
              </a:rPr>
              <a:t>означает, что дисперсия ошибок не зависит от значений переменных-предикторов. Таким образом, изменчивость ответов для заданных фиксированных значений предикторов одинакова независимо от того, насколько велики или малы ответы. Зачастую это не так, поскольку переменная с большим средним значением обычно будет иметь большую дисперсию, чем переменная с малым средним значением.</a:t>
            </a:r>
            <a:endParaRPr/>
          </a:p>
        </p:txBody>
      </p:sp>
      <p:sp>
        <p:nvSpPr>
          <p:cNvPr id="181" name="Google Shape;181;p12"/>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3"/>
          <p:cNvSpPr txBox="1"/>
          <p:nvPr>
            <p:ph type="title"/>
          </p:nvPr>
        </p:nvSpPr>
        <p:spPr>
          <a:xfrm>
            <a:off x="623887" y="2900362"/>
            <a:ext cx="7886700" cy="1662112"/>
          </a:xfrm>
          <a:prstGeom prst="rect">
            <a:avLst/>
          </a:prstGeom>
          <a:noFill/>
          <a:ln>
            <a:noFill/>
          </a:ln>
        </p:spPr>
        <p:txBody>
          <a:bodyPr anchorCtr="0" anchor="b" bIns="45700" lIns="91425" spcFirstLastPara="1" rIns="91425" wrap="square" tIns="45700">
            <a:spAutoFit/>
          </a:bodyPr>
          <a:lstStyle/>
          <a:p>
            <a:pPr indent="0" lvl="0" marL="0" rtl="0" algn="l">
              <a:lnSpc>
                <a:spcPct val="85000"/>
              </a:lnSpc>
              <a:spcBef>
                <a:spcPts val="0"/>
              </a:spcBef>
              <a:spcAft>
                <a:spcPts val="0"/>
              </a:spcAft>
              <a:buClr>
                <a:schemeClr val="lt2"/>
              </a:buClr>
              <a:buSzPts val="6000"/>
              <a:buFont typeface="Quattrocento Sans"/>
              <a:buNone/>
            </a:pPr>
            <a:r>
              <a:rPr b="0" i="0" lang="en-US" sz="6000" u="none">
                <a:solidFill>
                  <a:schemeClr val="lt2"/>
                </a:solidFill>
                <a:latin typeface="Quattrocento Sans"/>
                <a:ea typeface="Quattrocento Sans"/>
                <a:cs typeface="Quattrocento Sans"/>
                <a:sym typeface="Quattrocento Sans"/>
              </a:rPr>
              <a:t>Метод опорных векторов (SVM)</a:t>
            </a:r>
            <a:endParaRPr/>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4"/>
          <p:cNvSpPr txBox="1"/>
          <p:nvPr>
            <p:ph type="title"/>
          </p:nvPr>
        </p:nvSpPr>
        <p:spPr>
          <a:xfrm>
            <a:off x="457200" y="512762"/>
            <a:ext cx="8229600" cy="612775"/>
          </a:xfrm>
          <a:prstGeom prst="rect">
            <a:avLst/>
          </a:prstGeom>
          <a:noFill/>
          <a:ln>
            <a:noFill/>
          </a:ln>
        </p:spPr>
        <p:txBody>
          <a:bodyPr anchorCtr="0" anchor="t" bIns="44225" lIns="88450" spcFirstLastPara="1" rIns="88450" wrap="square" tIns="44225">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Метод опорных векторов (SVM)</a:t>
            </a:r>
            <a:endParaRPr/>
          </a:p>
        </p:txBody>
      </p:sp>
      <p:sp>
        <p:nvSpPr>
          <p:cNvPr id="193" name="Google Shape;193;p14"/>
          <p:cNvSpPr txBox="1"/>
          <p:nvPr/>
        </p:nvSpPr>
        <p:spPr>
          <a:xfrm>
            <a:off x="252412" y="1125537"/>
            <a:ext cx="8686800" cy="1938337"/>
          </a:xfrm>
          <a:prstGeom prst="rect">
            <a:avLst/>
          </a:prstGeom>
          <a:noFill/>
          <a:ln>
            <a:noFill/>
          </a:ln>
        </p:spPr>
        <p:txBody>
          <a:bodyPr anchorCtr="0" anchor="t" bIns="45700" lIns="91425" spcFirstLastPara="1" rIns="91425" wrap="square" tIns="45700">
            <a:spAutoFit/>
          </a:bodyPr>
          <a:lstStyle/>
          <a:p>
            <a:pPr indent="354012" lvl="0" marL="0" marR="0" rtl="0" algn="l">
              <a:lnSpc>
                <a:spcPct val="100000"/>
              </a:lnSpc>
              <a:spcBef>
                <a:spcPts val="0"/>
              </a:spcBef>
              <a:spcAft>
                <a:spcPts val="0"/>
              </a:spcAft>
              <a:buClr>
                <a:srgbClr val="FFFF00"/>
              </a:buClr>
              <a:buSzPts val="2000"/>
              <a:buFont typeface="Times New Roman"/>
              <a:buNone/>
            </a:pPr>
            <a:r>
              <a:rPr b="1" i="0" lang="en-US" sz="2000" u="none">
                <a:solidFill>
                  <a:srgbClr val="FFFF00"/>
                </a:solidFill>
                <a:latin typeface="Times New Roman"/>
                <a:ea typeface="Times New Roman"/>
                <a:cs typeface="Times New Roman"/>
                <a:sym typeface="Times New Roman"/>
              </a:rPr>
              <a:t>Метод Опорных Векторов или SVM (от англ. Support Vector Machines) — </a:t>
            </a:r>
            <a:r>
              <a:rPr b="1" i="0" lang="en-US" sz="2000" u="none">
                <a:solidFill>
                  <a:schemeClr val="lt1"/>
                </a:solidFill>
                <a:latin typeface="Times New Roman"/>
                <a:ea typeface="Times New Roman"/>
                <a:cs typeface="Times New Roman"/>
                <a:sym typeface="Times New Roman"/>
              </a:rPr>
              <a:t>это линейный алгоритм используемый в задачах классификации и регрессии. Данный алгоритм имеет широкое применение на практике и может решать как линейные так и нелинейные задачи. Суть работы “Машин” Опорных Векторов проста: алгоритм создает линию или гиперплоскость, которая разделяет данные на классы.</a:t>
            </a:r>
            <a:endParaRPr/>
          </a:p>
        </p:txBody>
      </p:sp>
      <p:sp>
        <p:nvSpPr>
          <p:cNvPr id="194" name="Google Shape;194;p14"/>
          <p:cNvSpPr txBox="1"/>
          <p:nvPr/>
        </p:nvSpPr>
        <p:spPr>
          <a:xfrm>
            <a:off x="252412" y="3063875"/>
            <a:ext cx="8686800" cy="1323975"/>
          </a:xfrm>
          <a:prstGeom prst="rect">
            <a:avLst/>
          </a:prstGeom>
          <a:noFill/>
          <a:ln>
            <a:noFill/>
          </a:ln>
        </p:spPr>
        <p:txBody>
          <a:bodyPr anchorCtr="0" anchor="t" bIns="45700" lIns="91425" spcFirstLastPara="1" rIns="91425" wrap="square" tIns="45700">
            <a:spAutoFit/>
          </a:bodyPr>
          <a:lstStyle/>
          <a:p>
            <a:pPr indent="354012" lvl="0" marL="0" marR="0" rtl="0" algn="l">
              <a:lnSpc>
                <a:spcPct val="100000"/>
              </a:lnSpc>
              <a:spcBef>
                <a:spcPts val="0"/>
              </a:spcBef>
              <a:spcAft>
                <a:spcPts val="0"/>
              </a:spcAft>
              <a:buClr>
                <a:schemeClr val="lt1"/>
              </a:buClr>
              <a:buSzPts val="2000"/>
              <a:buFont typeface="Times New Roman"/>
              <a:buNone/>
            </a:pPr>
            <a:r>
              <a:rPr b="1" i="0" lang="en-US" sz="2000" u="none">
                <a:solidFill>
                  <a:schemeClr val="lt1"/>
                </a:solidFill>
                <a:latin typeface="Times New Roman"/>
                <a:ea typeface="Times New Roman"/>
                <a:cs typeface="Times New Roman"/>
                <a:sym typeface="Times New Roman"/>
              </a:rPr>
              <a:t>Основной задачей алгоритма является найти наиболее правильную линию, или гиперплоскость разделяющую данные на два класса. SVM это алгоритм, который получает на входе данные, и возвращает такую разделяющую линию. </a:t>
            </a:r>
            <a:endParaRPr/>
          </a:p>
        </p:txBody>
      </p:sp>
      <p:sp>
        <p:nvSpPr>
          <p:cNvPr id="195" name="Google Shape;195;p14"/>
          <p:cNvSpPr txBox="1"/>
          <p:nvPr/>
        </p:nvSpPr>
        <p:spPr>
          <a:xfrm>
            <a:off x="204787" y="4300537"/>
            <a:ext cx="4824412" cy="2247900"/>
          </a:xfrm>
          <a:prstGeom prst="rect">
            <a:avLst/>
          </a:prstGeom>
          <a:noFill/>
          <a:ln>
            <a:noFill/>
          </a:ln>
        </p:spPr>
        <p:txBody>
          <a:bodyPr anchorCtr="0" anchor="t" bIns="45700" lIns="91425" spcFirstLastPara="1" rIns="91425" wrap="square" tIns="45700">
            <a:spAutoFit/>
          </a:bodyPr>
          <a:lstStyle/>
          <a:p>
            <a:pPr indent="354012" lvl="0" marL="0" marR="0" rtl="0" algn="l">
              <a:lnSpc>
                <a:spcPct val="100000"/>
              </a:lnSpc>
              <a:spcBef>
                <a:spcPts val="0"/>
              </a:spcBef>
              <a:spcAft>
                <a:spcPts val="0"/>
              </a:spcAft>
              <a:buClr>
                <a:schemeClr val="lt1"/>
              </a:buClr>
              <a:buSzPts val="2000"/>
              <a:buFont typeface="Times New Roman"/>
              <a:buNone/>
            </a:pPr>
            <a:r>
              <a:rPr b="1" i="0" lang="en-US" sz="2000" u="none">
                <a:solidFill>
                  <a:schemeClr val="lt1"/>
                </a:solidFill>
                <a:latin typeface="Times New Roman"/>
                <a:ea typeface="Times New Roman"/>
                <a:cs typeface="Times New Roman"/>
                <a:sym typeface="Times New Roman"/>
              </a:rPr>
              <a:t>Рассмотрим следующий пример. Допустим у нас есть набор данных, и мы хотим классифицировать и разделить красные квадраты от синих кругов. Основной целью в данной задаче будет найти “идеальную” линию которая разделит эти два класса.</a:t>
            </a:r>
            <a:endParaRPr/>
          </a:p>
        </p:txBody>
      </p:sp>
      <p:pic>
        <p:nvPicPr>
          <p:cNvPr id="196" name="Google Shape;196;p14"/>
          <p:cNvPicPr preferRelativeResize="0"/>
          <p:nvPr/>
        </p:nvPicPr>
        <p:blipFill rotWithShape="1">
          <a:blip r:embed="rId3">
            <a:alphaModFix/>
          </a:blip>
          <a:srcRect b="0" l="0" r="0" t="0"/>
          <a:stretch/>
        </p:blipFill>
        <p:spPr>
          <a:xfrm>
            <a:off x="5221287" y="4183062"/>
            <a:ext cx="2944812" cy="2325687"/>
          </a:xfrm>
          <a:prstGeom prst="rect">
            <a:avLst/>
          </a:prstGeom>
          <a:noFill/>
          <a:ln>
            <a:noFill/>
          </a:ln>
        </p:spPr>
      </p:pic>
      <p:sp>
        <p:nvSpPr>
          <p:cNvPr id="197" name="Google Shape;197;p14"/>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5"/>
          <p:cNvSpPr txBox="1"/>
          <p:nvPr>
            <p:ph type="title"/>
          </p:nvPr>
        </p:nvSpPr>
        <p:spPr>
          <a:xfrm>
            <a:off x="457200" y="512762"/>
            <a:ext cx="8229600" cy="612775"/>
          </a:xfrm>
          <a:prstGeom prst="rect">
            <a:avLst/>
          </a:prstGeom>
          <a:noFill/>
          <a:ln>
            <a:noFill/>
          </a:ln>
        </p:spPr>
        <p:txBody>
          <a:bodyPr anchorCtr="0" anchor="t" bIns="44225" lIns="88450" spcFirstLastPara="1" rIns="88450" wrap="square" tIns="44225">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Метод опорных векторов (SVM)</a:t>
            </a:r>
            <a:endParaRPr/>
          </a:p>
        </p:txBody>
      </p:sp>
      <p:sp>
        <p:nvSpPr>
          <p:cNvPr id="204" name="Google Shape;204;p15"/>
          <p:cNvSpPr txBox="1"/>
          <p:nvPr/>
        </p:nvSpPr>
        <p:spPr>
          <a:xfrm>
            <a:off x="250825" y="1498600"/>
            <a:ext cx="5707062" cy="3170237"/>
          </a:xfrm>
          <a:prstGeom prst="rect">
            <a:avLst/>
          </a:prstGeom>
          <a:noFill/>
          <a:ln>
            <a:noFill/>
          </a:ln>
        </p:spPr>
        <p:txBody>
          <a:bodyPr anchorCtr="0" anchor="t" bIns="45700" lIns="91425" spcFirstLastPara="1" rIns="91425" wrap="square" tIns="45700">
            <a:spAutoFit/>
          </a:bodyPr>
          <a:lstStyle/>
          <a:p>
            <a:pPr indent="354012" lvl="0" marL="0" marR="0" rtl="0" algn="l">
              <a:lnSpc>
                <a:spcPct val="100000"/>
              </a:lnSpc>
              <a:spcBef>
                <a:spcPts val="0"/>
              </a:spcBef>
              <a:spcAft>
                <a:spcPts val="0"/>
              </a:spcAft>
              <a:buClr>
                <a:srgbClr val="FFFF00"/>
              </a:buClr>
              <a:buSzPts val="2000"/>
              <a:buFont typeface="Times New Roman"/>
              <a:buNone/>
            </a:pPr>
            <a:r>
              <a:rPr b="1" i="0" lang="en-US" sz="2000" u="none">
                <a:solidFill>
                  <a:srgbClr val="FFFF00"/>
                </a:solidFill>
                <a:latin typeface="Times New Roman"/>
                <a:ea typeface="Times New Roman"/>
                <a:cs typeface="Times New Roman"/>
                <a:sym typeface="Times New Roman"/>
              </a:rPr>
              <a:t>Как SVM находит лучшую линию</a:t>
            </a:r>
            <a:endParaRPr/>
          </a:p>
          <a:p>
            <a:pPr indent="354012" lvl="0" marL="0" marR="0" rtl="0" algn="l">
              <a:lnSpc>
                <a:spcPct val="100000"/>
              </a:lnSpc>
              <a:spcBef>
                <a:spcPts val="0"/>
              </a:spcBef>
              <a:spcAft>
                <a:spcPts val="0"/>
              </a:spcAft>
              <a:buClr>
                <a:schemeClr val="lt1"/>
              </a:buClr>
              <a:buSzPts val="2000"/>
              <a:buFont typeface="Times New Roman"/>
              <a:buNone/>
            </a:pPr>
            <a:br>
              <a:rPr b="1" i="0" lang="en-US" sz="2000" u="none">
                <a:solidFill>
                  <a:schemeClr val="lt1"/>
                </a:solidFill>
                <a:latin typeface="Times New Roman"/>
                <a:ea typeface="Times New Roman"/>
                <a:cs typeface="Times New Roman"/>
                <a:sym typeface="Times New Roman"/>
              </a:rPr>
            </a:br>
            <a:r>
              <a:rPr b="0" i="0" lang="en-US" sz="2000" u="none">
                <a:solidFill>
                  <a:schemeClr val="lt1"/>
                </a:solidFill>
                <a:latin typeface="Times New Roman"/>
                <a:ea typeface="Times New Roman"/>
                <a:cs typeface="Times New Roman"/>
                <a:sym typeface="Times New Roman"/>
              </a:rPr>
              <a:t>Алгоритм SVM устроен таким образом, что он ищет точки на графике, которые расположены в непосредственной близости к линии разделения. Линии, проходящие через эти точки называются опорными векторами. Затем, алгоритм вычисляет расстояние между опорными векторами и разделяющей плоскостью. Это расстояние которое называется </a:t>
            </a:r>
            <a:r>
              <a:rPr b="1" i="1" lang="en-US" sz="2000" u="none">
                <a:solidFill>
                  <a:schemeClr val="lt1"/>
                </a:solidFill>
                <a:latin typeface="Times New Roman"/>
                <a:ea typeface="Times New Roman"/>
                <a:cs typeface="Times New Roman"/>
                <a:sym typeface="Times New Roman"/>
              </a:rPr>
              <a:t>зазором</a:t>
            </a:r>
            <a:r>
              <a:rPr b="0" i="0" lang="en-US" sz="2000" u="none">
                <a:solidFill>
                  <a:schemeClr val="lt1"/>
                </a:solidFill>
                <a:latin typeface="Times New Roman"/>
                <a:ea typeface="Times New Roman"/>
                <a:cs typeface="Times New Roman"/>
                <a:sym typeface="Times New Roman"/>
              </a:rPr>
              <a:t>. </a:t>
            </a:r>
            <a:endParaRPr/>
          </a:p>
        </p:txBody>
      </p:sp>
      <p:pic>
        <p:nvPicPr>
          <p:cNvPr id="205" name="Google Shape;205;p15"/>
          <p:cNvPicPr preferRelativeResize="0"/>
          <p:nvPr/>
        </p:nvPicPr>
        <p:blipFill rotWithShape="1">
          <a:blip r:embed="rId3">
            <a:alphaModFix/>
          </a:blip>
          <a:srcRect b="0" l="0" r="0" t="0"/>
          <a:stretch/>
        </p:blipFill>
        <p:spPr>
          <a:xfrm>
            <a:off x="5957887" y="1716087"/>
            <a:ext cx="3054350" cy="2911475"/>
          </a:xfrm>
          <a:prstGeom prst="rect">
            <a:avLst/>
          </a:prstGeom>
          <a:noFill/>
          <a:ln>
            <a:noFill/>
          </a:ln>
        </p:spPr>
      </p:pic>
      <p:sp>
        <p:nvSpPr>
          <p:cNvPr id="206" name="Google Shape;206;p15"/>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
        <p:nvSpPr>
          <p:cNvPr id="207" name="Google Shape;207;p15"/>
          <p:cNvSpPr txBox="1"/>
          <p:nvPr/>
        </p:nvSpPr>
        <p:spPr>
          <a:xfrm>
            <a:off x="250825" y="4845050"/>
            <a:ext cx="8828087" cy="101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Times New Roman"/>
              <a:buNone/>
            </a:pPr>
            <a:r>
              <a:rPr b="0" i="0" lang="en-US" sz="2000" u="none">
                <a:solidFill>
                  <a:schemeClr val="lt1"/>
                </a:solidFill>
                <a:latin typeface="Times New Roman"/>
                <a:ea typeface="Times New Roman"/>
                <a:cs typeface="Times New Roman"/>
                <a:sym typeface="Times New Roman"/>
              </a:rPr>
              <a:t>Основная цель алгоритма — максимизировать расстояние зазора. Лучшей гиперплоскостью считается такая гиперплоскость, для которой этот зазор является максимально большим.</a:t>
            </a:r>
            <a:endParaRPr/>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6"/>
          <p:cNvSpPr txBox="1"/>
          <p:nvPr>
            <p:ph type="title"/>
          </p:nvPr>
        </p:nvSpPr>
        <p:spPr>
          <a:xfrm>
            <a:off x="457200" y="512762"/>
            <a:ext cx="8229600" cy="612775"/>
          </a:xfrm>
          <a:prstGeom prst="rect">
            <a:avLst/>
          </a:prstGeom>
          <a:noFill/>
          <a:ln>
            <a:noFill/>
          </a:ln>
        </p:spPr>
        <p:txBody>
          <a:bodyPr anchorCtr="0" anchor="t" bIns="44225" lIns="88450" spcFirstLastPara="1" rIns="88450" wrap="square" tIns="44225">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Метод опорных векторов (SVM)</a:t>
            </a:r>
            <a:endParaRPr/>
          </a:p>
        </p:txBody>
      </p:sp>
      <p:sp>
        <p:nvSpPr>
          <p:cNvPr id="214" name="Google Shape;214;p16"/>
          <p:cNvSpPr txBox="1"/>
          <p:nvPr/>
        </p:nvSpPr>
        <p:spPr>
          <a:xfrm>
            <a:off x="131762" y="1228725"/>
            <a:ext cx="5141912" cy="2308225"/>
          </a:xfrm>
          <a:prstGeom prst="rect">
            <a:avLst/>
          </a:prstGeom>
          <a:noFill/>
          <a:ln>
            <a:noFill/>
          </a:ln>
        </p:spPr>
        <p:txBody>
          <a:bodyPr anchorCtr="0" anchor="t" bIns="45700" lIns="91425" spcFirstLastPara="1" rIns="91425" wrap="square" tIns="45700">
            <a:spAutoFit/>
          </a:bodyPr>
          <a:lstStyle/>
          <a:p>
            <a:pPr indent="354012" lvl="0" marL="0" marR="0" rtl="0" algn="l">
              <a:lnSpc>
                <a:spcPct val="100000"/>
              </a:lnSpc>
              <a:spcBef>
                <a:spcPts val="0"/>
              </a:spcBef>
              <a:spcAft>
                <a:spcPts val="0"/>
              </a:spcAft>
              <a:buClr>
                <a:srgbClr val="FFFF00"/>
              </a:buClr>
              <a:buSzPts val="1800"/>
              <a:buFont typeface="Times New Roman"/>
              <a:buNone/>
            </a:pPr>
            <a:r>
              <a:rPr b="1" i="0" lang="en-US" sz="1800" u="none">
                <a:solidFill>
                  <a:srgbClr val="FFFF00"/>
                </a:solidFill>
                <a:latin typeface="Times New Roman"/>
                <a:ea typeface="Times New Roman"/>
                <a:cs typeface="Times New Roman"/>
                <a:sym typeface="Times New Roman"/>
              </a:rPr>
              <a:t>Как SVM находит лучшую линию</a:t>
            </a:r>
            <a:endParaRPr/>
          </a:p>
          <a:p>
            <a:pPr indent="354012" lvl="0" marL="0" marR="0" rtl="0" algn="l">
              <a:lnSpc>
                <a:spcPct val="100000"/>
              </a:lnSpc>
              <a:spcBef>
                <a:spcPts val="0"/>
              </a:spcBef>
              <a:spcAft>
                <a:spcPts val="0"/>
              </a:spcAft>
              <a:buClr>
                <a:schemeClr val="lt1"/>
              </a:buClr>
              <a:buSzPts val="1800"/>
              <a:buFont typeface="Times New Roman"/>
              <a:buNone/>
            </a:pPr>
            <a:br>
              <a:rPr b="1" i="0" lang="en-US" sz="1800" u="none">
                <a:solidFill>
                  <a:schemeClr val="lt1"/>
                </a:solidFill>
                <a:latin typeface="Times New Roman"/>
                <a:ea typeface="Times New Roman"/>
                <a:cs typeface="Times New Roman"/>
                <a:sym typeface="Times New Roman"/>
              </a:rPr>
            </a:br>
            <a:r>
              <a:rPr b="1" i="0" lang="en-US" sz="1800" u="none">
                <a:solidFill>
                  <a:schemeClr val="lt1"/>
                </a:solidFill>
                <a:latin typeface="Times New Roman"/>
                <a:ea typeface="Times New Roman"/>
                <a:cs typeface="Times New Roman"/>
                <a:sym typeface="Times New Roman"/>
              </a:rPr>
              <a:t>Для того, чтобы построить машину опорных векторов, надо найти уравнение разделяющей гиперплоскости для двух классов 𝐹(𝑥) = 𝑠𝑖𝑔𝑛(𝑤𝑇𝑥 −𝑏), где 𝑤 – вектор нормали к разделяющей гиперплоскости. А для этого надо найти 𝑤, 𝑏, которые максимизируют зазор.</a:t>
            </a:r>
            <a:endParaRPr/>
          </a:p>
        </p:txBody>
      </p:sp>
      <p:sp>
        <p:nvSpPr>
          <p:cNvPr id="215" name="Google Shape;215;p16"/>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pic>
        <p:nvPicPr>
          <p:cNvPr id="216" name="Google Shape;216;p16"/>
          <p:cNvPicPr preferRelativeResize="0"/>
          <p:nvPr/>
        </p:nvPicPr>
        <p:blipFill rotWithShape="1">
          <a:blip r:embed="rId3">
            <a:alphaModFix/>
          </a:blip>
          <a:srcRect b="0" l="0" r="0" t="0"/>
          <a:stretch/>
        </p:blipFill>
        <p:spPr>
          <a:xfrm>
            <a:off x="5427662" y="1228725"/>
            <a:ext cx="3473450" cy="2962275"/>
          </a:xfrm>
          <a:prstGeom prst="rect">
            <a:avLst/>
          </a:prstGeom>
          <a:noFill/>
          <a:ln>
            <a:noFill/>
          </a:ln>
        </p:spPr>
      </p:pic>
      <p:sp>
        <p:nvSpPr>
          <p:cNvPr id="217" name="Google Shape;217;p16"/>
          <p:cNvSpPr txBox="1"/>
          <p:nvPr/>
        </p:nvSpPr>
        <p:spPr>
          <a:xfrm>
            <a:off x="320675" y="3930650"/>
            <a:ext cx="8502650" cy="19383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000"/>
              <a:buFont typeface="Times New Roman"/>
              <a:buNone/>
            </a:pPr>
            <a:r>
              <a:rPr b="1" i="0" lang="en-US" sz="2000" u="none">
                <a:solidFill>
                  <a:srgbClr val="FFFFFF"/>
                </a:solidFill>
                <a:latin typeface="Times New Roman"/>
                <a:ea typeface="Times New Roman"/>
                <a:cs typeface="Times New Roman"/>
                <a:sym typeface="Times New Roman"/>
              </a:rPr>
              <a:t>Случай линейной разделимости</a:t>
            </a:r>
            <a:endParaRPr/>
          </a:p>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Задача – минимизировать </a:t>
            </a:r>
            <a:r>
              <a:rPr b="0" i="0" lang="en-US" sz="2000" u="none">
                <a:solidFill>
                  <a:srgbClr val="FFFFFF"/>
                </a:solidFill>
                <a:latin typeface="Cambria Math"/>
                <a:ea typeface="Cambria Math"/>
                <a:cs typeface="Cambria Math"/>
                <a:sym typeface="Cambria Math"/>
              </a:rPr>
              <a:t>‖𝑤‖</a:t>
            </a:r>
            <a:r>
              <a:rPr b="0" i="0" lang="en-US" sz="1200" u="none">
                <a:solidFill>
                  <a:srgbClr val="FFFFFF"/>
                </a:solidFill>
                <a:latin typeface="Cambria Math"/>
                <a:ea typeface="Cambria Math"/>
                <a:cs typeface="Cambria Math"/>
                <a:sym typeface="Cambria Math"/>
              </a:rPr>
              <a:t>2 </a:t>
            </a:r>
            <a:r>
              <a:rPr b="0" i="0" lang="en-US" sz="2000" u="none">
                <a:solidFill>
                  <a:srgbClr val="FFFFFF"/>
                </a:solidFill>
                <a:latin typeface="Times New Roman"/>
                <a:ea typeface="Times New Roman"/>
                <a:cs typeface="Times New Roman"/>
                <a:sym typeface="Times New Roman"/>
              </a:rPr>
              <a:t>при условии </a:t>
            </a:r>
            <a:r>
              <a:rPr b="0" i="0" lang="en-US" sz="2000" u="none">
                <a:solidFill>
                  <a:srgbClr val="FFFFFF"/>
                </a:solidFill>
                <a:latin typeface="Cambria Math"/>
                <a:ea typeface="Cambria Math"/>
                <a:cs typeface="Cambria Math"/>
                <a:sym typeface="Cambria Math"/>
              </a:rPr>
              <a:t>𝑦</a:t>
            </a:r>
            <a:r>
              <a:rPr b="0" i="0" lang="en-US" sz="1200" u="none">
                <a:solidFill>
                  <a:srgbClr val="FFFFFF"/>
                </a:solidFill>
                <a:latin typeface="Cambria Math"/>
                <a:ea typeface="Cambria Math"/>
                <a:cs typeface="Cambria Math"/>
                <a:sym typeface="Cambria Math"/>
              </a:rPr>
              <a:t>𝑖</a:t>
            </a:r>
            <a:r>
              <a:rPr b="0" i="0" lang="en-US" sz="2000" u="none">
                <a:solidFill>
                  <a:srgbClr val="FFFFFF"/>
                </a:solidFill>
                <a:latin typeface="Cambria Math"/>
                <a:ea typeface="Cambria Math"/>
                <a:cs typeface="Cambria Math"/>
                <a:sym typeface="Cambria Math"/>
              </a:rPr>
              <a:t>(𝑤 ∙ 𝑥</a:t>
            </a:r>
            <a:r>
              <a:rPr b="0" i="0" lang="en-US" sz="1200" u="none">
                <a:solidFill>
                  <a:srgbClr val="FFFFFF"/>
                </a:solidFill>
                <a:latin typeface="Cambria Math"/>
                <a:ea typeface="Cambria Math"/>
                <a:cs typeface="Cambria Math"/>
                <a:sym typeface="Cambria Math"/>
              </a:rPr>
              <a:t>𝑖 </a:t>
            </a:r>
            <a:r>
              <a:rPr b="0" i="0" lang="en-US" sz="2000" u="none">
                <a:solidFill>
                  <a:srgbClr val="FFFFFF"/>
                </a:solidFill>
                <a:latin typeface="Cambria Math"/>
                <a:ea typeface="Cambria Math"/>
                <a:cs typeface="Cambria Math"/>
                <a:sym typeface="Cambria Math"/>
              </a:rPr>
              <a:t>- 𝑏) ≥ 1</a:t>
            </a:r>
            <a:endParaRPr/>
          </a:p>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По теореме Каруша-Куна-Таккера она эквивалентна двойственной задаче поиска седловой точки функции Лагранжа (</a:t>
            </a:r>
            <a:r>
              <a:rPr b="0" i="0" lang="en-US" sz="2000" u="none">
                <a:solidFill>
                  <a:srgbClr val="FFFFFF"/>
                </a:solidFill>
                <a:latin typeface="Cambria Math"/>
                <a:ea typeface="Cambria Math"/>
                <a:cs typeface="Cambria Math"/>
                <a:sym typeface="Cambria Math"/>
              </a:rPr>
              <a:t>𝜆 </a:t>
            </a:r>
            <a:r>
              <a:rPr b="0" i="0" lang="en-US" sz="2000" u="none">
                <a:solidFill>
                  <a:srgbClr val="FFFFFF"/>
                </a:solidFill>
                <a:latin typeface="Times New Roman"/>
                <a:ea typeface="Times New Roman"/>
                <a:cs typeface="Times New Roman"/>
                <a:sym typeface="Times New Roman"/>
              </a:rPr>
              <a:t>– вектор двойственных переменных) </a:t>
            </a:r>
            <a:br>
              <a:rPr b="1" i="0" lang="en-US" sz="2000" u="none">
                <a:solidFill>
                  <a:srgbClr val="FFFFFF"/>
                </a:solidFill>
                <a:latin typeface="Quattrocento Sans"/>
                <a:ea typeface="Quattrocento Sans"/>
                <a:cs typeface="Quattrocento Sans"/>
                <a:sym typeface="Quattrocento Sans"/>
              </a:rPr>
            </a:br>
            <a:endParaRPr/>
          </a:p>
        </p:txBody>
      </p:sp>
      <p:pic>
        <p:nvPicPr>
          <p:cNvPr id="218" name="Google Shape;218;p16"/>
          <p:cNvPicPr preferRelativeResize="0"/>
          <p:nvPr/>
        </p:nvPicPr>
        <p:blipFill rotWithShape="1">
          <a:blip r:embed="rId4">
            <a:alphaModFix/>
          </a:blip>
          <a:srcRect b="0" l="0" r="0" t="0"/>
          <a:stretch/>
        </p:blipFill>
        <p:spPr>
          <a:xfrm>
            <a:off x="2309812" y="5356225"/>
            <a:ext cx="5076825" cy="809625"/>
          </a:xfrm>
          <a:prstGeom prst="rect">
            <a:avLst/>
          </a:prstGeom>
          <a:noFill/>
          <a:ln>
            <a:noFill/>
          </a:ln>
        </p:spPr>
      </p:pic>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7"/>
          <p:cNvSpPr txBox="1"/>
          <p:nvPr>
            <p:ph type="title"/>
          </p:nvPr>
        </p:nvSpPr>
        <p:spPr>
          <a:xfrm>
            <a:off x="457200" y="512762"/>
            <a:ext cx="8229600" cy="612775"/>
          </a:xfrm>
          <a:prstGeom prst="rect">
            <a:avLst/>
          </a:prstGeom>
          <a:noFill/>
          <a:ln>
            <a:noFill/>
          </a:ln>
        </p:spPr>
        <p:txBody>
          <a:bodyPr anchorCtr="0" anchor="t" bIns="44225" lIns="88450" spcFirstLastPara="1" rIns="88450" wrap="square" tIns="44225">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Метод опорных векторов (SVM)</a:t>
            </a:r>
            <a:endParaRPr/>
          </a:p>
        </p:txBody>
      </p:sp>
      <p:sp>
        <p:nvSpPr>
          <p:cNvPr id="225" name="Google Shape;225;p17"/>
          <p:cNvSpPr txBox="1"/>
          <p:nvPr/>
        </p:nvSpPr>
        <p:spPr>
          <a:xfrm>
            <a:off x="131762" y="1228725"/>
            <a:ext cx="5141912" cy="400050"/>
          </a:xfrm>
          <a:prstGeom prst="rect">
            <a:avLst/>
          </a:prstGeom>
          <a:noFill/>
          <a:ln>
            <a:noFill/>
          </a:ln>
        </p:spPr>
        <p:txBody>
          <a:bodyPr anchorCtr="0" anchor="t" bIns="45700" lIns="91425" spcFirstLastPara="1" rIns="91425" wrap="square" tIns="45700">
            <a:spAutoFit/>
          </a:bodyPr>
          <a:lstStyle/>
          <a:p>
            <a:pPr indent="354012" lvl="0" marL="0" marR="0" rtl="0" algn="l">
              <a:lnSpc>
                <a:spcPct val="100000"/>
              </a:lnSpc>
              <a:spcBef>
                <a:spcPts val="0"/>
              </a:spcBef>
              <a:spcAft>
                <a:spcPts val="0"/>
              </a:spcAft>
              <a:buClr>
                <a:srgbClr val="FFFF00"/>
              </a:buClr>
              <a:buSzPts val="2000"/>
              <a:buFont typeface="Times New Roman"/>
              <a:buNone/>
            </a:pPr>
            <a:r>
              <a:rPr b="1" i="0" lang="en-US" sz="2000" u="none">
                <a:solidFill>
                  <a:srgbClr val="FFFF00"/>
                </a:solidFill>
                <a:latin typeface="Times New Roman"/>
                <a:ea typeface="Times New Roman"/>
                <a:cs typeface="Times New Roman"/>
                <a:sym typeface="Times New Roman"/>
              </a:rPr>
              <a:t>Как SVM находит лучшую линию</a:t>
            </a:r>
            <a:endParaRPr/>
          </a:p>
        </p:txBody>
      </p:sp>
      <p:sp>
        <p:nvSpPr>
          <p:cNvPr id="226" name="Google Shape;226;p17"/>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pic>
        <p:nvPicPr>
          <p:cNvPr id="227" name="Google Shape;227;p17"/>
          <p:cNvPicPr preferRelativeResize="0"/>
          <p:nvPr/>
        </p:nvPicPr>
        <p:blipFill rotWithShape="1">
          <a:blip r:embed="rId3">
            <a:alphaModFix/>
          </a:blip>
          <a:srcRect b="0" l="0" r="0" t="0"/>
          <a:stretch/>
        </p:blipFill>
        <p:spPr>
          <a:xfrm>
            <a:off x="5273675" y="1368425"/>
            <a:ext cx="3686175" cy="3011487"/>
          </a:xfrm>
          <a:prstGeom prst="rect">
            <a:avLst/>
          </a:prstGeom>
          <a:noFill/>
          <a:ln>
            <a:noFill/>
          </a:ln>
        </p:spPr>
      </p:pic>
      <p:sp>
        <p:nvSpPr>
          <p:cNvPr id="228" name="Google Shape;228;p17"/>
          <p:cNvSpPr txBox="1"/>
          <p:nvPr/>
        </p:nvSpPr>
        <p:spPr>
          <a:xfrm>
            <a:off x="544512" y="1706562"/>
            <a:ext cx="4856162" cy="2462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200"/>
              <a:buFont typeface="Times New Roman"/>
              <a:buNone/>
            </a:pPr>
            <a:r>
              <a:rPr b="0" i="0" lang="en-US" sz="2200" u="none">
                <a:solidFill>
                  <a:srgbClr val="FFFFFF"/>
                </a:solidFill>
                <a:latin typeface="Times New Roman"/>
                <a:ea typeface="Times New Roman"/>
                <a:cs typeface="Times New Roman"/>
                <a:sym typeface="Times New Roman"/>
              </a:rPr>
              <a:t>Сведем эту задачу к эквивалентной задаче квадратичного программирования </a:t>
            </a:r>
            <a:endParaRPr/>
          </a:p>
          <a:p>
            <a:pPr indent="0" lvl="0" marL="0" marR="0" rtl="0" algn="l">
              <a:lnSpc>
                <a:spcPct val="100000"/>
              </a:lnSpc>
              <a:spcBef>
                <a:spcPts val="0"/>
              </a:spcBef>
              <a:spcAft>
                <a:spcPts val="0"/>
              </a:spcAft>
              <a:buClr>
                <a:schemeClr val="lt1"/>
              </a:buClr>
              <a:buSzPts val="2200"/>
              <a:buFont typeface="Quattrocento Sans"/>
              <a:buNone/>
            </a:pPr>
            <a:r>
              <a:t/>
            </a:r>
            <a:endParaRPr b="0" i="0" sz="2200" u="none">
              <a:solidFill>
                <a:srgbClr val="FFFFFF"/>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lt1"/>
              </a:buClr>
              <a:buSzPts val="2200"/>
              <a:buFont typeface="Quattrocento Sans"/>
              <a:buNone/>
            </a:pPr>
            <a:r>
              <a:t/>
            </a:r>
            <a:endParaRPr b="0" i="0" sz="2200" u="none">
              <a:solidFill>
                <a:srgbClr val="FFFFFF"/>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FFFFFF"/>
              </a:buClr>
              <a:buSzPts val="2200"/>
              <a:buFont typeface="Quattrocento Sans"/>
              <a:buNone/>
            </a:pPr>
            <a:br>
              <a:rPr b="1" i="0" lang="en-US" sz="2200" u="none">
                <a:solidFill>
                  <a:srgbClr val="FFFFFF"/>
                </a:solidFill>
                <a:latin typeface="Quattrocento Sans"/>
                <a:ea typeface="Quattrocento Sans"/>
                <a:cs typeface="Quattrocento Sans"/>
                <a:sym typeface="Quattrocento Sans"/>
              </a:rPr>
            </a:br>
            <a:endParaRPr/>
          </a:p>
        </p:txBody>
      </p:sp>
      <p:pic>
        <p:nvPicPr>
          <p:cNvPr id="229" name="Google Shape;229;p17"/>
          <p:cNvPicPr preferRelativeResize="0"/>
          <p:nvPr/>
        </p:nvPicPr>
        <p:blipFill rotWithShape="1">
          <a:blip r:embed="rId4">
            <a:alphaModFix/>
          </a:blip>
          <a:srcRect b="0" l="0" r="0" t="0"/>
          <a:stretch/>
        </p:blipFill>
        <p:spPr>
          <a:xfrm>
            <a:off x="427037" y="2871787"/>
            <a:ext cx="4502150" cy="685800"/>
          </a:xfrm>
          <a:prstGeom prst="rect">
            <a:avLst/>
          </a:prstGeom>
          <a:noFill/>
          <a:ln>
            <a:noFill/>
          </a:ln>
        </p:spPr>
      </p:pic>
      <p:sp>
        <p:nvSpPr>
          <p:cNvPr id="230" name="Google Shape;230;p17"/>
          <p:cNvSpPr txBox="1"/>
          <p:nvPr/>
        </p:nvSpPr>
        <p:spPr>
          <a:xfrm>
            <a:off x="295275" y="3671887"/>
            <a:ext cx="5141912" cy="708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Решить эту задачу можно градиентными методами или покоординатным спуском. </a:t>
            </a:r>
            <a:endParaRPr/>
          </a:p>
        </p:txBody>
      </p:sp>
      <p:sp>
        <p:nvSpPr>
          <p:cNvPr id="231" name="Google Shape;231;p17"/>
          <p:cNvSpPr txBox="1"/>
          <p:nvPr/>
        </p:nvSpPr>
        <p:spPr>
          <a:xfrm>
            <a:off x="376237" y="4471987"/>
            <a:ext cx="8391525" cy="1724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Если мы ее решили, то </a:t>
            </a:r>
            <a:r>
              <a:rPr b="0" i="0" lang="en-US" sz="2000" u="none">
                <a:solidFill>
                  <a:srgbClr val="FFFFFF"/>
                </a:solidFill>
                <a:latin typeface="Cambria Math"/>
                <a:ea typeface="Cambria Math"/>
                <a:cs typeface="Cambria Math"/>
                <a:sym typeface="Cambria Math"/>
              </a:rPr>
              <a:t>𝑤 </a:t>
            </a:r>
            <a:r>
              <a:rPr b="0" i="0" lang="en-US" sz="2000" u="none">
                <a:solidFill>
                  <a:srgbClr val="FFFFFF"/>
                </a:solidFill>
                <a:latin typeface="Times New Roman"/>
                <a:ea typeface="Times New Roman"/>
                <a:cs typeface="Times New Roman"/>
                <a:sym typeface="Times New Roman"/>
              </a:rPr>
              <a:t>и </a:t>
            </a:r>
            <a:r>
              <a:rPr b="0" i="0" lang="en-US" sz="2000" u="none">
                <a:solidFill>
                  <a:srgbClr val="FFFFFF"/>
                </a:solidFill>
                <a:latin typeface="Cambria Math"/>
                <a:ea typeface="Cambria Math"/>
                <a:cs typeface="Cambria Math"/>
                <a:sym typeface="Cambria Math"/>
              </a:rPr>
              <a:t>𝑏 </a:t>
            </a:r>
            <a:r>
              <a:rPr b="0" i="0" lang="en-US" sz="2000" u="none">
                <a:solidFill>
                  <a:srgbClr val="FFFFFF"/>
                </a:solidFill>
                <a:latin typeface="Times New Roman"/>
                <a:ea typeface="Times New Roman"/>
                <a:cs typeface="Times New Roman"/>
                <a:sym typeface="Times New Roman"/>
              </a:rPr>
              <a:t>можно найти по формулам (следует из необходимых условий существования седловой точки):</a:t>
            </a:r>
            <a:endParaRPr/>
          </a:p>
          <a:p>
            <a:pPr indent="0" lvl="0" marL="0" marR="0" rtl="0" algn="l">
              <a:lnSpc>
                <a:spcPct val="70000"/>
              </a:lnSpc>
              <a:spcBef>
                <a:spcPts val="0"/>
              </a:spcBef>
              <a:spcAft>
                <a:spcPts val="0"/>
              </a:spcAft>
              <a:buClr>
                <a:srgbClr val="FFFFFF"/>
              </a:buClr>
              <a:buSzPts val="2000"/>
              <a:buFont typeface="Cambria Math"/>
              <a:buNone/>
            </a:pPr>
            <a:r>
              <a:rPr b="0" i="0" lang="en-US" sz="2000" u="none">
                <a:solidFill>
                  <a:srgbClr val="FFFFFF"/>
                </a:solidFill>
                <a:latin typeface="Cambria Math"/>
                <a:ea typeface="Cambria Math"/>
                <a:cs typeface="Cambria Math"/>
                <a:sym typeface="Cambria Math"/>
              </a:rPr>
              <a:t>				    </a:t>
            </a:r>
            <a:r>
              <a:rPr b="0" i="0" lang="en-US" sz="1400" u="none">
                <a:solidFill>
                  <a:srgbClr val="FFFFFF"/>
                </a:solidFill>
                <a:latin typeface="Cambria Math"/>
                <a:ea typeface="Cambria Math"/>
                <a:cs typeface="Cambria Math"/>
                <a:sym typeface="Cambria Math"/>
              </a:rPr>
              <a:t>  𝑛 </a:t>
            </a:r>
            <a:endParaRPr b="0" i="0" sz="1400" u="none">
              <a:solidFill>
                <a:srgbClr val="FFFFFF"/>
              </a:solidFill>
              <a:latin typeface="Times New Roman"/>
              <a:ea typeface="Times New Roman"/>
              <a:cs typeface="Times New Roman"/>
              <a:sym typeface="Times New Roman"/>
            </a:endParaRPr>
          </a:p>
          <a:p>
            <a:pPr indent="0" lvl="0" marL="0" marR="0" rtl="0" algn="ctr">
              <a:lnSpc>
                <a:spcPct val="91666"/>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 </a:t>
            </a:r>
            <a:r>
              <a:rPr b="0" i="0" lang="en-US" sz="2000" u="none">
                <a:solidFill>
                  <a:srgbClr val="FFFFFF"/>
                </a:solidFill>
                <a:latin typeface="Cambria Math"/>
                <a:ea typeface="Cambria Math"/>
                <a:cs typeface="Cambria Math"/>
                <a:sym typeface="Cambria Math"/>
              </a:rPr>
              <a:t>𝑤 = </a:t>
            </a:r>
            <a:r>
              <a:rPr b="0" i="0" lang="en-US" sz="2400" u="none">
                <a:solidFill>
                  <a:srgbClr val="FFFFFF"/>
                </a:solidFill>
                <a:latin typeface="Cambria Math"/>
                <a:ea typeface="Cambria Math"/>
                <a:cs typeface="Cambria Math"/>
                <a:sym typeface="Cambria Math"/>
              </a:rPr>
              <a:t>∑ </a:t>
            </a:r>
            <a:r>
              <a:rPr b="0" i="0" lang="en-US" sz="2000" u="none">
                <a:solidFill>
                  <a:srgbClr val="FFFFFF"/>
                </a:solidFill>
                <a:latin typeface="Cambria Math"/>
                <a:ea typeface="Cambria Math"/>
                <a:cs typeface="Cambria Math"/>
                <a:sym typeface="Cambria Math"/>
              </a:rPr>
              <a:t>𝜆</a:t>
            </a:r>
            <a:r>
              <a:rPr b="0" baseline="-25000" i="0" lang="en-US" sz="2000" u="none">
                <a:solidFill>
                  <a:srgbClr val="FFFFFF"/>
                </a:solidFill>
                <a:latin typeface="Cambria Math"/>
                <a:ea typeface="Cambria Math"/>
                <a:cs typeface="Cambria Math"/>
                <a:sym typeface="Cambria Math"/>
              </a:rPr>
              <a:t>𝑖</a:t>
            </a:r>
            <a:r>
              <a:rPr b="0" i="0" lang="en-US" sz="2000" u="none">
                <a:solidFill>
                  <a:srgbClr val="FFFFFF"/>
                </a:solidFill>
                <a:latin typeface="Cambria Math"/>
                <a:ea typeface="Cambria Math"/>
                <a:cs typeface="Cambria Math"/>
                <a:sym typeface="Cambria Math"/>
              </a:rPr>
              <a:t>𝑦</a:t>
            </a:r>
            <a:r>
              <a:rPr b="0" baseline="-25000" i="0" lang="en-US" sz="2000" u="none">
                <a:solidFill>
                  <a:srgbClr val="FFFFFF"/>
                </a:solidFill>
                <a:latin typeface="Cambria Math"/>
                <a:ea typeface="Cambria Math"/>
                <a:cs typeface="Cambria Math"/>
                <a:sym typeface="Cambria Math"/>
              </a:rPr>
              <a:t>𝑖</a:t>
            </a:r>
            <a:r>
              <a:rPr b="0" i="0" lang="en-US" sz="2000" u="none">
                <a:solidFill>
                  <a:srgbClr val="FFFFFF"/>
                </a:solidFill>
                <a:latin typeface="Cambria Math"/>
                <a:ea typeface="Cambria Math"/>
                <a:cs typeface="Cambria Math"/>
                <a:sym typeface="Cambria Math"/>
              </a:rPr>
              <a:t>𝑥</a:t>
            </a:r>
            <a:r>
              <a:rPr b="0" baseline="-25000" i="0" lang="en-US" sz="2000" u="none">
                <a:solidFill>
                  <a:srgbClr val="FFFFFF"/>
                </a:solidFill>
                <a:latin typeface="Cambria Math"/>
                <a:ea typeface="Cambria Math"/>
                <a:cs typeface="Cambria Math"/>
                <a:sym typeface="Cambria Math"/>
              </a:rPr>
              <a:t>𝑖</a:t>
            </a:r>
            <a:r>
              <a:rPr b="0" i="0" lang="en-US" sz="2000" u="none">
                <a:solidFill>
                  <a:srgbClr val="FFFFFF"/>
                </a:solidFill>
                <a:latin typeface="Cambria Math"/>
                <a:ea typeface="Cambria Math"/>
                <a:cs typeface="Cambria Math"/>
                <a:sym typeface="Cambria Math"/>
              </a:rPr>
              <a:t> </a:t>
            </a:r>
            <a:endParaRPr/>
          </a:p>
          <a:p>
            <a:pPr indent="0" lvl="0" marL="0" marR="0" rtl="0" algn="ctr">
              <a:lnSpc>
                <a:spcPct val="100000"/>
              </a:lnSpc>
              <a:spcBef>
                <a:spcPts val="0"/>
              </a:spcBef>
              <a:spcAft>
                <a:spcPts val="0"/>
              </a:spcAft>
              <a:buClr>
                <a:srgbClr val="FFFFFF"/>
              </a:buClr>
              <a:buSzPts val="1400"/>
              <a:buFont typeface="Cambria Math"/>
              <a:buNone/>
            </a:pPr>
            <a:r>
              <a:rPr b="0" i="0" lang="en-US" sz="1400" u="none">
                <a:solidFill>
                  <a:srgbClr val="FFFFFF"/>
                </a:solidFill>
                <a:latin typeface="Cambria Math"/>
                <a:ea typeface="Cambria Math"/>
                <a:cs typeface="Cambria Math"/>
                <a:sym typeface="Cambria Math"/>
              </a:rPr>
              <a:t>𝑖=1 </a:t>
            </a:r>
            <a:endParaRPr/>
          </a:p>
          <a:p>
            <a:pPr indent="0" lvl="0" marL="0" marR="0" rtl="0" algn="ctr">
              <a:lnSpc>
                <a:spcPct val="100000"/>
              </a:lnSpc>
              <a:spcBef>
                <a:spcPts val="0"/>
              </a:spcBef>
              <a:spcAft>
                <a:spcPts val="0"/>
              </a:spcAft>
              <a:buClr>
                <a:srgbClr val="FFFFFF"/>
              </a:buClr>
              <a:buSzPts val="2000"/>
              <a:buFont typeface="Cambria Math"/>
              <a:buNone/>
            </a:pPr>
            <a:r>
              <a:rPr b="0" i="0" lang="en-US" sz="2000" u="none">
                <a:solidFill>
                  <a:srgbClr val="FFFFFF"/>
                </a:solidFill>
                <a:latin typeface="Cambria Math"/>
                <a:ea typeface="Cambria Math"/>
                <a:cs typeface="Cambria Math"/>
                <a:sym typeface="Cambria Math"/>
              </a:rPr>
              <a:t>𝑏 = 𝑤 ∙ 𝑥</a:t>
            </a:r>
            <a:r>
              <a:rPr b="0" baseline="-25000" i="0" lang="en-US" sz="2000" u="none">
                <a:solidFill>
                  <a:srgbClr val="FFFFFF"/>
                </a:solidFill>
                <a:latin typeface="Cambria Math"/>
                <a:ea typeface="Cambria Math"/>
                <a:cs typeface="Cambria Math"/>
                <a:sym typeface="Cambria Math"/>
              </a:rPr>
              <a:t>𝑖</a:t>
            </a:r>
            <a:r>
              <a:rPr b="0" i="0" lang="en-US" sz="2000" u="none">
                <a:solidFill>
                  <a:srgbClr val="FFFFFF"/>
                </a:solidFill>
                <a:latin typeface="Cambria Math"/>
                <a:ea typeface="Cambria Math"/>
                <a:cs typeface="Cambria Math"/>
                <a:sym typeface="Cambria Math"/>
              </a:rPr>
              <a:t> - 𝑦</a:t>
            </a:r>
            <a:r>
              <a:rPr b="0" baseline="-25000" i="0" lang="en-US" sz="2000" u="none">
                <a:solidFill>
                  <a:srgbClr val="FFFFFF"/>
                </a:solidFill>
                <a:latin typeface="Cambria Math"/>
                <a:ea typeface="Cambria Math"/>
                <a:cs typeface="Cambria Math"/>
                <a:sym typeface="Cambria Math"/>
              </a:rPr>
              <a:t>𝑖</a:t>
            </a:r>
            <a:r>
              <a:rPr b="1" i="0" lang="en-US" sz="2000" u="none">
                <a:solidFill>
                  <a:srgbClr val="FFFFFF"/>
                </a:solidFill>
                <a:latin typeface="Quattrocento Sans"/>
                <a:ea typeface="Quattrocento Sans"/>
                <a:cs typeface="Quattrocento Sans"/>
                <a:sym typeface="Quattrocento Sans"/>
              </a:rPr>
              <a:t> </a:t>
            </a:r>
            <a:endParaRPr/>
          </a:p>
        </p:txBody>
      </p:sp>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8"/>
          <p:cNvSpPr txBox="1"/>
          <p:nvPr>
            <p:ph type="title"/>
          </p:nvPr>
        </p:nvSpPr>
        <p:spPr>
          <a:xfrm>
            <a:off x="457200" y="512762"/>
            <a:ext cx="8229600" cy="612775"/>
          </a:xfrm>
          <a:prstGeom prst="rect">
            <a:avLst/>
          </a:prstGeom>
          <a:noFill/>
          <a:ln>
            <a:noFill/>
          </a:ln>
        </p:spPr>
        <p:txBody>
          <a:bodyPr anchorCtr="0" anchor="t" bIns="44225" lIns="88450" spcFirstLastPara="1" rIns="88450" wrap="square" tIns="44225">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Метод опорных векторов (SVM)</a:t>
            </a:r>
            <a:endParaRPr/>
          </a:p>
        </p:txBody>
      </p:sp>
      <p:sp>
        <p:nvSpPr>
          <p:cNvPr id="238" name="Google Shape;238;p18"/>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
        <p:nvSpPr>
          <p:cNvPr id="239" name="Google Shape;239;p18"/>
          <p:cNvSpPr txBox="1"/>
          <p:nvPr/>
        </p:nvSpPr>
        <p:spPr>
          <a:xfrm>
            <a:off x="577850" y="1368425"/>
            <a:ext cx="8108950" cy="101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Есть еще случай линейной неразделимости (soft-margin SVM), формальное обоснование которой можно найти в открытых источниках, или учебниках [1].</a:t>
            </a:r>
            <a:endParaRPr/>
          </a:p>
        </p:txBody>
      </p:sp>
      <p:sp>
        <p:nvSpPr>
          <p:cNvPr id="240" name="Google Shape;240;p18"/>
          <p:cNvSpPr txBox="1"/>
          <p:nvPr/>
        </p:nvSpPr>
        <p:spPr>
          <a:xfrm>
            <a:off x="577850" y="2525712"/>
            <a:ext cx="8108950" cy="2862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000"/>
              <a:buFont typeface="Times New Roman"/>
              <a:buNone/>
            </a:pPr>
            <a:r>
              <a:rPr b="1" i="0" lang="en-US" sz="2000" u="none">
                <a:solidFill>
                  <a:srgbClr val="FFFFFF"/>
                </a:solidFill>
                <a:latin typeface="Times New Roman"/>
                <a:ea typeface="Times New Roman"/>
                <a:cs typeface="Times New Roman"/>
                <a:sym typeface="Times New Roman"/>
              </a:rPr>
              <a:t>Ядерные SVM</a:t>
            </a:r>
            <a:endParaRPr/>
          </a:p>
          <a:p>
            <a:pPr indent="0" lvl="0" marL="0" marR="0" rtl="0" algn="l">
              <a:lnSpc>
                <a:spcPct val="100000"/>
              </a:lnSpc>
              <a:spcBef>
                <a:spcPts val="0"/>
              </a:spcBef>
              <a:spcAft>
                <a:spcPts val="0"/>
              </a:spcAft>
              <a:buClr>
                <a:srgbClr val="FFFFFF"/>
              </a:buClr>
              <a:buSzPts val="2000"/>
              <a:buFont typeface="Times New Roman"/>
              <a:buNone/>
            </a:pPr>
            <a:r>
              <a:rPr b="0" i="0" lang="en-US" sz="2000" u="none">
                <a:solidFill>
                  <a:srgbClr val="FFFFFF"/>
                </a:solidFill>
                <a:latin typeface="Times New Roman"/>
                <a:ea typeface="Times New Roman"/>
                <a:cs typeface="Times New Roman"/>
                <a:sym typeface="Times New Roman"/>
              </a:rPr>
              <a:t>В 1992 году была предложена вариация машины опорных векторов для нелинейной классификации. Все элементы обучающей выборки вкладываются в пространство более высокой размерности с помощью специального отображения </a:t>
            </a:r>
            <a:r>
              <a:rPr b="0" i="0" lang="en-US" sz="2000" u="none">
                <a:solidFill>
                  <a:srgbClr val="FFFFFF"/>
                </a:solidFill>
                <a:latin typeface="Cambria Math"/>
                <a:ea typeface="Cambria Math"/>
                <a:cs typeface="Cambria Math"/>
                <a:sym typeface="Cambria Math"/>
              </a:rPr>
              <a:t>𝜑: ℝ𝑛 → 𝑋</a:t>
            </a:r>
            <a:r>
              <a:rPr b="0" i="0" lang="en-US" sz="2000" u="none">
                <a:solidFill>
                  <a:srgbClr val="FFFFFF"/>
                </a:solidFill>
                <a:latin typeface="Times New Roman"/>
                <a:ea typeface="Times New Roman"/>
                <a:cs typeface="Times New Roman"/>
                <a:sym typeface="Times New Roman"/>
              </a:rPr>
              <a:t>. При этом отображение </a:t>
            </a:r>
            <a:r>
              <a:rPr b="0" i="0" lang="en-US" sz="2000" u="none">
                <a:solidFill>
                  <a:srgbClr val="FFFFFF"/>
                </a:solidFill>
                <a:latin typeface="Cambria Math"/>
                <a:ea typeface="Cambria Math"/>
                <a:cs typeface="Cambria Math"/>
                <a:sym typeface="Cambria Math"/>
              </a:rPr>
              <a:t>𝜑 </a:t>
            </a:r>
            <a:r>
              <a:rPr b="0" i="0" lang="en-US" sz="2000" u="none">
                <a:solidFill>
                  <a:srgbClr val="FFFFFF"/>
                </a:solidFill>
                <a:latin typeface="Times New Roman"/>
                <a:ea typeface="Times New Roman"/>
                <a:cs typeface="Times New Roman"/>
                <a:sym typeface="Times New Roman"/>
              </a:rPr>
              <a:t>выбирается так, чтобы в новом пространстве </a:t>
            </a:r>
            <a:r>
              <a:rPr b="0" i="0" lang="en-US" sz="2000" u="none">
                <a:solidFill>
                  <a:srgbClr val="FFFFFF"/>
                </a:solidFill>
                <a:latin typeface="Cambria Math"/>
                <a:ea typeface="Cambria Math"/>
                <a:cs typeface="Cambria Math"/>
                <a:sym typeface="Cambria Math"/>
              </a:rPr>
              <a:t>𝑋 </a:t>
            </a:r>
            <a:r>
              <a:rPr b="0" i="0" lang="en-US" sz="2000" u="none">
                <a:solidFill>
                  <a:srgbClr val="FFFFFF"/>
                </a:solidFill>
                <a:latin typeface="Times New Roman"/>
                <a:ea typeface="Times New Roman"/>
                <a:cs typeface="Times New Roman"/>
                <a:sym typeface="Times New Roman"/>
              </a:rPr>
              <a:t>выборка была линейно разделима (согласно теореме Ковера о разделимости). Тогда уравнение гиперплоскости примет вид </a:t>
            </a:r>
            <a:r>
              <a:rPr b="0" i="0" lang="en-US" sz="2000" u="none">
                <a:solidFill>
                  <a:srgbClr val="FFFFFF"/>
                </a:solidFill>
                <a:latin typeface="Cambria Math"/>
                <a:ea typeface="Cambria Math"/>
                <a:cs typeface="Cambria Math"/>
                <a:sym typeface="Cambria Math"/>
              </a:rPr>
              <a:t>𝐹(𝑥) = 𝑠𝑖𝑔𝑛(𝑤𝑇𝜑(𝑥) - 𝑏)</a:t>
            </a:r>
            <a:r>
              <a:rPr b="0" i="0" lang="en-US" sz="2000" u="none">
                <a:solidFill>
                  <a:srgbClr val="FFFFFF"/>
                </a:solidFill>
                <a:latin typeface="Times New Roman"/>
                <a:ea typeface="Times New Roman"/>
                <a:cs typeface="Times New Roman"/>
                <a:sym typeface="Times New Roman"/>
              </a:rPr>
              <a:t>.</a:t>
            </a:r>
            <a:r>
              <a:rPr b="1" i="0" lang="en-US" sz="2000" u="none">
                <a:solidFill>
                  <a:srgbClr val="FFFFFF"/>
                </a:solidFill>
                <a:latin typeface="Quattrocento Sans"/>
                <a:ea typeface="Quattrocento Sans"/>
                <a:cs typeface="Quattrocento Sans"/>
                <a:sym typeface="Quattrocento Sans"/>
              </a:rPr>
              <a:t> </a:t>
            </a:r>
            <a:br>
              <a:rPr b="1" i="0" lang="en-US" sz="2000" u="none">
                <a:solidFill>
                  <a:srgbClr val="FFFFFF"/>
                </a:solidFill>
                <a:latin typeface="Quattrocento Sans"/>
                <a:ea typeface="Quattrocento Sans"/>
                <a:cs typeface="Quattrocento Sans"/>
                <a:sym typeface="Quattrocento Sans"/>
              </a:rPr>
            </a:br>
            <a:endParaRPr/>
          </a:p>
        </p:txBody>
      </p: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9"/>
          <p:cNvSpPr txBox="1"/>
          <p:nvPr>
            <p:ph type="title"/>
          </p:nvPr>
        </p:nvSpPr>
        <p:spPr>
          <a:xfrm>
            <a:off x="457200" y="512762"/>
            <a:ext cx="8229600" cy="612775"/>
          </a:xfrm>
          <a:prstGeom prst="rect">
            <a:avLst/>
          </a:prstGeom>
          <a:noFill/>
          <a:ln>
            <a:noFill/>
          </a:ln>
        </p:spPr>
        <p:txBody>
          <a:bodyPr anchorCtr="0" anchor="t" bIns="44225" lIns="88450" spcFirstLastPara="1" rIns="88450" wrap="square" tIns="44225">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Метод опорных векторов (SVM)</a:t>
            </a:r>
            <a:endParaRPr/>
          </a:p>
        </p:txBody>
      </p:sp>
      <p:sp>
        <p:nvSpPr>
          <p:cNvPr id="247" name="Google Shape;247;p19"/>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
        <p:nvSpPr>
          <p:cNvPr id="248" name="Google Shape;248;p19"/>
          <p:cNvSpPr txBox="1"/>
          <p:nvPr/>
        </p:nvSpPr>
        <p:spPr>
          <a:xfrm>
            <a:off x="577850" y="1257300"/>
            <a:ext cx="8108950" cy="43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200"/>
              <a:buFont typeface="Times New Roman"/>
              <a:buNone/>
            </a:pPr>
            <a:r>
              <a:rPr b="1" i="0" lang="en-US" sz="2200" u="none">
                <a:solidFill>
                  <a:srgbClr val="FFFFFF"/>
                </a:solidFill>
                <a:latin typeface="Times New Roman"/>
                <a:ea typeface="Times New Roman"/>
                <a:cs typeface="Times New Roman"/>
                <a:sym typeface="Times New Roman"/>
              </a:rPr>
              <a:t>Ядерные SVM</a:t>
            </a:r>
            <a:endParaRPr/>
          </a:p>
        </p:txBody>
      </p:sp>
      <p:sp>
        <p:nvSpPr>
          <p:cNvPr id="249" name="Google Shape;249;p19"/>
          <p:cNvSpPr txBox="1"/>
          <p:nvPr/>
        </p:nvSpPr>
        <p:spPr>
          <a:xfrm>
            <a:off x="457200" y="1689100"/>
            <a:ext cx="7991475" cy="203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Times New Roman"/>
              <a:buNone/>
            </a:pPr>
            <a:r>
              <a:rPr b="1" i="0" lang="en-US" sz="1800" u="none">
                <a:solidFill>
                  <a:srgbClr val="FFFFFF"/>
                </a:solidFill>
                <a:latin typeface="Times New Roman"/>
                <a:ea typeface="Times New Roman"/>
                <a:cs typeface="Times New Roman"/>
                <a:sym typeface="Times New Roman"/>
              </a:rPr>
              <a:t>Существует много разных ядер классификатора, наиболее популярные представлены ниже и на рисунке</a:t>
            </a:r>
            <a:endParaRPr/>
          </a:p>
          <a:p>
            <a:pPr indent="0" lvl="0" marL="0" marR="0" rtl="0" algn="l">
              <a:lnSpc>
                <a:spcPct val="100000"/>
              </a:lnSpc>
              <a:spcBef>
                <a:spcPts val="0"/>
              </a:spcBef>
              <a:spcAft>
                <a:spcPts val="0"/>
              </a:spcAft>
              <a:buClr>
                <a:srgbClr val="FFFFFF"/>
              </a:buClr>
              <a:buSzPts val="1800"/>
              <a:buFont typeface="Times New Roman"/>
              <a:buNone/>
            </a:pPr>
            <a:r>
              <a:rPr b="1" i="0" lang="en-US" sz="1800" u="none">
                <a:solidFill>
                  <a:srgbClr val="FFFFFF"/>
                </a:solidFill>
                <a:latin typeface="Times New Roman"/>
                <a:ea typeface="Times New Roman"/>
                <a:cs typeface="Times New Roman"/>
                <a:sym typeface="Times New Roman"/>
              </a:rPr>
              <a:t>– Полиномиальное однородное степени 𝑑 𝑘(𝑥, 𝑥′) = (𝑥 ∙ 𝑥′)𝑑;</a:t>
            </a:r>
            <a:endParaRPr/>
          </a:p>
          <a:p>
            <a:pPr indent="0" lvl="0" marL="0" marR="0" rtl="0" algn="l">
              <a:lnSpc>
                <a:spcPct val="100000"/>
              </a:lnSpc>
              <a:spcBef>
                <a:spcPts val="0"/>
              </a:spcBef>
              <a:spcAft>
                <a:spcPts val="0"/>
              </a:spcAft>
              <a:buClr>
                <a:srgbClr val="FFFFFF"/>
              </a:buClr>
              <a:buSzPts val="1800"/>
              <a:buFont typeface="Times New Roman"/>
              <a:buNone/>
            </a:pPr>
            <a:r>
              <a:rPr b="1" i="0" lang="en-US" sz="1800" u="none">
                <a:solidFill>
                  <a:srgbClr val="FFFFFF"/>
                </a:solidFill>
                <a:latin typeface="Times New Roman"/>
                <a:ea typeface="Times New Roman"/>
                <a:cs typeface="Times New Roman"/>
                <a:sym typeface="Times New Roman"/>
              </a:rPr>
              <a:t>– Полиномиальное неоднородное 𝑘(𝑥, 𝑥′) = (𝑥 ∙ 𝑥′ + 1)𝑑;</a:t>
            </a:r>
            <a:endParaRPr/>
          </a:p>
          <a:p>
            <a:pPr indent="0" lvl="0" marL="0" marR="0" rtl="0" algn="l">
              <a:lnSpc>
                <a:spcPct val="100000"/>
              </a:lnSpc>
              <a:spcBef>
                <a:spcPts val="0"/>
              </a:spcBef>
              <a:spcAft>
                <a:spcPts val="0"/>
              </a:spcAft>
              <a:buClr>
                <a:srgbClr val="FFFFFF"/>
              </a:buClr>
              <a:buSzPts val="1800"/>
              <a:buFont typeface="Times New Roman"/>
              <a:buNone/>
            </a:pPr>
            <a:r>
              <a:rPr b="1" i="0" lang="en-US" sz="1800" u="none">
                <a:solidFill>
                  <a:srgbClr val="FFFFFF"/>
                </a:solidFill>
                <a:latin typeface="Times New Roman"/>
                <a:ea typeface="Times New Roman"/>
                <a:cs typeface="Times New Roman"/>
                <a:sym typeface="Times New Roman"/>
              </a:rPr>
              <a:t>– Радиальная базисная функция 𝑘(𝑥, 𝑥′) = 𝑒-𝛾‖𝑥-𝑥′‖2, 𝛾 &gt; 0;</a:t>
            </a:r>
            <a:endParaRPr/>
          </a:p>
          <a:p>
            <a:pPr indent="0" lvl="0" marL="0" marR="0" rtl="0" algn="l">
              <a:lnSpc>
                <a:spcPct val="100000"/>
              </a:lnSpc>
              <a:spcBef>
                <a:spcPts val="0"/>
              </a:spcBef>
              <a:spcAft>
                <a:spcPts val="0"/>
              </a:spcAft>
              <a:buClr>
                <a:srgbClr val="FFFFFF"/>
              </a:buClr>
              <a:buSzPts val="1800"/>
              <a:buFont typeface="Times New Roman"/>
              <a:buNone/>
            </a:pPr>
            <a:r>
              <a:rPr b="1" i="0" lang="en-US" sz="1800" u="none">
                <a:solidFill>
                  <a:srgbClr val="FFFFFF"/>
                </a:solidFill>
                <a:latin typeface="Times New Roman"/>
                <a:ea typeface="Times New Roman"/>
                <a:cs typeface="Times New Roman"/>
                <a:sym typeface="Times New Roman"/>
              </a:rPr>
              <a:t>– Гиперболический тангенс 𝑘(𝑥, 𝑥′) = 𝑡𝑎𝑛ℎ(𝛼𝑥 ∙ 𝑥′ + 𝛽), 𝛼 &gt; 0, 𝛽 &lt; 0. </a:t>
            </a:r>
            <a:br>
              <a:rPr b="1" i="0" lang="en-US" sz="1800" u="none">
                <a:solidFill>
                  <a:srgbClr val="FFFFFF"/>
                </a:solidFill>
                <a:latin typeface="Times New Roman"/>
                <a:ea typeface="Times New Roman"/>
                <a:cs typeface="Times New Roman"/>
                <a:sym typeface="Times New Roman"/>
              </a:rPr>
            </a:br>
            <a:endParaRPr/>
          </a:p>
        </p:txBody>
      </p:sp>
      <p:pic>
        <p:nvPicPr>
          <p:cNvPr id="250" name="Google Shape;250;p19"/>
          <p:cNvPicPr preferRelativeResize="0"/>
          <p:nvPr/>
        </p:nvPicPr>
        <p:blipFill rotWithShape="1">
          <a:blip r:embed="rId3">
            <a:alphaModFix/>
          </a:blip>
          <a:srcRect b="0" l="0" r="0" t="0"/>
          <a:stretch/>
        </p:blipFill>
        <p:spPr>
          <a:xfrm>
            <a:off x="2665412" y="3429000"/>
            <a:ext cx="4256087" cy="2700337"/>
          </a:xfrm>
          <a:prstGeom prst="rect">
            <a:avLst/>
          </a:prstGeom>
          <a:noFill/>
          <a:ln>
            <a:noFill/>
          </a:ln>
        </p:spPr>
      </p:pic>
    </p:spTree>
  </p:cSld>
  <p:clrMapOvr>
    <a:masterClrMapping/>
  </p:clrMapOvr>
  <p:transition spd="slow">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0"/>
          <p:cNvSpPr txBox="1"/>
          <p:nvPr>
            <p:ph type="title"/>
          </p:nvPr>
        </p:nvSpPr>
        <p:spPr>
          <a:xfrm>
            <a:off x="623887" y="2900362"/>
            <a:ext cx="7886700" cy="1662112"/>
          </a:xfrm>
          <a:prstGeom prst="rect">
            <a:avLst/>
          </a:prstGeom>
          <a:noFill/>
          <a:ln>
            <a:noFill/>
          </a:ln>
        </p:spPr>
        <p:txBody>
          <a:bodyPr anchorCtr="0" anchor="b" bIns="45700" lIns="91425" spcFirstLastPara="1" rIns="91425" wrap="square" tIns="45700">
            <a:spAutoFit/>
          </a:bodyPr>
          <a:lstStyle/>
          <a:p>
            <a:pPr indent="0" lvl="0" marL="0" rtl="0" algn="l">
              <a:lnSpc>
                <a:spcPct val="85000"/>
              </a:lnSpc>
              <a:spcBef>
                <a:spcPts val="0"/>
              </a:spcBef>
              <a:spcAft>
                <a:spcPts val="0"/>
              </a:spcAft>
              <a:buClr>
                <a:schemeClr val="lt2"/>
              </a:buClr>
              <a:buSzPts val="6000"/>
              <a:buFont typeface="Quattrocento Sans"/>
              <a:buNone/>
            </a:pPr>
            <a:r>
              <a:rPr b="0" i="0" lang="en-US" sz="6000" u="none">
                <a:solidFill>
                  <a:schemeClr val="lt2"/>
                </a:solidFill>
                <a:latin typeface="Quattrocento Sans"/>
                <a:ea typeface="Quattrocento Sans"/>
                <a:cs typeface="Quattrocento Sans"/>
                <a:sym typeface="Quattrocento Sans"/>
              </a:rPr>
              <a:t>Наивный Байесовский метод</a:t>
            </a:r>
            <a:endParaRPr/>
          </a:p>
        </p:txBody>
      </p:sp>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1"/>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Наивный Байесовский метод</a:t>
            </a:r>
            <a:endParaRPr/>
          </a:p>
        </p:txBody>
      </p:sp>
      <p:sp>
        <p:nvSpPr>
          <p:cNvPr id="261" name="Google Shape;261;p21"/>
          <p:cNvSpPr txBox="1"/>
          <p:nvPr>
            <p:ph idx="1" type="body"/>
          </p:nvPr>
        </p:nvSpPr>
        <p:spPr>
          <a:xfrm>
            <a:off x="146050" y="1152525"/>
            <a:ext cx="8861425" cy="5373687"/>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SzPts val="1760"/>
              <a:buNone/>
            </a:pPr>
            <a:r>
              <a:rPr b="1" i="0" lang="en-US" sz="2200" u="none">
                <a:solidFill>
                  <a:schemeClr val="lt1"/>
                </a:solidFill>
                <a:latin typeface="Quattrocento Sans"/>
                <a:ea typeface="Quattrocento Sans"/>
                <a:cs typeface="Quattrocento Sans"/>
                <a:sym typeface="Quattrocento Sans"/>
              </a:rPr>
              <a:t>Что такое наивный байесовский алгоритм?</a:t>
            </a:r>
            <a:endParaRPr/>
          </a:p>
          <a:p>
            <a:pPr indent="-111760" lvl="0" marL="0" rtl="0" algn="l">
              <a:lnSpc>
                <a:spcPct val="85000"/>
              </a:lnSpc>
              <a:spcBef>
                <a:spcPts val="550"/>
              </a:spcBef>
              <a:spcAft>
                <a:spcPts val="0"/>
              </a:spcAft>
              <a:buSzPts val="1760"/>
              <a:buChar char="•"/>
            </a:pPr>
            <a:r>
              <a:rPr b="0" i="0" lang="en-US" sz="2200" u="none">
                <a:solidFill>
                  <a:schemeClr val="lt1"/>
                </a:solidFill>
                <a:latin typeface="Quattrocento Sans"/>
                <a:ea typeface="Quattrocento Sans"/>
                <a:cs typeface="Quattrocento Sans"/>
                <a:sym typeface="Quattrocento Sans"/>
              </a:rPr>
              <a:t>Наивный байесовский алгоритм – это алгоритм классификации, основанный на </a:t>
            </a:r>
            <a:r>
              <a:rPr b="0" i="0" lang="en-US" sz="2200" u="sng">
                <a:solidFill>
                  <a:schemeClr val="lt1"/>
                </a:solidFill>
                <a:hlinkClick r:id="rId3">
                  <a:extLst>
                    <a:ext uri="{A12FA001-AC4F-418D-AE19-62706E023703}">
                      <ahyp:hlinkClr val="tx"/>
                    </a:ext>
                  </a:extLst>
                </a:hlinkClick>
              </a:rPr>
              <a:t>теореме Байеса</a:t>
            </a:r>
            <a:r>
              <a:rPr b="0" i="0" lang="en-US" sz="2200" u="none">
                <a:solidFill>
                  <a:schemeClr val="lt1"/>
                </a:solidFill>
                <a:latin typeface="Quattrocento Sans"/>
                <a:ea typeface="Quattrocento Sans"/>
                <a:cs typeface="Quattrocento Sans"/>
                <a:sym typeface="Quattrocento Sans"/>
              </a:rPr>
              <a:t> с допущением о независимости признаков. </a:t>
            </a:r>
            <a:endParaRPr/>
          </a:p>
          <a:p>
            <a:pPr indent="-111760" lvl="0" marL="0" rtl="0" algn="l">
              <a:lnSpc>
                <a:spcPct val="85000"/>
              </a:lnSpc>
              <a:spcBef>
                <a:spcPts val="550"/>
              </a:spcBef>
              <a:spcAft>
                <a:spcPts val="0"/>
              </a:spcAft>
              <a:buSzPts val="1760"/>
              <a:buChar char="•"/>
            </a:pPr>
            <a:r>
              <a:rPr b="0" i="0" lang="en-US" sz="2200" u="none">
                <a:solidFill>
                  <a:schemeClr val="lt1"/>
                </a:solidFill>
                <a:latin typeface="Quattrocento Sans"/>
                <a:ea typeface="Quattrocento Sans"/>
                <a:cs typeface="Quattrocento Sans"/>
                <a:sym typeface="Quattrocento Sans"/>
              </a:rPr>
              <a:t>Другими словами, НБА предполагает, что наличие какого-либо признака в классе не связано с наличием какого-либо другого признака. Например, фрукт может считаться яблоком, если он красный, круглый и его диаметр составляет порядка 8 сантиметров. Даже если эти признаки зависят друг от друга или от других признаков, в любом случае </a:t>
            </a:r>
            <a:r>
              <a:rPr b="0" i="0" lang="en-US" sz="2200" u="none">
                <a:solidFill>
                  <a:srgbClr val="FFFF00"/>
                </a:solidFill>
                <a:latin typeface="Quattrocento Sans"/>
                <a:ea typeface="Quattrocento Sans"/>
                <a:cs typeface="Quattrocento Sans"/>
                <a:sym typeface="Quattrocento Sans"/>
              </a:rPr>
              <a:t>они вносят независимый вклад в вероятность </a:t>
            </a:r>
            <a:r>
              <a:rPr b="0" i="0" lang="en-US" sz="2200" u="none">
                <a:solidFill>
                  <a:schemeClr val="lt1"/>
                </a:solidFill>
                <a:latin typeface="Quattrocento Sans"/>
                <a:ea typeface="Quattrocento Sans"/>
                <a:cs typeface="Quattrocento Sans"/>
                <a:sym typeface="Quattrocento Sans"/>
              </a:rPr>
              <a:t>того, что этот фрукт является яблоком. В связи с таким допущением алгоритм называется «наивным».</a:t>
            </a:r>
            <a:endParaRPr/>
          </a:p>
          <a:p>
            <a:pPr indent="-111760" lvl="0" marL="0" rtl="0" algn="l">
              <a:lnSpc>
                <a:spcPct val="85000"/>
              </a:lnSpc>
              <a:spcBef>
                <a:spcPts val="550"/>
              </a:spcBef>
              <a:spcAft>
                <a:spcPts val="0"/>
              </a:spcAft>
              <a:buSzPts val="1760"/>
              <a:buChar char="•"/>
            </a:pPr>
            <a:r>
              <a:rPr b="0" i="0" lang="en-US" sz="2200" u="none">
                <a:solidFill>
                  <a:schemeClr val="lt1"/>
                </a:solidFill>
                <a:latin typeface="Quattrocento Sans"/>
                <a:ea typeface="Quattrocento Sans"/>
                <a:cs typeface="Quattrocento Sans"/>
                <a:sym typeface="Quattrocento Sans"/>
              </a:rPr>
              <a:t>Модели на основе НБА достаточно просты и крайне полезны при работе с очень большими наборами данных. При своей простоте НБА способен превзойти даже некоторые сложные алгоритмы классификации.</a:t>
            </a:r>
            <a:endParaRPr/>
          </a:p>
        </p:txBody>
      </p:sp>
      <p:sp>
        <p:nvSpPr>
          <p:cNvPr id="262" name="Google Shape;262;p21"/>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2"/>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Наивный Байесовский метод</a:t>
            </a:r>
            <a:endParaRPr/>
          </a:p>
        </p:txBody>
      </p:sp>
      <p:sp>
        <p:nvSpPr>
          <p:cNvPr id="268" name="Google Shape;268;p22"/>
          <p:cNvSpPr txBox="1"/>
          <p:nvPr>
            <p:ph idx="1" type="body"/>
          </p:nvPr>
        </p:nvSpPr>
        <p:spPr>
          <a:xfrm>
            <a:off x="4762" y="973137"/>
            <a:ext cx="9144000" cy="484187"/>
          </a:xfrm>
          <a:prstGeom prst="rect">
            <a:avLst/>
          </a:prstGeom>
          <a:noFill/>
          <a:ln>
            <a:noFill/>
          </a:ln>
        </p:spPr>
        <p:txBody>
          <a:bodyPr anchorCtr="0" anchor="t" bIns="45700" lIns="91425" spcFirstLastPara="1" rIns="91425" wrap="square" tIns="45700">
            <a:spAutoFit/>
          </a:bodyPr>
          <a:lstStyle/>
          <a:p>
            <a:pPr indent="-334962" lvl="0" marL="334962" rtl="0" algn="l">
              <a:lnSpc>
                <a:spcPct val="85000"/>
              </a:lnSpc>
              <a:spcBef>
                <a:spcPts val="0"/>
              </a:spcBef>
              <a:spcAft>
                <a:spcPts val="0"/>
              </a:spcAft>
              <a:buSzPts val="1920"/>
              <a:buChar char="•"/>
            </a:pPr>
            <a:r>
              <a:rPr b="0" i="0" lang="en-US" sz="2400" u="none">
                <a:solidFill>
                  <a:schemeClr val="lt1"/>
                </a:solidFill>
                <a:latin typeface="Quattrocento Sans"/>
                <a:ea typeface="Quattrocento Sans"/>
                <a:cs typeface="Quattrocento Sans"/>
                <a:sym typeface="Quattrocento Sans"/>
              </a:rPr>
              <a:t>Упрощенное уравнение для классификации выглядит так:</a:t>
            </a:r>
            <a:br>
              <a:rPr b="0" i="0" lang="en-US" sz="2400" u="none">
                <a:solidFill>
                  <a:schemeClr val="lt1"/>
                </a:solidFill>
                <a:latin typeface="Quattrocento Sans"/>
                <a:ea typeface="Quattrocento Sans"/>
                <a:cs typeface="Quattrocento Sans"/>
                <a:sym typeface="Quattrocento Sans"/>
              </a:rPr>
            </a:br>
            <a:endParaRPr/>
          </a:p>
        </p:txBody>
      </p:sp>
      <p:pic>
        <p:nvPicPr>
          <p:cNvPr descr="байесовский классификатор" id="269" name="Google Shape;269;p22"/>
          <p:cNvPicPr preferRelativeResize="0"/>
          <p:nvPr/>
        </p:nvPicPr>
        <p:blipFill rotWithShape="1">
          <a:blip r:embed="rId3">
            <a:alphaModFix/>
          </a:blip>
          <a:srcRect b="0" l="0" r="0" t="0"/>
          <a:stretch/>
        </p:blipFill>
        <p:spPr>
          <a:xfrm>
            <a:off x="195262" y="1670050"/>
            <a:ext cx="8763000" cy="830262"/>
          </a:xfrm>
          <a:prstGeom prst="rect">
            <a:avLst/>
          </a:prstGeom>
          <a:noFill/>
          <a:ln>
            <a:noFill/>
          </a:ln>
        </p:spPr>
      </p:pic>
      <p:sp>
        <p:nvSpPr>
          <p:cNvPr id="270" name="Google Shape;270;p22"/>
          <p:cNvSpPr txBox="1"/>
          <p:nvPr/>
        </p:nvSpPr>
        <p:spPr>
          <a:xfrm>
            <a:off x="195262" y="2500312"/>
            <a:ext cx="8763000" cy="3643312"/>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chemeClr val="lt1"/>
              </a:buClr>
              <a:buSzPts val="2200"/>
              <a:buFont typeface="Quattrocento Sans"/>
              <a:buNone/>
            </a:pPr>
            <a:r>
              <a:rPr b="1" i="0" lang="en-US" sz="2200" u="none">
                <a:solidFill>
                  <a:schemeClr val="lt1"/>
                </a:solidFill>
                <a:latin typeface="Quattrocento Sans"/>
                <a:ea typeface="Quattrocento Sans"/>
                <a:cs typeface="Quattrocento Sans"/>
                <a:sym typeface="Quattrocento Sans"/>
              </a:rPr>
              <a:t>Что означает это уравнение? </a:t>
            </a:r>
            <a:endParaRPr/>
          </a:p>
          <a:p>
            <a:pPr indent="-133350" lvl="0" marL="0" marR="0" rtl="0" algn="l">
              <a:lnSpc>
                <a:spcPct val="85000"/>
              </a:lnSpc>
              <a:spcBef>
                <a:spcPts val="525"/>
              </a:spcBef>
              <a:spcAft>
                <a:spcPts val="0"/>
              </a:spcAft>
              <a:buClr>
                <a:schemeClr val="lt1"/>
              </a:buClr>
              <a:buSzPts val="2100"/>
              <a:buFont typeface="Quattrocento Sans"/>
              <a:buChar char="•"/>
            </a:pPr>
            <a:r>
              <a:rPr b="0" i="0" lang="en-US" sz="2100" u="none">
                <a:solidFill>
                  <a:schemeClr val="lt1"/>
                </a:solidFill>
                <a:latin typeface="Quattrocento Sans"/>
                <a:ea typeface="Quattrocento Sans"/>
                <a:cs typeface="Quattrocento Sans"/>
                <a:sym typeface="Quattrocento Sans"/>
              </a:rPr>
              <a:t>Уравнение находит вероятность класса А, на основании параметров 1 и 2. Другими словами, параметры 1 и 2 - это данные некоторого объекта, вероятность принадлежности  которого к классу А мы вычисляем.</a:t>
            </a:r>
            <a:endParaRPr/>
          </a:p>
          <a:p>
            <a:pPr indent="-133350" lvl="0" marL="0" marR="0" rtl="0" algn="l">
              <a:lnSpc>
                <a:spcPct val="85000"/>
              </a:lnSpc>
              <a:spcBef>
                <a:spcPts val="525"/>
              </a:spcBef>
              <a:spcAft>
                <a:spcPts val="0"/>
              </a:spcAft>
              <a:buClr>
                <a:schemeClr val="lt1"/>
              </a:buClr>
              <a:buSzPts val="2100"/>
              <a:buFont typeface="Quattrocento Sans"/>
              <a:buChar char="•"/>
            </a:pPr>
            <a:r>
              <a:rPr b="0" i="0" lang="en-US" sz="2100" u="none">
                <a:solidFill>
                  <a:schemeClr val="lt1"/>
                </a:solidFill>
                <a:latin typeface="Quattrocento Sans"/>
                <a:ea typeface="Quattrocento Sans"/>
                <a:cs typeface="Quattrocento Sans"/>
                <a:sym typeface="Quattrocento Sans"/>
              </a:rPr>
              <a:t>Уравнение читается следующим образом: Вероятность [выявления] класса А на основании параметров 1 и 2 – это дробь.</a:t>
            </a:r>
            <a:endParaRPr/>
          </a:p>
          <a:p>
            <a:pPr indent="-133350" lvl="0" marL="0" marR="0" rtl="0" algn="l">
              <a:lnSpc>
                <a:spcPct val="85000"/>
              </a:lnSpc>
              <a:spcBef>
                <a:spcPts val="525"/>
              </a:spcBef>
              <a:spcAft>
                <a:spcPts val="0"/>
              </a:spcAft>
              <a:buClr>
                <a:schemeClr val="lt1"/>
              </a:buClr>
              <a:buSzPts val="2100"/>
              <a:buFont typeface="Quattrocento Sans"/>
              <a:buChar char="•"/>
            </a:pPr>
            <a:r>
              <a:rPr b="0" i="0" lang="en-US" sz="2100" u="none">
                <a:solidFill>
                  <a:schemeClr val="lt1"/>
                </a:solidFill>
                <a:latin typeface="Quattrocento Sans"/>
                <a:ea typeface="Quattrocento Sans"/>
                <a:cs typeface="Quattrocento Sans"/>
                <a:sym typeface="Quattrocento Sans"/>
              </a:rPr>
              <a:t>Числитель дроби – это произведение вероятностей встретить параметр 1 и параметр 2 в классе А, умноженная на вероятность класса А во всем наборе данных.</a:t>
            </a:r>
            <a:br>
              <a:rPr b="0" i="0" lang="en-US" sz="2100" u="none">
                <a:solidFill>
                  <a:schemeClr val="lt1"/>
                </a:solidFill>
                <a:latin typeface="Quattrocento Sans"/>
                <a:ea typeface="Quattrocento Sans"/>
                <a:cs typeface="Quattrocento Sans"/>
                <a:sym typeface="Quattrocento Sans"/>
              </a:rPr>
            </a:br>
            <a:r>
              <a:rPr b="0" i="0" lang="en-US" sz="2100" u="none">
                <a:solidFill>
                  <a:schemeClr val="lt1"/>
                </a:solidFill>
                <a:latin typeface="Quattrocento Sans"/>
                <a:ea typeface="Quattrocento Sans"/>
                <a:cs typeface="Quattrocento Sans"/>
                <a:sym typeface="Quattrocento Sans"/>
              </a:rPr>
              <a:t>Знаменатель – это вероятность  встретить параметр 1 и параметр 2 во всем наборе данных.</a:t>
            </a:r>
            <a:endParaRPr/>
          </a:p>
        </p:txBody>
      </p:sp>
      <p:sp>
        <p:nvSpPr>
          <p:cNvPr id="271" name="Google Shape;271;p22"/>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
        <p:nvSpPr>
          <p:cNvPr id="272" name="Google Shape;272;p22"/>
          <p:cNvSpPr txBox="1"/>
          <p:nvPr/>
        </p:nvSpPr>
        <p:spPr>
          <a:xfrm>
            <a:off x="1457325" y="6143625"/>
            <a:ext cx="622935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1800"/>
              <a:buFont typeface="Quattrocento Sans"/>
              <a:buNone/>
            </a:pPr>
            <a:r>
              <a:rPr b="0" i="0" lang="en-US" sz="1800" u="none">
                <a:solidFill>
                  <a:srgbClr val="FFFF00"/>
                </a:solidFill>
                <a:latin typeface="Quattrocento Sans"/>
                <a:ea typeface="Quattrocento Sans"/>
                <a:cs typeface="Quattrocento Sans"/>
                <a:sym typeface="Quattrocento Sans"/>
              </a:rPr>
              <a:t>Уравнение вычисляется для каждого класса отдельно.</a:t>
            </a:r>
            <a:endParaRPr/>
          </a:p>
        </p:txBody>
      </p:sp>
    </p:spTree>
  </p:cSld>
  <p:clrMapOvr>
    <a:masterClrMapping/>
  </p:clrMapOvr>
  <p:transition spd="slow">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3"/>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Наивный Байесовский метод</a:t>
            </a:r>
            <a:endParaRPr/>
          </a:p>
        </p:txBody>
      </p:sp>
      <p:sp>
        <p:nvSpPr>
          <p:cNvPr id="278" name="Google Shape;278;p23"/>
          <p:cNvSpPr txBox="1"/>
          <p:nvPr>
            <p:ph idx="1" type="body"/>
          </p:nvPr>
        </p:nvSpPr>
        <p:spPr>
          <a:xfrm>
            <a:off x="4762" y="973137"/>
            <a:ext cx="9144000" cy="406400"/>
          </a:xfrm>
          <a:prstGeom prst="rect">
            <a:avLst/>
          </a:prstGeom>
          <a:noFill/>
          <a:ln>
            <a:noFill/>
          </a:ln>
        </p:spPr>
        <p:txBody>
          <a:bodyPr anchorCtr="0" anchor="t" bIns="45700" lIns="91425" spcFirstLastPara="1" rIns="91425" wrap="square" tIns="45700">
            <a:spAutoFit/>
          </a:bodyPr>
          <a:lstStyle/>
          <a:p>
            <a:pPr indent="-334962" lvl="0" marL="334962" rtl="0" algn="l">
              <a:lnSpc>
                <a:spcPct val="85000"/>
              </a:lnSpc>
              <a:spcBef>
                <a:spcPts val="0"/>
              </a:spcBef>
              <a:spcAft>
                <a:spcPts val="0"/>
              </a:spcAft>
              <a:buSzPts val="1920"/>
              <a:buChar char="•"/>
            </a:pPr>
            <a:r>
              <a:rPr b="0" i="0" lang="en-US" sz="2400" u="none">
                <a:solidFill>
                  <a:schemeClr val="lt1"/>
                </a:solidFill>
                <a:latin typeface="Quattrocento Sans"/>
                <a:ea typeface="Quattrocento Sans"/>
                <a:cs typeface="Quattrocento Sans"/>
                <a:sym typeface="Quattrocento Sans"/>
              </a:rPr>
              <a:t>Простой пример:</a:t>
            </a:r>
            <a:endParaRPr/>
          </a:p>
        </p:txBody>
      </p:sp>
      <p:sp>
        <p:nvSpPr>
          <p:cNvPr id="279" name="Google Shape;279;p23"/>
          <p:cNvSpPr txBox="1"/>
          <p:nvPr/>
        </p:nvSpPr>
        <p:spPr>
          <a:xfrm>
            <a:off x="282575" y="1446212"/>
            <a:ext cx="8516937" cy="1292225"/>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У нас есть тренировочный набор данных о 1000 фруктах.</a:t>
            </a:r>
            <a:endParaRPr/>
          </a:p>
          <a:p>
            <a:pPr indent="-334962" lvl="0" marL="334962" marR="0" rtl="0" algn="l">
              <a:lnSpc>
                <a:spcPct val="85000"/>
              </a:lnSpc>
              <a:spcBef>
                <a:spcPts val="50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Фрукт может быть бананом, апельсином или каким-нибудь другим (это классы).</a:t>
            </a:r>
            <a:endParaRPr/>
          </a:p>
          <a:p>
            <a:pPr indent="-334962" lvl="0" marL="334962" marR="0" rtl="0" algn="l">
              <a:lnSpc>
                <a:spcPct val="85000"/>
              </a:lnSpc>
              <a:spcBef>
                <a:spcPts val="50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Фрукт может быть длинным, сладким или желтым (это параметры). </a:t>
            </a:r>
            <a:endParaRPr/>
          </a:p>
        </p:txBody>
      </p:sp>
      <p:pic>
        <p:nvPicPr>
          <p:cNvPr descr="классы фруктов" id="280" name="Google Shape;280;p23"/>
          <p:cNvPicPr preferRelativeResize="0"/>
          <p:nvPr/>
        </p:nvPicPr>
        <p:blipFill rotWithShape="1">
          <a:blip r:embed="rId3">
            <a:alphaModFix/>
          </a:blip>
          <a:srcRect b="0" l="0" r="0" t="0"/>
          <a:stretch/>
        </p:blipFill>
        <p:spPr>
          <a:xfrm>
            <a:off x="2320925" y="2805112"/>
            <a:ext cx="4875212" cy="1554162"/>
          </a:xfrm>
          <a:prstGeom prst="rect">
            <a:avLst/>
          </a:prstGeom>
          <a:noFill/>
          <a:ln>
            <a:noFill/>
          </a:ln>
        </p:spPr>
      </p:pic>
      <p:sp>
        <p:nvSpPr>
          <p:cNvPr id="281" name="Google Shape;281;p23"/>
          <p:cNvSpPr txBox="1"/>
          <p:nvPr/>
        </p:nvSpPr>
        <p:spPr>
          <a:xfrm>
            <a:off x="295275" y="4633912"/>
            <a:ext cx="8553450" cy="1555750"/>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Из 500 бананов 400 длинные, 350 сладкие и 450 желтые;</a:t>
            </a:r>
            <a:endParaRPr/>
          </a:p>
          <a:p>
            <a:pPr indent="-334962" lvl="0" marL="334962" marR="0" rtl="0" algn="l">
              <a:lnSpc>
                <a:spcPct val="85000"/>
              </a:lnSpc>
              <a:spcBef>
                <a:spcPts val="50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Среди 300 апельсинов нет ни одного длинного, но оказалось 150 сладких и 300 желтых.</a:t>
            </a:r>
            <a:endParaRPr/>
          </a:p>
          <a:p>
            <a:pPr indent="-334962" lvl="0" marL="334962" marR="0" rtl="0" algn="l">
              <a:lnSpc>
                <a:spcPct val="85000"/>
              </a:lnSpc>
              <a:spcBef>
                <a:spcPts val="50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Из оставшихся 200 фруктов 100 оказались длинными, 150 сладкими и 50 желтыми. </a:t>
            </a:r>
            <a:endParaRPr/>
          </a:p>
        </p:txBody>
      </p:sp>
      <p:sp>
        <p:nvSpPr>
          <p:cNvPr id="282" name="Google Shape;282;p23"/>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4"/>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Наивный Байесовский метод</a:t>
            </a:r>
            <a:endParaRPr/>
          </a:p>
        </p:txBody>
      </p:sp>
      <p:sp>
        <p:nvSpPr>
          <p:cNvPr id="288" name="Google Shape;288;p24"/>
          <p:cNvSpPr txBox="1"/>
          <p:nvPr>
            <p:ph idx="1" type="body"/>
          </p:nvPr>
        </p:nvSpPr>
        <p:spPr>
          <a:xfrm>
            <a:off x="4762" y="973137"/>
            <a:ext cx="6846887" cy="406400"/>
          </a:xfrm>
          <a:prstGeom prst="rect">
            <a:avLst/>
          </a:prstGeom>
          <a:noFill/>
          <a:ln>
            <a:noFill/>
          </a:ln>
        </p:spPr>
        <p:txBody>
          <a:bodyPr anchorCtr="0" anchor="t" bIns="45700" lIns="91425" spcFirstLastPara="1" rIns="91425" wrap="square" tIns="45700">
            <a:spAutoFit/>
          </a:bodyPr>
          <a:lstStyle/>
          <a:p>
            <a:pPr indent="-334962" lvl="0" marL="334962" rtl="0" algn="l">
              <a:lnSpc>
                <a:spcPct val="85000"/>
              </a:lnSpc>
              <a:spcBef>
                <a:spcPts val="0"/>
              </a:spcBef>
              <a:spcAft>
                <a:spcPts val="0"/>
              </a:spcAft>
              <a:buSzPts val="1920"/>
              <a:buChar char="•"/>
            </a:pPr>
            <a:r>
              <a:rPr b="0" i="0" lang="en-US" sz="2400" u="none">
                <a:solidFill>
                  <a:schemeClr val="lt1"/>
                </a:solidFill>
                <a:latin typeface="Quattrocento Sans"/>
                <a:ea typeface="Quattrocento Sans"/>
                <a:cs typeface="Quattrocento Sans"/>
                <a:sym typeface="Quattrocento Sans"/>
              </a:rPr>
              <a:t>Простой пример (продолжение):</a:t>
            </a:r>
            <a:endParaRPr/>
          </a:p>
        </p:txBody>
      </p:sp>
      <p:pic>
        <p:nvPicPr>
          <p:cNvPr descr="классы фруктов" id="289" name="Google Shape;289;p24"/>
          <p:cNvPicPr preferRelativeResize="0"/>
          <p:nvPr/>
        </p:nvPicPr>
        <p:blipFill rotWithShape="1">
          <a:blip r:embed="rId3">
            <a:alphaModFix/>
          </a:blip>
          <a:srcRect b="0" l="0" r="0" t="0"/>
          <a:stretch/>
        </p:blipFill>
        <p:spPr>
          <a:xfrm>
            <a:off x="1230312" y="1514475"/>
            <a:ext cx="5734050" cy="2198687"/>
          </a:xfrm>
          <a:prstGeom prst="rect">
            <a:avLst/>
          </a:prstGeom>
          <a:noFill/>
          <a:ln>
            <a:noFill/>
          </a:ln>
        </p:spPr>
      </p:pic>
      <p:sp>
        <p:nvSpPr>
          <p:cNvPr id="290" name="Google Shape;290;p24"/>
          <p:cNvSpPr txBox="1"/>
          <p:nvPr/>
        </p:nvSpPr>
        <p:spPr>
          <a:xfrm>
            <a:off x="390525" y="3997325"/>
            <a:ext cx="8569325" cy="1554162"/>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Если мы знаем только параметры – длину, сладость и цвет фрукта (не зная его класса), то сможем вычислить вероятность того, что фрукт окажется бананом, апельсином или чем-то другим.</a:t>
            </a:r>
            <a:endParaRPr/>
          </a:p>
          <a:p>
            <a:pPr indent="-334962" lvl="0" marL="334962" marR="0" rtl="0" algn="l">
              <a:lnSpc>
                <a:spcPct val="85000"/>
              </a:lnSpc>
              <a:spcBef>
                <a:spcPts val="50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Предположим, что неизвестный фрукт длинный, сладкий и желтый.</a:t>
            </a:r>
            <a:endParaRPr/>
          </a:p>
          <a:p>
            <a:pPr indent="-334962" lvl="0" marL="334962" marR="0" rtl="0" algn="l">
              <a:lnSpc>
                <a:spcPct val="85000"/>
              </a:lnSpc>
              <a:spcBef>
                <a:spcPts val="50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Для вычисления вероятности нужно проделать 4 простых шага:</a:t>
            </a:r>
            <a:endParaRPr/>
          </a:p>
        </p:txBody>
      </p:sp>
      <p:sp>
        <p:nvSpPr>
          <p:cNvPr id="291" name="Google Shape;291;p24"/>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5"/>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Наивный Байесовский метод</a:t>
            </a:r>
            <a:endParaRPr/>
          </a:p>
        </p:txBody>
      </p:sp>
      <p:pic>
        <p:nvPicPr>
          <p:cNvPr descr="классы фруктов" id="297" name="Google Shape;297;p25"/>
          <p:cNvPicPr preferRelativeResize="0"/>
          <p:nvPr/>
        </p:nvPicPr>
        <p:blipFill rotWithShape="1">
          <a:blip r:embed="rId3">
            <a:alphaModFix/>
          </a:blip>
          <a:srcRect b="0" l="0" r="0" t="0"/>
          <a:stretch/>
        </p:blipFill>
        <p:spPr>
          <a:xfrm>
            <a:off x="5238750" y="1031875"/>
            <a:ext cx="3276600" cy="1255712"/>
          </a:xfrm>
          <a:prstGeom prst="rect">
            <a:avLst/>
          </a:prstGeom>
          <a:noFill/>
          <a:ln>
            <a:noFill/>
          </a:ln>
        </p:spPr>
      </p:pic>
      <p:sp>
        <p:nvSpPr>
          <p:cNvPr id="298" name="Google Shape;298;p25"/>
          <p:cNvSpPr txBox="1"/>
          <p:nvPr/>
        </p:nvSpPr>
        <p:spPr>
          <a:xfrm>
            <a:off x="142875" y="1514475"/>
            <a:ext cx="4614862" cy="955675"/>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2200"/>
              <a:buFont typeface="Quattrocento Sans"/>
              <a:buChar char="•"/>
            </a:pPr>
            <a:r>
              <a:rPr b="0" i="0" lang="en-US" sz="2200" u="none">
                <a:solidFill>
                  <a:schemeClr val="lt1"/>
                </a:solidFill>
                <a:latin typeface="Quattrocento Sans"/>
                <a:ea typeface="Quattrocento Sans"/>
                <a:cs typeface="Quattrocento Sans"/>
                <a:sym typeface="Quattrocento Sans"/>
              </a:rPr>
              <a:t>Для вычисления вероятности нужно проделать 4 простых шага:</a:t>
            </a:r>
            <a:endParaRPr/>
          </a:p>
        </p:txBody>
      </p:sp>
      <p:sp>
        <p:nvSpPr>
          <p:cNvPr id="299" name="Google Shape;299;p25"/>
          <p:cNvSpPr txBox="1"/>
          <p:nvPr/>
        </p:nvSpPr>
        <p:spPr>
          <a:xfrm>
            <a:off x="142875" y="2422525"/>
            <a:ext cx="8778875" cy="3954462"/>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rgbClr val="F97715"/>
              </a:buClr>
              <a:buSzPts val="2000"/>
              <a:buFont typeface="Quattrocento Sans"/>
              <a:buChar char="•"/>
            </a:pPr>
            <a:r>
              <a:rPr b="1" i="1" lang="en-US" sz="2000" u="none">
                <a:solidFill>
                  <a:srgbClr val="F97715"/>
                </a:solidFill>
                <a:latin typeface="Quattrocento Sans"/>
                <a:ea typeface="Quattrocento Sans"/>
                <a:cs typeface="Quattrocento Sans"/>
                <a:sym typeface="Quattrocento Sans"/>
              </a:rPr>
              <a:t>Шаг 1</a:t>
            </a:r>
            <a:r>
              <a:rPr b="0" i="0" lang="en-US" sz="2000" u="none">
                <a:solidFill>
                  <a:schemeClr val="lt1"/>
                </a:solidFill>
                <a:latin typeface="Quattrocento Sans"/>
                <a:ea typeface="Quattrocento Sans"/>
                <a:cs typeface="Quattrocento Sans"/>
                <a:sym typeface="Quattrocento Sans"/>
              </a:rPr>
              <a:t>: Чтобы вычислить вероятность того, что неизвестный фрукт – это банан, давайте сначала решим, похож ли этот фрукт на банан. Вот как вычисляется вероятность класса «Банан» на основании параметров «длинный», «сладкий», «желтый»:</a:t>
            </a:r>
            <a:endParaRPr/>
          </a:p>
          <a:p>
            <a:pPr indent="-334962" lvl="0" marL="334962" marR="0" rtl="0" algn="l">
              <a:lnSpc>
                <a:spcPct val="85000"/>
              </a:lnSpc>
              <a:spcBef>
                <a:spcPts val="500"/>
              </a:spcBef>
              <a:spcAft>
                <a:spcPts val="0"/>
              </a:spcAft>
              <a:buClr>
                <a:schemeClr val="lt1"/>
              </a:buClr>
              <a:buSzPts val="2000"/>
              <a:buFont typeface="Quattrocento Sans"/>
              <a:buNone/>
            </a:pPr>
            <a:r>
              <a:rPr b="0" i="0" lang="en-US" sz="2000" u="none">
                <a:solidFill>
                  <a:schemeClr val="lt1"/>
                </a:solidFill>
                <a:latin typeface="Quattrocento Sans"/>
                <a:ea typeface="Quattrocento Sans"/>
                <a:cs typeface="Quattrocento Sans"/>
                <a:sym typeface="Quattrocento Sans"/>
              </a:rPr>
              <a:t>P(Banana|Long, Sweet, Yellow)</a:t>
            </a:r>
            <a:endParaRPr/>
          </a:p>
          <a:p>
            <a:pPr indent="-334962" lvl="0" marL="334962" marR="0" rtl="0" algn="l">
              <a:lnSpc>
                <a:spcPct val="85000"/>
              </a:lnSpc>
              <a:spcBef>
                <a:spcPts val="500"/>
              </a:spcBef>
              <a:spcAft>
                <a:spcPts val="0"/>
              </a:spcAft>
              <a:buClr>
                <a:schemeClr val="lt1"/>
              </a:buClr>
              <a:buSzPts val="2000"/>
              <a:buFont typeface="Quattrocento Sans"/>
              <a:buNone/>
            </a:pPr>
            <a:r>
              <a:rPr b="0" i="0" lang="en-US" sz="2000" u="none">
                <a:solidFill>
                  <a:schemeClr val="lt1"/>
                </a:solidFill>
                <a:latin typeface="Quattrocento Sans"/>
                <a:ea typeface="Quattrocento Sans"/>
                <a:cs typeface="Quattrocento Sans"/>
                <a:sym typeface="Quattrocento Sans"/>
              </a:rPr>
              <a:t>Выглядит точно так же как уравнение, описанное выше.</a:t>
            </a:r>
            <a:endParaRPr/>
          </a:p>
          <a:p>
            <a:pPr indent="-334962" lvl="0" marL="334962" marR="0" rtl="0" algn="l">
              <a:lnSpc>
                <a:spcPct val="85000"/>
              </a:lnSpc>
              <a:spcBef>
                <a:spcPts val="500"/>
              </a:spcBef>
              <a:spcAft>
                <a:spcPts val="0"/>
              </a:spcAft>
              <a:buClr>
                <a:srgbClr val="F97715"/>
              </a:buClr>
              <a:buSzPts val="2000"/>
              <a:buFont typeface="Quattrocento Sans"/>
              <a:buChar char="•"/>
            </a:pPr>
            <a:r>
              <a:rPr b="1" i="1" lang="en-US" sz="2000" u="none">
                <a:solidFill>
                  <a:srgbClr val="F97715"/>
                </a:solidFill>
                <a:latin typeface="Quattrocento Sans"/>
                <a:ea typeface="Quattrocento Sans"/>
                <a:cs typeface="Quattrocento Sans"/>
                <a:sym typeface="Quattrocento Sans"/>
              </a:rPr>
              <a:t>Шаг 2</a:t>
            </a:r>
            <a:r>
              <a:rPr b="0" i="0" lang="en-US" sz="2000" u="none">
                <a:solidFill>
                  <a:srgbClr val="F97715"/>
                </a:solidFill>
                <a:latin typeface="Quattrocento Sans"/>
                <a:ea typeface="Quattrocento Sans"/>
                <a:cs typeface="Quattrocento Sans"/>
                <a:sym typeface="Quattrocento Sans"/>
              </a:rPr>
              <a:t>: </a:t>
            </a:r>
            <a:r>
              <a:rPr b="0" i="0" lang="en-US" sz="2000" u="none">
                <a:solidFill>
                  <a:schemeClr val="lt1"/>
                </a:solidFill>
                <a:latin typeface="Quattrocento Sans"/>
                <a:ea typeface="Quattrocento Sans"/>
                <a:cs typeface="Quattrocento Sans"/>
                <a:sym typeface="Quattrocento Sans"/>
              </a:rPr>
              <a:t>Начнем с числителя и подставим все значения в уравнение:</a:t>
            </a:r>
            <a:endParaRPr/>
          </a:p>
          <a:p>
            <a:pPr indent="-334962" lvl="0" marL="334962" marR="0" rtl="0" algn="l">
              <a:lnSpc>
                <a:spcPct val="85000"/>
              </a:lnSpc>
              <a:spcBef>
                <a:spcPts val="500"/>
              </a:spcBef>
              <a:spcAft>
                <a:spcPts val="0"/>
              </a:spcAft>
              <a:buClr>
                <a:schemeClr val="lt1"/>
              </a:buClr>
              <a:buSzPts val="2000"/>
              <a:buFont typeface="Quattrocento Sans"/>
              <a:buNone/>
            </a:pPr>
            <a:r>
              <a:rPr b="0" i="0" lang="en-US" sz="2000" u="none">
                <a:solidFill>
                  <a:schemeClr val="lt1"/>
                </a:solidFill>
                <a:latin typeface="Quattrocento Sans"/>
                <a:ea typeface="Quattrocento Sans"/>
                <a:cs typeface="Quattrocento Sans"/>
                <a:sym typeface="Quattrocento Sans"/>
              </a:rPr>
              <a:t>P(Long|Banana) = 400/500 = 0.8</a:t>
            </a:r>
            <a:br>
              <a:rPr b="0" i="0" lang="en-US" sz="2000" u="none">
                <a:solidFill>
                  <a:schemeClr val="lt1"/>
                </a:solidFill>
                <a:latin typeface="Quattrocento Sans"/>
                <a:ea typeface="Quattrocento Sans"/>
                <a:cs typeface="Quattrocento Sans"/>
                <a:sym typeface="Quattrocento Sans"/>
              </a:rPr>
            </a:br>
            <a:r>
              <a:rPr b="0" i="0" lang="en-US" sz="2000" u="none">
                <a:solidFill>
                  <a:schemeClr val="lt1"/>
                </a:solidFill>
                <a:latin typeface="Quattrocento Sans"/>
                <a:ea typeface="Quattrocento Sans"/>
                <a:cs typeface="Quattrocento Sans"/>
                <a:sym typeface="Quattrocento Sans"/>
              </a:rPr>
              <a:t>P(Sweet|Banana) = 350/500 = 0.7</a:t>
            </a:r>
            <a:br>
              <a:rPr b="0" i="0" lang="en-US" sz="2000" u="none">
                <a:solidFill>
                  <a:schemeClr val="lt1"/>
                </a:solidFill>
                <a:latin typeface="Quattrocento Sans"/>
                <a:ea typeface="Quattrocento Sans"/>
                <a:cs typeface="Quattrocento Sans"/>
                <a:sym typeface="Quattrocento Sans"/>
              </a:rPr>
            </a:br>
            <a:r>
              <a:rPr b="0" i="0" lang="en-US" sz="2000" u="none">
                <a:solidFill>
                  <a:schemeClr val="lt1"/>
                </a:solidFill>
                <a:latin typeface="Quattrocento Sans"/>
                <a:ea typeface="Quattrocento Sans"/>
                <a:cs typeface="Quattrocento Sans"/>
                <a:sym typeface="Quattrocento Sans"/>
              </a:rPr>
              <a:t>P(Yellow|Banana) = 450/500 = 0.9</a:t>
            </a:r>
            <a:br>
              <a:rPr b="0" i="0" lang="en-US" sz="2000" u="none">
                <a:solidFill>
                  <a:schemeClr val="lt1"/>
                </a:solidFill>
                <a:latin typeface="Quattrocento Sans"/>
                <a:ea typeface="Quattrocento Sans"/>
                <a:cs typeface="Quattrocento Sans"/>
                <a:sym typeface="Quattrocento Sans"/>
              </a:rPr>
            </a:br>
            <a:r>
              <a:rPr b="0" i="0" lang="en-US" sz="2000" u="none">
                <a:solidFill>
                  <a:schemeClr val="lt1"/>
                </a:solidFill>
                <a:latin typeface="Quattrocento Sans"/>
                <a:ea typeface="Quattrocento Sans"/>
                <a:cs typeface="Quattrocento Sans"/>
                <a:sym typeface="Quattrocento Sans"/>
              </a:rPr>
              <a:t>P(Banana) = 500/1000 = 0.5</a:t>
            </a:r>
            <a:endParaRPr/>
          </a:p>
          <a:p>
            <a:pPr indent="-334962" lvl="0" marL="334962" marR="0" rtl="0" algn="l">
              <a:lnSpc>
                <a:spcPct val="85000"/>
              </a:lnSpc>
              <a:spcBef>
                <a:spcPts val="500"/>
              </a:spcBef>
              <a:spcAft>
                <a:spcPts val="0"/>
              </a:spcAft>
              <a:buClr>
                <a:schemeClr val="lt1"/>
              </a:buClr>
              <a:buSzPts val="2000"/>
              <a:buFont typeface="Quattrocento Sans"/>
              <a:buNone/>
            </a:pPr>
            <a:r>
              <a:rPr b="0" i="0" lang="en-US" sz="2000" u="none">
                <a:solidFill>
                  <a:schemeClr val="lt1"/>
                </a:solidFill>
                <a:latin typeface="Quattrocento Sans"/>
                <a:ea typeface="Quattrocento Sans"/>
                <a:cs typeface="Quattrocento Sans"/>
                <a:sym typeface="Quattrocento Sans"/>
              </a:rPr>
              <a:t>Перемножив значения (согласно уравнению), мы получим:</a:t>
            </a:r>
            <a:endParaRPr/>
          </a:p>
          <a:p>
            <a:pPr indent="-334962" lvl="0" marL="334962" marR="0" rtl="0" algn="l">
              <a:lnSpc>
                <a:spcPct val="85000"/>
              </a:lnSpc>
              <a:spcBef>
                <a:spcPts val="500"/>
              </a:spcBef>
              <a:spcAft>
                <a:spcPts val="0"/>
              </a:spcAft>
              <a:buClr>
                <a:schemeClr val="lt1"/>
              </a:buClr>
              <a:buSzPts val="2000"/>
              <a:buFont typeface="Quattrocento Sans"/>
              <a:buNone/>
            </a:pPr>
            <a:r>
              <a:rPr b="0" i="0" lang="en-US" sz="2000" u="none">
                <a:solidFill>
                  <a:schemeClr val="lt1"/>
                </a:solidFill>
                <a:latin typeface="Quattrocento Sans"/>
                <a:ea typeface="Quattrocento Sans"/>
                <a:cs typeface="Quattrocento Sans"/>
                <a:sym typeface="Quattrocento Sans"/>
              </a:rPr>
              <a:t>0.8 x 0.7 x 0.9 x 0.5 = 0.252</a:t>
            </a:r>
            <a:endParaRPr/>
          </a:p>
        </p:txBody>
      </p:sp>
      <p:sp>
        <p:nvSpPr>
          <p:cNvPr id="300" name="Google Shape;300;p25"/>
          <p:cNvSpPr txBox="1"/>
          <p:nvPr/>
        </p:nvSpPr>
        <p:spPr>
          <a:xfrm>
            <a:off x="4762" y="973137"/>
            <a:ext cx="5233987" cy="406400"/>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2400"/>
              <a:buFont typeface="Quattrocento Sans"/>
              <a:buChar char="•"/>
            </a:pPr>
            <a:r>
              <a:rPr b="0" i="0" lang="en-US" sz="2400" u="none">
                <a:solidFill>
                  <a:schemeClr val="lt1"/>
                </a:solidFill>
                <a:latin typeface="Quattrocento Sans"/>
                <a:ea typeface="Quattrocento Sans"/>
                <a:cs typeface="Quattrocento Sans"/>
                <a:sym typeface="Quattrocento Sans"/>
              </a:rPr>
              <a:t>Простой пример (продолжение):</a:t>
            </a:r>
            <a:endParaRPr/>
          </a:p>
        </p:txBody>
      </p:sp>
      <p:sp>
        <p:nvSpPr>
          <p:cNvPr id="301" name="Google Shape;301;p25"/>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6"/>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Наивный Байесовский метод</a:t>
            </a:r>
            <a:endParaRPr/>
          </a:p>
        </p:txBody>
      </p:sp>
      <p:pic>
        <p:nvPicPr>
          <p:cNvPr descr="классы фруктов" id="307" name="Google Shape;307;p26"/>
          <p:cNvPicPr preferRelativeResize="0"/>
          <p:nvPr/>
        </p:nvPicPr>
        <p:blipFill rotWithShape="1">
          <a:blip r:embed="rId3">
            <a:alphaModFix/>
          </a:blip>
          <a:srcRect b="0" l="0" r="0" t="0"/>
          <a:stretch/>
        </p:blipFill>
        <p:spPr>
          <a:xfrm>
            <a:off x="5238750" y="1031875"/>
            <a:ext cx="3276600" cy="1255712"/>
          </a:xfrm>
          <a:prstGeom prst="rect">
            <a:avLst/>
          </a:prstGeom>
          <a:noFill/>
          <a:ln>
            <a:noFill/>
          </a:ln>
        </p:spPr>
      </p:pic>
      <p:sp>
        <p:nvSpPr>
          <p:cNvPr id="308" name="Google Shape;308;p26"/>
          <p:cNvSpPr txBox="1"/>
          <p:nvPr/>
        </p:nvSpPr>
        <p:spPr>
          <a:xfrm>
            <a:off x="142875" y="1514475"/>
            <a:ext cx="4614862" cy="955675"/>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2200"/>
              <a:buFont typeface="Quattrocento Sans"/>
              <a:buChar char="•"/>
            </a:pPr>
            <a:r>
              <a:rPr b="0" i="0" lang="en-US" sz="2200" u="none">
                <a:solidFill>
                  <a:schemeClr val="lt1"/>
                </a:solidFill>
                <a:latin typeface="Quattrocento Sans"/>
                <a:ea typeface="Quattrocento Sans"/>
                <a:cs typeface="Quattrocento Sans"/>
                <a:sym typeface="Quattrocento Sans"/>
              </a:rPr>
              <a:t>Для вычисления вероятности нужно проделать 4 простых шага:</a:t>
            </a:r>
            <a:endParaRPr/>
          </a:p>
        </p:txBody>
      </p:sp>
      <p:sp>
        <p:nvSpPr>
          <p:cNvPr id="309" name="Google Shape;309;p26"/>
          <p:cNvSpPr txBox="1"/>
          <p:nvPr/>
        </p:nvSpPr>
        <p:spPr>
          <a:xfrm>
            <a:off x="390525" y="2605087"/>
            <a:ext cx="8569325" cy="3321050"/>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rgbClr val="F97715"/>
              </a:buClr>
              <a:buSzPts val="1800"/>
              <a:buFont typeface="Quattrocento Sans"/>
              <a:buChar char="•"/>
            </a:pPr>
            <a:r>
              <a:rPr b="1" i="1" lang="en-US" sz="1800" u="none">
                <a:solidFill>
                  <a:srgbClr val="F97715"/>
                </a:solidFill>
                <a:latin typeface="Quattrocento Sans"/>
                <a:ea typeface="Quattrocento Sans"/>
                <a:cs typeface="Quattrocento Sans"/>
                <a:sym typeface="Quattrocento Sans"/>
              </a:rPr>
              <a:t>Шаг 3</a:t>
            </a:r>
            <a:r>
              <a:rPr b="0" i="0" lang="en-US" sz="2000" u="none">
                <a:solidFill>
                  <a:schemeClr val="lt1"/>
                </a:solidFill>
                <a:latin typeface="Quattrocento Sans"/>
                <a:ea typeface="Quattrocento Sans"/>
                <a:cs typeface="Quattrocento Sans"/>
                <a:sym typeface="Quattrocento Sans"/>
              </a:rPr>
              <a:t>: Проигнорируем знаменатель, поскольку он будет одинаковым для всех последующих вычислений.</a:t>
            </a:r>
            <a:endParaRPr/>
          </a:p>
          <a:p>
            <a:pPr indent="-334962" lvl="0" marL="334962" marR="0" rtl="0" algn="l">
              <a:lnSpc>
                <a:spcPct val="85000"/>
              </a:lnSpc>
              <a:spcBef>
                <a:spcPts val="500"/>
              </a:spcBef>
              <a:spcAft>
                <a:spcPts val="0"/>
              </a:spcAft>
              <a:buClr>
                <a:srgbClr val="F97715"/>
              </a:buClr>
              <a:buSzPts val="1800"/>
              <a:buFont typeface="Quattrocento Sans"/>
              <a:buChar char="•"/>
            </a:pPr>
            <a:r>
              <a:rPr b="1" i="1" lang="en-US" sz="1800" u="none">
                <a:solidFill>
                  <a:srgbClr val="F97715"/>
                </a:solidFill>
                <a:latin typeface="Quattrocento Sans"/>
                <a:ea typeface="Quattrocento Sans"/>
                <a:cs typeface="Quattrocento Sans"/>
                <a:sym typeface="Quattrocento Sans"/>
              </a:rPr>
              <a:t>Шаг 4</a:t>
            </a:r>
            <a:r>
              <a:rPr b="0" i="0" lang="en-US" sz="2000" u="none">
                <a:solidFill>
                  <a:schemeClr val="lt1"/>
                </a:solidFill>
                <a:latin typeface="Quattrocento Sans"/>
                <a:ea typeface="Quattrocento Sans"/>
                <a:cs typeface="Quattrocento Sans"/>
                <a:sym typeface="Quattrocento Sans"/>
              </a:rPr>
              <a:t>: Проделаем те же вычисления для других классов:</a:t>
            </a:r>
            <a:endParaRPr/>
          </a:p>
          <a:p>
            <a:pPr indent="-334962" lvl="0" marL="334962" marR="0" rtl="0" algn="l">
              <a:lnSpc>
                <a:spcPct val="85000"/>
              </a:lnSpc>
              <a:spcBef>
                <a:spcPts val="500"/>
              </a:spcBef>
              <a:spcAft>
                <a:spcPts val="0"/>
              </a:spcAft>
              <a:buClr>
                <a:schemeClr val="lt1"/>
              </a:buClr>
              <a:buSzPts val="2000"/>
              <a:buFont typeface="Quattrocento Sans"/>
              <a:buNone/>
            </a:pPr>
            <a:r>
              <a:rPr b="0" i="0" lang="en-US" sz="2000" u="none">
                <a:solidFill>
                  <a:schemeClr val="lt1"/>
                </a:solidFill>
                <a:latin typeface="Quattrocento Sans"/>
                <a:ea typeface="Quattrocento Sans"/>
                <a:cs typeface="Quattrocento Sans"/>
                <a:sym typeface="Quattrocento Sans"/>
              </a:rPr>
              <a:t>P(Orange|Long, Sweet, Yellow) = 0</a:t>
            </a:r>
            <a:br>
              <a:rPr b="0" i="0" lang="en-US" sz="2000" u="none">
                <a:solidFill>
                  <a:schemeClr val="lt1"/>
                </a:solidFill>
                <a:latin typeface="Quattrocento Sans"/>
                <a:ea typeface="Quattrocento Sans"/>
                <a:cs typeface="Quattrocento Sans"/>
                <a:sym typeface="Quattrocento Sans"/>
              </a:rPr>
            </a:br>
            <a:r>
              <a:rPr b="0" i="0" lang="en-US" sz="2000" u="none">
                <a:solidFill>
                  <a:schemeClr val="lt1"/>
                </a:solidFill>
                <a:latin typeface="Quattrocento Sans"/>
                <a:ea typeface="Quattrocento Sans"/>
                <a:cs typeface="Quattrocento Sans"/>
                <a:sym typeface="Quattrocento Sans"/>
              </a:rPr>
              <a:t>P(Other|Long, Sweet, Yellow) = 0.01875</a:t>
            </a:r>
            <a:endParaRPr/>
          </a:p>
          <a:p>
            <a:pPr indent="-334962" lvl="0" marL="334962" marR="0" rtl="0" algn="l">
              <a:lnSpc>
                <a:spcPct val="85000"/>
              </a:lnSpc>
              <a:spcBef>
                <a:spcPts val="50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Поскольку 0,252 больше, чем 0,01875, то наивный байесовский алгоритм классифицирует этот длинный, сладкий и желтый фрукт как </a:t>
            </a:r>
            <a:r>
              <a:rPr b="1" i="1" lang="en-US" sz="1800" u="none">
                <a:solidFill>
                  <a:srgbClr val="F97715"/>
                </a:solidFill>
                <a:latin typeface="Quattrocento Sans"/>
                <a:ea typeface="Quattrocento Sans"/>
                <a:cs typeface="Quattrocento Sans"/>
                <a:sym typeface="Quattrocento Sans"/>
              </a:rPr>
              <a:t>банан.</a:t>
            </a:r>
            <a:endParaRPr/>
          </a:p>
          <a:p>
            <a:pPr indent="-220661" lvl="0" marL="334962" marR="0" rtl="0" algn="l">
              <a:lnSpc>
                <a:spcPct val="85000"/>
              </a:lnSpc>
              <a:spcBef>
                <a:spcPts val="450"/>
              </a:spcBef>
              <a:spcAft>
                <a:spcPts val="0"/>
              </a:spcAft>
              <a:buClr>
                <a:schemeClr val="lt1"/>
              </a:buClr>
              <a:buSzPts val="1800"/>
              <a:buFont typeface="Quattrocento Sans"/>
              <a:buNone/>
            </a:pPr>
            <a:r>
              <a:t/>
            </a:r>
            <a:endParaRPr b="1" i="1" sz="1800" u="none">
              <a:solidFill>
                <a:srgbClr val="F97715"/>
              </a:solidFill>
              <a:latin typeface="Quattrocento Sans"/>
              <a:ea typeface="Quattrocento Sans"/>
              <a:cs typeface="Quattrocento Sans"/>
              <a:sym typeface="Quattrocento Sans"/>
            </a:endParaRPr>
          </a:p>
          <a:p>
            <a:pPr indent="-334962" lvl="0" marL="334962" marR="0" rtl="0" algn="l">
              <a:lnSpc>
                <a:spcPct val="85000"/>
              </a:lnSpc>
              <a:spcBef>
                <a:spcPts val="50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Очевидно, этот метод требует обучения, поскольку алгоритм использует размеченный набор данных для построения таблицы.</a:t>
            </a:r>
            <a:endParaRPr/>
          </a:p>
        </p:txBody>
      </p:sp>
      <p:sp>
        <p:nvSpPr>
          <p:cNvPr id="310" name="Google Shape;310;p26"/>
          <p:cNvSpPr txBox="1"/>
          <p:nvPr/>
        </p:nvSpPr>
        <p:spPr>
          <a:xfrm>
            <a:off x="4762" y="973137"/>
            <a:ext cx="6846887" cy="406400"/>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2400"/>
              <a:buFont typeface="Quattrocento Sans"/>
              <a:buChar char="•"/>
            </a:pPr>
            <a:r>
              <a:rPr b="0" i="0" lang="en-US" sz="2400" u="none">
                <a:solidFill>
                  <a:schemeClr val="lt1"/>
                </a:solidFill>
                <a:latin typeface="Quattrocento Sans"/>
                <a:ea typeface="Quattrocento Sans"/>
                <a:cs typeface="Quattrocento Sans"/>
                <a:sym typeface="Quattrocento Sans"/>
              </a:rPr>
              <a:t>Простой пример (окончание):</a:t>
            </a:r>
            <a:endParaRPr/>
          </a:p>
        </p:txBody>
      </p:sp>
      <p:sp>
        <p:nvSpPr>
          <p:cNvPr id="311" name="Google Shape;311;p26"/>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7"/>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Наивный Байесовский метод</a:t>
            </a:r>
            <a:endParaRPr/>
          </a:p>
        </p:txBody>
      </p:sp>
      <p:sp>
        <p:nvSpPr>
          <p:cNvPr id="318" name="Google Shape;318;p27"/>
          <p:cNvSpPr txBox="1"/>
          <p:nvPr>
            <p:ph idx="1" type="body"/>
          </p:nvPr>
        </p:nvSpPr>
        <p:spPr>
          <a:xfrm>
            <a:off x="390525" y="973137"/>
            <a:ext cx="8372475" cy="5108575"/>
          </a:xfrm>
          <a:prstGeom prst="rect">
            <a:avLst/>
          </a:prstGeom>
          <a:noFill/>
          <a:ln>
            <a:noFill/>
          </a:ln>
        </p:spPr>
        <p:txBody>
          <a:bodyPr anchorCtr="0" anchor="t" bIns="45700" lIns="91425" spcFirstLastPara="1" rIns="91425" wrap="square" tIns="45700">
            <a:spAutoFit/>
          </a:bodyPr>
          <a:lstStyle/>
          <a:p>
            <a:pPr indent="-182561" lvl="1" marL="274637" rtl="0" algn="l">
              <a:lnSpc>
                <a:spcPct val="85000"/>
              </a:lnSpc>
              <a:spcBef>
                <a:spcPts val="0"/>
              </a:spcBef>
              <a:spcAft>
                <a:spcPts val="0"/>
              </a:spcAft>
              <a:buSzPts val="1800"/>
              <a:buChar char="•"/>
            </a:pPr>
            <a:r>
              <a:rPr b="0" i="0" lang="en-US" sz="2400" u="none">
                <a:solidFill>
                  <a:schemeClr val="lt1"/>
                </a:solidFill>
                <a:latin typeface="Quattrocento Sans"/>
                <a:ea typeface="Quattrocento Sans"/>
                <a:cs typeface="Quattrocento Sans"/>
                <a:sym typeface="Quattrocento Sans"/>
              </a:rPr>
              <a:t>Теорема Байеса позволяет рассчитать апостериорную вероятность </a:t>
            </a:r>
            <a:r>
              <a:rPr b="0" i="1" lang="en-US" sz="2400" u="none">
                <a:solidFill>
                  <a:schemeClr val="lt1"/>
                </a:solidFill>
                <a:latin typeface="Quattrocento Sans"/>
                <a:ea typeface="Quattrocento Sans"/>
                <a:cs typeface="Quattrocento Sans"/>
                <a:sym typeface="Quattrocento Sans"/>
              </a:rPr>
              <a:t>P(c|x)</a:t>
            </a:r>
            <a:r>
              <a:rPr b="0" i="0" lang="en-US" sz="2400" u="none">
                <a:solidFill>
                  <a:schemeClr val="lt1"/>
                </a:solidFill>
                <a:latin typeface="Quattrocento Sans"/>
                <a:ea typeface="Quattrocento Sans"/>
                <a:cs typeface="Quattrocento Sans"/>
                <a:sym typeface="Quattrocento Sans"/>
              </a:rPr>
              <a:t> на основе </a:t>
            </a:r>
            <a:r>
              <a:rPr b="0" i="1" lang="en-US" sz="2400" u="none">
                <a:solidFill>
                  <a:schemeClr val="lt1"/>
                </a:solidFill>
                <a:latin typeface="Quattrocento Sans"/>
                <a:ea typeface="Quattrocento Sans"/>
                <a:cs typeface="Quattrocento Sans"/>
                <a:sym typeface="Quattrocento Sans"/>
              </a:rPr>
              <a:t>P(c)</a:t>
            </a:r>
            <a:r>
              <a:rPr b="0" i="0" lang="en-US" sz="2400" u="none">
                <a:solidFill>
                  <a:schemeClr val="lt1"/>
                </a:solidFill>
                <a:latin typeface="Quattrocento Sans"/>
                <a:ea typeface="Quattrocento Sans"/>
                <a:cs typeface="Quattrocento Sans"/>
                <a:sym typeface="Quattrocento Sans"/>
              </a:rPr>
              <a:t>, </a:t>
            </a:r>
            <a:r>
              <a:rPr b="0" i="1" lang="en-US" sz="2400" u="none">
                <a:solidFill>
                  <a:schemeClr val="lt1"/>
                </a:solidFill>
                <a:latin typeface="Quattrocento Sans"/>
                <a:ea typeface="Quattrocento Sans"/>
                <a:cs typeface="Quattrocento Sans"/>
                <a:sym typeface="Quattrocento Sans"/>
              </a:rPr>
              <a:t>P(x)</a:t>
            </a:r>
            <a:r>
              <a:rPr b="0" i="0" lang="en-US" sz="2400" u="none">
                <a:solidFill>
                  <a:schemeClr val="lt1"/>
                </a:solidFill>
                <a:latin typeface="Quattrocento Sans"/>
                <a:ea typeface="Quattrocento Sans"/>
                <a:cs typeface="Quattrocento Sans"/>
                <a:sym typeface="Quattrocento Sans"/>
              </a:rPr>
              <a:t> и </a:t>
            </a:r>
            <a:r>
              <a:rPr b="0" i="1" lang="en-US" sz="2400" u="none">
                <a:solidFill>
                  <a:schemeClr val="lt1"/>
                </a:solidFill>
                <a:latin typeface="Quattrocento Sans"/>
                <a:ea typeface="Quattrocento Sans"/>
                <a:cs typeface="Quattrocento Sans"/>
                <a:sym typeface="Quattrocento Sans"/>
              </a:rPr>
              <a:t>P(x|c)</a:t>
            </a:r>
            <a:r>
              <a:rPr b="0" i="0" lang="en-US" sz="2400" u="none">
                <a:solidFill>
                  <a:schemeClr val="lt1"/>
                </a:solidFill>
                <a:latin typeface="Quattrocento Sans"/>
                <a:ea typeface="Quattrocento Sans"/>
                <a:cs typeface="Quattrocento Sans"/>
                <a:sym typeface="Quattrocento Sans"/>
              </a:rPr>
              <a:t>.</a:t>
            </a:r>
            <a:endParaRPr/>
          </a:p>
          <a:p>
            <a:pPr indent="-68261" lvl="1" marL="274637" rtl="0" algn="l">
              <a:lnSpc>
                <a:spcPct val="85000"/>
              </a:lnSpc>
              <a:spcBef>
                <a:spcPts val="0"/>
              </a:spcBef>
              <a:spcAft>
                <a:spcPts val="0"/>
              </a:spcAft>
              <a:buSzPts val="1800"/>
              <a:buNone/>
            </a:pPr>
            <a:r>
              <a:t/>
            </a:r>
            <a:endParaRPr b="0" i="0" sz="2400" u="none">
              <a:solidFill>
                <a:schemeClr val="lt1"/>
              </a:solidFill>
              <a:latin typeface="Quattrocento Sans"/>
              <a:ea typeface="Quattrocento Sans"/>
              <a:cs typeface="Quattrocento Sans"/>
              <a:sym typeface="Quattrocento Sans"/>
            </a:endParaRPr>
          </a:p>
          <a:p>
            <a:pPr indent="-68261" lvl="1" marL="274637" rtl="0" algn="l">
              <a:lnSpc>
                <a:spcPct val="85000"/>
              </a:lnSpc>
              <a:spcBef>
                <a:spcPts val="0"/>
              </a:spcBef>
              <a:spcAft>
                <a:spcPts val="0"/>
              </a:spcAft>
              <a:buSzPts val="1800"/>
              <a:buNone/>
            </a:pPr>
            <a:r>
              <a:t/>
            </a:r>
            <a:endParaRPr b="0" i="0" sz="2400" u="none">
              <a:solidFill>
                <a:schemeClr val="lt1"/>
              </a:solidFill>
              <a:latin typeface="Quattrocento Sans"/>
              <a:ea typeface="Quattrocento Sans"/>
              <a:cs typeface="Quattrocento Sans"/>
              <a:sym typeface="Quattrocento Sans"/>
            </a:endParaRPr>
          </a:p>
          <a:p>
            <a:pPr indent="-68261" lvl="1" marL="274637" rtl="0" algn="l">
              <a:lnSpc>
                <a:spcPct val="85000"/>
              </a:lnSpc>
              <a:spcBef>
                <a:spcPts val="0"/>
              </a:spcBef>
              <a:spcAft>
                <a:spcPts val="0"/>
              </a:spcAft>
              <a:buSzPts val="1800"/>
              <a:buNone/>
            </a:pPr>
            <a:r>
              <a:t/>
            </a:r>
            <a:endParaRPr b="0" i="0" sz="2400" u="none">
              <a:solidFill>
                <a:schemeClr val="lt1"/>
              </a:solidFill>
              <a:latin typeface="Quattrocento Sans"/>
              <a:ea typeface="Quattrocento Sans"/>
              <a:cs typeface="Quattrocento Sans"/>
              <a:sym typeface="Quattrocento Sans"/>
            </a:endParaRPr>
          </a:p>
          <a:p>
            <a:pPr indent="-68261" lvl="1" marL="274637" rtl="0" algn="l">
              <a:lnSpc>
                <a:spcPct val="85000"/>
              </a:lnSpc>
              <a:spcBef>
                <a:spcPts val="0"/>
              </a:spcBef>
              <a:spcAft>
                <a:spcPts val="0"/>
              </a:spcAft>
              <a:buSzPts val="1800"/>
              <a:buNone/>
            </a:pPr>
            <a:r>
              <a:t/>
            </a:r>
            <a:endParaRPr b="0" i="0" sz="2400" u="none">
              <a:solidFill>
                <a:schemeClr val="lt1"/>
              </a:solidFill>
              <a:latin typeface="Quattrocento Sans"/>
              <a:ea typeface="Quattrocento Sans"/>
              <a:cs typeface="Quattrocento Sans"/>
              <a:sym typeface="Quattrocento Sans"/>
            </a:endParaRPr>
          </a:p>
          <a:p>
            <a:pPr indent="-68261" lvl="1" marL="274637" rtl="0" algn="l">
              <a:lnSpc>
                <a:spcPct val="85000"/>
              </a:lnSpc>
              <a:spcBef>
                <a:spcPts val="0"/>
              </a:spcBef>
              <a:spcAft>
                <a:spcPts val="0"/>
              </a:spcAft>
              <a:buSzPts val="1800"/>
              <a:buNone/>
            </a:pPr>
            <a:r>
              <a:t/>
            </a:r>
            <a:endParaRPr b="0" i="0" sz="2400" u="none">
              <a:solidFill>
                <a:schemeClr val="lt1"/>
              </a:solidFill>
              <a:latin typeface="Quattrocento Sans"/>
              <a:ea typeface="Quattrocento Sans"/>
              <a:cs typeface="Quattrocento Sans"/>
              <a:sym typeface="Quattrocento Sans"/>
            </a:endParaRPr>
          </a:p>
          <a:p>
            <a:pPr indent="-68261" lvl="1" marL="274637" rtl="0" algn="l">
              <a:lnSpc>
                <a:spcPct val="85000"/>
              </a:lnSpc>
              <a:spcBef>
                <a:spcPts val="0"/>
              </a:spcBef>
              <a:spcAft>
                <a:spcPts val="0"/>
              </a:spcAft>
              <a:buSzPts val="1800"/>
              <a:buNone/>
            </a:pPr>
            <a:r>
              <a:t/>
            </a:r>
            <a:endParaRPr b="0" i="0" sz="2400" u="none">
              <a:solidFill>
                <a:schemeClr val="lt1"/>
              </a:solidFill>
              <a:latin typeface="Quattrocento Sans"/>
              <a:ea typeface="Quattrocento Sans"/>
              <a:cs typeface="Quattrocento Sans"/>
              <a:sym typeface="Quattrocento Sans"/>
            </a:endParaRPr>
          </a:p>
          <a:p>
            <a:pPr indent="-68261" lvl="1" marL="274637" rtl="0" algn="l">
              <a:lnSpc>
                <a:spcPct val="85000"/>
              </a:lnSpc>
              <a:spcBef>
                <a:spcPts val="0"/>
              </a:spcBef>
              <a:spcAft>
                <a:spcPts val="0"/>
              </a:spcAft>
              <a:buSzPts val="1800"/>
              <a:buNone/>
            </a:pPr>
            <a:r>
              <a:t/>
            </a:r>
            <a:endParaRPr b="0" i="0" sz="2400" u="none">
              <a:solidFill>
                <a:schemeClr val="lt1"/>
              </a:solidFill>
              <a:latin typeface="Quattrocento Sans"/>
              <a:ea typeface="Quattrocento Sans"/>
              <a:cs typeface="Quattrocento Sans"/>
              <a:sym typeface="Quattrocento Sans"/>
            </a:endParaRPr>
          </a:p>
          <a:p>
            <a:pPr indent="-68261" lvl="1" marL="274637" rtl="0" algn="l">
              <a:lnSpc>
                <a:spcPct val="85000"/>
              </a:lnSpc>
              <a:spcBef>
                <a:spcPts val="0"/>
              </a:spcBef>
              <a:spcAft>
                <a:spcPts val="0"/>
              </a:spcAft>
              <a:buSzPts val="1800"/>
              <a:buNone/>
            </a:pPr>
            <a:r>
              <a:t/>
            </a:r>
            <a:endParaRPr b="0" i="0" sz="2400" u="none">
              <a:solidFill>
                <a:schemeClr val="lt1"/>
              </a:solidFill>
              <a:latin typeface="Quattrocento Sans"/>
              <a:ea typeface="Quattrocento Sans"/>
              <a:cs typeface="Quattrocento Sans"/>
              <a:sym typeface="Quattrocento Sans"/>
            </a:endParaRPr>
          </a:p>
          <a:p>
            <a:pPr indent="-334962" lvl="0" marL="334962" rtl="0" algn="l">
              <a:lnSpc>
                <a:spcPct val="85000"/>
              </a:lnSpc>
              <a:spcBef>
                <a:spcPts val="500"/>
              </a:spcBef>
              <a:spcAft>
                <a:spcPts val="0"/>
              </a:spcAft>
              <a:buSzPts val="1600"/>
              <a:buChar char="•"/>
            </a:pPr>
            <a:r>
              <a:rPr b="0" i="1" lang="en-US" sz="2000" u="none">
                <a:solidFill>
                  <a:schemeClr val="lt1"/>
                </a:solidFill>
                <a:latin typeface="Quattrocento Sans"/>
                <a:ea typeface="Quattrocento Sans"/>
                <a:cs typeface="Quattrocento Sans"/>
                <a:sym typeface="Quattrocento Sans"/>
              </a:rPr>
              <a:t>P(c|x)</a:t>
            </a:r>
            <a:r>
              <a:rPr b="0" i="0" lang="en-US" sz="2000" u="none">
                <a:solidFill>
                  <a:schemeClr val="lt1"/>
                </a:solidFill>
                <a:latin typeface="Quattrocento Sans"/>
                <a:ea typeface="Quattrocento Sans"/>
                <a:cs typeface="Quattrocento Sans"/>
                <a:sym typeface="Quattrocento Sans"/>
              </a:rPr>
              <a:t> – апостериорная вероятность данного класса </a:t>
            </a:r>
            <a:r>
              <a:rPr b="0" i="1" lang="en-US" sz="2000" u="none">
                <a:solidFill>
                  <a:schemeClr val="lt1"/>
                </a:solidFill>
                <a:latin typeface="Quattrocento Sans"/>
                <a:ea typeface="Quattrocento Sans"/>
                <a:cs typeface="Quattrocento Sans"/>
                <a:sym typeface="Quattrocento Sans"/>
              </a:rPr>
              <a:t>c</a:t>
            </a:r>
            <a:r>
              <a:rPr b="0" i="0" lang="en-US" sz="2000" u="none">
                <a:solidFill>
                  <a:schemeClr val="lt1"/>
                </a:solidFill>
                <a:latin typeface="Quattrocento Sans"/>
                <a:ea typeface="Quattrocento Sans"/>
                <a:cs typeface="Quattrocento Sans"/>
                <a:sym typeface="Quattrocento Sans"/>
              </a:rPr>
              <a:t> (т.е. данного значения целевой переменной) при данном значении признака </a:t>
            </a:r>
            <a:r>
              <a:rPr b="0" i="1" lang="en-US" sz="2000" u="none">
                <a:solidFill>
                  <a:schemeClr val="lt1"/>
                </a:solidFill>
                <a:latin typeface="Quattrocento Sans"/>
                <a:ea typeface="Quattrocento Sans"/>
                <a:cs typeface="Quattrocento Sans"/>
                <a:sym typeface="Quattrocento Sans"/>
              </a:rPr>
              <a:t>x</a:t>
            </a:r>
            <a:r>
              <a:rPr b="0" i="0" lang="en-US" sz="2000" u="none">
                <a:solidFill>
                  <a:schemeClr val="lt1"/>
                </a:solidFill>
                <a:latin typeface="Quattrocento Sans"/>
                <a:ea typeface="Quattrocento Sans"/>
                <a:cs typeface="Quattrocento Sans"/>
                <a:sym typeface="Quattrocento Sans"/>
              </a:rPr>
              <a:t>.</a:t>
            </a:r>
            <a:endParaRPr/>
          </a:p>
          <a:p>
            <a:pPr indent="-334962" lvl="0" marL="334962" rtl="0" algn="l">
              <a:lnSpc>
                <a:spcPct val="85000"/>
              </a:lnSpc>
              <a:spcBef>
                <a:spcPts val="500"/>
              </a:spcBef>
              <a:spcAft>
                <a:spcPts val="0"/>
              </a:spcAft>
              <a:buSzPts val="1600"/>
              <a:buChar char="•"/>
            </a:pPr>
            <a:r>
              <a:rPr b="0" i="1" lang="en-US" sz="2000" u="none">
                <a:solidFill>
                  <a:schemeClr val="lt1"/>
                </a:solidFill>
                <a:latin typeface="Quattrocento Sans"/>
                <a:ea typeface="Quattrocento Sans"/>
                <a:cs typeface="Quattrocento Sans"/>
                <a:sym typeface="Quattrocento Sans"/>
              </a:rPr>
              <a:t>P(c)</a:t>
            </a:r>
            <a:r>
              <a:rPr b="0" i="0" lang="en-US" sz="2000" u="none">
                <a:solidFill>
                  <a:schemeClr val="lt1"/>
                </a:solidFill>
                <a:latin typeface="Quattrocento Sans"/>
                <a:ea typeface="Quattrocento Sans"/>
                <a:cs typeface="Quattrocento Sans"/>
                <a:sym typeface="Quattrocento Sans"/>
              </a:rPr>
              <a:t> – априорная вероятность данного класса.</a:t>
            </a:r>
            <a:endParaRPr/>
          </a:p>
          <a:p>
            <a:pPr indent="-334962" lvl="0" marL="334962" rtl="0" algn="l">
              <a:lnSpc>
                <a:spcPct val="85000"/>
              </a:lnSpc>
              <a:spcBef>
                <a:spcPts val="500"/>
              </a:spcBef>
              <a:spcAft>
                <a:spcPts val="0"/>
              </a:spcAft>
              <a:buSzPts val="1600"/>
              <a:buChar char="•"/>
            </a:pPr>
            <a:r>
              <a:rPr b="0" i="1" lang="en-US" sz="2000" u="none">
                <a:solidFill>
                  <a:schemeClr val="lt1"/>
                </a:solidFill>
                <a:latin typeface="Quattrocento Sans"/>
                <a:ea typeface="Quattrocento Sans"/>
                <a:cs typeface="Quattrocento Sans"/>
                <a:sym typeface="Quattrocento Sans"/>
              </a:rPr>
              <a:t>P(x|c)</a:t>
            </a:r>
            <a:r>
              <a:rPr b="0" i="0" lang="en-US" sz="2000" u="none">
                <a:solidFill>
                  <a:schemeClr val="lt1"/>
                </a:solidFill>
                <a:latin typeface="Quattrocento Sans"/>
                <a:ea typeface="Quattrocento Sans"/>
                <a:cs typeface="Quattrocento Sans"/>
                <a:sym typeface="Quattrocento Sans"/>
              </a:rPr>
              <a:t> – правдоподобие, т.е. вероятность данного значения признака при данном классе.</a:t>
            </a:r>
            <a:endParaRPr/>
          </a:p>
          <a:p>
            <a:pPr indent="-334962" lvl="0" marL="334962" rtl="0" algn="l">
              <a:lnSpc>
                <a:spcPct val="85000"/>
              </a:lnSpc>
              <a:spcBef>
                <a:spcPts val="500"/>
              </a:spcBef>
              <a:spcAft>
                <a:spcPts val="0"/>
              </a:spcAft>
              <a:buSzPts val="1600"/>
              <a:buChar char="•"/>
            </a:pPr>
            <a:r>
              <a:rPr b="0" i="1" lang="en-US" sz="2000" u="none">
                <a:solidFill>
                  <a:schemeClr val="lt1"/>
                </a:solidFill>
                <a:latin typeface="Quattrocento Sans"/>
                <a:ea typeface="Quattrocento Sans"/>
                <a:cs typeface="Quattrocento Sans"/>
                <a:sym typeface="Quattrocento Sans"/>
              </a:rPr>
              <a:t>P(x)</a:t>
            </a:r>
            <a:r>
              <a:rPr b="0" i="0" lang="en-US" sz="2000" u="none">
                <a:solidFill>
                  <a:schemeClr val="lt1"/>
                </a:solidFill>
                <a:latin typeface="Quattrocento Sans"/>
                <a:ea typeface="Quattrocento Sans"/>
                <a:cs typeface="Quattrocento Sans"/>
                <a:sym typeface="Quattrocento Sans"/>
              </a:rPr>
              <a:t> – априорная вероятность данного значения признака.</a:t>
            </a:r>
            <a:endParaRPr/>
          </a:p>
        </p:txBody>
      </p:sp>
      <p:pic>
        <p:nvPicPr>
          <p:cNvPr id="319" name="Google Shape;319;p27"/>
          <p:cNvPicPr preferRelativeResize="0"/>
          <p:nvPr/>
        </p:nvPicPr>
        <p:blipFill rotWithShape="1">
          <a:blip r:embed="rId3">
            <a:alphaModFix/>
          </a:blip>
          <a:srcRect b="0" l="0" r="0" t="0"/>
          <a:stretch/>
        </p:blipFill>
        <p:spPr>
          <a:xfrm>
            <a:off x="2230437" y="1851025"/>
            <a:ext cx="4505325" cy="2205037"/>
          </a:xfrm>
          <a:prstGeom prst="rect">
            <a:avLst/>
          </a:prstGeom>
          <a:noFill/>
          <a:ln>
            <a:noFill/>
          </a:ln>
        </p:spPr>
      </p:pic>
      <p:sp>
        <p:nvSpPr>
          <p:cNvPr id="320" name="Google Shape;320;p27"/>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8"/>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Наивный Байесовский метод</a:t>
            </a:r>
            <a:endParaRPr/>
          </a:p>
        </p:txBody>
      </p:sp>
      <p:sp>
        <p:nvSpPr>
          <p:cNvPr id="326" name="Google Shape;326;p28"/>
          <p:cNvSpPr txBox="1"/>
          <p:nvPr>
            <p:ph idx="1" type="body"/>
          </p:nvPr>
        </p:nvSpPr>
        <p:spPr>
          <a:xfrm>
            <a:off x="390525" y="973137"/>
            <a:ext cx="8647112" cy="3659187"/>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SzPts val="2240"/>
              <a:buNone/>
            </a:pPr>
            <a:r>
              <a:rPr b="1" i="1" lang="en-US" sz="2800" u="none">
                <a:solidFill>
                  <a:srgbClr val="FFC000"/>
                </a:solidFill>
                <a:latin typeface="Quattrocento Sans"/>
                <a:ea typeface="Quattrocento Sans"/>
                <a:cs typeface="Quattrocento Sans"/>
                <a:sym typeface="Quattrocento Sans"/>
              </a:rPr>
              <a:t>Пример</a:t>
            </a:r>
            <a:endParaRPr/>
          </a:p>
          <a:p>
            <a:pPr indent="0" lvl="0" marL="0" rtl="0" algn="l">
              <a:lnSpc>
                <a:spcPct val="85000"/>
              </a:lnSpc>
              <a:spcBef>
                <a:spcPts val="0"/>
              </a:spcBef>
              <a:spcAft>
                <a:spcPts val="0"/>
              </a:spcAft>
              <a:buSzPts val="2240"/>
              <a:buNone/>
            </a:pPr>
            <a:r>
              <a:t/>
            </a:r>
            <a:endParaRPr b="1" i="1" sz="2800" u="none">
              <a:solidFill>
                <a:srgbClr val="FFC000"/>
              </a:solidFill>
              <a:latin typeface="Quattrocento Sans"/>
              <a:ea typeface="Quattrocento Sans"/>
              <a:cs typeface="Quattrocento Sans"/>
              <a:sym typeface="Quattrocento Sans"/>
            </a:endParaRPr>
          </a:p>
          <a:p>
            <a:pPr indent="-182561" lvl="1" marL="274637" rtl="0" algn="l">
              <a:lnSpc>
                <a:spcPct val="85000"/>
              </a:lnSpc>
              <a:spcBef>
                <a:spcPts val="0"/>
              </a:spcBef>
              <a:spcAft>
                <a:spcPts val="0"/>
              </a:spcAft>
              <a:buSzPts val="1800"/>
              <a:buChar char="•"/>
            </a:pPr>
            <a:r>
              <a:rPr b="0" i="0" lang="en-US" sz="2400" u="none">
                <a:solidFill>
                  <a:schemeClr val="lt1"/>
                </a:solidFill>
                <a:latin typeface="Quattrocento Sans"/>
                <a:ea typeface="Quattrocento Sans"/>
                <a:cs typeface="Quattrocento Sans"/>
                <a:sym typeface="Quattrocento Sans"/>
              </a:rPr>
              <a:t>Пусть нам нужно выполнить классификацию документов, т.е. определить к какому классу принадлежит документ:</a:t>
            </a:r>
            <a:endParaRPr/>
          </a:p>
          <a:p>
            <a:pPr indent="-182561" lvl="1" marL="274637" rtl="0" algn="l">
              <a:lnSpc>
                <a:spcPct val="85000"/>
              </a:lnSpc>
              <a:spcBef>
                <a:spcPts val="0"/>
              </a:spcBef>
              <a:spcAft>
                <a:spcPts val="0"/>
              </a:spcAft>
              <a:buSzPts val="1800"/>
              <a:buNone/>
            </a:pPr>
            <a:r>
              <a:t/>
            </a:r>
            <a:endParaRPr b="0" i="0" sz="2400" u="none">
              <a:solidFill>
                <a:schemeClr val="lt1"/>
              </a:solidFill>
              <a:latin typeface="Quattrocento Sans"/>
              <a:ea typeface="Quattrocento Sans"/>
              <a:cs typeface="Quattrocento Sans"/>
              <a:sym typeface="Quattrocento Sans"/>
            </a:endParaRPr>
          </a:p>
          <a:p>
            <a:pPr indent="-182561" lvl="1" marL="274637" rtl="0" algn="l">
              <a:lnSpc>
                <a:spcPct val="85000"/>
              </a:lnSpc>
              <a:spcBef>
                <a:spcPts val="0"/>
              </a:spcBef>
              <a:spcAft>
                <a:spcPts val="0"/>
              </a:spcAft>
              <a:buSzPts val="1500"/>
              <a:buChar char="•"/>
            </a:pPr>
            <a:r>
              <a:rPr b="1" i="1" lang="en-US" sz="2000" u="none">
                <a:solidFill>
                  <a:srgbClr val="FFC000"/>
                </a:solidFill>
                <a:latin typeface="Arial"/>
                <a:ea typeface="Arial"/>
                <a:cs typeface="Arial"/>
                <a:sym typeface="Arial"/>
              </a:rPr>
              <a:t>P(c|d) </a:t>
            </a:r>
            <a:r>
              <a:rPr b="0" i="0" lang="en-US" sz="2000" u="none">
                <a:solidFill>
                  <a:schemeClr val="lt1"/>
                </a:solidFill>
                <a:latin typeface="Quattrocento Sans"/>
                <a:ea typeface="Quattrocento Sans"/>
                <a:cs typeface="Quattrocento Sans"/>
                <a:sym typeface="Quattrocento Sans"/>
              </a:rPr>
              <a:t>— вероятность, что документ </a:t>
            </a:r>
            <a:r>
              <a:rPr b="1" i="1" lang="en-US" sz="2000" u="none">
                <a:solidFill>
                  <a:srgbClr val="FFC000"/>
                </a:solidFill>
                <a:latin typeface="Arial"/>
                <a:ea typeface="Arial"/>
                <a:cs typeface="Arial"/>
                <a:sym typeface="Arial"/>
              </a:rPr>
              <a:t>d </a:t>
            </a:r>
            <a:r>
              <a:rPr b="0" i="0" lang="en-US" sz="2000" u="none">
                <a:solidFill>
                  <a:schemeClr val="lt1"/>
                </a:solidFill>
                <a:latin typeface="Quattrocento Sans"/>
                <a:ea typeface="Quattrocento Sans"/>
                <a:cs typeface="Quattrocento Sans"/>
                <a:sym typeface="Quattrocento Sans"/>
              </a:rPr>
              <a:t>принадлежит классу </a:t>
            </a:r>
            <a:r>
              <a:rPr b="1" i="1" lang="en-US" sz="2000" u="none">
                <a:solidFill>
                  <a:srgbClr val="FFC000"/>
                </a:solidFill>
                <a:latin typeface="Arial"/>
                <a:ea typeface="Arial"/>
                <a:cs typeface="Arial"/>
                <a:sym typeface="Arial"/>
              </a:rPr>
              <a:t>c</a:t>
            </a:r>
            <a:r>
              <a:rPr b="0" i="0" lang="en-US" sz="2000" u="none">
                <a:solidFill>
                  <a:schemeClr val="lt1"/>
                </a:solidFill>
                <a:latin typeface="Quattrocento Sans"/>
                <a:ea typeface="Quattrocento Sans"/>
                <a:cs typeface="Quattrocento Sans"/>
                <a:sym typeface="Quattrocento Sans"/>
              </a:rPr>
              <a:t>, именно её нам надо рассчитать; </a:t>
            </a:r>
            <a:endParaRPr/>
          </a:p>
          <a:p>
            <a:pPr indent="-182561" lvl="1" marL="274637" rtl="0" algn="l">
              <a:lnSpc>
                <a:spcPct val="85000"/>
              </a:lnSpc>
              <a:spcBef>
                <a:spcPts val="0"/>
              </a:spcBef>
              <a:spcAft>
                <a:spcPts val="0"/>
              </a:spcAft>
              <a:buSzPts val="1500"/>
              <a:buChar char="•"/>
            </a:pPr>
            <a:r>
              <a:rPr b="1" i="1" lang="en-US" sz="2000" u="none">
                <a:solidFill>
                  <a:srgbClr val="FFC000"/>
                </a:solidFill>
                <a:latin typeface="Arial"/>
                <a:ea typeface="Arial"/>
                <a:cs typeface="Arial"/>
                <a:sym typeface="Arial"/>
              </a:rPr>
              <a:t>P(d|c) </a:t>
            </a:r>
            <a:r>
              <a:rPr b="0" i="0" lang="en-US" sz="2000" u="none">
                <a:solidFill>
                  <a:schemeClr val="lt1"/>
                </a:solidFill>
                <a:latin typeface="Quattrocento Sans"/>
                <a:ea typeface="Quattrocento Sans"/>
                <a:cs typeface="Quattrocento Sans"/>
                <a:sym typeface="Quattrocento Sans"/>
              </a:rPr>
              <a:t>— вероятность встретить документ </a:t>
            </a:r>
            <a:r>
              <a:rPr b="1" i="1" lang="en-US" sz="2000" u="none">
                <a:solidFill>
                  <a:srgbClr val="FFC000"/>
                </a:solidFill>
                <a:latin typeface="Arial"/>
                <a:ea typeface="Arial"/>
                <a:cs typeface="Arial"/>
                <a:sym typeface="Arial"/>
              </a:rPr>
              <a:t>d </a:t>
            </a:r>
            <a:r>
              <a:rPr b="0" i="0" lang="en-US" sz="2000" u="none">
                <a:solidFill>
                  <a:schemeClr val="lt1"/>
                </a:solidFill>
                <a:latin typeface="Quattrocento Sans"/>
                <a:ea typeface="Quattrocento Sans"/>
                <a:cs typeface="Quattrocento Sans"/>
                <a:sym typeface="Quattrocento Sans"/>
              </a:rPr>
              <a:t>среди всех документов класса </a:t>
            </a:r>
            <a:r>
              <a:rPr b="1" i="1" lang="en-US" sz="2000" u="none">
                <a:solidFill>
                  <a:srgbClr val="FFC000"/>
                </a:solidFill>
                <a:latin typeface="Arial"/>
                <a:ea typeface="Arial"/>
                <a:cs typeface="Arial"/>
                <a:sym typeface="Arial"/>
              </a:rPr>
              <a:t>c</a:t>
            </a:r>
            <a:r>
              <a:rPr b="0" i="0" lang="en-US" sz="2000" u="none">
                <a:solidFill>
                  <a:schemeClr val="lt1"/>
                </a:solidFill>
                <a:latin typeface="Quattrocento Sans"/>
                <a:ea typeface="Quattrocento Sans"/>
                <a:cs typeface="Quattrocento Sans"/>
                <a:sym typeface="Quattrocento Sans"/>
              </a:rPr>
              <a:t>; </a:t>
            </a:r>
            <a:endParaRPr/>
          </a:p>
          <a:p>
            <a:pPr indent="-182561" lvl="1" marL="274637" rtl="0" algn="l">
              <a:lnSpc>
                <a:spcPct val="85000"/>
              </a:lnSpc>
              <a:spcBef>
                <a:spcPts val="0"/>
              </a:spcBef>
              <a:spcAft>
                <a:spcPts val="0"/>
              </a:spcAft>
              <a:buSzPts val="1500"/>
              <a:buChar char="•"/>
            </a:pPr>
            <a:r>
              <a:rPr b="1" i="1" lang="en-US" sz="2000" u="none">
                <a:solidFill>
                  <a:srgbClr val="FFC000"/>
                </a:solidFill>
                <a:latin typeface="Arial"/>
                <a:ea typeface="Arial"/>
                <a:cs typeface="Arial"/>
                <a:sym typeface="Arial"/>
              </a:rPr>
              <a:t>P(c) </a:t>
            </a:r>
            <a:r>
              <a:rPr b="0" i="0" lang="en-US" sz="2000" u="none">
                <a:solidFill>
                  <a:schemeClr val="lt1"/>
                </a:solidFill>
                <a:latin typeface="Quattrocento Sans"/>
                <a:ea typeface="Quattrocento Sans"/>
                <a:cs typeface="Quattrocento Sans"/>
                <a:sym typeface="Quattrocento Sans"/>
              </a:rPr>
              <a:t>— безусловная вероятность встретить документ класса </a:t>
            </a:r>
            <a:r>
              <a:rPr b="1" i="1" lang="en-US" sz="2000" u="none">
                <a:solidFill>
                  <a:srgbClr val="FFC000"/>
                </a:solidFill>
                <a:latin typeface="Arial"/>
                <a:ea typeface="Arial"/>
                <a:cs typeface="Arial"/>
                <a:sym typeface="Arial"/>
              </a:rPr>
              <a:t>c</a:t>
            </a:r>
            <a:r>
              <a:rPr b="0" i="0" lang="en-US" sz="2000" u="none">
                <a:solidFill>
                  <a:schemeClr val="lt1"/>
                </a:solidFill>
                <a:latin typeface="Arial"/>
                <a:ea typeface="Arial"/>
                <a:cs typeface="Arial"/>
                <a:sym typeface="Arial"/>
              </a:rPr>
              <a:t> </a:t>
            </a:r>
            <a:r>
              <a:rPr b="0" i="0" lang="en-US" sz="2000" u="none">
                <a:solidFill>
                  <a:schemeClr val="lt1"/>
                </a:solidFill>
                <a:latin typeface="Quattrocento Sans"/>
                <a:ea typeface="Quattrocento Sans"/>
                <a:cs typeface="Quattrocento Sans"/>
                <a:sym typeface="Quattrocento Sans"/>
              </a:rPr>
              <a:t>в корпусе документов; </a:t>
            </a:r>
            <a:endParaRPr/>
          </a:p>
          <a:p>
            <a:pPr indent="-182561" lvl="1" marL="274637" rtl="0" algn="l">
              <a:lnSpc>
                <a:spcPct val="85000"/>
              </a:lnSpc>
              <a:spcBef>
                <a:spcPts val="0"/>
              </a:spcBef>
              <a:spcAft>
                <a:spcPts val="0"/>
              </a:spcAft>
              <a:buSzPts val="1500"/>
              <a:buChar char="•"/>
            </a:pPr>
            <a:r>
              <a:rPr b="1" i="1" lang="en-US" sz="2000" u="none">
                <a:solidFill>
                  <a:srgbClr val="FFC000"/>
                </a:solidFill>
                <a:latin typeface="Arial"/>
                <a:ea typeface="Arial"/>
                <a:cs typeface="Arial"/>
                <a:sym typeface="Arial"/>
              </a:rPr>
              <a:t>P(d) </a:t>
            </a:r>
            <a:r>
              <a:rPr b="0" i="0" lang="en-US" sz="2000" u="none">
                <a:solidFill>
                  <a:schemeClr val="lt1"/>
                </a:solidFill>
                <a:latin typeface="Quattrocento Sans"/>
                <a:ea typeface="Quattrocento Sans"/>
                <a:cs typeface="Quattrocento Sans"/>
                <a:sym typeface="Quattrocento Sans"/>
              </a:rPr>
              <a:t>— безусловная вероятность документа </a:t>
            </a:r>
            <a:r>
              <a:rPr b="1" i="1" lang="en-US" sz="2000" u="none">
                <a:solidFill>
                  <a:srgbClr val="FFC000"/>
                </a:solidFill>
                <a:latin typeface="Arial"/>
                <a:ea typeface="Arial"/>
                <a:cs typeface="Arial"/>
                <a:sym typeface="Arial"/>
              </a:rPr>
              <a:t>d</a:t>
            </a:r>
            <a:r>
              <a:rPr b="0" i="0" lang="en-US" sz="2000" u="none">
                <a:solidFill>
                  <a:schemeClr val="lt1"/>
                </a:solidFill>
                <a:latin typeface="Quattrocento Sans"/>
                <a:ea typeface="Quattrocento Sans"/>
                <a:cs typeface="Quattrocento Sans"/>
                <a:sym typeface="Quattrocento Sans"/>
              </a:rPr>
              <a:t> в корпусе документов. </a:t>
            </a:r>
            <a:endParaRPr/>
          </a:p>
          <a:p>
            <a:pPr indent="-233363" lvl="0" marL="334963" rtl="0" algn="l">
              <a:lnSpc>
                <a:spcPct val="85000"/>
              </a:lnSpc>
              <a:spcBef>
                <a:spcPts val="500"/>
              </a:spcBef>
              <a:spcAft>
                <a:spcPts val="0"/>
              </a:spcAft>
              <a:buSzPts val="1600"/>
              <a:buNone/>
            </a:pPr>
            <a:r>
              <a:t/>
            </a:r>
            <a:endParaRPr b="0" i="0" sz="2000" u="none">
              <a:solidFill>
                <a:schemeClr val="lt1"/>
              </a:solidFill>
              <a:latin typeface="Quattrocento Sans"/>
              <a:ea typeface="Quattrocento Sans"/>
              <a:cs typeface="Quattrocento Sans"/>
              <a:sym typeface="Quattrocento Sans"/>
            </a:endParaRPr>
          </a:p>
        </p:txBody>
      </p:sp>
      <p:pic>
        <p:nvPicPr>
          <p:cNvPr id="327" name="Google Shape;327;p28"/>
          <p:cNvPicPr preferRelativeResize="0"/>
          <p:nvPr/>
        </p:nvPicPr>
        <p:blipFill rotWithShape="1">
          <a:blip r:embed="rId3">
            <a:alphaModFix/>
          </a:blip>
          <a:srcRect b="0" l="0" r="0" t="0"/>
          <a:stretch/>
        </p:blipFill>
        <p:spPr>
          <a:xfrm>
            <a:off x="4176725" y="3671888"/>
            <a:ext cx="2627312" cy="808037"/>
          </a:xfrm>
          <a:prstGeom prst="rect">
            <a:avLst/>
          </a:prstGeom>
          <a:noFill/>
          <a:ln>
            <a:noFill/>
          </a:ln>
        </p:spPr>
      </p:pic>
      <p:sp>
        <p:nvSpPr>
          <p:cNvPr id="328" name="Google Shape;328;p28"/>
          <p:cNvSpPr txBox="1"/>
          <p:nvPr/>
        </p:nvSpPr>
        <p:spPr>
          <a:xfrm>
            <a:off x="527050" y="5287962"/>
            <a:ext cx="8372475" cy="1477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Quattrocento Sans"/>
              <a:buNone/>
            </a:pPr>
            <a:r>
              <a:rPr b="0" i="0" lang="en-US" sz="1800" u="none">
                <a:solidFill>
                  <a:schemeClr val="lt1"/>
                </a:solidFill>
                <a:latin typeface="Quattrocento Sans"/>
                <a:ea typeface="Quattrocento Sans"/>
                <a:cs typeface="Quattrocento Sans"/>
                <a:sym typeface="Quattrocento Sans"/>
              </a:rPr>
              <a:t>Смысл теоремы на обывательском уровне можно выразить следующим образом: теорема Байеса позволяет переставить местами причину и следствие. Зная с какой вероятностью причина приводит к некоему событию, эта теорема позволяет рассчитать вероятность того, что именно эта причина привела к наблюдаемому событию.</a:t>
            </a:r>
            <a:endParaRPr/>
          </a:p>
        </p:txBody>
      </p:sp>
      <p:sp>
        <p:nvSpPr>
          <p:cNvPr id="329" name="Google Shape;329;p28"/>
          <p:cNvSpPr txBox="1"/>
          <p:nvPr/>
        </p:nvSpPr>
        <p:spPr>
          <a:xfrm>
            <a:off x="6332537" y="4699000"/>
            <a:ext cx="47148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Quattrocento Sans"/>
              <a:buNone/>
            </a:pPr>
            <a:r>
              <a:rPr b="1" i="0" lang="en-US" sz="1800" u="none">
                <a:solidFill>
                  <a:schemeClr val="lt1"/>
                </a:solidFill>
                <a:latin typeface="Quattrocento Sans"/>
                <a:ea typeface="Quattrocento Sans"/>
                <a:cs typeface="Quattrocento Sans"/>
                <a:sym typeface="Quattrocento Sans"/>
              </a:rPr>
              <a:t>(1)</a:t>
            </a:r>
            <a:endParaRPr/>
          </a:p>
        </p:txBody>
      </p:sp>
      <p:sp>
        <p:nvSpPr>
          <p:cNvPr id="330" name="Google Shape;330;p28"/>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9"/>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Наивный Байесовский метод</a:t>
            </a:r>
            <a:endParaRPr/>
          </a:p>
        </p:txBody>
      </p:sp>
      <p:sp>
        <p:nvSpPr>
          <p:cNvPr id="336" name="Google Shape;336;p29"/>
          <p:cNvSpPr txBox="1"/>
          <p:nvPr>
            <p:ph idx="1" type="body"/>
          </p:nvPr>
        </p:nvSpPr>
        <p:spPr>
          <a:xfrm>
            <a:off x="390525" y="973137"/>
            <a:ext cx="8372475" cy="4540250"/>
          </a:xfrm>
          <a:prstGeom prst="rect">
            <a:avLst/>
          </a:prstGeom>
          <a:noFill/>
          <a:ln>
            <a:noFill/>
          </a:ln>
        </p:spPr>
        <p:txBody>
          <a:bodyPr anchorCtr="0" anchor="t" bIns="45700" lIns="91425" spcFirstLastPara="1" rIns="91425" wrap="square" tIns="45700">
            <a:spAutoFit/>
          </a:bodyPr>
          <a:lstStyle/>
          <a:p>
            <a:pPr indent="0" lvl="1" marL="92075" rtl="0" algn="l">
              <a:lnSpc>
                <a:spcPct val="85000"/>
              </a:lnSpc>
              <a:spcBef>
                <a:spcPts val="0"/>
              </a:spcBef>
              <a:spcAft>
                <a:spcPts val="0"/>
              </a:spcAft>
              <a:buSzPts val="1500"/>
              <a:buNone/>
            </a:pPr>
            <a:r>
              <a:rPr b="0" i="0" lang="en-US" sz="2000" u="none">
                <a:solidFill>
                  <a:schemeClr val="lt1"/>
                </a:solidFill>
                <a:latin typeface="Quattrocento Sans"/>
                <a:ea typeface="Quattrocento Sans"/>
                <a:cs typeface="Quattrocento Sans"/>
                <a:sym typeface="Quattrocento Sans"/>
              </a:rPr>
              <a:t>Цель нашей классификации состоит в том чтобы понять к какому классу принадлежит документ, поэтому нам нужна не сама вероятность, а наиболее вероятный класс.</a:t>
            </a:r>
            <a:endParaRPr/>
          </a:p>
          <a:p>
            <a:pPr indent="0" lvl="1" marL="92075" rtl="0" algn="l">
              <a:lnSpc>
                <a:spcPct val="85000"/>
              </a:lnSpc>
              <a:spcBef>
                <a:spcPts val="0"/>
              </a:spcBef>
              <a:spcAft>
                <a:spcPts val="0"/>
              </a:spcAft>
              <a:buSzPts val="1500"/>
              <a:buNone/>
            </a:pPr>
            <a:r>
              <a:t/>
            </a:r>
            <a:endParaRPr b="0" i="0" sz="2000" u="none">
              <a:solidFill>
                <a:schemeClr val="lt1"/>
              </a:solidFill>
              <a:latin typeface="Quattrocento Sans"/>
              <a:ea typeface="Quattrocento Sans"/>
              <a:cs typeface="Quattrocento Sans"/>
              <a:sym typeface="Quattrocento Sans"/>
            </a:endParaRPr>
          </a:p>
          <a:p>
            <a:pPr indent="0" lvl="1" marL="92075" rtl="0" algn="l">
              <a:lnSpc>
                <a:spcPct val="85000"/>
              </a:lnSpc>
              <a:spcBef>
                <a:spcPts val="0"/>
              </a:spcBef>
              <a:spcAft>
                <a:spcPts val="0"/>
              </a:spcAft>
              <a:buSzPts val="1500"/>
              <a:buNone/>
            </a:pPr>
            <a:r>
              <a:t/>
            </a:r>
            <a:endParaRPr b="0" i="0" sz="2000" u="none">
              <a:solidFill>
                <a:schemeClr val="lt1"/>
              </a:solidFill>
              <a:latin typeface="Quattrocento Sans"/>
              <a:ea typeface="Quattrocento Sans"/>
              <a:cs typeface="Quattrocento Sans"/>
              <a:sym typeface="Quattrocento Sans"/>
            </a:endParaRPr>
          </a:p>
          <a:p>
            <a:pPr indent="0" lvl="1" marL="92075" rtl="0" algn="l">
              <a:lnSpc>
                <a:spcPct val="85000"/>
              </a:lnSpc>
              <a:spcBef>
                <a:spcPts val="0"/>
              </a:spcBef>
              <a:spcAft>
                <a:spcPts val="0"/>
              </a:spcAft>
              <a:buSzPts val="1500"/>
              <a:buNone/>
            </a:pPr>
            <a:r>
              <a:t/>
            </a:r>
            <a:endParaRPr b="0" i="0" sz="2000" u="none">
              <a:solidFill>
                <a:schemeClr val="lt1"/>
              </a:solidFill>
              <a:latin typeface="Quattrocento Sans"/>
              <a:ea typeface="Quattrocento Sans"/>
              <a:cs typeface="Quattrocento Sans"/>
              <a:sym typeface="Quattrocento Sans"/>
            </a:endParaRPr>
          </a:p>
          <a:p>
            <a:pPr indent="0" lvl="1" marL="92075" rtl="0" algn="l">
              <a:lnSpc>
                <a:spcPct val="85000"/>
              </a:lnSpc>
              <a:spcBef>
                <a:spcPts val="0"/>
              </a:spcBef>
              <a:spcAft>
                <a:spcPts val="0"/>
              </a:spcAft>
              <a:buSzPts val="1500"/>
              <a:buNone/>
            </a:pPr>
            <a:r>
              <a:rPr b="0" i="0" lang="en-US" sz="2000" u="none">
                <a:solidFill>
                  <a:schemeClr val="lt1"/>
                </a:solidFill>
                <a:latin typeface="Quattrocento Sans"/>
                <a:ea typeface="Quattrocento Sans"/>
                <a:cs typeface="Quattrocento Sans"/>
                <a:sym typeface="Quattrocento Sans"/>
              </a:rPr>
              <a:t>Обратите внимание, знаменатель (вероятность документа) является константой и никак не может повлиять на ранжирование классов, поэтому в нашей задаче мы можем его игнорировать.</a:t>
            </a:r>
            <a:endParaRPr/>
          </a:p>
          <a:p>
            <a:pPr indent="0" lvl="1" marL="92075" rtl="0" algn="l">
              <a:lnSpc>
                <a:spcPct val="85000"/>
              </a:lnSpc>
              <a:spcBef>
                <a:spcPts val="0"/>
              </a:spcBef>
              <a:spcAft>
                <a:spcPts val="0"/>
              </a:spcAft>
              <a:buSzPts val="1500"/>
              <a:buNone/>
            </a:pPr>
            <a:r>
              <a:t/>
            </a:r>
            <a:endParaRPr b="0" i="0" sz="2000" u="none">
              <a:solidFill>
                <a:schemeClr val="lt1"/>
              </a:solidFill>
              <a:latin typeface="Quattrocento Sans"/>
              <a:ea typeface="Quattrocento Sans"/>
              <a:cs typeface="Quattrocento Sans"/>
              <a:sym typeface="Quattrocento Sans"/>
            </a:endParaRPr>
          </a:p>
          <a:p>
            <a:pPr indent="0" lvl="1" marL="92075" rtl="0" algn="l">
              <a:lnSpc>
                <a:spcPct val="85000"/>
              </a:lnSpc>
              <a:spcBef>
                <a:spcPts val="0"/>
              </a:spcBef>
              <a:spcAft>
                <a:spcPts val="0"/>
              </a:spcAft>
              <a:buSzPts val="1500"/>
              <a:buNone/>
            </a:pPr>
            <a:r>
              <a:t/>
            </a:r>
            <a:endParaRPr b="0" i="0" sz="2000" u="none">
              <a:solidFill>
                <a:schemeClr val="lt1"/>
              </a:solidFill>
              <a:latin typeface="Quattrocento Sans"/>
              <a:ea typeface="Quattrocento Sans"/>
              <a:cs typeface="Quattrocento Sans"/>
              <a:sym typeface="Quattrocento Sans"/>
            </a:endParaRPr>
          </a:p>
          <a:p>
            <a:pPr indent="0" lvl="1" marL="92075" rtl="0" algn="l">
              <a:lnSpc>
                <a:spcPct val="85000"/>
              </a:lnSpc>
              <a:spcBef>
                <a:spcPts val="0"/>
              </a:spcBef>
              <a:spcAft>
                <a:spcPts val="0"/>
              </a:spcAft>
              <a:buSzPts val="1500"/>
              <a:buNone/>
            </a:pPr>
            <a:r>
              <a:rPr b="0" i="0" lang="en-US" sz="2000" u="none">
                <a:solidFill>
                  <a:schemeClr val="lt1"/>
                </a:solidFill>
                <a:latin typeface="Quattrocento Sans"/>
                <a:ea typeface="Quattrocento Sans"/>
                <a:cs typeface="Quattrocento Sans"/>
                <a:sym typeface="Quattrocento Sans"/>
              </a:rPr>
              <a:t>Байесовский классификатор представляет документ как набор слов вероятности которых условно не зависят друг от друга. Этот подход иногда еще называется </a:t>
            </a:r>
            <a:r>
              <a:rPr b="0" i="0" lang="en-US" sz="2000" u="sng">
                <a:solidFill>
                  <a:schemeClr val="lt1"/>
                </a:solidFill>
                <a:hlinkClick r:id="rId3">
                  <a:extLst>
                    <a:ext uri="{A12FA001-AC4F-418D-AE19-62706E023703}">
                      <ahyp:hlinkClr val="tx"/>
                    </a:ext>
                  </a:extLst>
                </a:hlinkClick>
              </a:rPr>
              <a:t>bag of words model</a:t>
            </a:r>
            <a:r>
              <a:rPr b="0" i="0" lang="en-US" sz="2000" u="none">
                <a:solidFill>
                  <a:schemeClr val="lt1"/>
                </a:solidFill>
                <a:latin typeface="Quattrocento Sans"/>
                <a:ea typeface="Quattrocento Sans"/>
                <a:cs typeface="Quattrocento Sans"/>
                <a:sym typeface="Quattrocento Sans"/>
              </a:rPr>
              <a:t>. Исходя из этого предположения условная вероятность документа аппроксимируется произведением условных вероятностей всех слов входящих в документ.</a:t>
            </a:r>
            <a:endParaRPr/>
          </a:p>
        </p:txBody>
      </p:sp>
      <p:pic>
        <p:nvPicPr>
          <p:cNvPr id="337" name="Google Shape;337;p29"/>
          <p:cNvPicPr preferRelativeResize="0"/>
          <p:nvPr/>
        </p:nvPicPr>
        <p:blipFill rotWithShape="1">
          <a:blip r:embed="rId4">
            <a:alphaModFix/>
          </a:blip>
          <a:srcRect b="0" l="0" r="0" t="0"/>
          <a:stretch/>
        </p:blipFill>
        <p:spPr>
          <a:xfrm>
            <a:off x="3073400" y="1901825"/>
            <a:ext cx="2381250" cy="657225"/>
          </a:xfrm>
          <a:prstGeom prst="rect">
            <a:avLst/>
          </a:prstGeom>
          <a:noFill/>
          <a:ln>
            <a:noFill/>
          </a:ln>
        </p:spPr>
      </p:pic>
      <p:pic>
        <p:nvPicPr>
          <p:cNvPr id="338" name="Google Shape;338;p29"/>
          <p:cNvPicPr preferRelativeResize="0"/>
          <p:nvPr/>
        </p:nvPicPr>
        <p:blipFill rotWithShape="1">
          <a:blip r:embed="rId5">
            <a:alphaModFix/>
          </a:blip>
          <a:srcRect b="0" l="0" r="0" t="0"/>
          <a:stretch/>
        </p:blipFill>
        <p:spPr>
          <a:xfrm>
            <a:off x="3198812" y="3378200"/>
            <a:ext cx="2343150" cy="438150"/>
          </a:xfrm>
          <a:prstGeom prst="rect">
            <a:avLst/>
          </a:prstGeom>
          <a:noFill/>
          <a:ln>
            <a:noFill/>
          </a:ln>
        </p:spPr>
      </p:pic>
      <p:pic>
        <p:nvPicPr>
          <p:cNvPr id="339" name="Google Shape;339;p29"/>
          <p:cNvPicPr preferRelativeResize="0"/>
          <p:nvPr/>
        </p:nvPicPr>
        <p:blipFill rotWithShape="1">
          <a:blip r:embed="rId6">
            <a:alphaModFix/>
          </a:blip>
          <a:srcRect b="0" l="0" r="0" t="0"/>
          <a:stretch/>
        </p:blipFill>
        <p:spPr>
          <a:xfrm>
            <a:off x="2500312" y="5694362"/>
            <a:ext cx="4152900" cy="514350"/>
          </a:xfrm>
          <a:prstGeom prst="rect">
            <a:avLst/>
          </a:prstGeom>
          <a:noFill/>
          <a:ln>
            <a:noFill/>
          </a:ln>
        </p:spPr>
      </p:pic>
      <p:sp>
        <p:nvSpPr>
          <p:cNvPr id="340" name="Google Shape;340;p29"/>
          <p:cNvSpPr txBox="1"/>
          <p:nvPr/>
        </p:nvSpPr>
        <p:spPr>
          <a:xfrm>
            <a:off x="5692775" y="2046287"/>
            <a:ext cx="47148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Quattrocento Sans"/>
              <a:buNone/>
            </a:pPr>
            <a:r>
              <a:rPr b="1" i="0" lang="en-US" sz="1800" u="none">
                <a:solidFill>
                  <a:schemeClr val="lt1"/>
                </a:solidFill>
                <a:latin typeface="Quattrocento Sans"/>
                <a:ea typeface="Quattrocento Sans"/>
                <a:cs typeface="Quattrocento Sans"/>
                <a:sym typeface="Quattrocento Sans"/>
              </a:rPr>
              <a:t>(2)</a:t>
            </a:r>
            <a:endParaRPr/>
          </a:p>
        </p:txBody>
      </p:sp>
      <p:sp>
        <p:nvSpPr>
          <p:cNvPr id="341" name="Google Shape;341;p29"/>
          <p:cNvSpPr txBox="1"/>
          <p:nvPr/>
        </p:nvSpPr>
        <p:spPr>
          <a:xfrm>
            <a:off x="5692775" y="3378200"/>
            <a:ext cx="47148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Quattrocento Sans"/>
              <a:buNone/>
            </a:pPr>
            <a:r>
              <a:rPr b="1" i="0" lang="en-US" sz="1800" u="none">
                <a:solidFill>
                  <a:schemeClr val="lt1"/>
                </a:solidFill>
                <a:latin typeface="Quattrocento Sans"/>
                <a:ea typeface="Quattrocento Sans"/>
                <a:cs typeface="Quattrocento Sans"/>
                <a:sym typeface="Quattrocento Sans"/>
              </a:rPr>
              <a:t>(3)</a:t>
            </a:r>
            <a:endParaRPr/>
          </a:p>
        </p:txBody>
      </p:sp>
      <p:sp>
        <p:nvSpPr>
          <p:cNvPr id="342" name="Google Shape;342;p29"/>
          <p:cNvSpPr txBox="1"/>
          <p:nvPr/>
        </p:nvSpPr>
        <p:spPr>
          <a:xfrm>
            <a:off x="6711950" y="5767387"/>
            <a:ext cx="473075"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Quattrocento Sans"/>
              <a:buNone/>
            </a:pPr>
            <a:r>
              <a:rPr b="1" i="0" lang="en-US" sz="1800" u="none">
                <a:solidFill>
                  <a:schemeClr val="lt1"/>
                </a:solidFill>
                <a:latin typeface="Quattrocento Sans"/>
                <a:ea typeface="Quattrocento Sans"/>
                <a:cs typeface="Quattrocento Sans"/>
                <a:sym typeface="Quattrocento Sans"/>
              </a:rPr>
              <a:t>(4)</a:t>
            </a:r>
            <a:endParaRPr/>
          </a:p>
        </p:txBody>
      </p:sp>
    </p:spTree>
  </p:cSld>
  <p:clrMapOvr>
    <a:masterClrMapping/>
  </p:clrMapOvr>
  <p:transition spd="slow">
    <p:fade/>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0"/>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Наивный Байесовский метод</a:t>
            </a:r>
            <a:endParaRPr/>
          </a:p>
        </p:txBody>
      </p:sp>
      <p:sp>
        <p:nvSpPr>
          <p:cNvPr id="348" name="Google Shape;348;p30"/>
          <p:cNvSpPr txBox="1"/>
          <p:nvPr>
            <p:ph idx="1" type="body"/>
          </p:nvPr>
        </p:nvSpPr>
        <p:spPr>
          <a:xfrm>
            <a:off x="390525" y="973137"/>
            <a:ext cx="8372475" cy="5164137"/>
          </a:xfrm>
          <a:prstGeom prst="rect">
            <a:avLst/>
          </a:prstGeom>
          <a:no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SzPts val="1760"/>
              <a:buNone/>
            </a:pPr>
            <a:r>
              <a:rPr b="0" i="0" lang="en-US" sz="2200" u="none">
                <a:solidFill>
                  <a:schemeClr val="lt1"/>
                </a:solidFill>
                <a:latin typeface="Quattrocento Sans"/>
                <a:ea typeface="Quattrocento Sans"/>
                <a:cs typeface="Quattrocento Sans"/>
                <a:sym typeface="Quattrocento Sans"/>
              </a:rPr>
              <a:t>Подставив полученное выражение в формулу №3, получим:</a:t>
            </a:r>
            <a:endParaRPr/>
          </a:p>
          <a:p>
            <a:pPr indent="0" lvl="1" marL="92075" rtl="0" algn="l">
              <a:lnSpc>
                <a:spcPct val="85000"/>
              </a:lnSpc>
              <a:spcBef>
                <a:spcPts val="0"/>
              </a:spcBef>
              <a:spcAft>
                <a:spcPts val="0"/>
              </a:spcAft>
              <a:buSzPts val="1800"/>
              <a:buNone/>
            </a:pPr>
            <a:r>
              <a:t/>
            </a:r>
            <a:endParaRPr b="0" i="0" sz="2400" u="none">
              <a:solidFill>
                <a:schemeClr val="lt1"/>
              </a:solidFill>
              <a:latin typeface="Quattrocento Sans"/>
              <a:ea typeface="Quattrocento Sans"/>
              <a:cs typeface="Quattrocento Sans"/>
              <a:sym typeface="Quattrocento Sans"/>
            </a:endParaRPr>
          </a:p>
          <a:p>
            <a:pPr indent="0" lvl="1" marL="92075" rtl="0" algn="l">
              <a:lnSpc>
                <a:spcPct val="85000"/>
              </a:lnSpc>
              <a:spcBef>
                <a:spcPts val="0"/>
              </a:spcBef>
              <a:spcAft>
                <a:spcPts val="0"/>
              </a:spcAft>
              <a:buSzPts val="1800"/>
              <a:buNone/>
            </a:pPr>
            <a:r>
              <a:t/>
            </a:r>
            <a:endParaRPr b="0" i="0" sz="2400" u="none">
              <a:solidFill>
                <a:schemeClr val="lt1"/>
              </a:solidFill>
              <a:latin typeface="Quattrocento Sans"/>
              <a:ea typeface="Quattrocento Sans"/>
              <a:cs typeface="Quattrocento Sans"/>
              <a:sym typeface="Quattrocento Sans"/>
            </a:endParaRPr>
          </a:p>
          <a:p>
            <a:pPr indent="0" lvl="1" marL="92075" rtl="0" algn="l">
              <a:lnSpc>
                <a:spcPct val="85000"/>
              </a:lnSpc>
              <a:spcBef>
                <a:spcPts val="0"/>
              </a:spcBef>
              <a:spcAft>
                <a:spcPts val="0"/>
              </a:spcAft>
              <a:buSzPts val="1800"/>
              <a:buNone/>
            </a:pPr>
            <a:r>
              <a:t/>
            </a:r>
            <a:endParaRPr b="0" i="0" sz="2400" u="none">
              <a:solidFill>
                <a:schemeClr val="lt1"/>
              </a:solidFill>
              <a:latin typeface="Quattrocento Sans"/>
              <a:ea typeface="Quattrocento Sans"/>
              <a:cs typeface="Quattrocento Sans"/>
              <a:sym typeface="Quattrocento Sans"/>
            </a:endParaRPr>
          </a:p>
          <a:p>
            <a:pPr indent="-95250" lvl="1" marL="92075" rtl="0" algn="l">
              <a:lnSpc>
                <a:spcPct val="85000"/>
              </a:lnSpc>
              <a:spcBef>
                <a:spcPts val="500"/>
              </a:spcBef>
              <a:spcAft>
                <a:spcPts val="0"/>
              </a:spcAft>
              <a:buSzPts val="1500"/>
              <a:buChar char="•"/>
            </a:pPr>
            <a:r>
              <a:rPr b="0" i="0" lang="en-US" sz="2000" u="none">
                <a:solidFill>
                  <a:schemeClr val="lt1"/>
                </a:solidFill>
                <a:latin typeface="Arial"/>
                <a:ea typeface="Arial"/>
                <a:cs typeface="Arial"/>
                <a:sym typeface="Arial"/>
              </a:rPr>
              <a:t>При достаточно большой длине документа придется перемножать большое количество очень маленьких чисел. Для того чтобы при этом избежать </a:t>
            </a:r>
            <a:r>
              <a:rPr b="0" i="0" lang="en-US" sz="2000" u="sng">
                <a:solidFill>
                  <a:schemeClr val="lt1"/>
                </a:solidFill>
                <a:hlinkClick r:id="rId3">
                  <a:extLst>
                    <a:ext uri="{A12FA001-AC4F-418D-AE19-62706E023703}">
                      <ahyp:hlinkClr val="tx"/>
                    </a:ext>
                  </a:extLst>
                </a:hlinkClick>
              </a:rPr>
              <a:t>арифметического переполнения снизу</a:t>
            </a:r>
            <a:r>
              <a:rPr b="0" i="0" lang="en-US" sz="2000" u="none">
                <a:solidFill>
                  <a:schemeClr val="lt1"/>
                </a:solidFill>
                <a:latin typeface="Arial"/>
                <a:ea typeface="Arial"/>
                <a:cs typeface="Arial"/>
                <a:sym typeface="Arial"/>
              </a:rPr>
              <a:t> зачастую пользуются свойством логарифма произведения </a:t>
            </a:r>
            <a:r>
              <a:rPr b="1" i="1" lang="en-US" sz="2000" u="none">
                <a:solidFill>
                  <a:schemeClr val="lt1"/>
                </a:solidFill>
                <a:latin typeface="Arial"/>
                <a:ea typeface="Arial"/>
                <a:cs typeface="Arial"/>
                <a:sym typeface="Arial"/>
              </a:rPr>
              <a:t>log(ab)=log(a)+log(b). </a:t>
            </a:r>
            <a:endParaRPr/>
          </a:p>
          <a:p>
            <a:pPr indent="-95250" lvl="1" marL="92075" rtl="0" algn="l">
              <a:lnSpc>
                <a:spcPct val="85000"/>
              </a:lnSpc>
              <a:spcBef>
                <a:spcPts val="500"/>
              </a:spcBef>
              <a:spcAft>
                <a:spcPts val="0"/>
              </a:spcAft>
              <a:buSzPts val="1500"/>
              <a:buChar char="•"/>
            </a:pPr>
            <a:r>
              <a:rPr b="0" i="0" lang="en-US" sz="2000" u="none">
                <a:solidFill>
                  <a:schemeClr val="lt1"/>
                </a:solidFill>
                <a:latin typeface="Arial"/>
                <a:ea typeface="Arial"/>
                <a:cs typeface="Arial"/>
                <a:sym typeface="Arial"/>
              </a:rPr>
              <a:t>Так как логарифм - функция монотонная, ее применение к обоим частям выражения изменит только его численное значение, но не параметры при которых достигается максимум. При этом, логарифм от числа близкого к нулю будет числом отрицательным, но в абсолютном значении существенно большим чем исходное число, что делает логарифмические значения вероятностей более удобными для анализа. Поэтому, мы переписываем нашу формулу с использованием логарифма. </a:t>
            </a:r>
            <a:endParaRPr/>
          </a:p>
          <a:p>
            <a:pPr indent="-233363" lvl="0" marL="334963" rtl="0" algn="l">
              <a:lnSpc>
                <a:spcPct val="85000"/>
              </a:lnSpc>
              <a:spcBef>
                <a:spcPts val="500"/>
              </a:spcBef>
              <a:spcAft>
                <a:spcPts val="0"/>
              </a:spcAft>
              <a:buSzPts val="1600"/>
              <a:buNone/>
            </a:pPr>
            <a:r>
              <a:t/>
            </a:r>
            <a:endParaRPr b="0" i="0" sz="2000" u="none">
              <a:solidFill>
                <a:schemeClr val="lt1"/>
              </a:solidFill>
              <a:latin typeface="Arial"/>
              <a:ea typeface="Arial"/>
              <a:cs typeface="Arial"/>
              <a:sym typeface="Arial"/>
            </a:endParaRPr>
          </a:p>
        </p:txBody>
      </p:sp>
      <p:sp>
        <p:nvSpPr>
          <p:cNvPr id="349" name="Google Shape;349;p30"/>
          <p:cNvSpPr txBox="1"/>
          <p:nvPr/>
        </p:nvSpPr>
        <p:spPr>
          <a:xfrm>
            <a:off x="5959475" y="1557337"/>
            <a:ext cx="47148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Quattrocento Sans"/>
              <a:buNone/>
            </a:pPr>
            <a:r>
              <a:rPr b="1" i="0" lang="en-US" sz="1800" u="none">
                <a:solidFill>
                  <a:schemeClr val="lt1"/>
                </a:solidFill>
                <a:latin typeface="Quattrocento Sans"/>
                <a:ea typeface="Quattrocento Sans"/>
                <a:cs typeface="Quattrocento Sans"/>
                <a:sym typeface="Quattrocento Sans"/>
              </a:rPr>
              <a:t>(4)</a:t>
            </a:r>
            <a:endParaRPr/>
          </a:p>
        </p:txBody>
      </p:sp>
      <p:sp>
        <p:nvSpPr>
          <p:cNvPr id="350" name="Google Shape;350;p30"/>
          <p:cNvSpPr txBox="1"/>
          <p:nvPr/>
        </p:nvSpPr>
        <p:spPr>
          <a:xfrm>
            <a:off x="6430962" y="5853112"/>
            <a:ext cx="473075" cy="371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Quattrocento Sans"/>
              <a:buNone/>
            </a:pPr>
            <a:r>
              <a:rPr b="1" i="0" lang="en-US" sz="1800" u="none">
                <a:solidFill>
                  <a:schemeClr val="lt1"/>
                </a:solidFill>
                <a:latin typeface="Quattrocento Sans"/>
                <a:ea typeface="Quattrocento Sans"/>
                <a:cs typeface="Quattrocento Sans"/>
                <a:sym typeface="Quattrocento Sans"/>
              </a:rPr>
              <a:t>(5)</a:t>
            </a:r>
            <a:endParaRPr/>
          </a:p>
        </p:txBody>
      </p:sp>
      <p:pic>
        <p:nvPicPr>
          <p:cNvPr id="351" name="Google Shape;351;p30"/>
          <p:cNvPicPr preferRelativeResize="0"/>
          <p:nvPr/>
        </p:nvPicPr>
        <p:blipFill rotWithShape="1">
          <a:blip r:embed="rId4">
            <a:alphaModFix/>
          </a:blip>
          <a:srcRect b="0" l="0" r="0" t="0"/>
          <a:stretch/>
        </p:blipFill>
        <p:spPr>
          <a:xfrm>
            <a:off x="2967037" y="1412875"/>
            <a:ext cx="2857500" cy="657225"/>
          </a:xfrm>
          <a:prstGeom prst="rect">
            <a:avLst/>
          </a:prstGeom>
          <a:noFill/>
          <a:ln>
            <a:noFill/>
          </a:ln>
        </p:spPr>
      </p:pic>
      <p:pic>
        <p:nvPicPr>
          <p:cNvPr id="352" name="Google Shape;352;p30"/>
          <p:cNvPicPr preferRelativeResize="0"/>
          <p:nvPr/>
        </p:nvPicPr>
        <p:blipFill rotWithShape="1">
          <a:blip r:embed="rId5">
            <a:alphaModFix/>
          </a:blip>
          <a:srcRect b="0" l="0" r="0" t="0"/>
          <a:stretch/>
        </p:blipFill>
        <p:spPr>
          <a:xfrm>
            <a:off x="2590800" y="5662612"/>
            <a:ext cx="3609975" cy="752475"/>
          </a:xfrm>
          <a:prstGeom prst="rect">
            <a:avLst/>
          </a:prstGeom>
          <a:noFill/>
          <a:ln>
            <a:noFill/>
          </a:ln>
        </p:spPr>
      </p:pic>
      <p:sp>
        <p:nvSpPr>
          <p:cNvPr id="353" name="Google Shape;353;p30"/>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1"/>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Наивный Байесовский метод</a:t>
            </a:r>
            <a:endParaRPr/>
          </a:p>
        </p:txBody>
      </p:sp>
      <p:sp>
        <p:nvSpPr>
          <p:cNvPr id="360" name="Google Shape;360;p31"/>
          <p:cNvSpPr txBox="1"/>
          <p:nvPr>
            <p:ph idx="1" type="body"/>
          </p:nvPr>
        </p:nvSpPr>
        <p:spPr>
          <a:xfrm>
            <a:off x="80962" y="989012"/>
            <a:ext cx="8753475" cy="4899025"/>
          </a:xfrm>
          <a:prstGeom prst="rect">
            <a:avLst/>
          </a:prstGeom>
          <a:noFill/>
          <a:ln>
            <a:noFill/>
          </a:ln>
        </p:spPr>
        <p:txBody>
          <a:bodyPr anchorCtr="0" anchor="t" bIns="45700" lIns="91425" spcFirstLastPara="1" rIns="91425" wrap="square" tIns="45700">
            <a:spAutoFit/>
          </a:bodyPr>
          <a:lstStyle/>
          <a:p>
            <a:pPr indent="-182561" lvl="1" marL="274637" rtl="0" algn="l">
              <a:lnSpc>
                <a:spcPct val="85000"/>
              </a:lnSpc>
              <a:spcBef>
                <a:spcPts val="0"/>
              </a:spcBef>
              <a:spcAft>
                <a:spcPts val="0"/>
              </a:spcAft>
              <a:buSzPts val="1500"/>
              <a:buChar char="•"/>
            </a:pPr>
            <a:r>
              <a:rPr b="0" i="0" lang="en-US" sz="2000" u="none">
                <a:solidFill>
                  <a:schemeClr val="lt1"/>
                </a:solidFill>
                <a:latin typeface="Quattrocento Sans"/>
                <a:ea typeface="Quattrocento Sans"/>
                <a:cs typeface="Quattrocento Sans"/>
                <a:sym typeface="Quattrocento Sans"/>
              </a:rPr>
              <a:t>Оценка вероятности слова в классе может делаться несколькими путями. Здесь приведена multinomial bayes model.</a:t>
            </a:r>
            <a:endParaRPr/>
          </a:p>
          <a:p>
            <a:pPr indent="-87311" lvl="1" marL="274637" rtl="0" algn="l">
              <a:lnSpc>
                <a:spcPct val="85000"/>
              </a:lnSpc>
              <a:spcBef>
                <a:spcPts val="500"/>
              </a:spcBef>
              <a:spcAft>
                <a:spcPts val="0"/>
              </a:spcAft>
              <a:buSzPts val="1500"/>
              <a:buNone/>
            </a:pPr>
            <a:r>
              <a:t/>
            </a:r>
            <a:endParaRPr b="0" i="0" sz="2000" u="none">
              <a:solidFill>
                <a:schemeClr val="lt1"/>
              </a:solidFill>
              <a:latin typeface="Quattrocento Sans"/>
              <a:ea typeface="Quattrocento Sans"/>
              <a:cs typeface="Quattrocento Sans"/>
              <a:sym typeface="Quattrocento Sans"/>
            </a:endParaRPr>
          </a:p>
          <a:p>
            <a:pPr indent="-87311" lvl="1" marL="274637" rtl="0" algn="l">
              <a:lnSpc>
                <a:spcPct val="85000"/>
              </a:lnSpc>
              <a:spcBef>
                <a:spcPts val="500"/>
              </a:spcBef>
              <a:spcAft>
                <a:spcPts val="0"/>
              </a:spcAft>
              <a:buSzPts val="1500"/>
              <a:buNone/>
            </a:pPr>
            <a:r>
              <a:t/>
            </a:r>
            <a:endParaRPr b="0" i="0" sz="2000" u="none">
              <a:solidFill>
                <a:schemeClr val="lt1"/>
              </a:solidFill>
              <a:latin typeface="Quattrocento Sans"/>
              <a:ea typeface="Quattrocento Sans"/>
              <a:cs typeface="Quattrocento Sans"/>
              <a:sym typeface="Quattrocento Sans"/>
            </a:endParaRPr>
          </a:p>
          <a:p>
            <a:pPr indent="-334962" lvl="0" marL="334962" rtl="0" algn="l">
              <a:lnSpc>
                <a:spcPct val="100000"/>
              </a:lnSpc>
              <a:spcBef>
                <a:spcPts val="0"/>
              </a:spcBef>
              <a:spcAft>
                <a:spcPts val="0"/>
              </a:spcAft>
              <a:buSzPts val="1440"/>
              <a:buFont typeface="Arial"/>
              <a:buChar char="•"/>
            </a:pPr>
            <a:r>
              <a:rPr b="1" i="1" lang="en-US" sz="1800" u="none">
                <a:solidFill>
                  <a:srgbClr val="FFC000"/>
                </a:solidFill>
                <a:latin typeface="Arial"/>
                <a:ea typeface="Arial"/>
                <a:cs typeface="Arial"/>
                <a:sym typeface="Arial"/>
              </a:rPr>
              <a:t>W</a:t>
            </a:r>
            <a:r>
              <a:rPr b="1" baseline="-25000" i="1" lang="en-US" sz="1800" u="none">
                <a:solidFill>
                  <a:srgbClr val="FFC000"/>
                </a:solidFill>
                <a:latin typeface="Arial"/>
                <a:ea typeface="Arial"/>
                <a:cs typeface="Arial"/>
                <a:sym typeface="Arial"/>
              </a:rPr>
              <a:t>ic</a:t>
            </a:r>
            <a:r>
              <a:rPr b="1" i="0" lang="en-US" sz="1800" u="none">
                <a:solidFill>
                  <a:srgbClr val="FFC000"/>
                </a:solidFill>
                <a:latin typeface="Quattrocento Sans"/>
                <a:ea typeface="Quattrocento Sans"/>
                <a:cs typeface="Quattrocento Sans"/>
                <a:sym typeface="Quattrocento Sans"/>
              </a:rPr>
              <a:t> </a:t>
            </a:r>
            <a:r>
              <a:rPr b="0" i="0" lang="en-US" sz="1800" u="none">
                <a:solidFill>
                  <a:schemeClr val="lt1"/>
                </a:solidFill>
                <a:latin typeface="Quattrocento Sans"/>
                <a:ea typeface="Quattrocento Sans"/>
                <a:cs typeface="Quattrocento Sans"/>
                <a:sym typeface="Quattrocento Sans"/>
              </a:rPr>
              <a:t>— количество раз сколько </a:t>
            </a:r>
            <a:r>
              <a:rPr b="1" i="1" lang="en-US" sz="1800" u="none">
                <a:solidFill>
                  <a:srgbClr val="FFC000"/>
                </a:solidFill>
                <a:latin typeface="Arial"/>
                <a:ea typeface="Arial"/>
                <a:cs typeface="Arial"/>
                <a:sym typeface="Arial"/>
              </a:rPr>
              <a:t>i-</a:t>
            </a:r>
            <a:r>
              <a:rPr b="0" i="0" lang="en-US" sz="1800" u="none">
                <a:solidFill>
                  <a:schemeClr val="lt1"/>
                </a:solidFill>
                <a:latin typeface="Quattrocento Sans"/>
                <a:ea typeface="Quattrocento Sans"/>
                <a:cs typeface="Quattrocento Sans"/>
                <a:sym typeface="Quattrocento Sans"/>
              </a:rPr>
              <a:t>ое слово встречается в документах класса </a:t>
            </a:r>
            <a:r>
              <a:rPr b="1" i="1" lang="en-US" sz="1800" u="none">
                <a:solidFill>
                  <a:srgbClr val="FFC000"/>
                </a:solidFill>
                <a:latin typeface="Arial"/>
                <a:ea typeface="Arial"/>
                <a:cs typeface="Arial"/>
                <a:sym typeface="Arial"/>
              </a:rPr>
              <a:t>c</a:t>
            </a:r>
            <a:r>
              <a:rPr b="0" i="0" lang="en-US" sz="1800" u="none">
                <a:solidFill>
                  <a:schemeClr val="lt1"/>
                </a:solidFill>
                <a:latin typeface="Quattrocento Sans"/>
                <a:ea typeface="Quattrocento Sans"/>
                <a:cs typeface="Quattrocento Sans"/>
                <a:sym typeface="Quattrocento Sans"/>
              </a:rPr>
              <a:t>; </a:t>
            </a:r>
            <a:endParaRPr/>
          </a:p>
          <a:p>
            <a:pPr indent="-334962" lvl="0" marL="334962" rtl="0" algn="l">
              <a:lnSpc>
                <a:spcPct val="100000"/>
              </a:lnSpc>
              <a:spcBef>
                <a:spcPts val="0"/>
              </a:spcBef>
              <a:spcAft>
                <a:spcPts val="0"/>
              </a:spcAft>
              <a:buSzPts val="1440"/>
              <a:buFont typeface="Arial"/>
              <a:buChar char="•"/>
            </a:pPr>
            <a:r>
              <a:rPr b="1" i="1" lang="en-US" sz="1800" u="none">
                <a:solidFill>
                  <a:srgbClr val="FFC000"/>
                </a:solidFill>
                <a:latin typeface="Arial"/>
                <a:ea typeface="Arial"/>
                <a:cs typeface="Arial"/>
                <a:sym typeface="Arial"/>
              </a:rPr>
              <a:t>V </a:t>
            </a:r>
            <a:r>
              <a:rPr b="0" i="0" lang="en-US" sz="1800" u="none">
                <a:solidFill>
                  <a:schemeClr val="lt1"/>
                </a:solidFill>
                <a:latin typeface="Quattrocento Sans"/>
                <a:ea typeface="Quattrocento Sans"/>
                <a:cs typeface="Quattrocento Sans"/>
                <a:sym typeface="Quattrocento Sans"/>
              </a:rPr>
              <a:t>— словарь корпуса документов (список всех уникальных слов). </a:t>
            </a:r>
            <a:endParaRPr/>
          </a:p>
          <a:p>
            <a:pPr indent="-334962" lvl="0" marL="334962" rtl="0" algn="l">
              <a:lnSpc>
                <a:spcPct val="100000"/>
              </a:lnSpc>
              <a:spcBef>
                <a:spcPts val="0"/>
              </a:spcBef>
              <a:spcAft>
                <a:spcPts val="0"/>
              </a:spcAft>
              <a:buSzPts val="1440"/>
              <a:buNone/>
            </a:pPr>
            <a:r>
              <a:rPr b="0" i="0" lang="en-US" sz="1800" u="none">
                <a:solidFill>
                  <a:schemeClr val="lt1"/>
                </a:solidFill>
                <a:latin typeface="Quattrocento Sans"/>
                <a:ea typeface="Quattrocento Sans"/>
                <a:cs typeface="Quattrocento Sans"/>
                <a:sym typeface="Quattrocento Sans"/>
              </a:rPr>
              <a:t>Другими словами, числитель описывает сколько раз слово встречается в документах класса (включая повторы), а знаменатель – это суммарное количество слов во всех документах этого класса.</a:t>
            </a:r>
            <a:endParaRPr/>
          </a:p>
          <a:p>
            <a:pPr indent="-182561" lvl="1" marL="274637" rtl="0" algn="l">
              <a:lnSpc>
                <a:spcPct val="85000"/>
              </a:lnSpc>
              <a:spcBef>
                <a:spcPts val="500"/>
              </a:spcBef>
              <a:spcAft>
                <a:spcPts val="0"/>
              </a:spcAft>
              <a:buSzPts val="1350"/>
              <a:buChar char="•"/>
            </a:pPr>
            <a:r>
              <a:rPr b="0" i="0" lang="en-US" sz="1800" u="none">
                <a:solidFill>
                  <a:schemeClr val="lt1"/>
                </a:solidFill>
                <a:latin typeface="Quattrocento Sans"/>
                <a:ea typeface="Quattrocento Sans"/>
                <a:cs typeface="Quattrocento Sans"/>
                <a:sym typeface="Quattrocento Sans"/>
              </a:rPr>
              <a:t>С формулой (6) есть одна небольшая проблема. Если на этапе классификации нам встретится слово которого мы не видели на этапе обучения, то значения </a:t>
            </a:r>
            <a:r>
              <a:rPr b="1" i="1" lang="en-US" sz="1800" u="none">
                <a:solidFill>
                  <a:srgbClr val="FFC000"/>
                </a:solidFill>
                <a:latin typeface="Arial"/>
                <a:ea typeface="Arial"/>
                <a:cs typeface="Arial"/>
                <a:sym typeface="Arial"/>
              </a:rPr>
              <a:t>W</a:t>
            </a:r>
            <a:r>
              <a:rPr b="1" baseline="-25000" i="1" lang="en-US" sz="1800" u="none">
                <a:solidFill>
                  <a:srgbClr val="FFC000"/>
                </a:solidFill>
                <a:latin typeface="Arial"/>
                <a:ea typeface="Arial"/>
                <a:cs typeface="Arial"/>
                <a:sym typeface="Arial"/>
              </a:rPr>
              <a:t>ic</a:t>
            </a:r>
            <a:r>
              <a:rPr b="0" i="0" lang="en-US" sz="1800" u="none">
                <a:solidFill>
                  <a:schemeClr val="lt1"/>
                </a:solidFill>
                <a:latin typeface="Quattrocento Sans"/>
                <a:ea typeface="Quattrocento Sans"/>
                <a:cs typeface="Quattrocento Sans"/>
                <a:sym typeface="Quattrocento Sans"/>
              </a:rPr>
              <a:t>, а следственно и </a:t>
            </a:r>
            <a:r>
              <a:rPr b="1" i="1" lang="en-US" sz="1800" u="none">
                <a:solidFill>
                  <a:srgbClr val="FFC000"/>
                </a:solidFill>
                <a:latin typeface="Arial"/>
                <a:ea typeface="Arial"/>
                <a:cs typeface="Arial"/>
                <a:sym typeface="Arial"/>
              </a:rPr>
              <a:t>P(wi|c) </a:t>
            </a:r>
            <a:r>
              <a:rPr b="0" i="0" lang="en-US" sz="1800" u="none">
                <a:solidFill>
                  <a:schemeClr val="lt1"/>
                </a:solidFill>
                <a:latin typeface="Quattrocento Sans"/>
                <a:ea typeface="Quattrocento Sans"/>
                <a:cs typeface="Quattrocento Sans"/>
                <a:sym typeface="Quattrocento Sans"/>
              </a:rPr>
              <a:t>будут равны нулю. Это приведет к тому что документ с этим словом нельзя будет классифицировать (нулевая вероятность по всем классам). </a:t>
            </a:r>
            <a:endParaRPr/>
          </a:p>
          <a:p>
            <a:pPr indent="-182561" lvl="1" marL="274637" rtl="0" algn="l">
              <a:lnSpc>
                <a:spcPct val="85000"/>
              </a:lnSpc>
              <a:spcBef>
                <a:spcPts val="500"/>
              </a:spcBef>
              <a:spcAft>
                <a:spcPts val="0"/>
              </a:spcAft>
              <a:buSzPts val="1350"/>
              <a:buChar char="•"/>
            </a:pPr>
            <a:r>
              <a:rPr b="0" i="0" lang="en-US" sz="1800" u="none">
                <a:solidFill>
                  <a:schemeClr val="lt1"/>
                </a:solidFill>
                <a:latin typeface="Quattrocento Sans"/>
                <a:ea typeface="Quattrocento Sans"/>
                <a:cs typeface="Quattrocento Sans"/>
                <a:sym typeface="Quattrocento Sans"/>
              </a:rPr>
              <a:t>Типичным решением проблемы неизвестных слов является </a:t>
            </a:r>
            <a:r>
              <a:rPr b="0" i="0" lang="en-US" sz="1800" u="sng">
                <a:solidFill>
                  <a:schemeClr val="lt1"/>
                </a:solidFill>
                <a:hlinkClick r:id="rId3">
                  <a:extLst>
                    <a:ext uri="{A12FA001-AC4F-418D-AE19-62706E023703}">
                      <ahyp:hlinkClr val="tx"/>
                    </a:ext>
                  </a:extLst>
                </a:hlinkClick>
              </a:rPr>
              <a:t>аддитивное сглаживание</a:t>
            </a:r>
            <a:r>
              <a:rPr b="0" i="0" lang="en-US" sz="1800" u="none">
                <a:solidFill>
                  <a:schemeClr val="lt1"/>
                </a:solidFill>
                <a:latin typeface="Quattrocento Sans"/>
                <a:ea typeface="Quattrocento Sans"/>
                <a:cs typeface="Quattrocento Sans"/>
                <a:sym typeface="Quattrocento Sans"/>
              </a:rPr>
              <a:t> (сглаживание Лапласа) - мы притворяемся будто видели каждое слово на один раз больше, то есть прибавляем единицу к частоте каждого слова:</a:t>
            </a:r>
            <a:endParaRPr/>
          </a:p>
        </p:txBody>
      </p:sp>
      <p:sp>
        <p:nvSpPr>
          <p:cNvPr id="361" name="Google Shape;361;p31"/>
          <p:cNvSpPr txBox="1"/>
          <p:nvPr/>
        </p:nvSpPr>
        <p:spPr>
          <a:xfrm>
            <a:off x="5684837" y="1652587"/>
            <a:ext cx="471487"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Quattrocento Sans"/>
              <a:buNone/>
            </a:pPr>
            <a:r>
              <a:rPr b="1" i="0" lang="en-US" sz="1800" u="none">
                <a:solidFill>
                  <a:schemeClr val="lt1"/>
                </a:solidFill>
                <a:latin typeface="Quattrocento Sans"/>
                <a:ea typeface="Quattrocento Sans"/>
                <a:cs typeface="Quattrocento Sans"/>
                <a:sym typeface="Quattrocento Sans"/>
              </a:rPr>
              <a:t>(6)</a:t>
            </a:r>
            <a:endParaRPr/>
          </a:p>
        </p:txBody>
      </p:sp>
      <p:pic>
        <p:nvPicPr>
          <p:cNvPr id="362" name="Google Shape;362;p31"/>
          <p:cNvPicPr preferRelativeResize="0"/>
          <p:nvPr/>
        </p:nvPicPr>
        <p:blipFill rotWithShape="1">
          <a:blip r:embed="rId4">
            <a:alphaModFix/>
          </a:blip>
          <a:srcRect b="0" l="0" r="0" t="0"/>
          <a:stretch/>
        </p:blipFill>
        <p:spPr>
          <a:xfrm>
            <a:off x="3398837" y="1584325"/>
            <a:ext cx="2117725" cy="623887"/>
          </a:xfrm>
          <a:prstGeom prst="rect">
            <a:avLst/>
          </a:prstGeom>
          <a:noFill/>
          <a:ln>
            <a:noFill/>
          </a:ln>
        </p:spPr>
      </p:pic>
      <p:pic>
        <p:nvPicPr>
          <p:cNvPr id="363" name="Google Shape;363;p31"/>
          <p:cNvPicPr preferRelativeResize="0"/>
          <p:nvPr/>
        </p:nvPicPr>
        <p:blipFill rotWithShape="1">
          <a:blip r:embed="rId5">
            <a:alphaModFix/>
          </a:blip>
          <a:srcRect b="0" l="0" r="0" t="0"/>
          <a:stretch/>
        </p:blipFill>
        <p:spPr>
          <a:xfrm>
            <a:off x="2330450" y="5756275"/>
            <a:ext cx="4000500" cy="561975"/>
          </a:xfrm>
          <a:prstGeom prst="rect">
            <a:avLst/>
          </a:prstGeom>
          <a:noFill/>
          <a:ln>
            <a:noFill/>
          </a:ln>
        </p:spPr>
      </p:pic>
      <p:sp>
        <p:nvSpPr>
          <p:cNvPr id="364" name="Google Shape;364;p31"/>
          <p:cNvSpPr txBox="1"/>
          <p:nvPr/>
        </p:nvSpPr>
        <p:spPr>
          <a:xfrm>
            <a:off x="6548437" y="5853112"/>
            <a:ext cx="471487"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Quattrocento Sans"/>
              <a:buNone/>
            </a:pPr>
            <a:r>
              <a:rPr b="1" i="0" lang="en-US" sz="1800" u="none">
                <a:solidFill>
                  <a:schemeClr val="lt1"/>
                </a:solidFill>
                <a:latin typeface="Quattrocento Sans"/>
                <a:ea typeface="Quattrocento Sans"/>
                <a:cs typeface="Quattrocento Sans"/>
                <a:sym typeface="Quattrocento Sans"/>
              </a:rPr>
              <a:t>(7)</a:t>
            </a:r>
            <a:endParaRPr/>
          </a:p>
        </p:txBody>
      </p:sp>
      <p:sp>
        <p:nvSpPr>
          <p:cNvPr id="365" name="Google Shape;365;p31"/>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2"/>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Наивный Байесовский метод</a:t>
            </a:r>
            <a:endParaRPr/>
          </a:p>
        </p:txBody>
      </p:sp>
      <p:sp>
        <p:nvSpPr>
          <p:cNvPr id="371" name="Google Shape;371;p32"/>
          <p:cNvSpPr txBox="1"/>
          <p:nvPr>
            <p:ph idx="1" type="body"/>
          </p:nvPr>
        </p:nvSpPr>
        <p:spPr>
          <a:xfrm>
            <a:off x="200025" y="838200"/>
            <a:ext cx="8753475" cy="6026150"/>
          </a:xfrm>
          <a:prstGeom prst="rect">
            <a:avLst/>
          </a:prstGeom>
          <a:noFill/>
          <a:ln>
            <a:noFill/>
          </a:ln>
        </p:spPr>
        <p:txBody>
          <a:bodyPr anchorCtr="0" anchor="t" bIns="45700" lIns="91425" spcFirstLastPara="1" rIns="91425" wrap="square" tIns="45700">
            <a:spAutoFit/>
          </a:bodyPr>
          <a:lstStyle/>
          <a:p>
            <a:pPr indent="-182561" lvl="1" marL="274637" rtl="0" algn="l">
              <a:lnSpc>
                <a:spcPct val="85000"/>
              </a:lnSpc>
              <a:spcBef>
                <a:spcPts val="0"/>
              </a:spcBef>
              <a:spcAft>
                <a:spcPts val="0"/>
              </a:spcAft>
              <a:buSzPts val="1350"/>
              <a:buChar char="•"/>
            </a:pPr>
            <a:r>
              <a:rPr b="0" i="0" lang="en-US" sz="1800" u="none">
                <a:solidFill>
                  <a:schemeClr val="lt1"/>
                </a:solidFill>
                <a:latin typeface="Quattrocento Sans"/>
                <a:ea typeface="Quattrocento Sans"/>
                <a:cs typeface="Quattrocento Sans"/>
                <a:sym typeface="Quattrocento Sans"/>
              </a:rPr>
              <a:t>Учитывая, что  вероятность класса мы можем оценить как:                        			                        </a:t>
            </a:r>
            <a:r>
              <a:rPr b="1" i="1" lang="en-US" sz="1800" u="none">
                <a:solidFill>
                  <a:srgbClr val="FFC000"/>
                </a:solidFill>
                <a:latin typeface="Quattrocento Sans"/>
                <a:ea typeface="Quattrocento Sans"/>
                <a:cs typeface="Quattrocento Sans"/>
                <a:sym typeface="Quattrocento Sans"/>
              </a:rPr>
              <a:t>P(c)=Dc/D</a:t>
            </a:r>
            <a:endParaRPr/>
          </a:p>
          <a:p>
            <a:pPr indent="0" lvl="0" marL="0" rtl="0" algn="l">
              <a:lnSpc>
                <a:spcPct val="100000"/>
              </a:lnSpc>
              <a:spcBef>
                <a:spcPts val="0"/>
              </a:spcBef>
              <a:spcAft>
                <a:spcPts val="0"/>
              </a:spcAft>
              <a:buSzPts val="1440"/>
              <a:buNone/>
            </a:pPr>
            <a:r>
              <a:rPr b="0" i="0" lang="en-US" sz="1800" u="none">
                <a:solidFill>
                  <a:schemeClr val="lt1"/>
                </a:solidFill>
                <a:latin typeface="Quattrocento Sans"/>
                <a:ea typeface="Quattrocento Sans"/>
                <a:cs typeface="Quattrocento Sans"/>
                <a:sym typeface="Quattrocento Sans"/>
              </a:rPr>
              <a:t>   где, </a:t>
            </a:r>
            <a:r>
              <a:rPr b="1" i="1" lang="en-US" sz="1800" u="none">
                <a:solidFill>
                  <a:srgbClr val="FFC000"/>
                </a:solidFill>
                <a:latin typeface="Quattrocento Sans"/>
                <a:ea typeface="Quattrocento Sans"/>
                <a:cs typeface="Quattrocento Sans"/>
                <a:sym typeface="Quattrocento Sans"/>
              </a:rPr>
              <a:t>Dc  </a:t>
            </a:r>
            <a:r>
              <a:rPr b="0" i="0" lang="en-US" sz="1800" u="none">
                <a:solidFill>
                  <a:schemeClr val="lt1"/>
                </a:solidFill>
                <a:latin typeface="Quattrocento Sans"/>
                <a:ea typeface="Quattrocento Sans"/>
                <a:cs typeface="Quattrocento Sans"/>
                <a:sym typeface="Quattrocento Sans"/>
              </a:rPr>
              <a:t> – количество документов принадлежащих классу </a:t>
            </a:r>
            <a:r>
              <a:rPr b="1" i="1" lang="en-US" sz="1800" u="none">
                <a:solidFill>
                  <a:srgbClr val="FFC000"/>
                </a:solidFill>
                <a:latin typeface="Quattrocento Sans"/>
                <a:ea typeface="Quattrocento Sans"/>
                <a:cs typeface="Quattrocento Sans"/>
                <a:sym typeface="Quattrocento Sans"/>
              </a:rPr>
              <a:t>c</a:t>
            </a:r>
            <a:r>
              <a:rPr b="0" i="0" lang="en-US" sz="1800" u="none">
                <a:solidFill>
                  <a:schemeClr val="lt1"/>
                </a:solidFill>
                <a:latin typeface="Quattrocento Sans"/>
                <a:ea typeface="Quattrocento Sans"/>
                <a:cs typeface="Quattrocento Sans"/>
                <a:sym typeface="Quattrocento Sans"/>
              </a:rPr>
              <a:t>, а </a:t>
            </a:r>
            <a:r>
              <a:rPr b="1" i="1" lang="en-US" sz="1800" u="none">
                <a:solidFill>
                  <a:srgbClr val="FFC000"/>
                </a:solidFill>
                <a:latin typeface="Quattrocento Sans"/>
                <a:ea typeface="Quattrocento Sans"/>
                <a:cs typeface="Quattrocento Sans"/>
                <a:sym typeface="Quattrocento Sans"/>
              </a:rPr>
              <a:t>D</a:t>
            </a:r>
            <a:r>
              <a:rPr b="0" i="0" lang="en-US" sz="1800" u="none">
                <a:solidFill>
                  <a:schemeClr val="lt1"/>
                </a:solidFill>
                <a:latin typeface="Quattrocento Sans"/>
                <a:ea typeface="Quattrocento Sans"/>
                <a:cs typeface="Quattrocento Sans"/>
                <a:sym typeface="Quattrocento Sans"/>
              </a:rPr>
              <a:t> –   общее количество документов в обучающей выборке</a:t>
            </a:r>
            <a:r>
              <a:rPr b="1" i="0" lang="en-US" sz="1800" u="none">
                <a:solidFill>
                  <a:schemeClr val="lt1"/>
                </a:solidFill>
                <a:latin typeface="Quattrocento Sans"/>
                <a:ea typeface="Quattrocento Sans"/>
                <a:cs typeface="Quattrocento Sans"/>
                <a:sym typeface="Quattrocento Sans"/>
              </a:rPr>
              <a:t>,  получим  </a:t>
            </a:r>
            <a:r>
              <a:rPr b="0" i="0" lang="en-US" sz="1800" u="none">
                <a:solidFill>
                  <a:schemeClr val="lt1"/>
                </a:solidFill>
                <a:latin typeface="Quattrocento Sans"/>
                <a:ea typeface="Quattrocento Sans"/>
                <a:cs typeface="Quattrocento Sans"/>
                <a:sym typeface="Quattrocento Sans"/>
              </a:rPr>
              <a:t>окончательную</a:t>
            </a:r>
            <a:r>
              <a:rPr b="1" i="0" lang="en-US" sz="1800" u="none">
                <a:solidFill>
                  <a:schemeClr val="lt1"/>
                </a:solidFill>
                <a:latin typeface="Quattrocento Sans"/>
                <a:ea typeface="Quattrocento Sans"/>
                <a:cs typeface="Quattrocento Sans"/>
                <a:sym typeface="Quattrocento Sans"/>
              </a:rPr>
              <a:t> </a:t>
            </a:r>
            <a:r>
              <a:rPr b="0" i="0" lang="en-US" sz="1800" u="none">
                <a:solidFill>
                  <a:schemeClr val="lt1"/>
                </a:solidFill>
                <a:latin typeface="Quattrocento Sans"/>
                <a:ea typeface="Quattrocento Sans"/>
                <a:cs typeface="Quattrocento Sans"/>
                <a:sym typeface="Quattrocento Sans"/>
              </a:rPr>
              <a:t>формулу по которой происходит байесовская классификация:</a:t>
            </a:r>
            <a:endParaRPr/>
          </a:p>
          <a:p>
            <a:pPr indent="0" lvl="0" marL="0" rtl="0" algn="l">
              <a:lnSpc>
                <a:spcPct val="100000"/>
              </a:lnSpc>
              <a:spcBef>
                <a:spcPts val="0"/>
              </a:spcBef>
              <a:spcAft>
                <a:spcPts val="0"/>
              </a:spcAft>
              <a:buSzPts val="1600"/>
              <a:buNone/>
            </a:pPr>
            <a:r>
              <a:t/>
            </a:r>
            <a:endParaRPr b="0" i="0" sz="2000" u="none">
              <a:solidFill>
                <a:schemeClr val="lt1"/>
              </a:solidFill>
              <a:latin typeface="Quattrocento Sans"/>
              <a:ea typeface="Quattrocento Sans"/>
              <a:cs typeface="Quattrocento Sans"/>
              <a:sym typeface="Quattrocento Sans"/>
            </a:endParaRPr>
          </a:p>
          <a:p>
            <a:pPr indent="0" lvl="0" marL="0" rtl="0" algn="l">
              <a:lnSpc>
                <a:spcPct val="100000"/>
              </a:lnSpc>
              <a:spcBef>
                <a:spcPts val="0"/>
              </a:spcBef>
              <a:spcAft>
                <a:spcPts val="0"/>
              </a:spcAft>
              <a:buSzPts val="1600"/>
              <a:buNone/>
            </a:pPr>
            <a:r>
              <a:t/>
            </a:r>
            <a:endParaRPr b="0" i="0" sz="2000" u="none">
              <a:solidFill>
                <a:schemeClr val="lt1"/>
              </a:solidFill>
              <a:latin typeface="Quattrocento Sans"/>
              <a:ea typeface="Quattrocento Sans"/>
              <a:cs typeface="Quattrocento Sans"/>
              <a:sym typeface="Quattrocento Sans"/>
            </a:endParaRPr>
          </a:p>
          <a:p>
            <a:pPr indent="0" lvl="0" marL="0" rtl="0" algn="l">
              <a:lnSpc>
                <a:spcPct val="85000"/>
              </a:lnSpc>
              <a:spcBef>
                <a:spcPts val="450"/>
              </a:spcBef>
              <a:spcAft>
                <a:spcPts val="0"/>
              </a:spcAft>
              <a:buSzPts val="1440"/>
              <a:buNone/>
            </a:pPr>
            <a:r>
              <a:t/>
            </a:r>
            <a:endParaRPr b="0" i="0" sz="1800" u="none">
              <a:solidFill>
                <a:schemeClr val="lt1"/>
              </a:solidFill>
              <a:latin typeface="Quattrocento Sans"/>
              <a:ea typeface="Quattrocento Sans"/>
              <a:cs typeface="Quattrocento Sans"/>
              <a:sym typeface="Quattrocento Sans"/>
            </a:endParaRPr>
          </a:p>
          <a:p>
            <a:pPr indent="-91440" lvl="0" marL="0" rtl="0" algn="l">
              <a:lnSpc>
                <a:spcPct val="85000"/>
              </a:lnSpc>
              <a:spcBef>
                <a:spcPts val="450"/>
              </a:spcBef>
              <a:spcAft>
                <a:spcPts val="0"/>
              </a:spcAft>
              <a:buSzPts val="1440"/>
              <a:buChar char="•"/>
            </a:pPr>
            <a:r>
              <a:rPr b="0" i="0" lang="en-US" sz="1800" u="none">
                <a:solidFill>
                  <a:schemeClr val="lt1"/>
                </a:solidFill>
                <a:latin typeface="Quattrocento Sans"/>
                <a:ea typeface="Quattrocento Sans"/>
                <a:cs typeface="Quattrocento Sans"/>
                <a:sym typeface="Quattrocento Sans"/>
              </a:rPr>
              <a:t>Для реализации Байесовского классификатора нам необходима обучающая выборка в которой проставлены соответствия между текстовыми документами и их классами. Затем нам необходимо собрать следующую статистику из выборки, которая будет использоваться на этапе классификации:</a:t>
            </a:r>
            <a:endParaRPr/>
          </a:p>
          <a:p>
            <a:pPr indent="-91440" lvl="0" marL="0" rtl="0" algn="l">
              <a:lnSpc>
                <a:spcPct val="85000"/>
              </a:lnSpc>
              <a:spcBef>
                <a:spcPts val="450"/>
              </a:spcBef>
              <a:spcAft>
                <a:spcPts val="0"/>
              </a:spcAft>
              <a:buSzPts val="1440"/>
              <a:buChar char="•"/>
            </a:pPr>
            <a:r>
              <a:rPr b="0" i="0" lang="en-US" sz="1800" u="none">
                <a:solidFill>
                  <a:schemeClr val="lt1"/>
                </a:solidFill>
                <a:latin typeface="Quattrocento Sans"/>
                <a:ea typeface="Quattrocento Sans"/>
                <a:cs typeface="Quattrocento Sans"/>
                <a:sym typeface="Quattrocento Sans"/>
              </a:rPr>
              <a:t>относительные частоты классов в корпусе документов. То есть, как часто встречаются документы того или иного класса;</a:t>
            </a:r>
            <a:endParaRPr/>
          </a:p>
          <a:p>
            <a:pPr indent="-91440" lvl="0" marL="0" rtl="0" algn="l">
              <a:lnSpc>
                <a:spcPct val="85000"/>
              </a:lnSpc>
              <a:spcBef>
                <a:spcPts val="450"/>
              </a:spcBef>
              <a:spcAft>
                <a:spcPts val="0"/>
              </a:spcAft>
              <a:buSzPts val="1440"/>
              <a:buChar char="•"/>
            </a:pPr>
            <a:r>
              <a:rPr b="0" i="0" lang="en-US" sz="1800" u="none">
                <a:solidFill>
                  <a:schemeClr val="lt1"/>
                </a:solidFill>
                <a:latin typeface="Quattrocento Sans"/>
                <a:ea typeface="Quattrocento Sans"/>
                <a:cs typeface="Quattrocento Sans"/>
                <a:sym typeface="Quattrocento Sans"/>
              </a:rPr>
              <a:t>суммарное количество слов в документах каждого класса;</a:t>
            </a:r>
            <a:endParaRPr/>
          </a:p>
          <a:p>
            <a:pPr indent="-91440" lvl="0" marL="0" rtl="0" algn="l">
              <a:lnSpc>
                <a:spcPct val="85000"/>
              </a:lnSpc>
              <a:spcBef>
                <a:spcPts val="450"/>
              </a:spcBef>
              <a:spcAft>
                <a:spcPts val="0"/>
              </a:spcAft>
              <a:buSzPts val="1440"/>
              <a:buChar char="•"/>
            </a:pPr>
            <a:r>
              <a:rPr b="0" i="0" lang="en-US" sz="1800" u="none">
                <a:solidFill>
                  <a:schemeClr val="lt1"/>
                </a:solidFill>
                <a:latin typeface="Quattrocento Sans"/>
                <a:ea typeface="Quattrocento Sans"/>
                <a:cs typeface="Quattrocento Sans"/>
                <a:sym typeface="Quattrocento Sans"/>
              </a:rPr>
              <a:t>относительные частоты слов в пределах каждого класса;</a:t>
            </a:r>
            <a:endParaRPr/>
          </a:p>
          <a:p>
            <a:pPr indent="-91440" lvl="0" marL="0" rtl="0" algn="l">
              <a:lnSpc>
                <a:spcPct val="85000"/>
              </a:lnSpc>
              <a:spcBef>
                <a:spcPts val="450"/>
              </a:spcBef>
              <a:spcAft>
                <a:spcPts val="0"/>
              </a:spcAft>
              <a:buSzPts val="1440"/>
              <a:buChar char="•"/>
            </a:pPr>
            <a:r>
              <a:rPr b="0" i="0" lang="en-US" sz="1800" u="none">
                <a:solidFill>
                  <a:schemeClr val="lt1"/>
                </a:solidFill>
                <a:latin typeface="Quattrocento Sans"/>
                <a:ea typeface="Quattrocento Sans"/>
                <a:cs typeface="Quattrocento Sans"/>
                <a:sym typeface="Quattrocento Sans"/>
              </a:rPr>
              <a:t>размер словаря выборки. Количество уникальных слов в выборке.</a:t>
            </a:r>
            <a:endParaRPr/>
          </a:p>
          <a:p>
            <a:pPr indent="-91440" lvl="0" marL="0" rtl="0" algn="l">
              <a:lnSpc>
                <a:spcPct val="85000"/>
              </a:lnSpc>
              <a:spcBef>
                <a:spcPts val="450"/>
              </a:spcBef>
              <a:spcAft>
                <a:spcPts val="0"/>
              </a:spcAft>
              <a:buSzPts val="1440"/>
              <a:buChar char="•"/>
            </a:pPr>
            <a:r>
              <a:rPr b="0" i="0" lang="en-US" sz="1800" u="none">
                <a:solidFill>
                  <a:schemeClr val="lt1"/>
                </a:solidFill>
                <a:latin typeface="Quattrocento Sans"/>
                <a:ea typeface="Quattrocento Sans"/>
                <a:cs typeface="Quattrocento Sans"/>
                <a:sym typeface="Quattrocento Sans"/>
              </a:rPr>
              <a:t>Совокупность этой информации мы будем называть моделью классификатора. Затем на этапе классификации необходимо для каждого класса рассчитать значение следующего выражения и выбрать класс с максимальным значением.</a:t>
            </a:r>
            <a:endParaRPr/>
          </a:p>
        </p:txBody>
      </p:sp>
      <p:sp>
        <p:nvSpPr>
          <p:cNvPr id="372" name="Google Shape;372;p32"/>
          <p:cNvSpPr txBox="1"/>
          <p:nvPr/>
        </p:nvSpPr>
        <p:spPr>
          <a:xfrm>
            <a:off x="6211887" y="2365375"/>
            <a:ext cx="473075"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Quattrocento Sans"/>
              <a:buNone/>
            </a:pPr>
            <a:r>
              <a:rPr b="1" i="0" lang="en-US" sz="1800" u="none">
                <a:solidFill>
                  <a:schemeClr val="lt1"/>
                </a:solidFill>
                <a:latin typeface="Quattrocento Sans"/>
                <a:ea typeface="Quattrocento Sans"/>
                <a:cs typeface="Quattrocento Sans"/>
                <a:sym typeface="Quattrocento Sans"/>
              </a:rPr>
              <a:t>(8)</a:t>
            </a:r>
            <a:endParaRPr/>
          </a:p>
        </p:txBody>
      </p:sp>
      <p:pic>
        <p:nvPicPr>
          <p:cNvPr id="373" name="Google Shape;373;p32"/>
          <p:cNvPicPr preferRelativeResize="0"/>
          <p:nvPr/>
        </p:nvPicPr>
        <p:blipFill rotWithShape="1">
          <a:blip r:embed="rId3">
            <a:alphaModFix/>
          </a:blip>
          <a:srcRect b="0" l="0" r="0" t="0"/>
          <a:stretch/>
        </p:blipFill>
        <p:spPr>
          <a:xfrm>
            <a:off x="2419350" y="2214562"/>
            <a:ext cx="3792537" cy="669925"/>
          </a:xfrm>
          <a:prstGeom prst="rect">
            <a:avLst/>
          </a:prstGeom>
          <a:noFill/>
          <a:ln>
            <a:noFill/>
          </a:ln>
        </p:spPr>
      </p:pic>
      <p:sp>
        <p:nvSpPr>
          <p:cNvPr id="374" name="Google Shape;374;p32"/>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3"/>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Наивный Байесовский метод</a:t>
            </a:r>
            <a:endParaRPr/>
          </a:p>
        </p:txBody>
      </p:sp>
      <p:sp>
        <p:nvSpPr>
          <p:cNvPr id="380" name="Google Shape;380;p33"/>
          <p:cNvSpPr txBox="1"/>
          <p:nvPr>
            <p:ph idx="1" type="body"/>
          </p:nvPr>
        </p:nvSpPr>
        <p:spPr>
          <a:xfrm>
            <a:off x="200025" y="838200"/>
            <a:ext cx="8753475" cy="5013325"/>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SzPts val="1600"/>
              <a:buNone/>
            </a:pPr>
            <a:r>
              <a:rPr b="0" i="0" lang="en-US" sz="2000" u="none">
                <a:solidFill>
                  <a:schemeClr val="lt1"/>
                </a:solidFill>
                <a:latin typeface="Quattrocento Sans"/>
                <a:ea typeface="Quattrocento Sans"/>
                <a:cs typeface="Quattrocento Sans"/>
                <a:sym typeface="Quattrocento Sans"/>
              </a:rPr>
              <a:t>Упрощенная формула (8):</a:t>
            </a:r>
            <a:endParaRPr/>
          </a:p>
          <a:p>
            <a:pPr indent="0" lvl="0" marL="0" rtl="0" algn="l">
              <a:lnSpc>
                <a:spcPct val="100000"/>
              </a:lnSpc>
              <a:spcBef>
                <a:spcPts val="0"/>
              </a:spcBef>
              <a:spcAft>
                <a:spcPts val="0"/>
              </a:spcAft>
              <a:buSzPts val="1600"/>
              <a:buNone/>
            </a:pPr>
            <a:r>
              <a:t/>
            </a:r>
            <a:endParaRPr b="0" i="0" sz="2000" u="none">
              <a:solidFill>
                <a:schemeClr val="lt1"/>
              </a:solidFill>
              <a:latin typeface="Quattrocento Sans"/>
              <a:ea typeface="Quattrocento Sans"/>
              <a:cs typeface="Quattrocento Sans"/>
              <a:sym typeface="Quattrocento Sans"/>
            </a:endParaRPr>
          </a:p>
          <a:p>
            <a:pPr indent="0" lvl="0" marL="0" rtl="0" algn="l">
              <a:lnSpc>
                <a:spcPct val="100000"/>
              </a:lnSpc>
              <a:spcBef>
                <a:spcPts val="0"/>
              </a:spcBef>
              <a:spcAft>
                <a:spcPts val="0"/>
              </a:spcAft>
              <a:buSzPts val="1600"/>
              <a:buNone/>
            </a:pPr>
            <a:r>
              <a:t/>
            </a:r>
            <a:endParaRPr b="0" i="0" sz="2000" u="none">
              <a:solidFill>
                <a:schemeClr val="lt1"/>
              </a:solidFill>
              <a:latin typeface="Quattrocento Sans"/>
              <a:ea typeface="Quattrocento Sans"/>
              <a:cs typeface="Quattrocento Sans"/>
              <a:sym typeface="Quattrocento Sans"/>
            </a:endParaRPr>
          </a:p>
          <a:p>
            <a:pPr indent="0" lvl="0" marL="0" rtl="0" algn="l">
              <a:lnSpc>
                <a:spcPct val="85000"/>
              </a:lnSpc>
              <a:spcBef>
                <a:spcPts val="450"/>
              </a:spcBef>
              <a:spcAft>
                <a:spcPts val="0"/>
              </a:spcAft>
              <a:buSzPts val="1440"/>
              <a:buNone/>
            </a:pPr>
            <a:r>
              <a:t/>
            </a:r>
            <a:endParaRPr b="0" i="0" sz="1800" u="none">
              <a:solidFill>
                <a:schemeClr val="lt1"/>
              </a:solidFill>
              <a:latin typeface="Quattrocento Sans"/>
              <a:ea typeface="Quattrocento Sans"/>
              <a:cs typeface="Quattrocento Sans"/>
              <a:sym typeface="Quattrocento Sans"/>
            </a:endParaRPr>
          </a:p>
          <a:p>
            <a:pPr indent="0" lvl="0" marL="0" rtl="0" algn="l">
              <a:lnSpc>
                <a:spcPct val="100000"/>
              </a:lnSpc>
              <a:spcBef>
                <a:spcPts val="0"/>
              </a:spcBef>
              <a:spcAft>
                <a:spcPts val="0"/>
              </a:spcAft>
              <a:buSzPts val="1600"/>
              <a:buNone/>
            </a:pPr>
            <a:r>
              <a:rPr b="0" i="0" lang="en-US" sz="2000" u="none">
                <a:solidFill>
                  <a:schemeClr val="lt1"/>
                </a:solidFill>
                <a:latin typeface="Quattrocento Sans"/>
                <a:ea typeface="Quattrocento Sans"/>
                <a:cs typeface="Quattrocento Sans"/>
                <a:sym typeface="Quattrocento Sans"/>
              </a:rPr>
              <a:t>в этой формуле:</a:t>
            </a:r>
            <a:endParaRPr/>
          </a:p>
          <a:p>
            <a:pPr indent="-101600" lvl="0" marL="0" rtl="0" algn="l">
              <a:lnSpc>
                <a:spcPct val="100000"/>
              </a:lnSpc>
              <a:spcBef>
                <a:spcPts val="0"/>
              </a:spcBef>
              <a:spcAft>
                <a:spcPts val="0"/>
              </a:spcAft>
              <a:buSzPts val="1600"/>
              <a:buChar char="•"/>
            </a:pPr>
            <a:r>
              <a:rPr b="1" i="1" lang="en-US" sz="2000" u="none">
                <a:solidFill>
                  <a:srgbClr val="FFC000"/>
                </a:solidFill>
                <a:latin typeface="Quattrocento Sans"/>
                <a:ea typeface="Quattrocento Sans"/>
                <a:cs typeface="Quattrocento Sans"/>
                <a:sym typeface="Quattrocento Sans"/>
              </a:rPr>
              <a:t> Dc </a:t>
            </a:r>
            <a:r>
              <a:rPr b="0" i="0" lang="en-US" sz="2000" u="none">
                <a:solidFill>
                  <a:schemeClr val="lt1"/>
                </a:solidFill>
                <a:latin typeface="Quattrocento Sans"/>
                <a:ea typeface="Quattrocento Sans"/>
                <a:cs typeface="Quattrocento Sans"/>
                <a:sym typeface="Quattrocento Sans"/>
              </a:rPr>
              <a:t>— количество документов в обучающей выборке принадлежащих классу </a:t>
            </a:r>
            <a:r>
              <a:rPr b="1" i="1" lang="en-US" sz="2000" u="none">
                <a:solidFill>
                  <a:srgbClr val="FFC000"/>
                </a:solidFill>
                <a:latin typeface="Quattrocento Sans"/>
                <a:ea typeface="Quattrocento Sans"/>
                <a:cs typeface="Quattrocento Sans"/>
                <a:sym typeface="Quattrocento Sans"/>
              </a:rPr>
              <a:t>c</a:t>
            </a:r>
            <a:r>
              <a:rPr b="0" i="0" lang="en-US" sz="2000" u="none">
                <a:solidFill>
                  <a:schemeClr val="lt1"/>
                </a:solidFill>
                <a:latin typeface="Quattrocento Sans"/>
                <a:ea typeface="Quattrocento Sans"/>
                <a:cs typeface="Quattrocento Sans"/>
                <a:sym typeface="Quattrocento Sans"/>
              </a:rPr>
              <a:t>; </a:t>
            </a:r>
            <a:endParaRPr/>
          </a:p>
          <a:p>
            <a:pPr indent="-101600" lvl="0" marL="0" rtl="0" algn="l">
              <a:lnSpc>
                <a:spcPct val="100000"/>
              </a:lnSpc>
              <a:spcBef>
                <a:spcPts val="0"/>
              </a:spcBef>
              <a:spcAft>
                <a:spcPts val="0"/>
              </a:spcAft>
              <a:buSzPts val="1600"/>
              <a:buChar char="•"/>
            </a:pPr>
            <a:r>
              <a:rPr b="1" i="1" lang="en-US" sz="2000" u="none">
                <a:solidFill>
                  <a:srgbClr val="FFC000"/>
                </a:solidFill>
                <a:latin typeface="Quattrocento Sans"/>
                <a:ea typeface="Quattrocento Sans"/>
                <a:cs typeface="Quattrocento Sans"/>
                <a:sym typeface="Quattrocento Sans"/>
              </a:rPr>
              <a:t> D </a:t>
            </a:r>
            <a:r>
              <a:rPr b="0" i="0" lang="en-US" sz="2000" u="none">
                <a:solidFill>
                  <a:schemeClr val="lt1"/>
                </a:solidFill>
                <a:latin typeface="Quattrocento Sans"/>
                <a:ea typeface="Quattrocento Sans"/>
                <a:cs typeface="Quattrocento Sans"/>
                <a:sym typeface="Quattrocento Sans"/>
              </a:rPr>
              <a:t>— общее количество документов в обучающей выборке; </a:t>
            </a:r>
            <a:endParaRPr/>
          </a:p>
          <a:p>
            <a:pPr indent="-101600" lvl="0" marL="0" rtl="0" algn="l">
              <a:lnSpc>
                <a:spcPct val="100000"/>
              </a:lnSpc>
              <a:spcBef>
                <a:spcPts val="0"/>
              </a:spcBef>
              <a:spcAft>
                <a:spcPts val="0"/>
              </a:spcAft>
              <a:buSzPts val="1600"/>
              <a:buChar char="•"/>
            </a:pPr>
            <a:r>
              <a:rPr b="1" i="1" lang="en-US" sz="2000" u="none">
                <a:solidFill>
                  <a:srgbClr val="FFC000"/>
                </a:solidFill>
                <a:latin typeface="Quattrocento Sans"/>
                <a:ea typeface="Quattrocento Sans"/>
                <a:cs typeface="Quattrocento Sans"/>
                <a:sym typeface="Quattrocento Sans"/>
              </a:rPr>
              <a:t> |V | </a:t>
            </a:r>
            <a:r>
              <a:rPr b="0" i="0" lang="en-US" sz="2000" u="none">
                <a:solidFill>
                  <a:schemeClr val="lt1"/>
                </a:solidFill>
                <a:latin typeface="Quattrocento Sans"/>
                <a:ea typeface="Quattrocento Sans"/>
                <a:cs typeface="Quattrocento Sans"/>
                <a:sym typeface="Quattrocento Sans"/>
              </a:rPr>
              <a:t>— количество уникальных слов во всех документах обучающей выборки; </a:t>
            </a:r>
            <a:endParaRPr/>
          </a:p>
          <a:p>
            <a:pPr indent="-101600" lvl="0" marL="0" rtl="0" algn="l">
              <a:lnSpc>
                <a:spcPct val="100000"/>
              </a:lnSpc>
              <a:spcBef>
                <a:spcPts val="0"/>
              </a:spcBef>
              <a:spcAft>
                <a:spcPts val="0"/>
              </a:spcAft>
              <a:buSzPts val="1600"/>
              <a:buChar char="•"/>
            </a:pPr>
            <a:r>
              <a:rPr b="1" i="1" lang="en-US" sz="2000" u="none">
                <a:solidFill>
                  <a:srgbClr val="FFC000"/>
                </a:solidFill>
                <a:latin typeface="Quattrocento Sans"/>
                <a:ea typeface="Quattrocento Sans"/>
                <a:cs typeface="Quattrocento Sans"/>
                <a:sym typeface="Quattrocento Sans"/>
              </a:rPr>
              <a:t> Lc </a:t>
            </a:r>
            <a:r>
              <a:rPr b="0" i="0" lang="en-US" sz="2000" u="none">
                <a:solidFill>
                  <a:schemeClr val="lt1"/>
                </a:solidFill>
                <a:latin typeface="Quattrocento Sans"/>
                <a:ea typeface="Quattrocento Sans"/>
                <a:cs typeface="Quattrocento Sans"/>
                <a:sym typeface="Quattrocento Sans"/>
              </a:rPr>
              <a:t>— суммарное количество слов в документах класса </a:t>
            </a:r>
            <a:r>
              <a:rPr b="1" i="1" lang="en-US" sz="2000" u="none">
                <a:solidFill>
                  <a:srgbClr val="FFC000"/>
                </a:solidFill>
                <a:latin typeface="Quattrocento Sans"/>
                <a:ea typeface="Quattrocento Sans"/>
                <a:cs typeface="Quattrocento Sans"/>
                <a:sym typeface="Quattrocento Sans"/>
              </a:rPr>
              <a:t>c</a:t>
            </a:r>
            <a:endParaRPr/>
          </a:p>
          <a:p>
            <a:pPr indent="0" lvl="0" marL="0" rtl="0" algn="l">
              <a:lnSpc>
                <a:spcPct val="100000"/>
              </a:lnSpc>
              <a:spcBef>
                <a:spcPts val="0"/>
              </a:spcBef>
              <a:spcAft>
                <a:spcPts val="0"/>
              </a:spcAft>
              <a:buSzPts val="1600"/>
              <a:buNone/>
            </a:pPr>
            <a:r>
              <a:rPr b="0" i="0" lang="en-US" sz="2000" u="none">
                <a:solidFill>
                  <a:schemeClr val="lt1"/>
                </a:solidFill>
                <a:latin typeface="Quattrocento Sans"/>
                <a:ea typeface="Quattrocento Sans"/>
                <a:cs typeface="Quattrocento Sans"/>
                <a:sym typeface="Quattrocento Sans"/>
              </a:rPr>
              <a:t>в обучающей выборке; </a:t>
            </a:r>
            <a:endParaRPr/>
          </a:p>
          <a:p>
            <a:pPr indent="-101600" lvl="0" marL="0" rtl="0" algn="l">
              <a:lnSpc>
                <a:spcPct val="100000"/>
              </a:lnSpc>
              <a:spcBef>
                <a:spcPts val="0"/>
              </a:spcBef>
              <a:spcAft>
                <a:spcPts val="0"/>
              </a:spcAft>
              <a:buSzPts val="1600"/>
              <a:buChar char="•"/>
            </a:pPr>
            <a:r>
              <a:rPr b="1" i="1" lang="en-US" sz="2000" u="none">
                <a:solidFill>
                  <a:srgbClr val="FFC000"/>
                </a:solidFill>
                <a:latin typeface="Quattrocento Sans"/>
                <a:ea typeface="Quattrocento Sans"/>
                <a:cs typeface="Quattrocento Sans"/>
                <a:sym typeface="Quattrocento Sans"/>
              </a:rPr>
              <a:t> W</a:t>
            </a:r>
            <a:r>
              <a:rPr b="1" baseline="-25000" i="1" lang="en-US" sz="2000" u="none">
                <a:solidFill>
                  <a:srgbClr val="FFC000"/>
                </a:solidFill>
                <a:latin typeface="Quattrocento Sans"/>
                <a:ea typeface="Quattrocento Sans"/>
                <a:cs typeface="Quattrocento Sans"/>
                <a:sym typeface="Quattrocento Sans"/>
              </a:rPr>
              <a:t>ic</a:t>
            </a:r>
            <a:r>
              <a:rPr b="1" i="1" lang="en-US" sz="2000" u="none">
                <a:solidFill>
                  <a:srgbClr val="FFC000"/>
                </a:solidFill>
                <a:latin typeface="Quattrocento Sans"/>
                <a:ea typeface="Quattrocento Sans"/>
                <a:cs typeface="Quattrocento Sans"/>
                <a:sym typeface="Quattrocento Sans"/>
              </a:rPr>
              <a:t> </a:t>
            </a:r>
            <a:r>
              <a:rPr b="0" i="0" lang="en-US" sz="2000" u="none">
                <a:solidFill>
                  <a:schemeClr val="lt1"/>
                </a:solidFill>
                <a:latin typeface="Quattrocento Sans"/>
                <a:ea typeface="Quattrocento Sans"/>
                <a:cs typeface="Quattrocento Sans"/>
                <a:sym typeface="Quattrocento Sans"/>
              </a:rPr>
              <a:t>— сколько раз </a:t>
            </a:r>
            <a:r>
              <a:rPr b="1" i="1" lang="en-US" sz="2000" u="none">
                <a:solidFill>
                  <a:srgbClr val="FFC000"/>
                </a:solidFill>
                <a:latin typeface="Quattrocento Sans"/>
                <a:ea typeface="Quattrocento Sans"/>
                <a:cs typeface="Quattrocento Sans"/>
                <a:sym typeface="Quattrocento Sans"/>
              </a:rPr>
              <a:t>i-</a:t>
            </a:r>
            <a:r>
              <a:rPr b="0" i="0" lang="en-US" sz="2000" u="none">
                <a:solidFill>
                  <a:schemeClr val="lt1"/>
                </a:solidFill>
                <a:latin typeface="Quattrocento Sans"/>
                <a:ea typeface="Quattrocento Sans"/>
                <a:cs typeface="Quattrocento Sans"/>
                <a:sym typeface="Quattrocento Sans"/>
              </a:rPr>
              <a:t>ое слово встречалось в документах класса </a:t>
            </a:r>
            <a:r>
              <a:rPr b="1" i="1" lang="en-US" sz="2000" u="none">
                <a:solidFill>
                  <a:srgbClr val="FFC000"/>
                </a:solidFill>
                <a:latin typeface="Quattrocento Sans"/>
                <a:ea typeface="Quattrocento Sans"/>
                <a:cs typeface="Quattrocento Sans"/>
                <a:sym typeface="Quattrocento Sans"/>
              </a:rPr>
              <a:t>c</a:t>
            </a:r>
            <a:endParaRPr/>
          </a:p>
          <a:p>
            <a:pPr indent="0" lvl="0" marL="0" rtl="0" algn="l">
              <a:lnSpc>
                <a:spcPct val="100000"/>
              </a:lnSpc>
              <a:spcBef>
                <a:spcPts val="0"/>
              </a:spcBef>
              <a:spcAft>
                <a:spcPts val="0"/>
              </a:spcAft>
              <a:buSzPts val="1600"/>
              <a:buNone/>
            </a:pPr>
            <a:r>
              <a:rPr b="0" i="0" lang="en-US" sz="2000" u="none">
                <a:solidFill>
                  <a:schemeClr val="lt1"/>
                </a:solidFill>
                <a:latin typeface="Quattrocento Sans"/>
                <a:ea typeface="Quattrocento Sans"/>
                <a:cs typeface="Quattrocento Sans"/>
                <a:sym typeface="Quattrocento Sans"/>
              </a:rPr>
              <a:t>в обучающей выборке; </a:t>
            </a:r>
            <a:endParaRPr/>
          </a:p>
          <a:p>
            <a:pPr indent="-101600" lvl="0" marL="0" rtl="0" algn="l">
              <a:lnSpc>
                <a:spcPct val="100000"/>
              </a:lnSpc>
              <a:spcBef>
                <a:spcPts val="0"/>
              </a:spcBef>
              <a:spcAft>
                <a:spcPts val="0"/>
              </a:spcAft>
              <a:buSzPts val="1600"/>
              <a:buChar char="•"/>
            </a:pPr>
            <a:r>
              <a:rPr b="1" i="1" lang="en-US" sz="2000" u="none">
                <a:solidFill>
                  <a:srgbClr val="FFC000"/>
                </a:solidFill>
                <a:latin typeface="Quattrocento Sans"/>
                <a:ea typeface="Quattrocento Sans"/>
                <a:cs typeface="Quattrocento Sans"/>
                <a:sym typeface="Quattrocento Sans"/>
              </a:rPr>
              <a:t>Q</a:t>
            </a:r>
            <a:r>
              <a:rPr b="0" i="0" lang="en-US" sz="2000" u="none">
                <a:solidFill>
                  <a:schemeClr val="lt1"/>
                </a:solidFill>
                <a:latin typeface="Quattrocento Sans"/>
                <a:ea typeface="Quattrocento Sans"/>
                <a:cs typeface="Quattrocento Sans"/>
                <a:sym typeface="Quattrocento Sans"/>
              </a:rPr>
              <a:t> – множество слов классифицируемого документа (включая повторы). </a:t>
            </a:r>
            <a:endParaRPr/>
          </a:p>
        </p:txBody>
      </p:sp>
      <p:sp>
        <p:nvSpPr>
          <p:cNvPr id="381" name="Google Shape;381;p33"/>
          <p:cNvSpPr txBox="1"/>
          <p:nvPr/>
        </p:nvSpPr>
        <p:spPr>
          <a:xfrm>
            <a:off x="5449887" y="1565275"/>
            <a:ext cx="47307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Quattrocento Sans"/>
              <a:buNone/>
            </a:pPr>
            <a:r>
              <a:rPr b="1" i="0" lang="en-US" sz="1800" u="none">
                <a:solidFill>
                  <a:schemeClr val="lt1"/>
                </a:solidFill>
                <a:latin typeface="Quattrocento Sans"/>
                <a:ea typeface="Quattrocento Sans"/>
                <a:cs typeface="Quattrocento Sans"/>
                <a:sym typeface="Quattrocento Sans"/>
              </a:rPr>
              <a:t>(9)</a:t>
            </a:r>
            <a:endParaRPr/>
          </a:p>
        </p:txBody>
      </p:sp>
      <p:pic>
        <p:nvPicPr>
          <p:cNvPr id="382" name="Google Shape;382;p33"/>
          <p:cNvPicPr preferRelativeResize="0"/>
          <p:nvPr/>
        </p:nvPicPr>
        <p:blipFill rotWithShape="1">
          <a:blip r:embed="rId3">
            <a:alphaModFix/>
          </a:blip>
          <a:srcRect b="0" l="0" r="0" t="0"/>
          <a:stretch/>
        </p:blipFill>
        <p:spPr>
          <a:xfrm>
            <a:off x="3144837" y="1408112"/>
            <a:ext cx="2305050" cy="685800"/>
          </a:xfrm>
          <a:prstGeom prst="rect">
            <a:avLst/>
          </a:prstGeom>
          <a:noFill/>
          <a:ln>
            <a:noFill/>
          </a:ln>
        </p:spPr>
      </p:pic>
      <p:sp>
        <p:nvSpPr>
          <p:cNvPr id="383" name="Google Shape;383;p33"/>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4"/>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Наивный Байесовский метод</a:t>
            </a:r>
            <a:endParaRPr/>
          </a:p>
        </p:txBody>
      </p:sp>
      <p:sp>
        <p:nvSpPr>
          <p:cNvPr id="389" name="Google Shape;389;p34"/>
          <p:cNvSpPr txBox="1"/>
          <p:nvPr>
            <p:ph idx="1" type="body"/>
          </p:nvPr>
        </p:nvSpPr>
        <p:spPr>
          <a:xfrm>
            <a:off x="390525" y="973137"/>
            <a:ext cx="8372475" cy="281305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SzPts val="2240"/>
              <a:buNone/>
            </a:pPr>
            <a:r>
              <a:rPr b="1" i="1" lang="en-US" sz="2800" u="none">
                <a:solidFill>
                  <a:srgbClr val="FFC000"/>
                </a:solidFill>
                <a:latin typeface="Quattrocento Sans"/>
                <a:ea typeface="Quattrocento Sans"/>
                <a:cs typeface="Quattrocento Sans"/>
                <a:sym typeface="Quattrocento Sans"/>
              </a:rPr>
              <a:t>Пример</a:t>
            </a:r>
            <a:endParaRPr/>
          </a:p>
          <a:p>
            <a:pPr indent="0" lvl="0" marL="0" rtl="0" algn="l">
              <a:lnSpc>
                <a:spcPct val="85000"/>
              </a:lnSpc>
              <a:spcBef>
                <a:spcPts val="0"/>
              </a:spcBef>
              <a:spcAft>
                <a:spcPts val="0"/>
              </a:spcAft>
              <a:buSzPts val="2240"/>
              <a:buNone/>
            </a:pPr>
            <a:r>
              <a:t/>
            </a:r>
            <a:endParaRPr b="1" i="1" sz="2800" u="none">
              <a:solidFill>
                <a:srgbClr val="FFC000"/>
              </a:solidFill>
              <a:latin typeface="Quattrocento Sans"/>
              <a:ea typeface="Quattrocento Sans"/>
              <a:cs typeface="Quattrocento Sans"/>
              <a:sym typeface="Quattrocento Sans"/>
            </a:endParaRPr>
          </a:p>
          <a:p>
            <a:pPr indent="0" lvl="1" marL="92075" rtl="0" algn="l">
              <a:lnSpc>
                <a:spcPct val="85000"/>
              </a:lnSpc>
              <a:spcBef>
                <a:spcPts val="0"/>
              </a:spcBef>
              <a:spcAft>
                <a:spcPts val="0"/>
              </a:spcAft>
              <a:buSzPts val="1800"/>
              <a:buNone/>
            </a:pPr>
            <a:r>
              <a:rPr b="0" i="0" lang="en-US" sz="2400" u="none">
                <a:solidFill>
                  <a:schemeClr val="lt1"/>
                </a:solidFill>
                <a:latin typeface="Quattrocento Sans"/>
                <a:ea typeface="Quattrocento Sans"/>
                <a:cs typeface="Quattrocento Sans"/>
                <a:sym typeface="Quattrocento Sans"/>
              </a:rPr>
              <a:t>Допустим, у нас есть три документа для которых известны их классы (HAM означает – не спам):</a:t>
            </a:r>
            <a:endParaRPr/>
          </a:p>
          <a:p>
            <a:pPr indent="0" lvl="1" marL="92075" rtl="0" algn="l">
              <a:lnSpc>
                <a:spcPct val="85000"/>
              </a:lnSpc>
              <a:spcBef>
                <a:spcPts val="0"/>
              </a:spcBef>
              <a:spcAft>
                <a:spcPts val="0"/>
              </a:spcAft>
              <a:buSzPts val="1800"/>
              <a:buNone/>
            </a:pPr>
            <a:r>
              <a:t/>
            </a:r>
            <a:endParaRPr b="0" i="0" sz="2400" u="none">
              <a:solidFill>
                <a:schemeClr val="lt1"/>
              </a:solidFill>
              <a:latin typeface="Quattrocento Sans"/>
              <a:ea typeface="Quattrocento Sans"/>
              <a:cs typeface="Quattrocento Sans"/>
              <a:sym typeface="Quattrocento Sans"/>
            </a:endParaRPr>
          </a:p>
          <a:p>
            <a:pPr indent="-95250" lvl="1" marL="92075" rtl="0" algn="l">
              <a:lnSpc>
                <a:spcPct val="85000"/>
              </a:lnSpc>
              <a:spcBef>
                <a:spcPts val="0"/>
              </a:spcBef>
              <a:spcAft>
                <a:spcPts val="0"/>
              </a:spcAft>
              <a:buSzPts val="1500"/>
              <a:buChar char="•"/>
            </a:pPr>
            <a:r>
              <a:rPr b="0" i="0" lang="en-US" sz="2000" u="none">
                <a:solidFill>
                  <a:schemeClr val="lt1"/>
                </a:solidFill>
                <a:latin typeface="Quattrocento Sans"/>
                <a:ea typeface="Quattrocento Sans"/>
                <a:cs typeface="Quattrocento Sans"/>
                <a:sym typeface="Quattrocento Sans"/>
              </a:rPr>
              <a:t>[SPAM] предоставляю услуги бухгалтера; </a:t>
            </a:r>
            <a:endParaRPr/>
          </a:p>
          <a:p>
            <a:pPr indent="-95250" lvl="1" marL="92075" rtl="0" algn="l">
              <a:lnSpc>
                <a:spcPct val="85000"/>
              </a:lnSpc>
              <a:spcBef>
                <a:spcPts val="0"/>
              </a:spcBef>
              <a:spcAft>
                <a:spcPts val="0"/>
              </a:spcAft>
              <a:buSzPts val="1500"/>
              <a:buChar char="•"/>
            </a:pPr>
            <a:r>
              <a:rPr b="0" i="0" lang="en-US" sz="2000" u="none">
                <a:solidFill>
                  <a:schemeClr val="lt1"/>
                </a:solidFill>
                <a:latin typeface="Quattrocento Sans"/>
                <a:ea typeface="Quattrocento Sans"/>
                <a:cs typeface="Quattrocento Sans"/>
                <a:sym typeface="Quattrocento Sans"/>
              </a:rPr>
              <a:t>[SPAM] спешите купить тур; </a:t>
            </a:r>
            <a:endParaRPr/>
          </a:p>
          <a:p>
            <a:pPr indent="-95250" lvl="1" marL="92075" rtl="0" algn="l">
              <a:lnSpc>
                <a:spcPct val="85000"/>
              </a:lnSpc>
              <a:spcBef>
                <a:spcPts val="0"/>
              </a:spcBef>
              <a:spcAft>
                <a:spcPts val="0"/>
              </a:spcAft>
              <a:buSzPts val="1500"/>
              <a:buChar char="•"/>
            </a:pPr>
            <a:r>
              <a:rPr b="0" i="0" lang="en-US" sz="2000" u="none">
                <a:solidFill>
                  <a:schemeClr val="lt1"/>
                </a:solidFill>
                <a:latin typeface="Quattrocento Sans"/>
                <a:ea typeface="Quattrocento Sans"/>
                <a:cs typeface="Quattrocento Sans"/>
                <a:sym typeface="Quattrocento Sans"/>
              </a:rPr>
              <a:t>[HAM] надо купить молоко. </a:t>
            </a:r>
            <a:endParaRPr/>
          </a:p>
          <a:p>
            <a:pPr indent="-95250" lvl="1" marL="92075" rtl="0" algn="l">
              <a:lnSpc>
                <a:spcPct val="85000"/>
              </a:lnSpc>
              <a:spcBef>
                <a:spcPts val="0"/>
              </a:spcBef>
              <a:spcAft>
                <a:spcPts val="0"/>
              </a:spcAft>
              <a:buSzPts val="1500"/>
              <a:buChar char="•"/>
            </a:pPr>
            <a:r>
              <a:rPr b="0" i="0" lang="en-US" sz="2000" u="none">
                <a:solidFill>
                  <a:schemeClr val="lt1"/>
                </a:solidFill>
                <a:latin typeface="Quattrocento Sans"/>
                <a:ea typeface="Quattrocento Sans"/>
                <a:cs typeface="Quattrocento Sans"/>
                <a:sym typeface="Quattrocento Sans"/>
              </a:rPr>
              <a:t>Модель классификатора будет выглядеть следующим образом:</a:t>
            </a:r>
            <a:endParaRPr/>
          </a:p>
        </p:txBody>
      </p:sp>
      <p:graphicFrame>
        <p:nvGraphicFramePr>
          <p:cNvPr id="390" name="Google Shape;390;p34"/>
          <p:cNvGraphicFramePr/>
          <p:nvPr/>
        </p:nvGraphicFramePr>
        <p:xfrm>
          <a:off x="695325" y="4160837"/>
          <a:ext cx="3000000" cy="3000000"/>
        </p:xfrm>
        <a:graphic>
          <a:graphicData uri="http://schemas.openxmlformats.org/drawingml/2006/table">
            <a:tbl>
              <a:tblPr>
                <a:noFill/>
                <a:tableStyleId>{4A9718B0-E53D-4CFF-AC7E-A2A48AE619F5}</a:tableStyleId>
              </a:tblPr>
              <a:tblGrid>
                <a:gridCol w="1776400"/>
                <a:gridCol w="636575"/>
                <a:gridCol w="685800"/>
              </a:tblGrid>
              <a:tr h="263525">
                <a:tc>
                  <a:txBody>
                    <a:bodyPr/>
                    <a:lstStyle/>
                    <a:p>
                      <a:pPr indent="0" lvl="0" marL="0" marR="0" rtl="0" algn="l">
                        <a:spcBef>
                          <a:spcPts val="0"/>
                        </a:spcBef>
                        <a:spcAft>
                          <a:spcPts val="0"/>
                        </a:spcAft>
                        <a:buNone/>
                      </a:pPr>
                      <a:r>
                        <a:t/>
                      </a:r>
                      <a:endParaRPr sz="1800">
                        <a:solidFill>
                          <a:schemeClr val="lt1"/>
                        </a:solidFill>
                        <a:latin typeface="Quattrocento Sans"/>
                        <a:ea typeface="Quattrocento Sans"/>
                        <a:cs typeface="Quattrocento Sans"/>
                        <a:sym typeface="Quattrocento Sans"/>
                      </a:endParaRPr>
                    </a:p>
                  </a:txBody>
                  <a:tcPr marT="9450" marB="945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spam</a:t>
                      </a:r>
                      <a:endParaRPr/>
                    </a:p>
                  </a:txBody>
                  <a:tcPr marT="9450" marB="945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ham</a:t>
                      </a:r>
                      <a:endParaRPr/>
                    </a:p>
                  </a:txBody>
                  <a:tcPr marT="9450" marB="945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261925">
                <a:tc>
                  <a:txBody>
                    <a:bodyPr/>
                    <a:lstStyle/>
                    <a:p>
                      <a:pPr indent="0" lvl="0" marL="0" marR="0" rtl="0" algn="l">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частоты классов</a:t>
                      </a:r>
                      <a:endParaRPr/>
                    </a:p>
                  </a:txBody>
                  <a:tcPr marT="9450" marB="945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2</a:t>
                      </a:r>
                      <a:endParaRPr/>
                    </a:p>
                  </a:txBody>
                  <a:tcPr marT="9450" marB="945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1</a:t>
                      </a:r>
                      <a:endParaRPr/>
                    </a:p>
                  </a:txBody>
                  <a:tcPr marT="9450" marB="945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506400">
                <a:tc>
                  <a:txBody>
                    <a:bodyPr/>
                    <a:lstStyle/>
                    <a:p>
                      <a:pPr indent="0" lvl="0" marL="0" marR="0" rtl="0" algn="l">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суммарное количество слов</a:t>
                      </a:r>
                      <a:endParaRPr/>
                    </a:p>
                  </a:txBody>
                  <a:tcPr marT="9450" marB="945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6</a:t>
                      </a:r>
                      <a:endParaRPr/>
                    </a:p>
                  </a:txBody>
                  <a:tcPr marT="9450" marB="945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3</a:t>
                      </a:r>
                      <a:endParaRPr/>
                    </a:p>
                  </a:txBody>
                  <a:tcPr marT="9450" marB="945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bl>
          </a:graphicData>
        </a:graphic>
      </p:graphicFrame>
      <p:graphicFrame>
        <p:nvGraphicFramePr>
          <p:cNvPr id="391" name="Google Shape;391;p34"/>
          <p:cNvGraphicFramePr/>
          <p:nvPr/>
        </p:nvGraphicFramePr>
        <p:xfrm>
          <a:off x="4140200" y="4160837"/>
          <a:ext cx="3000000" cy="3000000"/>
        </p:xfrm>
        <a:graphic>
          <a:graphicData uri="http://schemas.openxmlformats.org/drawingml/2006/table">
            <a:tbl>
              <a:tblPr>
                <a:noFill/>
                <a:tableStyleId>{4A9718B0-E53D-4CFF-AC7E-A2A48AE619F5}</a:tableStyleId>
              </a:tblPr>
              <a:tblGrid>
                <a:gridCol w="1897050"/>
                <a:gridCol w="1114425"/>
                <a:gridCol w="1001700"/>
              </a:tblGrid>
              <a:tr h="263525">
                <a:tc>
                  <a:txBody>
                    <a:bodyPr/>
                    <a:lstStyle/>
                    <a:p>
                      <a:pPr indent="0" lvl="0" marL="0" marR="0" rtl="0" algn="ctr">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 </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spam</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ham</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261925">
                <a:tc>
                  <a:txBody>
                    <a:bodyPr/>
                    <a:lstStyle/>
                    <a:p>
                      <a:pPr indent="0" lvl="0" marL="0" marR="0" rtl="0" algn="l">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предоставляю</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1</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0</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63525">
                <a:tc>
                  <a:txBody>
                    <a:bodyPr/>
                    <a:lstStyle/>
                    <a:p>
                      <a:pPr indent="0" lvl="0" marL="0" marR="0" rtl="0" algn="l">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услуги</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1</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0</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r h="261925">
                <a:tc>
                  <a:txBody>
                    <a:bodyPr/>
                    <a:lstStyle/>
                    <a:p>
                      <a:pPr indent="0" lvl="0" marL="0" marR="0" rtl="0" algn="l">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бухгалтера</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1</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0</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63525">
                <a:tc>
                  <a:txBody>
                    <a:bodyPr/>
                    <a:lstStyle/>
                    <a:p>
                      <a:pPr indent="0" lvl="0" marL="0" marR="0" rtl="0" algn="l">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спешите</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1</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0</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r h="261925">
                <a:tc>
                  <a:txBody>
                    <a:bodyPr/>
                    <a:lstStyle/>
                    <a:p>
                      <a:pPr indent="0" lvl="0" marL="0" marR="0" rtl="0" algn="l">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купить</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1</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1</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63525">
                <a:tc>
                  <a:txBody>
                    <a:bodyPr/>
                    <a:lstStyle/>
                    <a:p>
                      <a:pPr indent="0" lvl="0" marL="0" marR="0" rtl="0" algn="l">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тур</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1</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0</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r h="263525">
                <a:tc>
                  <a:txBody>
                    <a:bodyPr/>
                    <a:lstStyle/>
                    <a:p>
                      <a:pPr indent="0" lvl="0" marL="0" marR="0" rtl="0" algn="l">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надо</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0</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1</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61925">
                <a:tc>
                  <a:txBody>
                    <a:bodyPr/>
                    <a:lstStyle/>
                    <a:p>
                      <a:pPr indent="0" lvl="0" marL="0" marR="0" rtl="0" algn="l">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молоко</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0</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1</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bl>
          </a:graphicData>
        </a:graphic>
      </p:graphicFrame>
      <p:sp>
        <p:nvSpPr>
          <p:cNvPr id="392" name="Google Shape;392;p34"/>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5"/>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Наивный Байесовский метод</a:t>
            </a:r>
            <a:endParaRPr/>
          </a:p>
        </p:txBody>
      </p:sp>
      <p:sp>
        <p:nvSpPr>
          <p:cNvPr id="399" name="Google Shape;399;p35"/>
          <p:cNvSpPr txBox="1"/>
          <p:nvPr>
            <p:ph idx="1" type="body"/>
          </p:nvPr>
        </p:nvSpPr>
        <p:spPr>
          <a:xfrm>
            <a:off x="390525" y="973137"/>
            <a:ext cx="8372475" cy="8255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SzPts val="2240"/>
              <a:buNone/>
            </a:pPr>
            <a:r>
              <a:rPr b="1" i="1" lang="en-US" sz="2800" u="none">
                <a:solidFill>
                  <a:srgbClr val="FFC000"/>
                </a:solidFill>
                <a:latin typeface="Quattrocento Sans"/>
                <a:ea typeface="Quattrocento Sans"/>
                <a:cs typeface="Quattrocento Sans"/>
                <a:sym typeface="Quattrocento Sans"/>
              </a:rPr>
              <a:t>Пример</a:t>
            </a:r>
            <a:endParaRPr/>
          </a:p>
          <a:p>
            <a:pPr indent="-192723" lvl="0" marL="334963" rtl="0" algn="l">
              <a:lnSpc>
                <a:spcPct val="85000"/>
              </a:lnSpc>
              <a:spcBef>
                <a:spcPts val="700"/>
              </a:spcBef>
              <a:spcAft>
                <a:spcPts val="0"/>
              </a:spcAft>
              <a:buSzPts val="2240"/>
              <a:buNone/>
            </a:pPr>
            <a:r>
              <a:t/>
            </a:r>
            <a:endParaRPr b="1" i="1" sz="2800" u="none">
              <a:solidFill>
                <a:srgbClr val="FFC000"/>
              </a:solidFill>
              <a:latin typeface="Quattrocento Sans"/>
              <a:ea typeface="Quattrocento Sans"/>
              <a:cs typeface="Quattrocento Sans"/>
              <a:sym typeface="Quattrocento Sans"/>
            </a:endParaRPr>
          </a:p>
        </p:txBody>
      </p:sp>
      <p:graphicFrame>
        <p:nvGraphicFramePr>
          <p:cNvPr id="400" name="Google Shape;400;p35"/>
          <p:cNvGraphicFramePr/>
          <p:nvPr/>
        </p:nvGraphicFramePr>
        <p:xfrm>
          <a:off x="631825" y="3838575"/>
          <a:ext cx="3000000" cy="3000000"/>
        </p:xfrm>
        <a:graphic>
          <a:graphicData uri="http://schemas.openxmlformats.org/drawingml/2006/table">
            <a:tbl>
              <a:tblPr>
                <a:noFill/>
                <a:tableStyleId>{4A9718B0-E53D-4CFF-AC7E-A2A48AE619F5}</a:tableStyleId>
              </a:tblPr>
              <a:tblGrid>
                <a:gridCol w="1776400"/>
                <a:gridCol w="636575"/>
                <a:gridCol w="685800"/>
              </a:tblGrid>
              <a:tr h="263525">
                <a:tc>
                  <a:txBody>
                    <a:bodyPr/>
                    <a:lstStyle/>
                    <a:p>
                      <a:pPr indent="0" lvl="0" marL="0" marR="0" rtl="0" algn="l">
                        <a:spcBef>
                          <a:spcPts val="0"/>
                        </a:spcBef>
                        <a:spcAft>
                          <a:spcPts val="0"/>
                        </a:spcAft>
                        <a:buNone/>
                      </a:pPr>
                      <a:r>
                        <a:t/>
                      </a:r>
                      <a:endParaRPr sz="1800">
                        <a:solidFill>
                          <a:schemeClr val="lt1"/>
                        </a:solidFill>
                        <a:latin typeface="Quattrocento Sans"/>
                        <a:ea typeface="Quattrocento Sans"/>
                        <a:cs typeface="Quattrocento Sans"/>
                        <a:sym typeface="Quattrocento Sans"/>
                      </a:endParaRPr>
                    </a:p>
                  </a:txBody>
                  <a:tcPr marT="9450" marB="945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spam</a:t>
                      </a:r>
                      <a:endParaRPr/>
                    </a:p>
                  </a:txBody>
                  <a:tcPr marT="9450" marB="945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ham</a:t>
                      </a:r>
                      <a:endParaRPr/>
                    </a:p>
                  </a:txBody>
                  <a:tcPr marT="9450" marB="9450" marR="9525" marL="952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261925">
                <a:tc>
                  <a:txBody>
                    <a:bodyPr/>
                    <a:lstStyle/>
                    <a:p>
                      <a:pPr indent="0" lvl="0" marL="0" marR="0" rtl="0" algn="l">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частоты классов</a:t>
                      </a:r>
                      <a:endParaRPr/>
                    </a:p>
                  </a:txBody>
                  <a:tcPr marT="9450" marB="945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2</a:t>
                      </a:r>
                      <a:endParaRPr/>
                    </a:p>
                  </a:txBody>
                  <a:tcPr marT="9450" marB="945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1</a:t>
                      </a:r>
                      <a:endParaRPr/>
                    </a:p>
                  </a:txBody>
                  <a:tcPr marT="9450" marB="945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506400">
                <a:tc>
                  <a:txBody>
                    <a:bodyPr/>
                    <a:lstStyle/>
                    <a:p>
                      <a:pPr indent="0" lvl="0" marL="0" marR="0" rtl="0" algn="l">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суммарное количество слов</a:t>
                      </a:r>
                      <a:endParaRPr/>
                    </a:p>
                  </a:txBody>
                  <a:tcPr marT="9450" marB="945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6</a:t>
                      </a:r>
                      <a:endParaRPr/>
                    </a:p>
                  </a:txBody>
                  <a:tcPr marT="9450" marB="945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3</a:t>
                      </a:r>
                      <a:endParaRPr/>
                    </a:p>
                  </a:txBody>
                  <a:tcPr marT="9450" marB="945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bl>
          </a:graphicData>
        </a:graphic>
      </p:graphicFrame>
      <p:graphicFrame>
        <p:nvGraphicFramePr>
          <p:cNvPr id="401" name="Google Shape;401;p35"/>
          <p:cNvGraphicFramePr/>
          <p:nvPr/>
        </p:nvGraphicFramePr>
        <p:xfrm>
          <a:off x="4225925" y="3816350"/>
          <a:ext cx="3000000" cy="3000000"/>
        </p:xfrm>
        <a:graphic>
          <a:graphicData uri="http://schemas.openxmlformats.org/drawingml/2006/table">
            <a:tbl>
              <a:tblPr>
                <a:noFill/>
                <a:tableStyleId>{4A9718B0-E53D-4CFF-AC7E-A2A48AE619F5}</a:tableStyleId>
              </a:tblPr>
              <a:tblGrid>
                <a:gridCol w="1897050"/>
                <a:gridCol w="1114425"/>
                <a:gridCol w="1001700"/>
              </a:tblGrid>
              <a:tr h="263525">
                <a:tc>
                  <a:txBody>
                    <a:bodyPr/>
                    <a:lstStyle/>
                    <a:p>
                      <a:pPr indent="0" lvl="0" marL="0" marR="0" rtl="0" algn="ctr">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V=8</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spam</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ham</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261925">
                <a:tc>
                  <a:txBody>
                    <a:bodyPr/>
                    <a:lstStyle/>
                    <a:p>
                      <a:pPr indent="0" lvl="0" marL="0" marR="0" rtl="0" algn="l">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предоставляю</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1</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0</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63525">
                <a:tc>
                  <a:txBody>
                    <a:bodyPr/>
                    <a:lstStyle/>
                    <a:p>
                      <a:pPr indent="0" lvl="0" marL="0" marR="0" rtl="0" algn="l">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услуги</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1</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0</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r h="261925">
                <a:tc>
                  <a:txBody>
                    <a:bodyPr/>
                    <a:lstStyle/>
                    <a:p>
                      <a:pPr indent="0" lvl="0" marL="0" marR="0" rtl="0" algn="l">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бухгалтера</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1</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0</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63525">
                <a:tc>
                  <a:txBody>
                    <a:bodyPr/>
                    <a:lstStyle/>
                    <a:p>
                      <a:pPr indent="0" lvl="0" marL="0" marR="0" rtl="0" algn="l">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спешите</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1</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0</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r h="261925">
                <a:tc>
                  <a:txBody>
                    <a:bodyPr/>
                    <a:lstStyle/>
                    <a:p>
                      <a:pPr indent="0" lvl="0" marL="0" marR="0" rtl="0" algn="l">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купить</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1</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1</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63525">
                <a:tc>
                  <a:txBody>
                    <a:bodyPr/>
                    <a:lstStyle/>
                    <a:p>
                      <a:pPr indent="0" lvl="0" marL="0" marR="0" rtl="0" algn="l">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тур</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1</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0</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r h="263525">
                <a:tc>
                  <a:txBody>
                    <a:bodyPr/>
                    <a:lstStyle/>
                    <a:p>
                      <a:pPr indent="0" lvl="0" marL="0" marR="0" rtl="0" algn="l">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надо</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0</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1</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61925">
                <a:tc>
                  <a:txBody>
                    <a:bodyPr/>
                    <a:lstStyle/>
                    <a:p>
                      <a:pPr indent="0" lvl="0" marL="0" marR="0" rtl="0" algn="l">
                        <a:lnSpc>
                          <a:spcPct val="100000"/>
                        </a:lnSpc>
                        <a:spcBef>
                          <a:spcPts val="0"/>
                        </a:spcBef>
                        <a:spcAft>
                          <a:spcPts val="0"/>
                        </a:spcAft>
                        <a:buClr>
                          <a:srgbClr val="060000"/>
                        </a:buClr>
                        <a:buSzPts val="1600"/>
                        <a:buFont typeface="Quattrocento Sans"/>
                        <a:buNone/>
                      </a:pPr>
                      <a:r>
                        <a:rPr b="1" i="0" lang="en-US" sz="1600" u="none">
                          <a:solidFill>
                            <a:srgbClr val="060000"/>
                          </a:solidFill>
                          <a:latin typeface="Quattrocento Sans"/>
                          <a:ea typeface="Quattrocento Sans"/>
                          <a:cs typeface="Quattrocento Sans"/>
                          <a:sym typeface="Quattrocento Sans"/>
                        </a:rPr>
                        <a:t>молоко</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0</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ctr">
                        <a:lnSpc>
                          <a:spcPct val="100000"/>
                        </a:lnSpc>
                        <a:spcBef>
                          <a:spcPts val="0"/>
                        </a:spcBef>
                        <a:spcAft>
                          <a:spcPts val="0"/>
                        </a:spcAft>
                        <a:buClr>
                          <a:srgbClr val="060000"/>
                        </a:buClr>
                        <a:buSzPts val="1600"/>
                        <a:buFont typeface="Quattrocento Sans"/>
                        <a:buNone/>
                      </a:pPr>
                      <a:r>
                        <a:rPr b="0" i="0" lang="en-US" sz="1600" u="none">
                          <a:solidFill>
                            <a:srgbClr val="060000"/>
                          </a:solidFill>
                          <a:latin typeface="Quattrocento Sans"/>
                          <a:ea typeface="Quattrocento Sans"/>
                          <a:cs typeface="Quattrocento Sans"/>
                          <a:sym typeface="Quattrocento Sans"/>
                        </a:rPr>
                        <a:t>1</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bl>
          </a:graphicData>
        </a:graphic>
      </p:graphicFrame>
      <p:sp>
        <p:nvSpPr>
          <p:cNvPr id="402" name="Google Shape;402;p35"/>
          <p:cNvSpPr txBox="1"/>
          <p:nvPr/>
        </p:nvSpPr>
        <p:spPr>
          <a:xfrm>
            <a:off x="404812" y="2119312"/>
            <a:ext cx="7834312" cy="16319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Quattrocento Sans"/>
              <a:buNone/>
            </a:pPr>
            <a:r>
              <a:rPr b="0" i="0" lang="en-US" sz="2000" u="none">
                <a:solidFill>
                  <a:schemeClr val="lt1"/>
                </a:solidFill>
                <a:latin typeface="Quattrocento Sans"/>
                <a:ea typeface="Quattrocento Sans"/>
                <a:cs typeface="Quattrocento Sans"/>
                <a:sym typeface="Quattrocento Sans"/>
              </a:rPr>
              <a:t>Теперь классифицируем фразу “надо купить хлеб”. Рассчитаем значение выражения для класса </a:t>
            </a:r>
            <a:r>
              <a:rPr b="1" i="1" lang="en-US" sz="2000" u="none">
                <a:solidFill>
                  <a:srgbClr val="FFC000"/>
                </a:solidFill>
                <a:latin typeface="Quattrocento Sans"/>
                <a:ea typeface="Quattrocento Sans"/>
                <a:cs typeface="Quattrocento Sans"/>
                <a:sym typeface="Quattrocento Sans"/>
              </a:rPr>
              <a:t>SPAM</a:t>
            </a:r>
            <a:r>
              <a:rPr b="0" i="0" lang="en-US" sz="2000" u="none">
                <a:solidFill>
                  <a:schemeClr val="lt1"/>
                </a:solidFill>
                <a:latin typeface="Quattrocento Sans"/>
                <a:ea typeface="Quattrocento Sans"/>
                <a:cs typeface="Quattrocento Sans"/>
                <a:sym typeface="Quattrocento Sans"/>
              </a:rPr>
              <a:t>:</a:t>
            </a:r>
            <a:endParaRPr/>
          </a:p>
          <a:p>
            <a:pPr indent="0" lvl="0" marL="0" marR="0" rtl="0" algn="l">
              <a:lnSpc>
                <a:spcPct val="100000"/>
              </a:lnSpc>
              <a:spcBef>
                <a:spcPts val="0"/>
              </a:spcBef>
              <a:spcAft>
                <a:spcPts val="0"/>
              </a:spcAft>
              <a:buClr>
                <a:schemeClr val="lt1"/>
              </a:buClr>
              <a:buSzPts val="2000"/>
              <a:buFont typeface="Arial"/>
              <a:buNone/>
            </a:pPr>
            <a:r>
              <a:rPr b="0" i="0" lang="en-US" sz="2000" u="none">
                <a:solidFill>
                  <a:schemeClr val="lt1"/>
                </a:solidFill>
                <a:latin typeface="Arial"/>
                <a:ea typeface="Arial"/>
                <a:cs typeface="Arial"/>
                <a:sym typeface="Arial"/>
              </a:rPr>
              <a:t>	</a:t>
            </a:r>
            <a:r>
              <a:rPr b="0" i="1" lang="en-US" sz="2000" u="none">
                <a:solidFill>
                  <a:schemeClr val="lt1"/>
                </a:solidFill>
                <a:latin typeface="Arial"/>
                <a:ea typeface="Arial"/>
                <a:cs typeface="Arial"/>
                <a:sym typeface="Arial"/>
              </a:rPr>
              <a:t>log(2/3)+log(1/(8+6))+log(2/(8+6))+log(1/(8+6))≈−7.629</a:t>
            </a:r>
            <a:endParaRPr b="0" i="1" sz="2000" u="none">
              <a:solidFill>
                <a:schemeClr val="lt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chemeClr val="lt1"/>
              </a:buClr>
              <a:buSzPts val="2000"/>
              <a:buFont typeface="Quattrocento Sans"/>
              <a:buNone/>
            </a:pPr>
            <a:r>
              <a:rPr b="0" i="0" lang="en-US" sz="2000" u="none">
                <a:solidFill>
                  <a:schemeClr val="lt1"/>
                </a:solidFill>
                <a:latin typeface="Quattrocento Sans"/>
                <a:ea typeface="Quattrocento Sans"/>
                <a:cs typeface="Quattrocento Sans"/>
                <a:sym typeface="Quattrocento Sans"/>
              </a:rPr>
              <a:t>Теперь сделаем то же самое для класса </a:t>
            </a:r>
            <a:r>
              <a:rPr b="1" i="1" lang="en-US" sz="2000" u="none">
                <a:solidFill>
                  <a:srgbClr val="FFC000"/>
                </a:solidFill>
                <a:latin typeface="Quattrocento Sans"/>
                <a:ea typeface="Quattrocento Sans"/>
                <a:cs typeface="Quattrocento Sans"/>
                <a:sym typeface="Quattrocento Sans"/>
              </a:rPr>
              <a:t>HAM</a:t>
            </a:r>
            <a:r>
              <a:rPr b="0" i="0" lang="en-US" sz="2000" u="none">
                <a:solidFill>
                  <a:schemeClr val="lt1"/>
                </a:solidFill>
                <a:latin typeface="Quattrocento Sans"/>
                <a:ea typeface="Quattrocento Sans"/>
                <a:cs typeface="Quattrocento Sans"/>
                <a:sym typeface="Quattrocento Sans"/>
              </a:rPr>
              <a:t>:</a:t>
            </a:r>
            <a:endParaRPr/>
          </a:p>
          <a:p>
            <a:pPr indent="0" lvl="0" marL="0" marR="0" rtl="0" algn="l">
              <a:lnSpc>
                <a:spcPct val="100000"/>
              </a:lnSpc>
              <a:spcBef>
                <a:spcPts val="0"/>
              </a:spcBef>
              <a:spcAft>
                <a:spcPts val="0"/>
              </a:spcAft>
              <a:buClr>
                <a:schemeClr val="lt1"/>
              </a:buClr>
              <a:buSzPts val="2000"/>
              <a:buFont typeface="Arial"/>
              <a:buNone/>
            </a:pPr>
            <a:r>
              <a:rPr b="0" i="0" lang="en-US" sz="2000" u="none">
                <a:solidFill>
                  <a:schemeClr val="lt1"/>
                </a:solidFill>
                <a:latin typeface="Arial"/>
                <a:ea typeface="Arial"/>
                <a:cs typeface="Arial"/>
                <a:sym typeface="Arial"/>
              </a:rPr>
              <a:t>	</a:t>
            </a:r>
            <a:r>
              <a:rPr b="0" i="1" lang="en-US" sz="2000" u="none">
                <a:solidFill>
                  <a:schemeClr val="lt1"/>
                </a:solidFill>
                <a:latin typeface="Arial"/>
                <a:ea typeface="Arial"/>
                <a:cs typeface="Arial"/>
                <a:sym typeface="Arial"/>
              </a:rPr>
              <a:t>log(1/3)+log(2/(8+3))+log(2/(8+3))+log(1/(8+3))≈−6.906</a:t>
            </a:r>
            <a:endParaRPr/>
          </a:p>
        </p:txBody>
      </p:sp>
      <p:sp>
        <p:nvSpPr>
          <p:cNvPr id="403" name="Google Shape;403;p35"/>
          <p:cNvSpPr txBox="1"/>
          <p:nvPr/>
        </p:nvSpPr>
        <p:spPr>
          <a:xfrm>
            <a:off x="5130800" y="1503362"/>
            <a:ext cx="47307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Quattrocento Sans"/>
              <a:buNone/>
            </a:pPr>
            <a:r>
              <a:rPr b="1" i="0" lang="en-US" sz="1800" u="none">
                <a:solidFill>
                  <a:schemeClr val="lt1"/>
                </a:solidFill>
                <a:latin typeface="Quattrocento Sans"/>
                <a:ea typeface="Quattrocento Sans"/>
                <a:cs typeface="Quattrocento Sans"/>
                <a:sym typeface="Quattrocento Sans"/>
              </a:rPr>
              <a:t>(9)</a:t>
            </a:r>
            <a:endParaRPr/>
          </a:p>
        </p:txBody>
      </p:sp>
      <p:pic>
        <p:nvPicPr>
          <p:cNvPr id="404" name="Google Shape;404;p35"/>
          <p:cNvPicPr preferRelativeResize="0"/>
          <p:nvPr/>
        </p:nvPicPr>
        <p:blipFill rotWithShape="1">
          <a:blip r:embed="rId3">
            <a:alphaModFix/>
          </a:blip>
          <a:srcRect b="0" l="0" r="0" t="0"/>
          <a:stretch/>
        </p:blipFill>
        <p:spPr>
          <a:xfrm>
            <a:off x="2825750" y="1346200"/>
            <a:ext cx="2305050" cy="685800"/>
          </a:xfrm>
          <a:prstGeom prst="rect">
            <a:avLst/>
          </a:prstGeom>
          <a:noFill/>
          <a:ln>
            <a:noFill/>
          </a:ln>
        </p:spPr>
      </p:pic>
      <p:graphicFrame>
        <p:nvGraphicFramePr>
          <p:cNvPr id="405" name="Google Shape;405;p35"/>
          <p:cNvGraphicFramePr/>
          <p:nvPr/>
        </p:nvGraphicFramePr>
        <p:xfrm>
          <a:off x="631825" y="5021262"/>
          <a:ext cx="3000000" cy="3000000"/>
        </p:xfrm>
        <a:graphic>
          <a:graphicData uri="http://schemas.openxmlformats.org/drawingml/2006/table">
            <a:tbl>
              <a:tblPr>
                <a:noFill/>
                <a:tableStyleId>{4A9718B0-E53D-4CFF-AC7E-A2A48AE619F5}</a:tableStyleId>
              </a:tblPr>
              <a:tblGrid>
                <a:gridCol w="3098800"/>
              </a:tblGrid>
              <a:tr h="263525">
                <a:tc>
                  <a:txBody>
                    <a:bodyPr/>
                    <a:lstStyle/>
                    <a:p>
                      <a:pPr indent="0" lvl="0" marL="0" marR="0" rtl="0" algn="l">
                        <a:lnSpc>
                          <a:spcPct val="100000"/>
                        </a:lnSpc>
                        <a:spcBef>
                          <a:spcPts val="0"/>
                        </a:spcBef>
                        <a:spcAft>
                          <a:spcPts val="0"/>
                        </a:spcAft>
                        <a:buClr>
                          <a:srgbClr val="060000"/>
                        </a:buClr>
                        <a:buSzPts val="1100"/>
                        <a:buFont typeface="Times New Roman"/>
                        <a:buNone/>
                      </a:pPr>
                      <a:r>
                        <a:rPr b="1" i="0" lang="en-US" sz="1100" u="none">
                          <a:solidFill>
                            <a:srgbClr val="060000"/>
                          </a:solidFill>
                          <a:latin typeface="Times New Roman"/>
                          <a:ea typeface="Times New Roman"/>
                          <a:cs typeface="Times New Roman"/>
                          <a:sym typeface="Times New Roman"/>
                        </a:rPr>
                        <a:t> </a:t>
                      </a:r>
                      <a:r>
                        <a:rPr b="1" i="0" lang="en-US" sz="1600" u="none">
                          <a:solidFill>
                            <a:srgbClr val="060000"/>
                          </a:solidFill>
                          <a:latin typeface="Times New Roman"/>
                          <a:ea typeface="Times New Roman"/>
                          <a:cs typeface="Times New Roman"/>
                          <a:sym typeface="Times New Roman"/>
                        </a:rPr>
                        <a:t>D=3</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768350">
                <a:tc>
                  <a:txBody>
                    <a:bodyPr/>
                    <a:lstStyle/>
                    <a:p>
                      <a:pPr indent="0" lvl="0" marL="0" marR="0" rtl="0" algn="l">
                        <a:lnSpc>
                          <a:spcPct val="100000"/>
                        </a:lnSpc>
                        <a:spcBef>
                          <a:spcPts val="0"/>
                        </a:spcBef>
                        <a:spcAft>
                          <a:spcPts val="0"/>
                        </a:spcAft>
                        <a:buClr>
                          <a:schemeClr val="dk1"/>
                        </a:buClr>
                        <a:buSzPts val="1400"/>
                        <a:buFont typeface="Quattrocento Sans"/>
                        <a:buNone/>
                      </a:pPr>
                      <a:r>
                        <a:rPr b="1" i="0" lang="en-US" sz="1400" u="none">
                          <a:solidFill>
                            <a:schemeClr val="dk1"/>
                          </a:solidFill>
                          <a:latin typeface="Quattrocento Sans"/>
                          <a:ea typeface="Quattrocento Sans"/>
                          <a:cs typeface="Quattrocento Sans"/>
                          <a:sym typeface="Quattrocento Sans"/>
                        </a:rPr>
                        <a:t>общее количество документов в обучающей выборке</a:t>
                      </a:r>
                      <a:endParaRPr/>
                    </a:p>
                  </a:txBody>
                  <a:tcPr marT="9500" marB="9500" marR="9525" marL="95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r>
            </a:tbl>
          </a:graphicData>
        </a:graphic>
      </p:graphicFrame>
      <p:cxnSp>
        <p:nvCxnSpPr>
          <p:cNvPr id="406" name="Google Shape;406;p35"/>
          <p:cNvCxnSpPr/>
          <p:nvPr/>
        </p:nvCxnSpPr>
        <p:spPr>
          <a:xfrm flipH="1">
            <a:off x="1104900" y="3629025"/>
            <a:ext cx="985837" cy="1466850"/>
          </a:xfrm>
          <a:prstGeom prst="straightConnector1">
            <a:avLst/>
          </a:prstGeom>
          <a:noFill/>
          <a:ln cap="flat" cmpd="sng" w="22225">
            <a:solidFill>
              <a:srgbClr val="FF0000"/>
            </a:solidFill>
            <a:prstDash val="solid"/>
            <a:miter lim="800000"/>
            <a:headEnd len="lg" w="lg" type="stealth"/>
            <a:tailEnd len="med" w="med" type="none"/>
          </a:ln>
        </p:spPr>
      </p:cxnSp>
      <p:sp>
        <p:nvSpPr>
          <p:cNvPr id="407" name="Google Shape;407;p35"/>
          <p:cNvSpPr txBox="1"/>
          <p:nvPr/>
        </p:nvSpPr>
        <p:spPr>
          <a:xfrm>
            <a:off x="795337" y="6181725"/>
            <a:ext cx="7561262"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Quattrocento Sans"/>
              <a:buNone/>
            </a:pPr>
            <a:r>
              <a:rPr b="0" i="0" lang="en-US" sz="1800" u="none">
                <a:solidFill>
                  <a:schemeClr val="lt1"/>
                </a:solidFill>
                <a:latin typeface="Quattrocento Sans"/>
                <a:ea typeface="Quattrocento Sans"/>
                <a:cs typeface="Quattrocento Sans"/>
                <a:sym typeface="Quattrocento Sans"/>
              </a:rPr>
              <a:t>В данном случае класс </a:t>
            </a:r>
            <a:r>
              <a:rPr b="1" i="1" lang="en-US" sz="1800" u="none">
                <a:solidFill>
                  <a:srgbClr val="FFC000"/>
                </a:solidFill>
                <a:latin typeface="Quattrocento Sans"/>
                <a:ea typeface="Quattrocento Sans"/>
                <a:cs typeface="Quattrocento Sans"/>
                <a:sym typeface="Quattrocento Sans"/>
              </a:rPr>
              <a:t>HAM</a:t>
            </a:r>
            <a:r>
              <a:rPr b="0" i="0" lang="en-US" sz="1800" u="none">
                <a:solidFill>
                  <a:schemeClr val="lt1"/>
                </a:solidFill>
                <a:latin typeface="Quattrocento Sans"/>
                <a:ea typeface="Quattrocento Sans"/>
                <a:cs typeface="Quattrocento Sans"/>
                <a:sym typeface="Quattrocento Sans"/>
              </a:rPr>
              <a:t> выиграл и сообщение не будет помечено как спам.</a:t>
            </a:r>
            <a:endParaRPr/>
          </a:p>
        </p:txBody>
      </p:sp>
      <p:cxnSp>
        <p:nvCxnSpPr>
          <p:cNvPr id="408" name="Google Shape;408;p35"/>
          <p:cNvCxnSpPr/>
          <p:nvPr/>
        </p:nvCxnSpPr>
        <p:spPr>
          <a:xfrm>
            <a:off x="1828800" y="3629025"/>
            <a:ext cx="1290637" cy="595312"/>
          </a:xfrm>
          <a:prstGeom prst="straightConnector1">
            <a:avLst/>
          </a:prstGeom>
          <a:noFill/>
          <a:ln cap="flat" cmpd="sng" w="22225">
            <a:solidFill>
              <a:srgbClr val="FF0000"/>
            </a:solidFill>
            <a:prstDash val="solid"/>
            <a:miter lim="800000"/>
            <a:headEnd len="lg" w="lg" type="stealth"/>
            <a:tailEnd len="med" w="med" type="none"/>
          </a:ln>
        </p:spPr>
      </p:cxnSp>
      <p:sp>
        <p:nvSpPr>
          <p:cNvPr id="409" name="Google Shape;409;p35"/>
          <p:cNvSpPr/>
          <p:nvPr/>
        </p:nvSpPr>
        <p:spPr>
          <a:xfrm>
            <a:off x="4881562" y="3816350"/>
            <a:ext cx="571500" cy="250825"/>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400"/>
              <a:buFont typeface="Quattrocento Sans"/>
              <a:buNone/>
            </a:pPr>
            <a:r>
              <a:rPr b="1" i="0" lang="en-US" sz="1400" u="none">
                <a:solidFill>
                  <a:srgbClr val="FF0000"/>
                </a:solidFill>
                <a:latin typeface="Quattrocento Sans"/>
                <a:ea typeface="Quattrocento Sans"/>
                <a:cs typeface="Quattrocento Sans"/>
                <a:sym typeface="Quattrocento Sans"/>
              </a:rPr>
              <a:t>V=8</a:t>
            </a:r>
            <a:endParaRPr/>
          </a:p>
        </p:txBody>
      </p:sp>
      <p:sp>
        <p:nvSpPr>
          <p:cNvPr id="410" name="Google Shape;410;p35"/>
          <p:cNvSpPr/>
          <p:nvPr/>
        </p:nvSpPr>
        <p:spPr>
          <a:xfrm>
            <a:off x="3097212" y="3448050"/>
            <a:ext cx="141287" cy="203200"/>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800"/>
              <a:buFont typeface="Quattrocento Sans"/>
              <a:buNone/>
            </a:pPr>
            <a:r>
              <a:rPr b="1" i="0" lang="en-US" sz="1800" u="none">
                <a:solidFill>
                  <a:srgbClr val="FF0000"/>
                </a:solidFill>
                <a:latin typeface="Quattrocento Sans"/>
                <a:ea typeface="Quattrocento Sans"/>
                <a:cs typeface="Quattrocento Sans"/>
                <a:sym typeface="Quattrocento Sans"/>
              </a:rPr>
              <a:t>8</a:t>
            </a:r>
            <a:endParaRPr/>
          </a:p>
        </p:txBody>
      </p:sp>
      <p:sp>
        <p:nvSpPr>
          <p:cNvPr id="411" name="Google Shape;411;p35"/>
          <p:cNvSpPr/>
          <p:nvPr/>
        </p:nvSpPr>
        <p:spPr>
          <a:xfrm>
            <a:off x="4449762" y="3433762"/>
            <a:ext cx="141287" cy="188912"/>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800"/>
              <a:buFont typeface="Quattrocento Sans"/>
              <a:buNone/>
            </a:pPr>
            <a:r>
              <a:rPr b="1" i="0" lang="en-US" sz="1800" u="none">
                <a:solidFill>
                  <a:srgbClr val="FF0000"/>
                </a:solidFill>
                <a:latin typeface="Quattrocento Sans"/>
                <a:ea typeface="Quattrocento Sans"/>
                <a:cs typeface="Quattrocento Sans"/>
                <a:sym typeface="Quattrocento Sans"/>
              </a:rPr>
              <a:t>8</a:t>
            </a:r>
            <a:endParaRPr/>
          </a:p>
        </p:txBody>
      </p:sp>
      <p:sp>
        <p:nvSpPr>
          <p:cNvPr id="412" name="Google Shape;412;p35"/>
          <p:cNvSpPr/>
          <p:nvPr/>
        </p:nvSpPr>
        <p:spPr>
          <a:xfrm>
            <a:off x="5799137" y="3433762"/>
            <a:ext cx="73025" cy="192087"/>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800"/>
              <a:buFont typeface="Quattrocento Sans"/>
              <a:buNone/>
            </a:pPr>
            <a:r>
              <a:rPr b="1" i="0" lang="en-US" sz="1800" u="none">
                <a:solidFill>
                  <a:srgbClr val="FF0000"/>
                </a:solidFill>
                <a:latin typeface="Quattrocento Sans"/>
                <a:ea typeface="Quattrocento Sans"/>
                <a:cs typeface="Quattrocento Sans"/>
                <a:sym typeface="Quattrocento Sans"/>
              </a:rPr>
              <a:t>8</a:t>
            </a:r>
            <a:endParaRPr/>
          </a:p>
        </p:txBody>
      </p:sp>
      <p:sp>
        <p:nvSpPr>
          <p:cNvPr id="413" name="Google Shape;413;p35"/>
          <p:cNvSpPr/>
          <p:nvPr/>
        </p:nvSpPr>
        <p:spPr>
          <a:xfrm>
            <a:off x="3294062" y="4524375"/>
            <a:ext cx="203200" cy="212725"/>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800"/>
              <a:buFont typeface="Quattrocento Sans"/>
              <a:buNone/>
            </a:pPr>
            <a:r>
              <a:rPr b="1" i="0" lang="en-US" sz="1800" u="none">
                <a:solidFill>
                  <a:srgbClr val="FF0000"/>
                </a:solidFill>
                <a:latin typeface="Quattrocento Sans"/>
                <a:ea typeface="Quattrocento Sans"/>
                <a:cs typeface="Quattrocento Sans"/>
                <a:sym typeface="Quattrocento Sans"/>
              </a:rPr>
              <a:t>3</a:t>
            </a:r>
            <a:endParaRPr/>
          </a:p>
        </p:txBody>
      </p:sp>
      <p:sp>
        <p:nvSpPr>
          <p:cNvPr id="414" name="Google Shape;414;p35"/>
          <p:cNvSpPr/>
          <p:nvPr/>
        </p:nvSpPr>
        <p:spPr>
          <a:xfrm>
            <a:off x="3343275" y="3449637"/>
            <a:ext cx="141287" cy="201612"/>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800"/>
              <a:buFont typeface="Quattrocento Sans"/>
              <a:buNone/>
            </a:pPr>
            <a:r>
              <a:rPr b="1" i="0" lang="en-US" sz="1800" u="none">
                <a:solidFill>
                  <a:srgbClr val="FF0000"/>
                </a:solidFill>
                <a:latin typeface="Quattrocento Sans"/>
                <a:ea typeface="Quattrocento Sans"/>
                <a:cs typeface="Quattrocento Sans"/>
                <a:sym typeface="Quattrocento Sans"/>
              </a:rPr>
              <a:t>3</a:t>
            </a:r>
            <a:endParaRPr/>
          </a:p>
        </p:txBody>
      </p:sp>
      <p:sp>
        <p:nvSpPr>
          <p:cNvPr id="415" name="Google Shape;415;p35"/>
          <p:cNvSpPr/>
          <p:nvPr/>
        </p:nvSpPr>
        <p:spPr>
          <a:xfrm>
            <a:off x="4733925" y="3436937"/>
            <a:ext cx="141287" cy="188912"/>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800"/>
              <a:buFont typeface="Quattrocento Sans"/>
              <a:buNone/>
            </a:pPr>
            <a:r>
              <a:rPr b="1" i="0" lang="en-US" sz="1800" u="none">
                <a:solidFill>
                  <a:srgbClr val="FF0000"/>
                </a:solidFill>
                <a:latin typeface="Quattrocento Sans"/>
                <a:ea typeface="Quattrocento Sans"/>
                <a:cs typeface="Quattrocento Sans"/>
                <a:sym typeface="Quattrocento Sans"/>
              </a:rPr>
              <a:t>3</a:t>
            </a:r>
            <a:endParaRPr/>
          </a:p>
        </p:txBody>
      </p:sp>
      <p:sp>
        <p:nvSpPr>
          <p:cNvPr id="416" name="Google Shape;416;p35"/>
          <p:cNvSpPr/>
          <p:nvPr/>
        </p:nvSpPr>
        <p:spPr>
          <a:xfrm>
            <a:off x="6091237" y="3436937"/>
            <a:ext cx="73025" cy="192087"/>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800"/>
              <a:buFont typeface="Quattrocento Sans"/>
              <a:buNone/>
            </a:pPr>
            <a:r>
              <a:rPr b="1" i="0" lang="en-US" sz="1800" u="none">
                <a:solidFill>
                  <a:srgbClr val="FF0000"/>
                </a:solidFill>
                <a:latin typeface="Quattrocento Sans"/>
                <a:ea typeface="Quattrocento Sans"/>
                <a:cs typeface="Quattrocento Sans"/>
                <a:sym typeface="Quattrocento Sans"/>
              </a:rPr>
              <a:t>3</a:t>
            </a:r>
            <a:endParaRPr/>
          </a:p>
        </p:txBody>
      </p:sp>
      <p:sp>
        <p:nvSpPr>
          <p:cNvPr id="417" name="Google Shape;417;p35"/>
          <p:cNvSpPr/>
          <p:nvPr/>
        </p:nvSpPr>
        <p:spPr>
          <a:xfrm>
            <a:off x="7907337" y="5684837"/>
            <a:ext cx="260350" cy="180975"/>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800"/>
              <a:buFont typeface="Quattrocento Sans"/>
              <a:buNone/>
            </a:pPr>
            <a:r>
              <a:rPr b="1" i="0" lang="en-US" sz="1800" u="none">
                <a:solidFill>
                  <a:srgbClr val="FF0000"/>
                </a:solidFill>
                <a:latin typeface="Quattrocento Sans"/>
                <a:ea typeface="Quattrocento Sans"/>
                <a:cs typeface="Quattrocento Sans"/>
                <a:sym typeface="Quattrocento Sans"/>
              </a:rPr>
              <a:t>1+1</a:t>
            </a:r>
            <a:endParaRPr/>
          </a:p>
        </p:txBody>
      </p:sp>
      <p:sp>
        <p:nvSpPr>
          <p:cNvPr id="418" name="Google Shape;418;p35"/>
          <p:cNvSpPr/>
          <p:nvPr/>
        </p:nvSpPr>
        <p:spPr>
          <a:xfrm>
            <a:off x="7907337" y="5165725"/>
            <a:ext cx="260350" cy="180975"/>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800"/>
              <a:buFont typeface="Quattrocento Sans"/>
              <a:buNone/>
            </a:pPr>
            <a:r>
              <a:rPr b="1" i="0" lang="en-US" sz="1800" u="none">
                <a:solidFill>
                  <a:srgbClr val="FF0000"/>
                </a:solidFill>
                <a:latin typeface="Quattrocento Sans"/>
                <a:ea typeface="Quattrocento Sans"/>
                <a:cs typeface="Quattrocento Sans"/>
                <a:sym typeface="Quattrocento Sans"/>
              </a:rPr>
              <a:t>1+1</a:t>
            </a:r>
            <a:endParaRPr/>
          </a:p>
        </p:txBody>
      </p:sp>
      <p:sp>
        <p:nvSpPr>
          <p:cNvPr id="419" name="Google Shape;419;p35"/>
          <p:cNvSpPr/>
          <p:nvPr/>
        </p:nvSpPr>
        <p:spPr>
          <a:xfrm>
            <a:off x="2774950" y="3448050"/>
            <a:ext cx="141287" cy="180975"/>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800"/>
              <a:buFont typeface="Quattrocento Sans"/>
              <a:buNone/>
            </a:pPr>
            <a:r>
              <a:rPr b="1" i="0" lang="en-US" sz="1800" u="none">
                <a:solidFill>
                  <a:srgbClr val="FF0000"/>
                </a:solidFill>
                <a:latin typeface="Quattrocento Sans"/>
                <a:ea typeface="Quattrocento Sans"/>
                <a:cs typeface="Quattrocento Sans"/>
                <a:sym typeface="Quattrocento Sans"/>
              </a:rPr>
              <a:t>2</a:t>
            </a:r>
            <a:endParaRPr/>
          </a:p>
        </p:txBody>
      </p:sp>
      <p:sp>
        <p:nvSpPr>
          <p:cNvPr id="420" name="Google Shape;420;p35"/>
          <p:cNvSpPr/>
          <p:nvPr/>
        </p:nvSpPr>
        <p:spPr>
          <a:xfrm>
            <a:off x="4152900" y="3446462"/>
            <a:ext cx="141287" cy="188912"/>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1800"/>
              <a:buFont typeface="Quattrocento Sans"/>
              <a:buNone/>
            </a:pPr>
            <a:r>
              <a:rPr b="1" i="0" lang="en-US" sz="1800" u="none">
                <a:solidFill>
                  <a:srgbClr val="FF0000"/>
                </a:solidFill>
                <a:latin typeface="Quattrocento Sans"/>
                <a:ea typeface="Quattrocento Sans"/>
                <a:cs typeface="Quattrocento Sans"/>
                <a:sym typeface="Quattrocento Sans"/>
              </a:rPr>
              <a:t>2</a:t>
            </a:r>
            <a:endParaRPr/>
          </a:p>
        </p:txBody>
      </p:sp>
      <p:sp>
        <p:nvSpPr>
          <p:cNvPr id="421" name="Google Shape;421;p35"/>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500"/>
                                        <p:tgtEl>
                                          <p:spTgt spid="4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500"/>
                                        <p:tgtEl>
                                          <p:spTgt spid="410"/>
                                        </p:tgtEl>
                                      </p:cBhvr>
                                    </p:animEffect>
                                  </p:childTnLst>
                                </p:cTn>
                              </p:par>
                              <p:par>
                                <p:cTn fill="hold" nodeType="with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500"/>
                                        <p:tgtEl>
                                          <p:spTgt spid="411"/>
                                        </p:tgtEl>
                                      </p:cBhvr>
                                    </p:animEffect>
                                  </p:childTnLst>
                                </p:cTn>
                              </p:par>
                              <p:par>
                                <p:cTn fill="hold" nodeType="with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500"/>
                                        <p:tgtEl>
                                          <p:spTgt spid="4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500"/>
                                        <p:tgtEl>
                                          <p:spTgt spid="4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500"/>
                                        <p:tgtEl>
                                          <p:spTgt spid="414"/>
                                        </p:tgtEl>
                                      </p:cBhvr>
                                    </p:animEffect>
                                  </p:childTnLst>
                                </p:cTn>
                              </p:par>
                              <p:par>
                                <p:cTn fill="hold" nodeType="with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500"/>
                                        <p:tgtEl>
                                          <p:spTgt spid="415"/>
                                        </p:tgtEl>
                                      </p:cBhvr>
                                    </p:animEffect>
                                  </p:childTnLst>
                                </p:cTn>
                              </p:par>
                              <p:par>
                                <p:cTn fill="hold" nodeType="with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500"/>
                                        <p:tgtEl>
                                          <p:spTgt spid="4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500"/>
                                        <p:tgtEl>
                                          <p:spTgt spid="4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500"/>
                                        <p:tgtEl>
                                          <p:spTgt spid="4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500"/>
                                        <p:tgtEl>
                                          <p:spTgt spid="4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500"/>
                                        <p:tgtEl>
                                          <p:spTgt spid="4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5" name="Shape 425"/>
        <p:cNvGrpSpPr/>
        <p:nvPr/>
      </p:nvGrpSpPr>
      <p:grpSpPr>
        <a:xfrm>
          <a:off x="0" y="0"/>
          <a:ext cx="0" cy="0"/>
          <a:chOff x="0" y="0"/>
          <a:chExt cx="0" cy="0"/>
        </a:xfrm>
      </p:grpSpPr>
      <p:sp>
        <p:nvSpPr>
          <p:cNvPr id="426" name="Google Shape;426;p36"/>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Наивный Байесовский метод</a:t>
            </a:r>
            <a:endParaRPr/>
          </a:p>
        </p:txBody>
      </p:sp>
      <p:sp>
        <p:nvSpPr>
          <p:cNvPr id="427" name="Google Shape;427;p36"/>
          <p:cNvSpPr txBox="1"/>
          <p:nvPr>
            <p:ph idx="1" type="body"/>
          </p:nvPr>
        </p:nvSpPr>
        <p:spPr>
          <a:xfrm>
            <a:off x="338137" y="1277937"/>
            <a:ext cx="8356600" cy="5137150"/>
          </a:xfrm>
          <a:prstGeom prst="rect">
            <a:avLst/>
          </a:prstGeom>
          <a:noFill/>
          <a:ln>
            <a:noFill/>
          </a:ln>
        </p:spPr>
        <p:txBody>
          <a:bodyPr anchorCtr="0" anchor="t" bIns="45700" lIns="91425" spcFirstLastPara="1" rIns="91425" wrap="square" tIns="45700">
            <a:spAutoFit/>
          </a:bodyPr>
          <a:lstStyle/>
          <a:p>
            <a:pPr indent="-334962" lvl="0" marL="334962" rtl="0" algn="l">
              <a:lnSpc>
                <a:spcPct val="85000"/>
              </a:lnSpc>
              <a:spcBef>
                <a:spcPts val="0"/>
              </a:spcBef>
              <a:spcAft>
                <a:spcPts val="0"/>
              </a:spcAft>
              <a:buSzPts val="1600"/>
              <a:buChar char="•"/>
            </a:pPr>
            <a:r>
              <a:rPr b="0" i="0" lang="en-US" sz="2000" u="none">
                <a:solidFill>
                  <a:schemeClr val="lt1"/>
                </a:solidFill>
                <a:latin typeface="Quattrocento Sans"/>
                <a:ea typeface="Quattrocento Sans"/>
                <a:cs typeface="Quattrocento Sans"/>
                <a:sym typeface="Quattrocento Sans"/>
              </a:rPr>
              <a:t>В основе лежит известная со школы формула Байеса вычисления условной вероятности </a:t>
            </a:r>
            <a:endParaRPr/>
          </a:p>
          <a:p>
            <a:pPr indent="-282575" lvl="1" marL="619125" rtl="0" algn="l">
              <a:lnSpc>
                <a:spcPct val="85000"/>
              </a:lnSpc>
              <a:spcBef>
                <a:spcPts val="450"/>
              </a:spcBef>
              <a:spcAft>
                <a:spcPts val="0"/>
              </a:spcAft>
              <a:buSzPts val="1350"/>
              <a:buChar char="•"/>
            </a:pPr>
            <a:r>
              <a:rPr b="0" i="0" lang="en-US" sz="1800" u="none">
                <a:solidFill>
                  <a:schemeClr val="lt1"/>
                </a:solidFill>
                <a:latin typeface="Quattrocento Sans"/>
                <a:ea typeface="Quattrocento Sans"/>
                <a:cs typeface="Quattrocento Sans"/>
                <a:sym typeface="Quattrocento Sans"/>
              </a:rPr>
              <a:t>Если есть гипотеза H и свидетельство справедливости этой гипотезы E, то P(Н|Е) = P(Н)P(Е|Н) / P(Е)				(1)</a:t>
            </a:r>
            <a:endParaRPr/>
          </a:p>
          <a:p>
            <a:pPr indent="-334962" lvl="0" marL="334962" rtl="0" algn="l">
              <a:lnSpc>
                <a:spcPct val="85000"/>
              </a:lnSpc>
              <a:spcBef>
                <a:spcPts val="0"/>
              </a:spcBef>
              <a:spcAft>
                <a:spcPts val="0"/>
              </a:spcAft>
              <a:buSzPts val="1600"/>
              <a:buChar char="•"/>
            </a:pPr>
            <a:r>
              <a:rPr b="0" i="0" lang="en-US" sz="2000" u="none">
                <a:solidFill>
                  <a:srgbClr val="FFC000"/>
                </a:solidFill>
                <a:latin typeface="Quattrocento Sans"/>
                <a:ea typeface="Quattrocento Sans"/>
                <a:cs typeface="Quattrocento Sans"/>
                <a:sym typeface="Quattrocento Sans"/>
              </a:rPr>
              <a:t>Пример </a:t>
            </a:r>
            <a:endParaRPr/>
          </a:p>
          <a:p>
            <a:pPr indent="-282575" lvl="1" marL="619125" rtl="0" algn="l">
              <a:lnSpc>
                <a:spcPct val="85000"/>
              </a:lnSpc>
              <a:spcBef>
                <a:spcPts val="0"/>
              </a:spcBef>
              <a:spcAft>
                <a:spcPts val="0"/>
              </a:spcAft>
              <a:buSzPts val="1350"/>
              <a:buChar char="•"/>
            </a:pPr>
            <a:r>
              <a:rPr b="0" i="0" lang="en-US" sz="1800" u="none">
                <a:solidFill>
                  <a:schemeClr val="lt1"/>
                </a:solidFill>
                <a:latin typeface="Quattrocento Sans"/>
                <a:ea typeface="Quattrocento Sans"/>
                <a:cs typeface="Quattrocento Sans"/>
                <a:sym typeface="Quattrocento Sans"/>
              </a:rPr>
              <a:t>Известно, что в конгрессе США ответы демократов и республиканцев по основным политическим вопросам распределились как</a:t>
            </a:r>
            <a:endParaRPr/>
          </a:p>
          <a:p>
            <a:pPr indent="-196850" lvl="1" marL="619125" rtl="0" algn="l">
              <a:lnSpc>
                <a:spcPct val="85000"/>
              </a:lnSpc>
              <a:spcBef>
                <a:spcPts val="0"/>
              </a:spcBef>
              <a:spcAft>
                <a:spcPts val="0"/>
              </a:spcAft>
              <a:buSzPts val="1350"/>
              <a:buNone/>
            </a:pPr>
            <a:r>
              <a:t/>
            </a:r>
            <a:endParaRPr b="0" i="0" sz="1800" u="none">
              <a:solidFill>
                <a:schemeClr val="lt1"/>
              </a:solidFill>
              <a:latin typeface="Quattrocento Sans"/>
              <a:ea typeface="Quattrocento Sans"/>
              <a:cs typeface="Quattrocento Sans"/>
              <a:sym typeface="Quattrocento Sans"/>
            </a:endParaRPr>
          </a:p>
          <a:p>
            <a:pPr indent="-196850" lvl="1" marL="619125" rtl="0" algn="l">
              <a:lnSpc>
                <a:spcPct val="85000"/>
              </a:lnSpc>
              <a:spcBef>
                <a:spcPts val="0"/>
              </a:spcBef>
              <a:spcAft>
                <a:spcPts val="0"/>
              </a:spcAft>
              <a:buSzPts val="1350"/>
              <a:buNone/>
            </a:pPr>
            <a:r>
              <a:t/>
            </a:r>
            <a:endParaRPr b="0" i="0" sz="1800" u="none">
              <a:solidFill>
                <a:schemeClr val="lt1"/>
              </a:solidFill>
              <a:latin typeface="Quattrocento Sans"/>
              <a:ea typeface="Quattrocento Sans"/>
              <a:cs typeface="Quattrocento Sans"/>
              <a:sym typeface="Quattrocento Sans"/>
            </a:endParaRPr>
          </a:p>
          <a:p>
            <a:pPr indent="-196850" lvl="1" marL="619125" rtl="0" algn="l">
              <a:lnSpc>
                <a:spcPct val="85000"/>
              </a:lnSpc>
              <a:spcBef>
                <a:spcPts val="0"/>
              </a:spcBef>
              <a:spcAft>
                <a:spcPts val="0"/>
              </a:spcAft>
              <a:buSzPts val="1350"/>
              <a:buNone/>
            </a:pPr>
            <a:r>
              <a:t/>
            </a:r>
            <a:endParaRPr b="0" i="0" sz="1800" u="none">
              <a:solidFill>
                <a:schemeClr val="lt1"/>
              </a:solidFill>
              <a:latin typeface="Quattrocento Sans"/>
              <a:ea typeface="Quattrocento Sans"/>
              <a:cs typeface="Quattrocento Sans"/>
              <a:sym typeface="Quattrocento Sans"/>
            </a:endParaRPr>
          </a:p>
          <a:p>
            <a:pPr indent="-196850" lvl="1" marL="619125" rtl="0" algn="l">
              <a:lnSpc>
                <a:spcPct val="85000"/>
              </a:lnSpc>
              <a:spcBef>
                <a:spcPts val="0"/>
              </a:spcBef>
              <a:spcAft>
                <a:spcPts val="0"/>
              </a:spcAft>
              <a:buSzPts val="1350"/>
              <a:buNone/>
            </a:pPr>
            <a:r>
              <a:t/>
            </a:r>
            <a:endParaRPr b="0" i="0" sz="1800" u="none">
              <a:solidFill>
                <a:schemeClr val="lt1"/>
              </a:solidFill>
              <a:latin typeface="Quattrocento Sans"/>
              <a:ea typeface="Quattrocento Sans"/>
              <a:cs typeface="Quattrocento Sans"/>
              <a:sym typeface="Quattrocento Sans"/>
            </a:endParaRPr>
          </a:p>
          <a:p>
            <a:pPr indent="-196850" lvl="1" marL="619125" rtl="0" algn="l">
              <a:lnSpc>
                <a:spcPct val="85000"/>
              </a:lnSpc>
              <a:spcBef>
                <a:spcPts val="0"/>
              </a:spcBef>
              <a:spcAft>
                <a:spcPts val="0"/>
              </a:spcAft>
              <a:buSzPts val="1350"/>
              <a:buNone/>
            </a:pPr>
            <a:r>
              <a:t/>
            </a:r>
            <a:endParaRPr b="0" i="0" sz="1800" u="none">
              <a:solidFill>
                <a:schemeClr val="lt1"/>
              </a:solidFill>
              <a:latin typeface="Quattrocento Sans"/>
              <a:ea typeface="Quattrocento Sans"/>
              <a:cs typeface="Quattrocento Sans"/>
              <a:sym typeface="Quattrocento Sans"/>
            </a:endParaRPr>
          </a:p>
          <a:p>
            <a:pPr indent="-196850" lvl="1" marL="619125" rtl="0" algn="l">
              <a:lnSpc>
                <a:spcPct val="85000"/>
              </a:lnSpc>
              <a:spcBef>
                <a:spcPts val="0"/>
              </a:spcBef>
              <a:spcAft>
                <a:spcPts val="0"/>
              </a:spcAft>
              <a:buSzPts val="1350"/>
              <a:buNone/>
            </a:pPr>
            <a:r>
              <a:t/>
            </a:r>
            <a:endParaRPr b="0" i="0" sz="1800" u="none">
              <a:solidFill>
                <a:schemeClr val="lt1"/>
              </a:solidFill>
              <a:latin typeface="Quattrocento Sans"/>
              <a:ea typeface="Quattrocento Sans"/>
              <a:cs typeface="Quattrocento Sans"/>
              <a:sym typeface="Quattrocento Sans"/>
            </a:endParaRPr>
          </a:p>
          <a:p>
            <a:pPr indent="-196850" lvl="1" marL="619125" rtl="0" algn="l">
              <a:lnSpc>
                <a:spcPct val="85000"/>
              </a:lnSpc>
              <a:spcBef>
                <a:spcPts val="0"/>
              </a:spcBef>
              <a:spcAft>
                <a:spcPts val="0"/>
              </a:spcAft>
              <a:buSzPts val="1350"/>
              <a:buNone/>
            </a:pPr>
            <a:r>
              <a:t/>
            </a:r>
            <a:endParaRPr b="0" i="0" sz="1800" u="none">
              <a:solidFill>
                <a:schemeClr val="lt1"/>
              </a:solidFill>
              <a:latin typeface="Quattrocento Sans"/>
              <a:ea typeface="Quattrocento Sans"/>
              <a:cs typeface="Quattrocento Sans"/>
              <a:sym typeface="Quattrocento Sans"/>
            </a:endParaRPr>
          </a:p>
          <a:p>
            <a:pPr indent="-196850" lvl="1" marL="619125" rtl="0" algn="l">
              <a:lnSpc>
                <a:spcPct val="85000"/>
              </a:lnSpc>
              <a:spcBef>
                <a:spcPts val="0"/>
              </a:spcBef>
              <a:spcAft>
                <a:spcPts val="0"/>
              </a:spcAft>
              <a:buSzPts val="1350"/>
              <a:buNone/>
            </a:pPr>
            <a:r>
              <a:t/>
            </a:r>
            <a:endParaRPr b="0" i="0" sz="1800" u="none">
              <a:solidFill>
                <a:schemeClr val="lt1"/>
              </a:solidFill>
              <a:latin typeface="Quattrocento Sans"/>
              <a:ea typeface="Quattrocento Sans"/>
              <a:cs typeface="Quattrocento Sans"/>
              <a:sym typeface="Quattrocento Sans"/>
            </a:endParaRPr>
          </a:p>
          <a:p>
            <a:pPr indent="-196850" lvl="1" marL="619125" rtl="0" algn="l">
              <a:lnSpc>
                <a:spcPct val="85000"/>
              </a:lnSpc>
              <a:spcBef>
                <a:spcPts val="0"/>
              </a:spcBef>
              <a:spcAft>
                <a:spcPts val="0"/>
              </a:spcAft>
              <a:buSzPts val="1350"/>
              <a:buNone/>
            </a:pPr>
            <a:r>
              <a:t/>
            </a:r>
            <a:endParaRPr b="0" i="0" sz="1800" u="none">
              <a:solidFill>
                <a:schemeClr val="lt1"/>
              </a:solidFill>
              <a:latin typeface="Quattrocento Sans"/>
              <a:ea typeface="Quattrocento Sans"/>
              <a:cs typeface="Quattrocento Sans"/>
              <a:sym typeface="Quattrocento Sans"/>
            </a:endParaRPr>
          </a:p>
          <a:p>
            <a:pPr indent="-196850" lvl="1" marL="619125" rtl="0" algn="l">
              <a:lnSpc>
                <a:spcPct val="85000"/>
              </a:lnSpc>
              <a:spcBef>
                <a:spcPts val="0"/>
              </a:spcBef>
              <a:spcAft>
                <a:spcPts val="0"/>
              </a:spcAft>
              <a:buSzPts val="1350"/>
              <a:buNone/>
            </a:pPr>
            <a:r>
              <a:t/>
            </a:r>
            <a:endParaRPr b="0" i="0" sz="1800" u="none">
              <a:solidFill>
                <a:schemeClr val="lt1"/>
              </a:solidFill>
              <a:latin typeface="Quattrocento Sans"/>
              <a:ea typeface="Quattrocento Sans"/>
              <a:cs typeface="Quattrocento Sans"/>
              <a:sym typeface="Quattrocento Sans"/>
            </a:endParaRPr>
          </a:p>
          <a:p>
            <a:pPr indent="-196850" lvl="1" marL="619125" rtl="0" algn="l">
              <a:lnSpc>
                <a:spcPct val="85000"/>
              </a:lnSpc>
              <a:spcBef>
                <a:spcPts val="0"/>
              </a:spcBef>
              <a:spcAft>
                <a:spcPts val="0"/>
              </a:spcAft>
              <a:buSzPts val="1350"/>
              <a:buNone/>
            </a:pPr>
            <a:r>
              <a:t/>
            </a:r>
            <a:endParaRPr b="0" i="0" sz="1800" u="none">
              <a:solidFill>
                <a:schemeClr val="lt1"/>
              </a:solidFill>
              <a:latin typeface="Quattrocento Sans"/>
              <a:ea typeface="Quattrocento Sans"/>
              <a:cs typeface="Quattrocento Sans"/>
              <a:sym typeface="Quattrocento Sans"/>
            </a:endParaRPr>
          </a:p>
          <a:p>
            <a:pPr indent="-282575" lvl="1" marL="619125" rtl="0" algn="l">
              <a:lnSpc>
                <a:spcPct val="85000"/>
              </a:lnSpc>
              <a:spcBef>
                <a:spcPts val="0"/>
              </a:spcBef>
              <a:spcAft>
                <a:spcPts val="0"/>
              </a:spcAft>
              <a:buSzPts val="1350"/>
              <a:buChar char="•"/>
            </a:pPr>
            <a:r>
              <a:rPr b="0" i="0" lang="en-US" sz="1800" u="none">
                <a:solidFill>
                  <a:schemeClr val="lt1"/>
                </a:solidFill>
                <a:latin typeface="Quattrocento Sans"/>
                <a:ea typeface="Quattrocento Sans"/>
                <a:cs typeface="Quattrocento Sans"/>
                <a:sym typeface="Quattrocento Sans"/>
              </a:rPr>
              <a:t>0.2 = 41 / (41 + 166); 0.8 = 166 / (41 + 166)</a:t>
            </a:r>
            <a:endParaRPr/>
          </a:p>
          <a:p>
            <a:pPr indent="-282575" lvl="1" marL="619125" rtl="0" algn="l">
              <a:lnSpc>
                <a:spcPct val="85000"/>
              </a:lnSpc>
              <a:spcBef>
                <a:spcPts val="0"/>
              </a:spcBef>
              <a:spcAft>
                <a:spcPts val="0"/>
              </a:spcAft>
              <a:buSzPts val="1350"/>
              <a:buChar char="•"/>
            </a:pPr>
            <a:r>
              <a:rPr b="0" i="0" lang="en-US" sz="1800" u="none">
                <a:solidFill>
                  <a:schemeClr val="lt1"/>
                </a:solidFill>
                <a:latin typeface="Quattrocento Sans"/>
                <a:ea typeface="Quattrocento Sans"/>
                <a:cs typeface="Quattrocento Sans"/>
                <a:sym typeface="Quattrocento Sans"/>
              </a:rPr>
              <a:t>0.49 = 211 / (211 + 223)</a:t>
            </a:r>
            <a:endParaRPr/>
          </a:p>
          <a:p>
            <a:pPr indent="-243523" lvl="0" marL="334963" rtl="0" algn="l">
              <a:lnSpc>
                <a:spcPct val="85000"/>
              </a:lnSpc>
              <a:spcBef>
                <a:spcPts val="450"/>
              </a:spcBef>
              <a:spcAft>
                <a:spcPts val="0"/>
              </a:spcAft>
              <a:buSzPts val="1440"/>
              <a:buNone/>
            </a:pPr>
            <a:r>
              <a:t/>
            </a:r>
            <a:endParaRPr b="0" i="0" sz="1800" u="none">
              <a:solidFill>
                <a:schemeClr val="lt1"/>
              </a:solidFill>
              <a:latin typeface="Quattrocento Sans"/>
              <a:ea typeface="Quattrocento Sans"/>
              <a:cs typeface="Quattrocento Sans"/>
              <a:sym typeface="Quattrocento Sans"/>
            </a:endParaRPr>
          </a:p>
        </p:txBody>
      </p:sp>
      <p:graphicFrame>
        <p:nvGraphicFramePr>
          <p:cNvPr id="428" name="Google Shape;428;p36"/>
          <p:cNvGraphicFramePr/>
          <p:nvPr/>
        </p:nvGraphicFramePr>
        <p:xfrm>
          <a:off x="639762" y="3316287"/>
          <a:ext cx="3000000" cy="3000000"/>
        </p:xfrm>
        <a:graphic>
          <a:graphicData uri="http://schemas.openxmlformats.org/drawingml/2006/table">
            <a:tbl>
              <a:tblPr>
                <a:noFill/>
                <a:tableStyleId>{4A9718B0-E53D-4CFF-AC7E-A2A48AE619F5}</a:tableStyleId>
              </a:tblPr>
              <a:tblGrid>
                <a:gridCol w="715950"/>
                <a:gridCol w="714375"/>
                <a:gridCol w="715950"/>
                <a:gridCol w="715950"/>
                <a:gridCol w="715950"/>
                <a:gridCol w="715950"/>
                <a:gridCol w="715950"/>
                <a:gridCol w="715950"/>
                <a:gridCol w="715950"/>
                <a:gridCol w="714375"/>
                <a:gridCol w="715950"/>
              </a:tblGrid>
              <a:tr h="525450">
                <a:tc>
                  <a:txBody>
                    <a:bodyPr/>
                    <a:lstStyle/>
                    <a:p>
                      <a:pPr indent="0" lvl="0" marL="0" marR="0" rtl="0" algn="l">
                        <a:spcBef>
                          <a:spcPts val="0"/>
                        </a:spcBef>
                        <a:spcAft>
                          <a:spcPts val="0"/>
                        </a:spcAft>
                        <a:buNone/>
                      </a:pPr>
                      <a:r>
                        <a:t/>
                      </a:r>
                      <a:endParaRPr sz="1800">
                        <a:solidFill>
                          <a:schemeClr val="lt1"/>
                        </a:solidFill>
                        <a:latin typeface="Quattrocento Sans"/>
                        <a:ea typeface="Quattrocento Sans"/>
                        <a:cs typeface="Quattrocento Sans"/>
                        <a:sym typeface="Quattrocento Sans"/>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gridSpan="2">
                  <a:txBody>
                    <a:bodyPr/>
                    <a:lstStyle/>
                    <a:p>
                      <a:pPr indent="0" lvl="0" marL="0" marR="0" rtl="0" algn="ct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Death Tax</a:t>
                      </a:r>
                      <a:endParaRPr/>
                    </a:p>
                    <a:p>
                      <a:pPr indent="0" lvl="0" marL="0" marR="0" rtl="0" algn="ctr">
                        <a:lnSpc>
                          <a:spcPct val="85000"/>
                        </a:lnSpc>
                        <a:spcBef>
                          <a:spcPts val="250"/>
                        </a:spcBef>
                        <a:spcAft>
                          <a:spcPts val="0"/>
                        </a:spcAft>
                        <a:buClr>
                          <a:schemeClr val="lt1"/>
                        </a:buClr>
                        <a:buSzPts val="1000"/>
                        <a:buFont typeface="Quattrocento Sans"/>
                        <a:buNone/>
                      </a:pPr>
                      <a:r>
                        <a:rPr b="0" i="0" lang="en-US" sz="1000" u="none">
                          <a:solidFill>
                            <a:schemeClr val="lt1"/>
                          </a:solidFill>
                          <a:latin typeface="Quattrocento Sans"/>
                          <a:ea typeface="Quattrocento Sans"/>
                          <a:cs typeface="Quattrocento Sans"/>
                          <a:sym typeface="Quattrocento Sans"/>
                        </a:rPr>
                        <a:t>Налог на наследство</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hMerge="1"/>
                <a:tc gridSpan="2">
                  <a:txBody>
                    <a:bodyPr/>
                    <a:lstStyle/>
                    <a:p>
                      <a:pPr indent="0" lvl="0" marL="0" marR="0" rtl="0" algn="ct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Homeland Security</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hMerge="1"/>
                <a:tc gridSpan="2">
                  <a:txBody>
                    <a:bodyPr/>
                    <a:lstStyle/>
                    <a:p>
                      <a:pPr indent="0" lvl="0" marL="0" marR="0" rtl="0" algn="ct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Help America Vote</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hMerge="1"/>
                <a:tc gridSpan="2">
                  <a:txBody>
                    <a:bodyPr/>
                    <a:lstStyle/>
                    <a:p>
                      <a:pPr indent="0" lvl="0" marL="0" marR="0" rtl="0" algn="ct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Child Abduction</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hMerge="1"/>
                <a:tc gridSpan="2">
                  <a:txBody>
                    <a:bodyPr/>
                    <a:lstStyle/>
                    <a:p>
                      <a:pPr indent="0" lvl="0" marL="0" marR="0" rtl="0" algn="ct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Всего в конгрессе</a:t>
                      </a:r>
                      <a:endParaRPr/>
                    </a:p>
                  </a:txBody>
                  <a:tcPr marT="45725" marB="45725" marR="91450" marL="91450">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hMerge="1"/>
              </a:tr>
              <a:tr h="331775">
                <a:tc>
                  <a:txBody>
                    <a:bodyPr/>
                    <a:lstStyle/>
                    <a:p>
                      <a:pPr indent="0" lvl="0" marL="0" marR="0" rtl="0" algn="l">
                        <a:spcBef>
                          <a:spcPts val="0"/>
                        </a:spcBef>
                        <a:spcAft>
                          <a:spcPts val="0"/>
                        </a:spcAft>
                        <a:buNone/>
                      </a:pPr>
                      <a:r>
                        <a:t/>
                      </a:r>
                      <a:endParaRPr sz="1800">
                        <a:solidFill>
                          <a:schemeClr val="lt1"/>
                        </a:solidFill>
                        <a:latin typeface="Quattrocento Sans"/>
                        <a:ea typeface="Quattrocento Sans"/>
                        <a:cs typeface="Quattrocento Sans"/>
                        <a:sym typeface="Quattrocento Sans"/>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Д</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Р</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Д</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Р</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Д</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Р</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Д</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Р</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Д </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Р</a:t>
                      </a:r>
                      <a:endParaRPr/>
                    </a:p>
                  </a:txBody>
                  <a:tcPr marT="45725" marB="45725" marR="91450" marL="91450">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85750">
                <a:tc>
                  <a:txBody>
                    <a:bodyPr/>
                    <a:lstStyle/>
                    <a:p>
                      <a:pPr indent="0" lvl="0" marL="0" marR="0" rtl="0" algn="l">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Да</a:t>
                      </a:r>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lnSpc>
                          <a:spcPct val="85000"/>
                        </a:lnSpc>
                        <a:spcBef>
                          <a:spcPts val="0"/>
                        </a:spcBef>
                        <a:spcAft>
                          <a:spcPts val="0"/>
                        </a:spcAft>
                        <a:buClr>
                          <a:schemeClr val="lt1"/>
                        </a:buClr>
                        <a:buSzPts val="1600"/>
                        <a:buFont typeface="Arial"/>
                        <a:buNone/>
                      </a:pPr>
                      <a:r>
                        <a:rPr b="0" i="0" lang="en-US" sz="1600" u="none">
                          <a:solidFill>
                            <a:schemeClr val="lt1"/>
                          </a:solidFill>
                          <a:latin typeface="Arial"/>
                          <a:ea typeface="Arial"/>
                          <a:cs typeface="Arial"/>
                          <a:sym typeface="Arial"/>
                        </a:rPr>
                        <a:t>41</a:t>
                      </a:r>
                      <a:endParaRPr/>
                    </a:p>
                  </a:txBody>
                  <a:tcPr marT="46800" marB="46800" marR="90000" marL="90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lnSpc>
                          <a:spcPct val="85000"/>
                        </a:lnSpc>
                        <a:spcBef>
                          <a:spcPts val="0"/>
                        </a:spcBef>
                        <a:spcAft>
                          <a:spcPts val="0"/>
                        </a:spcAft>
                        <a:buClr>
                          <a:schemeClr val="lt1"/>
                        </a:buClr>
                        <a:buSzPts val="1600"/>
                        <a:buFont typeface="Arial"/>
                        <a:buNone/>
                      </a:pPr>
                      <a:r>
                        <a:rPr b="0" i="0" lang="en-US" sz="1600" u="none">
                          <a:solidFill>
                            <a:schemeClr val="lt1"/>
                          </a:solidFill>
                          <a:latin typeface="Arial"/>
                          <a:ea typeface="Arial"/>
                          <a:cs typeface="Arial"/>
                          <a:sym typeface="Arial"/>
                        </a:rPr>
                        <a:t>214</a:t>
                      </a:r>
                      <a:endParaRPr/>
                    </a:p>
                  </a:txBody>
                  <a:tcPr marT="46800" marB="46800" marR="90000" marL="90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lnSpc>
                          <a:spcPct val="85000"/>
                        </a:lnSpc>
                        <a:spcBef>
                          <a:spcPts val="0"/>
                        </a:spcBef>
                        <a:spcAft>
                          <a:spcPts val="0"/>
                        </a:spcAft>
                        <a:buClr>
                          <a:schemeClr val="lt1"/>
                        </a:buClr>
                        <a:buSzPts val="1600"/>
                        <a:buFont typeface="Arial"/>
                        <a:buNone/>
                      </a:pPr>
                      <a:r>
                        <a:rPr b="0" i="0" lang="en-US" sz="1600" u="none">
                          <a:solidFill>
                            <a:schemeClr val="lt1"/>
                          </a:solidFill>
                          <a:latin typeface="Arial"/>
                          <a:ea typeface="Arial"/>
                          <a:cs typeface="Arial"/>
                          <a:sym typeface="Arial"/>
                        </a:rPr>
                        <a:t>87</a:t>
                      </a:r>
                      <a:endParaRPr/>
                    </a:p>
                  </a:txBody>
                  <a:tcPr marT="46800" marB="46800" marR="90000" marL="90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lnSpc>
                          <a:spcPct val="85000"/>
                        </a:lnSpc>
                        <a:spcBef>
                          <a:spcPts val="0"/>
                        </a:spcBef>
                        <a:spcAft>
                          <a:spcPts val="0"/>
                        </a:spcAft>
                        <a:buClr>
                          <a:schemeClr val="lt1"/>
                        </a:buClr>
                        <a:buSzPts val="1600"/>
                        <a:buFont typeface="Arial"/>
                        <a:buNone/>
                      </a:pPr>
                      <a:r>
                        <a:rPr b="0" i="0" lang="en-US" sz="1600" u="none">
                          <a:solidFill>
                            <a:schemeClr val="lt1"/>
                          </a:solidFill>
                          <a:latin typeface="Arial"/>
                          <a:ea typeface="Arial"/>
                          <a:cs typeface="Arial"/>
                          <a:sym typeface="Arial"/>
                        </a:rPr>
                        <a:t>211</a:t>
                      </a:r>
                      <a:endParaRPr/>
                    </a:p>
                  </a:txBody>
                  <a:tcPr marT="46800" marB="46800" marR="90000" marL="90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lnSpc>
                          <a:spcPct val="85000"/>
                        </a:lnSpc>
                        <a:spcBef>
                          <a:spcPts val="0"/>
                        </a:spcBef>
                        <a:spcAft>
                          <a:spcPts val="0"/>
                        </a:spcAft>
                        <a:buClr>
                          <a:schemeClr val="lt1"/>
                        </a:buClr>
                        <a:buSzPts val="1600"/>
                        <a:buFont typeface="Arial"/>
                        <a:buNone/>
                      </a:pPr>
                      <a:r>
                        <a:rPr b="0" i="0" lang="en-US" sz="1600" u="none">
                          <a:solidFill>
                            <a:schemeClr val="lt1"/>
                          </a:solidFill>
                          <a:latin typeface="Arial"/>
                          <a:ea typeface="Arial"/>
                          <a:cs typeface="Arial"/>
                          <a:sym typeface="Arial"/>
                        </a:rPr>
                        <a:t>184</a:t>
                      </a:r>
                      <a:endParaRPr/>
                    </a:p>
                  </a:txBody>
                  <a:tcPr marT="46800" marB="46800" marR="90000" marL="90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lnSpc>
                          <a:spcPct val="85000"/>
                        </a:lnSpc>
                        <a:spcBef>
                          <a:spcPts val="0"/>
                        </a:spcBef>
                        <a:spcAft>
                          <a:spcPts val="0"/>
                        </a:spcAft>
                        <a:buClr>
                          <a:schemeClr val="lt1"/>
                        </a:buClr>
                        <a:buSzPts val="1600"/>
                        <a:buFont typeface="Arial"/>
                        <a:buNone/>
                      </a:pPr>
                      <a:r>
                        <a:rPr b="0" i="0" lang="en-US" sz="1600" u="none">
                          <a:solidFill>
                            <a:schemeClr val="lt1"/>
                          </a:solidFill>
                          <a:latin typeface="Arial"/>
                          <a:ea typeface="Arial"/>
                          <a:cs typeface="Arial"/>
                          <a:sym typeface="Arial"/>
                        </a:rPr>
                        <a:t>172</a:t>
                      </a:r>
                      <a:endParaRPr/>
                    </a:p>
                  </a:txBody>
                  <a:tcPr marT="46800" marB="46800" marR="90000" marL="90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lnSpc>
                          <a:spcPct val="85000"/>
                        </a:lnSpc>
                        <a:spcBef>
                          <a:spcPts val="0"/>
                        </a:spcBef>
                        <a:spcAft>
                          <a:spcPts val="0"/>
                        </a:spcAft>
                        <a:buClr>
                          <a:schemeClr val="lt1"/>
                        </a:buClr>
                        <a:buSzPts val="1600"/>
                        <a:buFont typeface="Arial"/>
                        <a:buNone/>
                      </a:pPr>
                      <a:r>
                        <a:rPr b="0" i="0" lang="en-US" sz="1600" u="none">
                          <a:solidFill>
                            <a:schemeClr val="lt1"/>
                          </a:solidFill>
                          <a:latin typeface="Arial"/>
                          <a:ea typeface="Arial"/>
                          <a:cs typeface="Arial"/>
                          <a:sym typeface="Arial"/>
                        </a:rPr>
                        <a:t>178</a:t>
                      </a:r>
                      <a:endParaRPr/>
                    </a:p>
                  </a:txBody>
                  <a:tcPr marT="46800" marB="46800" marR="90000" marL="90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lnSpc>
                          <a:spcPct val="85000"/>
                        </a:lnSpc>
                        <a:spcBef>
                          <a:spcPts val="0"/>
                        </a:spcBef>
                        <a:spcAft>
                          <a:spcPts val="0"/>
                        </a:spcAft>
                        <a:buClr>
                          <a:schemeClr val="lt1"/>
                        </a:buClr>
                        <a:buSzPts val="1600"/>
                        <a:buFont typeface="Arial"/>
                        <a:buNone/>
                      </a:pPr>
                      <a:r>
                        <a:rPr b="0" i="0" lang="en-US" sz="1600" u="none">
                          <a:solidFill>
                            <a:schemeClr val="lt1"/>
                          </a:solidFill>
                          <a:latin typeface="Arial"/>
                          <a:ea typeface="Arial"/>
                          <a:cs typeface="Arial"/>
                          <a:sym typeface="Arial"/>
                        </a:rPr>
                        <a:t>210</a:t>
                      </a:r>
                      <a:endParaRPr/>
                    </a:p>
                  </a:txBody>
                  <a:tcPr marT="46800" marB="46800" marR="90000" marL="90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rowSpan="2">
                  <a:txBody>
                    <a:bodyPr/>
                    <a:lstStyle/>
                    <a:p>
                      <a:pPr indent="0" lvl="0" marL="0" marR="0" rtl="0" algn="l">
                        <a:lnSpc>
                          <a:spcPct val="85000"/>
                        </a:lnSpc>
                        <a:spcBef>
                          <a:spcPts val="0"/>
                        </a:spcBef>
                        <a:spcAft>
                          <a:spcPts val="0"/>
                        </a:spcAft>
                        <a:buClr>
                          <a:schemeClr val="lt1"/>
                        </a:buClr>
                        <a:buSzPts val="1600"/>
                        <a:buFont typeface="Arial"/>
                        <a:buNone/>
                      </a:pPr>
                      <a:r>
                        <a:rPr b="0" i="0" lang="en-US" sz="1600" u="none">
                          <a:solidFill>
                            <a:schemeClr val="lt1"/>
                          </a:solidFill>
                          <a:latin typeface="Arial"/>
                          <a:ea typeface="Arial"/>
                          <a:cs typeface="Arial"/>
                          <a:sym typeface="Arial"/>
                        </a:rPr>
                        <a:t>211</a:t>
                      </a:r>
                      <a:endParaRPr/>
                    </a:p>
                  </a:txBody>
                  <a:tcPr marT="46800" marB="46800" marR="90000" marL="9000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rowSpan="2">
                  <a:txBody>
                    <a:bodyPr/>
                    <a:lstStyle/>
                    <a:p>
                      <a:pPr indent="0" lvl="0" marL="0" marR="0" rtl="0" algn="l">
                        <a:lnSpc>
                          <a:spcPct val="85000"/>
                        </a:lnSpc>
                        <a:spcBef>
                          <a:spcPts val="0"/>
                        </a:spcBef>
                        <a:spcAft>
                          <a:spcPts val="0"/>
                        </a:spcAft>
                        <a:buClr>
                          <a:schemeClr val="lt1"/>
                        </a:buClr>
                        <a:buSzPts val="1600"/>
                        <a:buFont typeface="Arial"/>
                        <a:buNone/>
                      </a:pPr>
                      <a:r>
                        <a:rPr b="0" i="0" lang="en-US" sz="1600" u="none">
                          <a:solidFill>
                            <a:schemeClr val="lt1"/>
                          </a:solidFill>
                          <a:latin typeface="Arial"/>
                          <a:ea typeface="Arial"/>
                          <a:cs typeface="Arial"/>
                          <a:sym typeface="Arial"/>
                        </a:rPr>
                        <a:t>223</a:t>
                      </a:r>
                      <a:endParaRPr/>
                    </a:p>
                  </a:txBody>
                  <a:tcPr marT="46800" marB="46800" marR="90000" marL="90000" anchor="ctr" anchorCtr="1">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52425">
                <a:tc>
                  <a:txBody>
                    <a:bodyPr/>
                    <a:lstStyle/>
                    <a:p>
                      <a:pPr indent="0" lvl="0" marL="0" marR="0" rtl="0" algn="l">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Нет</a:t>
                      </a:r>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166</a:t>
                      </a:r>
                      <a:endParaRPr/>
                    </a:p>
                  </a:txBody>
                  <a:tcPr marT="46800" marB="46800" marR="90000" marL="90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4</a:t>
                      </a:r>
                      <a:endParaRPr/>
                    </a:p>
                  </a:txBody>
                  <a:tcPr marT="46800" marB="46800" marR="90000" marL="90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114</a:t>
                      </a:r>
                      <a:endParaRPr/>
                    </a:p>
                  </a:txBody>
                  <a:tcPr marT="46800" marB="46800" marR="90000" marL="90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6</a:t>
                      </a:r>
                      <a:endParaRPr/>
                    </a:p>
                  </a:txBody>
                  <a:tcPr marT="46800" marB="46800" marR="90000" marL="90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11</a:t>
                      </a:r>
                      <a:endParaRPr/>
                    </a:p>
                  </a:txBody>
                  <a:tcPr marT="46800" marB="46800" marR="90000" marL="90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36</a:t>
                      </a:r>
                      <a:endParaRPr/>
                    </a:p>
                  </a:txBody>
                  <a:tcPr marT="46800" marB="46800" marR="90000" marL="90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23</a:t>
                      </a:r>
                      <a:endParaRPr/>
                    </a:p>
                  </a:txBody>
                  <a:tcPr marT="46800" marB="46800" marR="90000" marL="90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1</a:t>
                      </a:r>
                      <a:endParaRPr/>
                    </a:p>
                  </a:txBody>
                  <a:tcPr marT="46800" marB="46800" marR="90000" marL="90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vMerge="1"/>
                <a:tc vMerge="1"/>
              </a:tr>
              <a:tr h="311150">
                <a:tc>
                  <a:txBody>
                    <a:bodyPr/>
                    <a:lstStyle/>
                    <a:p>
                      <a:pPr indent="0" lvl="0" marL="0" marR="0" rtl="0" algn="l">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Да</a:t>
                      </a:r>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0.20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0.98</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0.43</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0.97</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0.94</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0.83</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0.89</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0.995</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rowSpan="2">
                  <a:txBody>
                    <a:bodyPr/>
                    <a:lstStyle/>
                    <a:p>
                      <a:pPr indent="0" lvl="0" marL="0" marR="0" rtl="0" algn="l">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0.49</a:t>
                      </a:r>
                      <a:endParaRPr/>
                    </a:p>
                  </a:txBody>
                  <a:tcPr marT="46800" marB="46800" marR="90000" marL="9000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rowSpan="2">
                  <a:txBody>
                    <a:bodyPr/>
                    <a:lstStyle/>
                    <a:p>
                      <a:pPr indent="0" lvl="0" marL="0" marR="0" rtl="0" algn="l">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0.51</a:t>
                      </a:r>
                      <a:endParaRPr/>
                    </a:p>
                  </a:txBody>
                  <a:tcPr marT="46800" marB="46800" marR="90000" marL="90000" anchor="ctr" anchorCtr="1">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312725">
                <a:tc>
                  <a:txBody>
                    <a:bodyPr/>
                    <a:lstStyle/>
                    <a:p>
                      <a:pPr indent="0" lvl="0" marL="0" marR="0" rtl="0" algn="l">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Нет</a:t>
                      </a:r>
                      <a:endParaRPr/>
                    </a:p>
                  </a:txBody>
                  <a:tcPr marT="45725" marB="45725"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l">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0.80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l">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0.02</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l">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0.57</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l">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0.03</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l">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0.06</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l">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0.17</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l">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0.11</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l">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0.005</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vMerge="1"/>
                <a:tc vMerge="1"/>
              </a:tr>
            </a:tbl>
          </a:graphicData>
        </a:graphic>
      </p:graphicFrame>
      <p:sp>
        <p:nvSpPr>
          <p:cNvPr id="429" name="Google Shape;429;p36"/>
          <p:cNvSpPr/>
          <p:nvPr/>
        </p:nvSpPr>
        <p:spPr>
          <a:xfrm>
            <a:off x="1317625" y="4868862"/>
            <a:ext cx="727075" cy="334962"/>
          </a:xfrm>
          <a:prstGeom prst="ellipse">
            <a:avLst/>
          </a:prstGeom>
          <a:no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430" name="Google Shape;430;p36"/>
          <p:cNvSpPr/>
          <p:nvPr/>
        </p:nvSpPr>
        <p:spPr>
          <a:xfrm>
            <a:off x="7096125" y="5037137"/>
            <a:ext cx="701675" cy="333375"/>
          </a:xfrm>
          <a:prstGeom prst="ellipse">
            <a:avLst/>
          </a:prstGeom>
          <a:no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Tree>
  </p:cSld>
  <p:clrMapOvr>
    <a:masterClrMapping/>
  </p:clrMapOvr>
  <p:transition spd="slow">
    <p:fade/>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5" name="Shape 435"/>
        <p:cNvGrpSpPr/>
        <p:nvPr/>
      </p:nvGrpSpPr>
      <p:grpSpPr>
        <a:xfrm>
          <a:off x="0" y="0"/>
          <a:ext cx="0" cy="0"/>
          <a:chOff x="0" y="0"/>
          <a:chExt cx="0" cy="0"/>
        </a:xfrm>
      </p:grpSpPr>
      <p:sp>
        <p:nvSpPr>
          <p:cNvPr id="436" name="Google Shape;436;p37"/>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Наивный Байесовский метод</a:t>
            </a:r>
            <a:endParaRPr/>
          </a:p>
        </p:txBody>
      </p:sp>
      <p:sp>
        <p:nvSpPr>
          <p:cNvPr id="437" name="Google Shape;437;p37"/>
          <p:cNvSpPr txBox="1"/>
          <p:nvPr>
            <p:ph idx="1" type="body"/>
          </p:nvPr>
        </p:nvSpPr>
        <p:spPr>
          <a:xfrm>
            <a:off x="390525" y="1074737"/>
            <a:ext cx="8356600" cy="5276850"/>
          </a:xfrm>
          <a:prstGeom prst="rect">
            <a:avLst/>
          </a:prstGeom>
          <a:noFill/>
          <a:ln>
            <a:noFill/>
          </a:ln>
        </p:spPr>
        <p:txBody>
          <a:bodyPr anchorCtr="0" anchor="t" bIns="45700" lIns="91425" spcFirstLastPara="1" rIns="91425" wrap="square" tIns="45700">
            <a:spAutoFit/>
          </a:bodyPr>
          <a:lstStyle/>
          <a:p>
            <a:pPr indent="-282575" lvl="1" marL="619125" rtl="0" algn="l">
              <a:lnSpc>
                <a:spcPct val="95000"/>
              </a:lnSpc>
              <a:spcBef>
                <a:spcPts val="0"/>
              </a:spcBef>
              <a:spcAft>
                <a:spcPts val="0"/>
              </a:spcAft>
              <a:buSzPts val="1200"/>
              <a:buChar char="•"/>
            </a:pPr>
            <a:r>
              <a:rPr b="0" i="0" lang="en-US" sz="1600" u="none">
                <a:solidFill>
                  <a:schemeClr val="lt1"/>
                </a:solidFill>
                <a:latin typeface="Quattrocento Sans"/>
                <a:ea typeface="Quattrocento Sans"/>
                <a:cs typeface="Quattrocento Sans"/>
                <a:sym typeface="Quattrocento Sans"/>
              </a:rPr>
              <a:t>И пусть известно, что некий товарищ проголосовал как</a:t>
            </a:r>
            <a:endParaRPr/>
          </a:p>
          <a:p>
            <a:pPr indent="-206375" lvl="1" marL="619125" rtl="0" algn="l">
              <a:lnSpc>
                <a:spcPct val="95000"/>
              </a:lnSpc>
              <a:spcBef>
                <a:spcPts val="0"/>
              </a:spcBef>
              <a:spcAft>
                <a:spcPts val="0"/>
              </a:spcAft>
              <a:buSzPts val="1200"/>
              <a:buNone/>
            </a:pPr>
            <a:r>
              <a:t/>
            </a:r>
            <a:endParaRPr b="0" i="0" sz="1600" u="none">
              <a:solidFill>
                <a:schemeClr val="lt1"/>
              </a:solidFill>
              <a:latin typeface="Quattrocento Sans"/>
              <a:ea typeface="Quattrocento Sans"/>
              <a:cs typeface="Quattrocento Sans"/>
              <a:sym typeface="Quattrocento Sans"/>
            </a:endParaRPr>
          </a:p>
          <a:p>
            <a:pPr indent="-206375" lvl="1" marL="619125" rtl="0" algn="l">
              <a:lnSpc>
                <a:spcPct val="95000"/>
              </a:lnSpc>
              <a:spcBef>
                <a:spcPts val="0"/>
              </a:spcBef>
              <a:spcAft>
                <a:spcPts val="0"/>
              </a:spcAft>
              <a:buSzPts val="1200"/>
              <a:buNone/>
            </a:pPr>
            <a:r>
              <a:t/>
            </a:r>
            <a:endParaRPr b="0" i="0" sz="1600" u="none">
              <a:solidFill>
                <a:schemeClr val="lt1"/>
              </a:solidFill>
              <a:latin typeface="Quattrocento Sans"/>
              <a:ea typeface="Quattrocento Sans"/>
              <a:cs typeface="Quattrocento Sans"/>
              <a:sym typeface="Quattrocento Sans"/>
            </a:endParaRPr>
          </a:p>
          <a:p>
            <a:pPr indent="-206375" lvl="1" marL="619125" rtl="0" algn="l">
              <a:lnSpc>
                <a:spcPct val="95000"/>
              </a:lnSpc>
              <a:spcBef>
                <a:spcPts val="0"/>
              </a:spcBef>
              <a:spcAft>
                <a:spcPts val="0"/>
              </a:spcAft>
              <a:buSzPts val="1200"/>
              <a:buNone/>
            </a:pPr>
            <a:r>
              <a:t/>
            </a:r>
            <a:endParaRPr b="0" i="0" sz="1600" u="none">
              <a:solidFill>
                <a:schemeClr val="lt1"/>
              </a:solidFill>
              <a:latin typeface="Quattrocento Sans"/>
              <a:ea typeface="Quattrocento Sans"/>
              <a:cs typeface="Quattrocento Sans"/>
              <a:sym typeface="Quattrocento Sans"/>
            </a:endParaRPr>
          </a:p>
          <a:p>
            <a:pPr indent="-206375" lvl="1" marL="619125" rtl="0" algn="l">
              <a:lnSpc>
                <a:spcPct val="95000"/>
              </a:lnSpc>
              <a:spcBef>
                <a:spcPts val="0"/>
              </a:spcBef>
              <a:spcAft>
                <a:spcPts val="0"/>
              </a:spcAft>
              <a:buSzPts val="1200"/>
              <a:buNone/>
            </a:pPr>
            <a:r>
              <a:t/>
            </a:r>
            <a:endParaRPr b="0" i="0" sz="1600" u="none">
              <a:solidFill>
                <a:schemeClr val="lt1"/>
              </a:solidFill>
              <a:latin typeface="Quattrocento Sans"/>
              <a:ea typeface="Quattrocento Sans"/>
              <a:cs typeface="Quattrocento Sans"/>
              <a:sym typeface="Quattrocento Sans"/>
            </a:endParaRPr>
          </a:p>
          <a:p>
            <a:pPr indent="-206375" lvl="1" marL="619125" rtl="0" algn="l">
              <a:lnSpc>
                <a:spcPct val="95000"/>
              </a:lnSpc>
              <a:spcBef>
                <a:spcPts val="0"/>
              </a:spcBef>
              <a:spcAft>
                <a:spcPts val="0"/>
              </a:spcAft>
              <a:buSzPts val="1200"/>
              <a:buNone/>
            </a:pPr>
            <a:r>
              <a:t/>
            </a:r>
            <a:endParaRPr b="0" i="0" sz="1600" u="none">
              <a:solidFill>
                <a:schemeClr val="lt1"/>
              </a:solidFill>
              <a:latin typeface="Quattrocento Sans"/>
              <a:ea typeface="Quattrocento Sans"/>
              <a:cs typeface="Quattrocento Sans"/>
              <a:sym typeface="Quattrocento Sans"/>
            </a:endParaRPr>
          </a:p>
          <a:p>
            <a:pPr indent="-282575" lvl="1" marL="619125" rtl="0" algn="l">
              <a:lnSpc>
                <a:spcPct val="95000"/>
              </a:lnSpc>
              <a:spcBef>
                <a:spcPts val="0"/>
              </a:spcBef>
              <a:spcAft>
                <a:spcPts val="0"/>
              </a:spcAft>
              <a:buSzPts val="1200"/>
              <a:buChar char="•"/>
            </a:pPr>
            <a:r>
              <a:rPr b="0" i="0" lang="en-US" sz="1600" u="none">
                <a:solidFill>
                  <a:schemeClr val="lt1"/>
                </a:solidFill>
                <a:latin typeface="Quattrocento Sans"/>
                <a:ea typeface="Quattrocento Sans"/>
                <a:cs typeface="Quattrocento Sans"/>
                <a:sym typeface="Quattrocento Sans"/>
              </a:rPr>
              <a:t>P(Д) = 0.2 * 0.57 * 0.94 * 0.89 * 0.49 = 0.0467, Р(Р) = 0.98* 0.03 * 0.83 * 0.995 * 0.51 = 0.0124</a:t>
            </a:r>
            <a:endParaRPr/>
          </a:p>
          <a:p>
            <a:pPr indent="-282575" lvl="1" marL="619125" rtl="0" algn="l">
              <a:lnSpc>
                <a:spcPct val="95000"/>
              </a:lnSpc>
              <a:spcBef>
                <a:spcPts val="0"/>
              </a:spcBef>
              <a:spcAft>
                <a:spcPts val="0"/>
              </a:spcAft>
              <a:buSzPts val="1200"/>
              <a:buChar char="•"/>
            </a:pPr>
            <a:r>
              <a:rPr b="0" i="0" lang="en-US" sz="1600" u="none">
                <a:solidFill>
                  <a:schemeClr val="lt1"/>
                </a:solidFill>
                <a:latin typeface="Quattrocento Sans"/>
                <a:ea typeface="Quattrocento Sans"/>
                <a:cs typeface="Quattrocento Sans"/>
                <a:sym typeface="Quattrocento Sans"/>
              </a:rPr>
              <a:t>Окончательно нормируя по формуле Байеса имеем Р(Д) = 0.0467 / (0.0467 + 0.0124) = </a:t>
            </a:r>
            <a:r>
              <a:rPr b="0" i="0" lang="en-US" sz="1600" u="sng">
                <a:solidFill>
                  <a:schemeClr val="lt1"/>
                </a:solidFill>
                <a:latin typeface="Quattrocento Sans"/>
                <a:ea typeface="Quattrocento Sans"/>
                <a:cs typeface="Quattrocento Sans"/>
                <a:sym typeface="Quattrocento Sans"/>
              </a:rPr>
              <a:t>0.79</a:t>
            </a:r>
            <a:r>
              <a:rPr b="0" i="0" lang="en-US" sz="1600" u="none">
                <a:solidFill>
                  <a:schemeClr val="lt1"/>
                </a:solidFill>
                <a:latin typeface="Quattrocento Sans"/>
                <a:ea typeface="Quattrocento Sans"/>
                <a:cs typeface="Quattrocento Sans"/>
                <a:sym typeface="Quattrocento Sans"/>
              </a:rPr>
              <a:t>, Р(Р) = 0.0124 / (0.0467 + 0.0124) = 0.21</a:t>
            </a:r>
            <a:endParaRPr/>
          </a:p>
          <a:p>
            <a:pPr indent="-334962" lvl="0" marL="334962" rtl="0" algn="l">
              <a:lnSpc>
                <a:spcPct val="95000"/>
              </a:lnSpc>
              <a:spcBef>
                <a:spcPts val="0"/>
              </a:spcBef>
              <a:spcAft>
                <a:spcPts val="0"/>
              </a:spcAft>
              <a:buSzPts val="1440"/>
              <a:buChar char="•"/>
            </a:pPr>
            <a:r>
              <a:rPr b="0" i="0" lang="en-US" sz="1800" u="none">
                <a:solidFill>
                  <a:schemeClr val="lt1"/>
                </a:solidFill>
                <a:latin typeface="Quattrocento Sans"/>
                <a:ea typeface="Quattrocento Sans"/>
                <a:cs typeface="Quattrocento Sans"/>
                <a:sym typeface="Quattrocento Sans"/>
              </a:rPr>
              <a:t>Наивность состоит в том, что все атрибуты (мнения по вопросам) считаются независимыми</a:t>
            </a:r>
            <a:endParaRPr/>
          </a:p>
          <a:p>
            <a:pPr indent="-282575" lvl="1" marL="619125" rtl="0" algn="l">
              <a:lnSpc>
                <a:spcPct val="95000"/>
              </a:lnSpc>
              <a:spcBef>
                <a:spcPts val="0"/>
              </a:spcBef>
              <a:spcAft>
                <a:spcPts val="0"/>
              </a:spcAft>
              <a:buSzPts val="1200"/>
              <a:buChar char="•"/>
            </a:pPr>
            <a:r>
              <a:rPr b="0" i="0" lang="en-US" sz="1600" u="none">
                <a:solidFill>
                  <a:schemeClr val="lt1"/>
                </a:solidFill>
                <a:latin typeface="Quattrocento Sans"/>
                <a:ea typeface="Quattrocento Sans"/>
                <a:cs typeface="Quattrocento Sans"/>
                <a:sym typeface="Quattrocento Sans"/>
              </a:rPr>
              <a:t>Это спорное утверждение, т.к. сами вопросы по своей формулировке могут коррелировать, однако данное предположение позволяет нам перемножить вероятности</a:t>
            </a:r>
            <a:endParaRPr/>
          </a:p>
          <a:p>
            <a:pPr indent="-334962" lvl="0" marL="334962" rtl="0" algn="l">
              <a:lnSpc>
                <a:spcPct val="95000"/>
              </a:lnSpc>
              <a:spcBef>
                <a:spcPts val="0"/>
              </a:spcBef>
              <a:spcAft>
                <a:spcPts val="0"/>
              </a:spcAft>
              <a:buSzPts val="1440"/>
              <a:buChar char="•"/>
            </a:pPr>
            <a:r>
              <a:rPr b="0" i="0" lang="en-US" sz="1800" u="none">
                <a:solidFill>
                  <a:schemeClr val="lt1"/>
                </a:solidFill>
                <a:latin typeface="Quattrocento Sans"/>
                <a:ea typeface="Quattrocento Sans"/>
                <a:cs typeface="Quattrocento Sans"/>
                <a:sym typeface="Quattrocento Sans"/>
              </a:rPr>
              <a:t>Где еще грабли?</a:t>
            </a:r>
            <a:endParaRPr/>
          </a:p>
          <a:p>
            <a:pPr indent="-282575" lvl="1" marL="619125" rtl="0" algn="l">
              <a:lnSpc>
                <a:spcPct val="95000"/>
              </a:lnSpc>
              <a:spcBef>
                <a:spcPts val="0"/>
              </a:spcBef>
              <a:spcAft>
                <a:spcPts val="0"/>
              </a:spcAft>
              <a:buSzPts val="1200"/>
              <a:buChar char="•"/>
            </a:pPr>
            <a:r>
              <a:rPr b="0" i="0" lang="en-US" sz="1600" u="none">
                <a:solidFill>
                  <a:schemeClr val="lt1"/>
                </a:solidFill>
                <a:latin typeface="Quattrocento Sans"/>
                <a:ea typeface="Quattrocento Sans"/>
                <a:cs typeface="Quattrocento Sans"/>
                <a:sym typeface="Quattrocento Sans"/>
              </a:rPr>
              <a:t>Предположим, в выборке не встретилось демократов, проголосовавших «Да» по первому вопросу</a:t>
            </a:r>
            <a:endParaRPr/>
          </a:p>
          <a:p>
            <a:pPr indent="-282575" lvl="1" marL="619125" rtl="0" algn="l">
              <a:lnSpc>
                <a:spcPct val="95000"/>
              </a:lnSpc>
              <a:spcBef>
                <a:spcPts val="0"/>
              </a:spcBef>
              <a:spcAft>
                <a:spcPts val="0"/>
              </a:spcAft>
              <a:buSzPts val="1200"/>
              <a:buChar char="•"/>
            </a:pPr>
            <a:r>
              <a:rPr b="0" i="0" lang="en-US" sz="1600" u="none">
                <a:solidFill>
                  <a:schemeClr val="lt1"/>
                </a:solidFill>
                <a:latin typeface="Quattrocento Sans"/>
                <a:ea typeface="Quattrocento Sans"/>
                <a:cs typeface="Quattrocento Sans"/>
                <a:sym typeface="Quattrocento Sans"/>
              </a:rPr>
              <a:t>Тогда Р(Д) = 0 * ... = 0, и товарищ никогда не будет отнесен к демократам</a:t>
            </a:r>
            <a:endParaRPr/>
          </a:p>
          <a:p>
            <a:pPr indent="-282575" lvl="1" marL="619125" rtl="0" algn="l">
              <a:lnSpc>
                <a:spcPct val="95000"/>
              </a:lnSpc>
              <a:spcBef>
                <a:spcPts val="0"/>
              </a:spcBef>
              <a:spcAft>
                <a:spcPts val="0"/>
              </a:spcAft>
              <a:buSzPts val="1200"/>
              <a:buChar char="•"/>
            </a:pPr>
            <a:r>
              <a:rPr b="0" i="0" lang="en-US" sz="1600" u="none">
                <a:solidFill>
                  <a:schemeClr val="lt1"/>
                </a:solidFill>
                <a:latin typeface="Quattrocento Sans"/>
                <a:ea typeface="Quattrocento Sans"/>
                <a:cs typeface="Quattrocento Sans"/>
                <a:sym typeface="Quattrocento Sans"/>
              </a:rPr>
              <a:t>Чтобы этого избежать, в таблице везде должны быть ненулевые значения</a:t>
            </a:r>
            <a:endParaRPr/>
          </a:p>
          <a:p>
            <a:pPr indent="-282575" lvl="1" marL="619125" rtl="0" algn="l">
              <a:lnSpc>
                <a:spcPct val="95000"/>
              </a:lnSpc>
              <a:spcBef>
                <a:spcPts val="0"/>
              </a:spcBef>
              <a:spcAft>
                <a:spcPts val="0"/>
              </a:spcAft>
              <a:buSzPts val="1200"/>
              <a:buChar char="•"/>
            </a:pPr>
            <a:r>
              <a:rPr b="0" i="0" lang="en-US" sz="1600" u="none">
                <a:solidFill>
                  <a:schemeClr val="lt1"/>
                </a:solidFill>
                <a:latin typeface="Quattrocento Sans"/>
                <a:ea typeface="Quattrocento Sans"/>
                <a:cs typeface="Quattrocento Sans"/>
                <a:sym typeface="Quattrocento Sans"/>
              </a:rPr>
              <a:t>Либо расширять выборку, либо вводить априорные вероятности в нулевых ячейках</a:t>
            </a:r>
            <a:endParaRPr/>
          </a:p>
        </p:txBody>
      </p:sp>
      <p:graphicFrame>
        <p:nvGraphicFramePr>
          <p:cNvPr id="438" name="Google Shape;438;p37"/>
          <p:cNvGraphicFramePr/>
          <p:nvPr/>
        </p:nvGraphicFramePr>
        <p:xfrm>
          <a:off x="1035050" y="1435100"/>
          <a:ext cx="3000000" cy="3000000"/>
        </p:xfrm>
        <a:graphic>
          <a:graphicData uri="http://schemas.openxmlformats.org/drawingml/2006/table">
            <a:tbl>
              <a:tblPr>
                <a:noFill/>
                <a:tableStyleId>{4A9718B0-E53D-4CFF-AC7E-A2A48AE619F5}</a:tableStyleId>
              </a:tblPr>
              <a:tblGrid>
                <a:gridCol w="1430325"/>
                <a:gridCol w="1431925"/>
                <a:gridCol w="1431925"/>
                <a:gridCol w="1431925"/>
                <a:gridCol w="1430325"/>
              </a:tblGrid>
              <a:tr h="506400">
                <a:tc>
                  <a:txBody>
                    <a:bodyPr/>
                    <a:lstStyle/>
                    <a:p>
                      <a:pPr indent="0" lvl="0" marL="0" marR="0" rtl="0" algn="ct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Death Tax</a:t>
                      </a:r>
                      <a:endParaRPr/>
                    </a:p>
                  </a:txBody>
                  <a:tcPr marT="45750" marB="45750" marR="91450" marL="91450">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Homeland Security</a:t>
                      </a:r>
                      <a:endParaRPr/>
                    </a:p>
                  </a:txBody>
                  <a:tcPr marT="45750" marB="4575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Help America Vote</a:t>
                      </a:r>
                      <a:endParaRPr/>
                    </a:p>
                  </a:txBody>
                  <a:tcPr marT="45750" marB="4575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Child Abduction</a:t>
                      </a:r>
                      <a:endParaRPr/>
                    </a:p>
                  </a:txBody>
                  <a:tcPr marT="45750" marB="4575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lnSpc>
                          <a:spcPct val="85000"/>
                        </a:lnSpc>
                        <a:spcBef>
                          <a:spcPts val="0"/>
                        </a:spcBef>
                        <a:spcAft>
                          <a:spcPts val="0"/>
                        </a:spcAft>
                        <a:buClr>
                          <a:schemeClr val="lt1"/>
                        </a:buClr>
                        <a:buSzPts val="1600"/>
                        <a:buFont typeface="Quattrocento Sans"/>
                        <a:buNone/>
                      </a:pPr>
                      <a:r>
                        <a:rPr b="0" i="0" lang="en-US" sz="1600" u="none">
                          <a:solidFill>
                            <a:schemeClr val="lt1"/>
                          </a:solidFill>
                          <a:latin typeface="Quattrocento Sans"/>
                          <a:ea typeface="Quattrocento Sans"/>
                          <a:cs typeface="Quattrocento Sans"/>
                          <a:sym typeface="Quattrocento Sans"/>
                        </a:rPr>
                        <a:t>Кто он?</a:t>
                      </a:r>
                      <a:endParaRPr/>
                    </a:p>
                  </a:txBody>
                  <a:tcPr marT="45750" marB="45750" marR="91450" marL="91450">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85750">
                <a:tc>
                  <a:txBody>
                    <a:bodyPr/>
                    <a:lstStyle/>
                    <a:p>
                      <a:pPr indent="0" lvl="0" marL="0" marR="0" rtl="0" algn="ctr">
                        <a:lnSpc>
                          <a:spcPct val="85000"/>
                        </a:lnSpc>
                        <a:spcBef>
                          <a:spcPts val="0"/>
                        </a:spcBef>
                        <a:spcAft>
                          <a:spcPts val="0"/>
                        </a:spcAft>
                        <a:buClr>
                          <a:schemeClr val="lt1"/>
                        </a:buClr>
                        <a:buSzPts val="1600"/>
                        <a:buFont typeface="Arial"/>
                        <a:buNone/>
                      </a:pPr>
                      <a:r>
                        <a:rPr b="0" i="0" lang="en-US" sz="1600" u="none">
                          <a:solidFill>
                            <a:schemeClr val="lt1"/>
                          </a:solidFill>
                          <a:latin typeface="Arial"/>
                          <a:ea typeface="Arial"/>
                          <a:cs typeface="Arial"/>
                          <a:sym typeface="Arial"/>
                        </a:rPr>
                        <a:t>Да</a:t>
                      </a:r>
                      <a:endParaRPr/>
                    </a:p>
                  </a:txBody>
                  <a:tcPr marT="46825" marB="46825" marR="90000" marL="90000" anchor="ctr">
                    <a:lnL cap="flat" cmpd="sng" w="28575">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85000"/>
                        </a:lnSpc>
                        <a:spcBef>
                          <a:spcPts val="0"/>
                        </a:spcBef>
                        <a:spcAft>
                          <a:spcPts val="0"/>
                        </a:spcAft>
                        <a:buClr>
                          <a:schemeClr val="lt1"/>
                        </a:buClr>
                        <a:buSzPts val="1600"/>
                        <a:buFont typeface="Arial"/>
                        <a:buNone/>
                      </a:pPr>
                      <a:r>
                        <a:rPr b="0" i="0" lang="en-US" sz="1600" u="none">
                          <a:solidFill>
                            <a:schemeClr val="lt1"/>
                          </a:solidFill>
                          <a:latin typeface="Arial"/>
                          <a:ea typeface="Arial"/>
                          <a:cs typeface="Arial"/>
                          <a:sym typeface="Arial"/>
                        </a:rPr>
                        <a:t>Нет</a:t>
                      </a:r>
                      <a:endParaRPr/>
                    </a:p>
                  </a:txBody>
                  <a:tcPr marT="46825" marB="46825" marR="90000" marL="90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85000"/>
                        </a:lnSpc>
                        <a:spcBef>
                          <a:spcPts val="0"/>
                        </a:spcBef>
                        <a:spcAft>
                          <a:spcPts val="0"/>
                        </a:spcAft>
                        <a:buClr>
                          <a:schemeClr val="lt1"/>
                        </a:buClr>
                        <a:buSzPts val="1600"/>
                        <a:buFont typeface="Arial"/>
                        <a:buNone/>
                      </a:pPr>
                      <a:r>
                        <a:rPr b="0" i="0" lang="en-US" sz="1600" u="none">
                          <a:solidFill>
                            <a:schemeClr val="lt1"/>
                          </a:solidFill>
                          <a:latin typeface="Arial"/>
                          <a:ea typeface="Arial"/>
                          <a:cs typeface="Arial"/>
                          <a:sym typeface="Arial"/>
                        </a:rPr>
                        <a:t>Да</a:t>
                      </a:r>
                      <a:endParaRPr/>
                    </a:p>
                  </a:txBody>
                  <a:tcPr marT="46825" marB="46825" marR="90000" marL="90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85000"/>
                        </a:lnSpc>
                        <a:spcBef>
                          <a:spcPts val="0"/>
                        </a:spcBef>
                        <a:spcAft>
                          <a:spcPts val="0"/>
                        </a:spcAft>
                        <a:buClr>
                          <a:schemeClr val="lt1"/>
                        </a:buClr>
                        <a:buSzPts val="1600"/>
                        <a:buFont typeface="Arial"/>
                        <a:buNone/>
                      </a:pPr>
                      <a:r>
                        <a:rPr b="0" i="0" lang="en-US" sz="1600" u="none">
                          <a:solidFill>
                            <a:schemeClr val="lt1"/>
                          </a:solidFill>
                          <a:latin typeface="Arial"/>
                          <a:ea typeface="Arial"/>
                          <a:cs typeface="Arial"/>
                          <a:sym typeface="Arial"/>
                        </a:rPr>
                        <a:t>Да</a:t>
                      </a:r>
                      <a:endParaRPr/>
                    </a:p>
                  </a:txBody>
                  <a:tcPr marT="46825" marB="46825" marR="90000" marL="90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lstStyle/>
                    <a:p>
                      <a:pPr indent="0" lvl="0" marL="0" marR="0" rtl="0" algn="ctr">
                        <a:lnSpc>
                          <a:spcPct val="85000"/>
                        </a:lnSpc>
                        <a:spcBef>
                          <a:spcPts val="0"/>
                        </a:spcBef>
                        <a:spcAft>
                          <a:spcPts val="0"/>
                        </a:spcAft>
                        <a:buClr>
                          <a:schemeClr val="lt1"/>
                        </a:buClr>
                        <a:buSzPts val="1600"/>
                        <a:buFont typeface="Arial"/>
                        <a:buNone/>
                      </a:pPr>
                      <a:r>
                        <a:rPr b="0" i="0" lang="en-US" sz="1600" u="none">
                          <a:solidFill>
                            <a:schemeClr val="lt1"/>
                          </a:solidFill>
                          <a:latin typeface="Arial"/>
                          <a:ea typeface="Arial"/>
                          <a:cs typeface="Arial"/>
                          <a:sym typeface="Arial"/>
                        </a:rPr>
                        <a:t>???</a:t>
                      </a:r>
                      <a:endParaRPr/>
                    </a:p>
                  </a:txBody>
                  <a:tcPr marT="46825" marB="46825" marR="90000" marL="90000" anchor="ctr" anchorCtr="1">
                    <a:lnL cap="flat" cmpd="sng" w="12700">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bl>
          </a:graphicData>
        </a:graphic>
      </p:graphicFrame>
      <p:sp>
        <p:nvSpPr>
          <p:cNvPr id="439" name="Google Shape;439;p37"/>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38"/>
          <p:cNvSpPr txBox="1"/>
          <p:nvPr>
            <p:ph type="title"/>
          </p:nvPr>
        </p:nvSpPr>
        <p:spPr>
          <a:xfrm>
            <a:off x="358775" y="2366962"/>
            <a:ext cx="8372475" cy="1662112"/>
          </a:xfrm>
          <a:prstGeom prst="rect">
            <a:avLst/>
          </a:prstGeom>
          <a:noFill/>
          <a:ln>
            <a:noFill/>
          </a:ln>
        </p:spPr>
        <p:txBody>
          <a:bodyPr anchorCtr="0" anchor="t" bIns="45700" lIns="91425" spcFirstLastPara="1" rIns="91425" wrap="square" tIns="45700">
            <a:spAutoFit/>
          </a:bodyPr>
          <a:lstStyle/>
          <a:p>
            <a:pPr indent="0" lvl="0" marL="0" rtl="0" algn="ctr">
              <a:lnSpc>
                <a:spcPct val="85000"/>
              </a:lnSpc>
              <a:spcBef>
                <a:spcPts val="0"/>
              </a:spcBef>
              <a:spcAft>
                <a:spcPts val="0"/>
              </a:spcAft>
              <a:buClr>
                <a:schemeClr val="lt2"/>
              </a:buClr>
              <a:buSzPts val="4000"/>
              <a:buFont typeface="Quattrocento Sans"/>
              <a:buNone/>
            </a:pPr>
            <a:r>
              <a:rPr b="1" i="0" lang="en-US" sz="4000" u="none">
                <a:solidFill>
                  <a:schemeClr val="lt2"/>
                </a:solidFill>
                <a:latin typeface="Quattrocento Sans"/>
                <a:ea typeface="Quattrocento Sans"/>
                <a:cs typeface="Quattrocento Sans"/>
                <a:sym typeface="Quattrocento Sans"/>
              </a:rPr>
              <a:t>Пример </a:t>
            </a:r>
            <a:br>
              <a:rPr b="1" i="0" lang="en-US" sz="4000" u="none">
                <a:solidFill>
                  <a:schemeClr val="lt2"/>
                </a:solidFill>
                <a:latin typeface="Quattrocento Sans"/>
                <a:ea typeface="Quattrocento Sans"/>
                <a:cs typeface="Quattrocento Sans"/>
                <a:sym typeface="Quattrocento Sans"/>
              </a:rPr>
            </a:br>
            <a:r>
              <a:rPr b="1" i="0" lang="en-US" sz="4000" u="none">
                <a:solidFill>
                  <a:schemeClr val="lt2"/>
                </a:solidFill>
                <a:latin typeface="Quattrocento Sans"/>
                <a:ea typeface="Quattrocento Sans"/>
                <a:cs typeface="Quattrocento Sans"/>
                <a:sym typeface="Quattrocento Sans"/>
              </a:rPr>
              <a:t>классификатора Байеса </a:t>
            </a:r>
            <a:br>
              <a:rPr b="1" i="0" lang="en-US" sz="4000" u="none">
                <a:solidFill>
                  <a:schemeClr val="lt2"/>
                </a:solidFill>
                <a:latin typeface="Quattrocento Sans"/>
                <a:ea typeface="Quattrocento Sans"/>
                <a:cs typeface="Quattrocento Sans"/>
                <a:sym typeface="Quattrocento Sans"/>
              </a:rPr>
            </a:br>
            <a:r>
              <a:rPr b="1" i="0" lang="en-US" sz="4000" u="none">
                <a:solidFill>
                  <a:schemeClr val="lt2"/>
                </a:solidFill>
                <a:latin typeface="Quattrocento Sans"/>
                <a:ea typeface="Quattrocento Sans"/>
                <a:cs typeface="Quattrocento Sans"/>
                <a:sym typeface="Quattrocento Sans"/>
              </a:rPr>
              <a:t>на R</a:t>
            </a:r>
            <a:endParaRPr/>
          </a:p>
        </p:txBody>
      </p:sp>
    </p:spTree>
  </p:cSld>
  <p:clrMapOvr>
    <a:masterClrMapping/>
  </p:clrMapOvr>
  <p:transition spd="slow">
    <p:fade/>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grpSp>
        <p:nvGrpSpPr>
          <p:cNvPr id="450" name="Google Shape;450;p39"/>
          <p:cNvGrpSpPr/>
          <p:nvPr/>
        </p:nvGrpSpPr>
        <p:grpSpPr>
          <a:xfrm>
            <a:off x="344487" y="611187"/>
            <a:ext cx="8391525" cy="5678487"/>
            <a:chOff x="244" y="249"/>
            <a:chExt cx="5941" cy="4021"/>
          </a:xfrm>
        </p:grpSpPr>
        <p:sp>
          <p:nvSpPr>
            <p:cNvPr id="451" name="Google Shape;451;p39"/>
            <p:cNvSpPr/>
            <p:nvPr/>
          </p:nvSpPr>
          <p:spPr>
            <a:xfrm>
              <a:off x="561" y="249"/>
              <a:ext cx="5261" cy="771"/>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452" name="Google Shape;452;p39"/>
            <p:cNvSpPr/>
            <p:nvPr/>
          </p:nvSpPr>
          <p:spPr>
            <a:xfrm>
              <a:off x="244" y="1149"/>
              <a:ext cx="5941" cy="3121"/>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grpSp>
      <p:sp>
        <p:nvSpPr>
          <p:cNvPr id="453" name="Google Shape;453;p39"/>
          <p:cNvSpPr txBox="1"/>
          <p:nvPr>
            <p:ph idx="4294967295" type="title"/>
          </p:nvPr>
        </p:nvSpPr>
        <p:spPr>
          <a:xfrm>
            <a:off x="2479675" y="739775"/>
            <a:ext cx="4929187" cy="603250"/>
          </a:xfrm>
          <a:prstGeom prst="rect">
            <a:avLst/>
          </a:prstGeom>
          <a:noFill/>
          <a:ln>
            <a:noFill/>
          </a:ln>
        </p:spPr>
        <p:txBody>
          <a:bodyPr anchorCtr="0" anchor="ctr" bIns="45700" lIns="91425" spcFirstLastPara="1" rIns="91425" wrap="square" tIns="45700">
            <a:spAutoFit/>
          </a:bodyPr>
          <a:lstStyle/>
          <a:p>
            <a:pPr indent="0" lvl="0" marL="0" marR="0" rtl="0" algn="l">
              <a:lnSpc>
                <a:spcPct val="85000"/>
              </a:lnSpc>
              <a:spcBef>
                <a:spcPts val="0"/>
              </a:spcBef>
              <a:spcAft>
                <a:spcPts val="0"/>
              </a:spcAft>
              <a:buClr>
                <a:schemeClr val="lt2"/>
              </a:buClr>
              <a:buSzPts val="3900"/>
              <a:buFont typeface="Quattrocento Sans"/>
              <a:buNone/>
            </a:pPr>
            <a:r>
              <a:rPr b="0" i="0" lang="en-US" sz="3900" u="none" cap="none" strike="noStrike">
                <a:solidFill>
                  <a:schemeClr val="lt2"/>
                </a:solidFill>
                <a:latin typeface="Quattrocento Sans"/>
                <a:ea typeface="Quattrocento Sans"/>
                <a:cs typeface="Quattrocento Sans"/>
                <a:sym typeface="Quattrocento Sans"/>
              </a:rPr>
              <a:t>Классификация</a:t>
            </a:r>
            <a:endParaRPr/>
          </a:p>
        </p:txBody>
      </p:sp>
      <p:graphicFrame>
        <p:nvGraphicFramePr>
          <p:cNvPr id="454" name="Google Shape;454;p39"/>
          <p:cNvGraphicFramePr/>
          <p:nvPr/>
        </p:nvGraphicFramePr>
        <p:xfrm>
          <a:off x="984250" y="5670550"/>
          <a:ext cx="3000000" cy="3000000"/>
        </p:xfrm>
        <a:graphic>
          <a:graphicData uri="http://schemas.openxmlformats.org/drawingml/2006/table">
            <a:tbl>
              <a:tblPr>
                <a:noFill/>
                <a:tableStyleId>{4A9718B0-E53D-4CFF-AC7E-A2A48AE619F5}</a:tableStyleId>
              </a:tblPr>
              <a:tblGrid>
                <a:gridCol w="2447925"/>
                <a:gridCol w="2444750"/>
                <a:gridCol w="2447925"/>
              </a:tblGrid>
              <a:tr h="357175">
                <a:tc>
                  <a:txBody>
                    <a:bodyPr/>
                    <a:lstStyle/>
                    <a:p>
                      <a:pPr indent="0" lvl="0" marL="0" marR="0" rtl="0" algn="ctr">
                        <a:lnSpc>
                          <a:spcPct val="100000"/>
                        </a:lnSpc>
                        <a:spcBef>
                          <a:spcPts val="0"/>
                        </a:spcBef>
                        <a:spcAft>
                          <a:spcPts val="0"/>
                        </a:spcAft>
                        <a:buClr>
                          <a:srgbClr val="060000"/>
                        </a:buClr>
                        <a:buSzPts val="1800"/>
                        <a:buFont typeface="Arial"/>
                        <a:buNone/>
                      </a:pPr>
                      <a:r>
                        <a:rPr b="0" i="0" lang="en-US" sz="1800" u="none">
                          <a:solidFill>
                            <a:srgbClr val="060000"/>
                          </a:solidFill>
                          <a:latin typeface="Arial"/>
                          <a:ea typeface="Arial"/>
                          <a:cs typeface="Arial"/>
                          <a:sym typeface="Arial"/>
                        </a:rPr>
                        <a:t>iris setosa</a:t>
                      </a:r>
                      <a:endParaRPr/>
                    </a:p>
                  </a:txBody>
                  <a:tcPr marT="40900" marB="40900" marR="81350" marL="81350"/>
                </a:tc>
                <a:tc>
                  <a:txBody>
                    <a:bodyPr/>
                    <a:lstStyle/>
                    <a:p>
                      <a:pPr indent="0" lvl="0" marL="0" marR="0" rtl="0" algn="ctr">
                        <a:lnSpc>
                          <a:spcPct val="100000"/>
                        </a:lnSpc>
                        <a:spcBef>
                          <a:spcPts val="0"/>
                        </a:spcBef>
                        <a:spcAft>
                          <a:spcPts val="0"/>
                        </a:spcAft>
                        <a:buClr>
                          <a:srgbClr val="060000"/>
                        </a:buClr>
                        <a:buSzPts val="1800"/>
                        <a:buFont typeface="Arial"/>
                        <a:buNone/>
                      </a:pPr>
                      <a:r>
                        <a:rPr b="0" i="0" lang="en-US" sz="1800" u="none">
                          <a:solidFill>
                            <a:srgbClr val="060000"/>
                          </a:solidFill>
                          <a:latin typeface="Arial"/>
                          <a:ea typeface="Arial"/>
                          <a:cs typeface="Arial"/>
                          <a:sym typeface="Arial"/>
                        </a:rPr>
                        <a:t>iris versicolor</a:t>
                      </a:r>
                      <a:endParaRPr/>
                    </a:p>
                  </a:txBody>
                  <a:tcPr marT="40900" marB="40900" marR="81350" marL="81350"/>
                </a:tc>
                <a:tc>
                  <a:txBody>
                    <a:bodyPr/>
                    <a:lstStyle/>
                    <a:p>
                      <a:pPr indent="0" lvl="0" marL="0" marR="0" rtl="0" algn="ctr">
                        <a:lnSpc>
                          <a:spcPct val="100000"/>
                        </a:lnSpc>
                        <a:spcBef>
                          <a:spcPts val="0"/>
                        </a:spcBef>
                        <a:spcAft>
                          <a:spcPts val="0"/>
                        </a:spcAft>
                        <a:buClr>
                          <a:srgbClr val="060000"/>
                        </a:buClr>
                        <a:buSzPts val="1800"/>
                        <a:buFont typeface="Arial"/>
                        <a:buNone/>
                      </a:pPr>
                      <a:r>
                        <a:rPr b="0" i="0" lang="en-US" sz="1800" u="none">
                          <a:solidFill>
                            <a:srgbClr val="060000"/>
                          </a:solidFill>
                          <a:latin typeface="Arial"/>
                          <a:ea typeface="Arial"/>
                          <a:cs typeface="Arial"/>
                          <a:sym typeface="Arial"/>
                        </a:rPr>
                        <a:t>iris virginica</a:t>
                      </a:r>
                      <a:endParaRPr/>
                    </a:p>
                  </a:txBody>
                  <a:tcPr marT="40900" marB="40900" marR="81350" marL="81350"/>
                </a:tc>
              </a:tr>
            </a:tbl>
          </a:graphicData>
        </a:graphic>
      </p:graphicFrame>
      <p:pic>
        <p:nvPicPr>
          <p:cNvPr descr="iris" id="455" name="Google Shape;455;p39"/>
          <p:cNvPicPr preferRelativeResize="0"/>
          <p:nvPr/>
        </p:nvPicPr>
        <p:blipFill rotWithShape="1">
          <a:blip r:embed="rId3">
            <a:alphaModFix/>
          </a:blip>
          <a:srcRect b="0" l="0" r="0" t="0"/>
          <a:stretch/>
        </p:blipFill>
        <p:spPr>
          <a:xfrm>
            <a:off x="1368425" y="4068762"/>
            <a:ext cx="1665287" cy="1482725"/>
          </a:xfrm>
          <a:prstGeom prst="rect">
            <a:avLst/>
          </a:prstGeom>
          <a:noFill/>
          <a:ln>
            <a:noFill/>
          </a:ln>
        </p:spPr>
      </p:pic>
      <p:pic>
        <p:nvPicPr>
          <p:cNvPr descr="File:Southern Blue Flag Iris (iris virginica) - Flickr - Andrea Westmoreland.jpg" id="456" name="Google Shape;456;p39"/>
          <p:cNvPicPr preferRelativeResize="0"/>
          <p:nvPr/>
        </p:nvPicPr>
        <p:blipFill rotWithShape="1">
          <a:blip r:embed="rId4">
            <a:alphaModFix/>
          </a:blip>
          <a:srcRect b="0" l="0" r="0" t="0"/>
          <a:stretch/>
        </p:blipFill>
        <p:spPr>
          <a:xfrm>
            <a:off x="5789612" y="4068762"/>
            <a:ext cx="2300287" cy="1543050"/>
          </a:xfrm>
          <a:prstGeom prst="rect">
            <a:avLst/>
          </a:prstGeom>
          <a:noFill/>
          <a:ln>
            <a:noFill/>
          </a:ln>
        </p:spPr>
      </p:pic>
      <p:pic>
        <p:nvPicPr>
          <p:cNvPr descr="800px-Iris_versicolor_4" id="457" name="Google Shape;457;p39"/>
          <p:cNvPicPr preferRelativeResize="0"/>
          <p:nvPr/>
        </p:nvPicPr>
        <p:blipFill rotWithShape="1">
          <a:blip r:embed="rId5">
            <a:alphaModFix/>
          </a:blip>
          <a:srcRect b="0" l="0" r="0" t="0"/>
          <a:stretch/>
        </p:blipFill>
        <p:spPr>
          <a:xfrm>
            <a:off x="3611562" y="4084637"/>
            <a:ext cx="1985962" cy="1490662"/>
          </a:xfrm>
          <a:prstGeom prst="rect">
            <a:avLst/>
          </a:prstGeom>
          <a:noFill/>
          <a:ln>
            <a:noFill/>
          </a:ln>
        </p:spPr>
      </p:pic>
      <p:sp>
        <p:nvSpPr>
          <p:cNvPr id="458" name="Google Shape;458;p39"/>
          <p:cNvSpPr txBox="1"/>
          <p:nvPr>
            <p:ph idx="4294967295" type="body"/>
          </p:nvPr>
        </p:nvSpPr>
        <p:spPr>
          <a:xfrm>
            <a:off x="439737" y="2017712"/>
            <a:ext cx="8201025" cy="1889125"/>
          </a:xfrm>
          <a:prstGeom prst="rect">
            <a:avLst/>
          </a:prstGeom>
          <a:noFill/>
          <a:ln>
            <a:noFill/>
          </a:ln>
        </p:spPr>
        <p:txBody>
          <a:bodyPr anchorCtr="0" anchor="t" bIns="45700" lIns="91425" spcFirstLastPara="1" rIns="91425" wrap="square" tIns="45700">
            <a:spAutoFit/>
          </a:bodyPr>
          <a:lstStyle/>
          <a:p>
            <a:pPr indent="-157162" lvl="0" marL="157162" marR="0" rtl="0" algn="l">
              <a:lnSpc>
                <a:spcPct val="85000"/>
              </a:lnSpc>
              <a:spcBef>
                <a:spcPts val="0"/>
              </a:spcBef>
              <a:spcAft>
                <a:spcPts val="0"/>
              </a:spcAft>
              <a:buClr>
                <a:srgbClr val="F4BE96"/>
              </a:buClr>
              <a:buSzPts val="1920"/>
              <a:buFont typeface="Quattrocento Sans"/>
              <a:buNone/>
            </a:pPr>
            <a:r>
              <a:rPr b="0" i="0" lang="en-US" sz="2400" u="none" cap="none" strike="noStrike">
                <a:solidFill>
                  <a:srgbClr val="060000"/>
                </a:solidFill>
                <a:latin typeface="Quattrocento Sans"/>
                <a:ea typeface="Quattrocento Sans"/>
                <a:cs typeface="Quattrocento Sans"/>
                <a:sym typeface="Quattrocento Sans"/>
              </a:rPr>
              <a:t>   Исходные данные:</a:t>
            </a:r>
            <a:endParaRPr/>
          </a:p>
          <a:p>
            <a:pPr indent="-157162" lvl="0" marL="157162" marR="0" rtl="0" algn="l">
              <a:lnSpc>
                <a:spcPct val="85000"/>
              </a:lnSpc>
              <a:spcBef>
                <a:spcPts val="450"/>
              </a:spcBef>
              <a:spcAft>
                <a:spcPts val="0"/>
              </a:spcAft>
              <a:buClr>
                <a:srgbClr val="F4BE96"/>
              </a:buClr>
              <a:buSzPts val="1440"/>
              <a:buFont typeface="Quattrocento Sans"/>
              <a:buNone/>
            </a:pPr>
            <a:r>
              <a:rPr b="0" i="0" lang="en-US" sz="1800" u="none" cap="none" strike="noStrike">
                <a:solidFill>
                  <a:srgbClr val="060000"/>
                </a:solidFill>
                <a:latin typeface="Quattrocento Sans"/>
                <a:ea typeface="Quattrocento Sans"/>
                <a:cs typeface="Quattrocento Sans"/>
                <a:sym typeface="Quattrocento Sans"/>
              </a:rPr>
              <a:t>Для примеров анализа  будем использовать встроенные в  R данные iris. Эти данные заимствованы из работы знаменитого математика (и биолога) Р.Фишера. Они описывают разнообразие нескольких признаков трёх видов ирисов (многолетние корневищные растения, относящиеся к семейству Касатиковых или Ирисовых). Эти данные состоят из 5 переменных (колонок), последняя колонка содержит </a:t>
            </a:r>
            <a:r>
              <a:rPr b="1" i="1" lang="en-US" sz="1800" u="none" cap="none" strike="noStrike">
                <a:solidFill>
                  <a:srgbClr val="060000"/>
                </a:solidFill>
                <a:latin typeface="Quattrocento Sans"/>
                <a:ea typeface="Quattrocento Sans"/>
                <a:cs typeface="Quattrocento Sans"/>
                <a:sym typeface="Quattrocento Sans"/>
              </a:rPr>
              <a:t>название вида</a:t>
            </a:r>
            <a:r>
              <a:rPr b="0" i="0" lang="en-US" sz="1800" u="none" cap="none" strike="noStrike">
                <a:solidFill>
                  <a:srgbClr val="060000"/>
                </a:solidFill>
                <a:latin typeface="Quattrocento Sans"/>
                <a:ea typeface="Quattrocento Sans"/>
                <a:cs typeface="Quattrocento Sans"/>
                <a:sym typeface="Quattrocento Sans"/>
              </a:rPr>
              <a:t>.</a:t>
            </a:r>
            <a:endParaRPr/>
          </a:p>
        </p:txBody>
      </p:sp>
      <p:sp>
        <p:nvSpPr>
          <p:cNvPr id="459" name="Google Shape;459;p39"/>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40"/>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Наивный Байесовский метод</a:t>
            </a:r>
            <a:endParaRPr/>
          </a:p>
        </p:txBody>
      </p:sp>
      <p:sp>
        <p:nvSpPr>
          <p:cNvPr id="466" name="Google Shape;466;p40"/>
          <p:cNvSpPr txBox="1"/>
          <p:nvPr>
            <p:ph idx="1" type="body"/>
          </p:nvPr>
        </p:nvSpPr>
        <p:spPr>
          <a:xfrm>
            <a:off x="406400" y="1036637"/>
            <a:ext cx="8356600" cy="720725"/>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rgbClr val="F4BE96"/>
              </a:buClr>
              <a:buSzPts val="1920"/>
              <a:buFont typeface="Quattrocento Sans"/>
              <a:buChar char="•"/>
            </a:pPr>
            <a:r>
              <a:rPr b="0" i="0" lang="en-US" sz="2400" u="none" cap="none" strike="noStrike">
                <a:solidFill>
                  <a:schemeClr val="lt1"/>
                </a:solidFill>
                <a:latin typeface="Quattrocento Sans"/>
                <a:ea typeface="Quattrocento Sans"/>
                <a:cs typeface="Quattrocento Sans"/>
                <a:sym typeface="Quattrocento Sans"/>
              </a:rPr>
              <a:t>Рассмотрим Байесовский классификатор на примере классификации цветков ириса:</a:t>
            </a:r>
            <a:endParaRPr/>
          </a:p>
        </p:txBody>
      </p:sp>
      <p:pic>
        <p:nvPicPr>
          <p:cNvPr id="467" name="Google Shape;467;p40"/>
          <p:cNvPicPr preferRelativeResize="0"/>
          <p:nvPr/>
        </p:nvPicPr>
        <p:blipFill rotWithShape="1">
          <a:blip r:embed="rId3">
            <a:alphaModFix/>
          </a:blip>
          <a:srcRect b="0" l="0" r="0" t="0"/>
          <a:stretch/>
        </p:blipFill>
        <p:spPr>
          <a:xfrm>
            <a:off x="930275" y="1927225"/>
            <a:ext cx="7292975" cy="3854450"/>
          </a:xfrm>
          <a:prstGeom prst="rect">
            <a:avLst/>
          </a:prstGeom>
          <a:noFill/>
          <a:ln>
            <a:noFill/>
          </a:ln>
        </p:spPr>
      </p:pic>
      <p:sp>
        <p:nvSpPr>
          <p:cNvPr id="468" name="Google Shape;468;p40"/>
          <p:cNvSpPr txBox="1"/>
          <p:nvPr/>
        </p:nvSpPr>
        <p:spPr>
          <a:xfrm>
            <a:off x="1193800" y="5951537"/>
            <a:ext cx="6742112" cy="708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Quattrocento Sans"/>
              <a:buNone/>
            </a:pPr>
            <a:r>
              <a:rPr b="1" i="0" lang="en-US" sz="2000" u="none">
                <a:solidFill>
                  <a:schemeClr val="lt1"/>
                </a:solidFill>
                <a:latin typeface="Quattrocento Sans"/>
                <a:ea typeface="Quattrocento Sans"/>
                <a:cs typeface="Quattrocento Sans"/>
                <a:sym typeface="Quattrocento Sans"/>
              </a:rPr>
              <a:t>Цветы должны быть отнесены к одному из видов ирисов: </a:t>
            </a:r>
            <a:r>
              <a:rPr b="1" i="1" lang="en-US" sz="1800" u="none">
                <a:solidFill>
                  <a:schemeClr val="lt1"/>
                </a:solidFill>
                <a:latin typeface="Droid Sans Mono"/>
                <a:ea typeface="Droid Sans Mono"/>
                <a:cs typeface="Droid Sans Mono"/>
                <a:sym typeface="Droid Sans Mono"/>
              </a:rPr>
              <a:t>"setosa", "verginica","versicolor".</a:t>
            </a:r>
            <a:endParaRPr/>
          </a:p>
        </p:txBody>
      </p:sp>
      <p:sp>
        <p:nvSpPr>
          <p:cNvPr id="469" name="Google Shape;469;p40"/>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41"/>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Наивный Байесовский метод</a:t>
            </a:r>
            <a:endParaRPr/>
          </a:p>
        </p:txBody>
      </p:sp>
      <p:sp>
        <p:nvSpPr>
          <p:cNvPr id="476" name="Google Shape;476;p41"/>
          <p:cNvSpPr txBox="1"/>
          <p:nvPr>
            <p:ph idx="1" type="body"/>
          </p:nvPr>
        </p:nvSpPr>
        <p:spPr>
          <a:xfrm>
            <a:off x="406400" y="1036637"/>
            <a:ext cx="8356600" cy="1035050"/>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rgbClr val="F4BE96"/>
              </a:buClr>
              <a:buSzPts val="1920"/>
              <a:buFont typeface="Quattrocento Sans"/>
              <a:buChar char="•"/>
            </a:pPr>
            <a:r>
              <a:rPr b="0" i="0" lang="en-US" sz="2400" u="none" cap="none" strike="noStrike">
                <a:solidFill>
                  <a:schemeClr val="lt1"/>
                </a:solidFill>
                <a:latin typeface="Quattrocento Sans"/>
                <a:ea typeface="Quattrocento Sans"/>
                <a:cs typeface="Quattrocento Sans"/>
                <a:sym typeface="Quattrocento Sans"/>
              </a:rPr>
              <a:t>В среде R расчеты выполняются обычно с использованием функций </a:t>
            </a:r>
            <a:r>
              <a:rPr b="0" i="0" lang="en-US" sz="2400" u="none" cap="none" strike="noStrike">
                <a:solidFill>
                  <a:srgbClr val="FFFF00"/>
                </a:solidFill>
                <a:latin typeface="Quattrocento Sans"/>
                <a:ea typeface="Quattrocento Sans"/>
                <a:cs typeface="Quattrocento Sans"/>
                <a:sym typeface="Quattrocento Sans"/>
              </a:rPr>
              <a:t>NaiveBayes() </a:t>
            </a:r>
            <a:r>
              <a:rPr b="0" i="0" lang="en-US" sz="2400" u="none" cap="none" strike="noStrike">
                <a:solidFill>
                  <a:schemeClr val="lt1"/>
                </a:solidFill>
                <a:latin typeface="Quattrocento Sans"/>
                <a:ea typeface="Quattrocento Sans"/>
                <a:cs typeface="Quattrocento Sans"/>
                <a:sym typeface="Quattrocento Sans"/>
              </a:rPr>
              <a:t>из пакета </a:t>
            </a:r>
            <a:r>
              <a:rPr b="0" i="0" lang="en-US" sz="2400" u="none" cap="none" strike="noStrike">
                <a:solidFill>
                  <a:srgbClr val="F97715"/>
                </a:solidFill>
                <a:latin typeface="Quattrocento Sans"/>
                <a:ea typeface="Quattrocento Sans"/>
                <a:cs typeface="Quattrocento Sans"/>
                <a:sym typeface="Quattrocento Sans"/>
              </a:rPr>
              <a:t>klaR</a:t>
            </a:r>
            <a:r>
              <a:rPr b="0" i="0" lang="en-US" sz="2400" u="none" cap="none" strike="noStrike">
                <a:solidFill>
                  <a:schemeClr val="lt1"/>
                </a:solidFill>
                <a:latin typeface="Quattrocento Sans"/>
                <a:ea typeface="Quattrocento Sans"/>
                <a:cs typeface="Quattrocento Sans"/>
                <a:sym typeface="Quattrocento Sans"/>
              </a:rPr>
              <a:t> или naiveBayes() из пакета e1071. </a:t>
            </a:r>
            <a:endParaRPr/>
          </a:p>
        </p:txBody>
      </p:sp>
      <p:sp>
        <p:nvSpPr>
          <p:cNvPr id="477" name="Google Shape;477;p41"/>
          <p:cNvSpPr txBox="1"/>
          <p:nvPr/>
        </p:nvSpPr>
        <p:spPr>
          <a:xfrm>
            <a:off x="406400" y="2270125"/>
            <a:ext cx="8356600" cy="157003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Quattrocento Sans"/>
              <a:buNone/>
            </a:pPr>
            <a:r>
              <a:t/>
            </a:r>
            <a:endParaRPr b="1" i="0" sz="2400" u="none">
              <a:solidFill>
                <a:schemeClr val="dk2"/>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chemeClr val="dk2"/>
              </a:buClr>
              <a:buSzPts val="2400"/>
              <a:buFont typeface="Quattrocento Sans"/>
              <a:buNone/>
            </a:pPr>
            <a:r>
              <a:rPr b="1" i="0" lang="en-US" sz="2400" u="none">
                <a:solidFill>
                  <a:schemeClr val="dk2"/>
                </a:solidFill>
                <a:latin typeface="Quattrocento Sans"/>
                <a:ea typeface="Quattrocento Sans"/>
                <a:cs typeface="Quattrocento Sans"/>
                <a:sym typeface="Quattrocento Sans"/>
              </a:rPr>
              <a:t>&gt;library(klaR) #</a:t>
            </a:r>
            <a:r>
              <a:rPr b="1" i="0" lang="en-US" sz="2400" u="none">
                <a:solidFill>
                  <a:srgbClr val="FF0000"/>
                </a:solidFill>
                <a:latin typeface="Quattrocento Sans"/>
                <a:ea typeface="Quattrocento Sans"/>
                <a:cs typeface="Quattrocento Sans"/>
                <a:sym typeface="Quattrocento Sans"/>
              </a:rPr>
              <a:t>Загрузка требуемого пакета </a:t>
            </a:r>
            <a:endParaRPr/>
          </a:p>
          <a:p>
            <a:pPr indent="0" lvl="0" marL="0" marR="0" rtl="0" algn="l">
              <a:lnSpc>
                <a:spcPct val="100000"/>
              </a:lnSpc>
              <a:spcBef>
                <a:spcPts val="0"/>
              </a:spcBef>
              <a:spcAft>
                <a:spcPts val="0"/>
              </a:spcAft>
              <a:buClr>
                <a:schemeClr val="dk2"/>
              </a:buClr>
              <a:buSzPts val="2400"/>
              <a:buFont typeface="Quattrocento Sans"/>
              <a:buNone/>
            </a:pPr>
            <a:r>
              <a:rPr b="1" i="0" lang="en-US" sz="2400" u="none">
                <a:solidFill>
                  <a:schemeClr val="dk2"/>
                </a:solidFill>
                <a:latin typeface="Quattrocento Sans"/>
                <a:ea typeface="Quattrocento Sans"/>
                <a:cs typeface="Quattrocento Sans"/>
                <a:sym typeface="Quattrocento Sans"/>
              </a:rPr>
              <a:t>&gt;naive_iris &lt;- NaiveBayes(iris$Species ~ ., data = iris)</a:t>
            </a:r>
            <a:endParaRPr/>
          </a:p>
          <a:p>
            <a:pPr indent="0" lvl="0" marL="0" marR="0" rtl="0" algn="l">
              <a:lnSpc>
                <a:spcPct val="100000"/>
              </a:lnSpc>
              <a:spcBef>
                <a:spcPts val="0"/>
              </a:spcBef>
              <a:spcAft>
                <a:spcPts val="0"/>
              </a:spcAft>
              <a:buNone/>
            </a:pPr>
            <a:r>
              <a:t/>
            </a:r>
            <a:endParaRPr b="1" i="0" sz="2400" u="none">
              <a:solidFill>
                <a:schemeClr val="dk2"/>
              </a:solidFill>
              <a:latin typeface="Quattrocento Sans"/>
              <a:ea typeface="Quattrocento Sans"/>
              <a:cs typeface="Quattrocento Sans"/>
              <a:sym typeface="Quattrocento Sans"/>
            </a:endParaRPr>
          </a:p>
        </p:txBody>
      </p:sp>
      <p:sp>
        <p:nvSpPr>
          <p:cNvPr id="478" name="Google Shape;478;p41"/>
          <p:cNvSpPr txBox="1"/>
          <p:nvPr/>
        </p:nvSpPr>
        <p:spPr>
          <a:xfrm>
            <a:off x="184150" y="4238625"/>
            <a:ext cx="8356600" cy="2068512"/>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2400"/>
              <a:buFont typeface="Quattrocento Sans"/>
              <a:buChar char="•"/>
            </a:pPr>
            <a:r>
              <a:rPr b="0" i="0" lang="en-US" sz="2400" u="none">
                <a:solidFill>
                  <a:schemeClr val="lt1"/>
                </a:solidFill>
                <a:latin typeface="Quattrocento Sans"/>
                <a:ea typeface="Quattrocento Sans"/>
                <a:cs typeface="Quattrocento Sans"/>
                <a:sym typeface="Quattrocento Sans"/>
              </a:rPr>
              <a:t>функция  </a:t>
            </a:r>
            <a:r>
              <a:rPr b="1" i="0" lang="en-US" sz="2000" u="none">
                <a:solidFill>
                  <a:srgbClr val="FFFF00"/>
                </a:solidFill>
                <a:latin typeface="Quattrocento Sans"/>
                <a:ea typeface="Quattrocento Sans"/>
                <a:cs typeface="Quattrocento Sans"/>
                <a:sym typeface="Quattrocento Sans"/>
              </a:rPr>
              <a:t>naive_iris &lt;- NaiveBayes(iris$Species ~ ., data = iris)</a:t>
            </a:r>
            <a:r>
              <a:rPr b="1" i="0" lang="en-US" sz="2400" u="none">
                <a:solidFill>
                  <a:srgbClr val="FFFF00"/>
                </a:solidFill>
                <a:latin typeface="Quattrocento Sans"/>
                <a:ea typeface="Quattrocento Sans"/>
                <a:cs typeface="Quattrocento Sans"/>
                <a:sym typeface="Quattrocento Sans"/>
              </a:rPr>
              <a:t> </a:t>
            </a:r>
            <a:r>
              <a:rPr b="1" i="0" lang="en-US" sz="2400" u="none">
                <a:solidFill>
                  <a:schemeClr val="lt1"/>
                </a:solidFill>
                <a:latin typeface="Quattrocento Sans"/>
                <a:ea typeface="Quattrocento Sans"/>
                <a:cs typeface="Quattrocento Sans"/>
                <a:sym typeface="Quattrocento Sans"/>
              </a:rPr>
              <a:t>выполняет классификацию согласно первому параметру "Формула":  </a:t>
            </a:r>
            <a:r>
              <a:rPr b="1" i="0" lang="en-US" sz="2400" u="none">
                <a:solidFill>
                  <a:srgbClr val="FFFF00"/>
                </a:solidFill>
                <a:latin typeface="Quattrocento Sans"/>
                <a:ea typeface="Quattrocento Sans"/>
                <a:cs typeface="Quattrocento Sans"/>
                <a:sym typeface="Quattrocento Sans"/>
              </a:rPr>
              <a:t>iris$Species ~ .</a:t>
            </a:r>
            <a:endParaRPr/>
          </a:p>
          <a:p>
            <a:pPr indent="-334962" lvl="0" marL="334962" marR="0" rtl="0" algn="l">
              <a:lnSpc>
                <a:spcPct val="85000"/>
              </a:lnSpc>
              <a:spcBef>
                <a:spcPts val="600"/>
              </a:spcBef>
              <a:spcAft>
                <a:spcPts val="0"/>
              </a:spcAft>
              <a:buClr>
                <a:schemeClr val="lt1"/>
              </a:buClr>
              <a:buSzPts val="2400"/>
              <a:buFont typeface="Quattrocento Sans"/>
              <a:buChar char="•"/>
            </a:pPr>
            <a:r>
              <a:rPr b="0" i="0" lang="en-US" sz="2400" u="none">
                <a:solidFill>
                  <a:schemeClr val="lt1"/>
                </a:solidFill>
                <a:latin typeface="Quattrocento Sans"/>
                <a:ea typeface="Quattrocento Sans"/>
                <a:cs typeface="Quattrocento Sans"/>
                <a:sym typeface="Quattrocento Sans"/>
              </a:rPr>
              <a:t>здесь </a:t>
            </a:r>
            <a:r>
              <a:rPr b="1" i="0" lang="en-US" sz="2400" u="none">
                <a:solidFill>
                  <a:srgbClr val="FFFF00"/>
                </a:solidFill>
                <a:latin typeface="Quattrocento Sans"/>
                <a:ea typeface="Quattrocento Sans"/>
                <a:cs typeface="Quattrocento Sans"/>
                <a:sym typeface="Quattrocento Sans"/>
              </a:rPr>
              <a:t>iris$Species </a:t>
            </a:r>
            <a:r>
              <a:rPr b="1" i="0" lang="en-US" sz="2400" u="none">
                <a:solidFill>
                  <a:schemeClr val="lt1"/>
                </a:solidFill>
                <a:latin typeface="Quattrocento Sans"/>
                <a:ea typeface="Quattrocento Sans"/>
                <a:cs typeface="Quattrocento Sans"/>
                <a:sym typeface="Quattrocento Sans"/>
              </a:rPr>
              <a:t>– столбец целевой переменной y, в который вписаны 3 вида ирисов: </a:t>
            </a:r>
            <a:r>
              <a:rPr b="1" i="1" lang="en-US" sz="2000" u="none">
                <a:solidFill>
                  <a:schemeClr val="lt1"/>
                </a:solidFill>
                <a:latin typeface="Droid Sans Mono"/>
                <a:ea typeface="Droid Sans Mono"/>
                <a:cs typeface="Droid Sans Mono"/>
                <a:sym typeface="Droid Sans Mono"/>
              </a:rPr>
              <a:t>"setosa", "verginica","versicolor".</a:t>
            </a:r>
            <a:endParaRPr/>
          </a:p>
        </p:txBody>
      </p:sp>
      <p:sp>
        <p:nvSpPr>
          <p:cNvPr id="479" name="Google Shape;479;p41"/>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42"/>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Наивный Байесовский метод</a:t>
            </a:r>
            <a:endParaRPr/>
          </a:p>
        </p:txBody>
      </p:sp>
      <p:sp>
        <p:nvSpPr>
          <p:cNvPr id="486" name="Google Shape;486;p42"/>
          <p:cNvSpPr txBox="1"/>
          <p:nvPr>
            <p:ph idx="1" type="body"/>
          </p:nvPr>
        </p:nvSpPr>
        <p:spPr>
          <a:xfrm>
            <a:off x="406400" y="1036637"/>
            <a:ext cx="8356600" cy="668337"/>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rgbClr val="F4BE96"/>
              </a:buClr>
              <a:buSzPts val="1760"/>
              <a:buFont typeface="Quattrocento Sans"/>
              <a:buChar char="•"/>
            </a:pPr>
            <a:r>
              <a:rPr b="0" i="0" lang="en-US" sz="2200" u="none" cap="none" strike="noStrike">
                <a:solidFill>
                  <a:schemeClr val="lt1"/>
                </a:solidFill>
                <a:latin typeface="Quattrocento Sans"/>
                <a:ea typeface="Quattrocento Sans"/>
                <a:cs typeface="Quattrocento Sans"/>
                <a:sym typeface="Quattrocento Sans"/>
              </a:rPr>
              <a:t># Классификатор формирует таблицы для каждого признака. Их можно просмотреть с помощью команды:</a:t>
            </a:r>
            <a:endParaRPr/>
          </a:p>
        </p:txBody>
      </p:sp>
      <p:sp>
        <p:nvSpPr>
          <p:cNvPr id="487" name="Google Shape;487;p42"/>
          <p:cNvSpPr txBox="1"/>
          <p:nvPr/>
        </p:nvSpPr>
        <p:spPr>
          <a:xfrm>
            <a:off x="390525" y="1820862"/>
            <a:ext cx="8356600" cy="46196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400"/>
              <a:buFont typeface="Quattrocento Sans"/>
              <a:buNone/>
            </a:pPr>
            <a:r>
              <a:rPr b="1" i="0" lang="en-US" sz="2400" u="none">
                <a:solidFill>
                  <a:schemeClr val="dk2"/>
                </a:solidFill>
                <a:latin typeface="Quattrocento Sans"/>
                <a:ea typeface="Quattrocento Sans"/>
                <a:cs typeface="Quattrocento Sans"/>
                <a:sym typeface="Quattrocento Sans"/>
              </a:rPr>
              <a:t>&gt;naive_iris$tables</a:t>
            </a:r>
            <a:endParaRPr/>
          </a:p>
        </p:txBody>
      </p:sp>
      <p:sp>
        <p:nvSpPr>
          <p:cNvPr id="488" name="Google Shape;488;p42"/>
          <p:cNvSpPr txBox="1"/>
          <p:nvPr/>
        </p:nvSpPr>
        <p:spPr>
          <a:xfrm>
            <a:off x="2978150" y="2690812"/>
            <a:ext cx="5884862" cy="3341687"/>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2200"/>
              <a:buFont typeface="Quattrocento Sans"/>
              <a:buChar char="•"/>
            </a:pPr>
            <a:r>
              <a:rPr b="0" i="0" lang="en-US" sz="2200" u="none">
                <a:solidFill>
                  <a:schemeClr val="lt1"/>
                </a:solidFill>
                <a:latin typeface="Quattrocento Sans"/>
                <a:ea typeface="Quattrocento Sans"/>
                <a:cs typeface="Quattrocento Sans"/>
                <a:sym typeface="Quattrocento Sans"/>
              </a:rPr>
              <a:t>Для каждой метрической независимой переменной (например</a:t>
            </a:r>
            <a:r>
              <a:rPr b="0" i="0" lang="en-US" sz="2200" u="none">
                <a:solidFill>
                  <a:srgbClr val="FFFF00"/>
                </a:solidFill>
                <a:latin typeface="Quattrocento Sans"/>
                <a:ea typeface="Quattrocento Sans"/>
                <a:cs typeface="Quattrocento Sans"/>
                <a:sym typeface="Quattrocento Sans"/>
              </a:rPr>
              <a:t>, $Sepal.Length</a:t>
            </a:r>
            <a:r>
              <a:rPr b="0" i="0" lang="en-US" sz="2200" u="none">
                <a:solidFill>
                  <a:schemeClr val="lt1"/>
                </a:solidFill>
                <a:latin typeface="Quattrocento Sans"/>
                <a:ea typeface="Quattrocento Sans"/>
                <a:cs typeface="Quattrocento Sans"/>
                <a:sym typeface="Quattrocento Sans"/>
              </a:rPr>
              <a:t>) создается таблица и выводятся средние значения (первый столбец) и их стандартные отклонения (второй столбец) для каждого выделенного класса. </a:t>
            </a:r>
            <a:endParaRPr/>
          </a:p>
          <a:p>
            <a:pPr indent="-334962" lvl="0" marL="334962" marR="0" rtl="0" algn="l">
              <a:lnSpc>
                <a:spcPct val="85000"/>
              </a:lnSpc>
              <a:spcBef>
                <a:spcPts val="550"/>
              </a:spcBef>
              <a:spcAft>
                <a:spcPts val="0"/>
              </a:spcAft>
              <a:buClr>
                <a:schemeClr val="lt1"/>
              </a:buClr>
              <a:buSzPts val="2200"/>
              <a:buFont typeface="Quattrocento Sans"/>
              <a:buChar char="•"/>
            </a:pPr>
            <a:r>
              <a:rPr b="0" i="0" lang="en-US" sz="2200" u="none">
                <a:solidFill>
                  <a:schemeClr val="lt1"/>
                </a:solidFill>
                <a:latin typeface="Quattrocento Sans"/>
                <a:ea typeface="Quattrocento Sans"/>
                <a:cs typeface="Quattrocento Sans"/>
                <a:sym typeface="Quattrocento Sans"/>
              </a:rPr>
              <a:t>Так, например, по таблице </a:t>
            </a:r>
            <a:r>
              <a:rPr b="0" i="0" lang="en-US" sz="2200" u="none">
                <a:solidFill>
                  <a:srgbClr val="FFFF00"/>
                </a:solidFill>
                <a:latin typeface="Quattrocento Sans"/>
                <a:ea typeface="Quattrocento Sans"/>
                <a:cs typeface="Quattrocento Sans"/>
                <a:sym typeface="Quattrocento Sans"/>
              </a:rPr>
              <a:t>$Petal.width </a:t>
            </a:r>
            <a:r>
              <a:rPr b="0" i="0" lang="en-US" sz="2200" u="none">
                <a:solidFill>
                  <a:schemeClr val="lt1"/>
                </a:solidFill>
                <a:latin typeface="Quattrocento Sans"/>
                <a:ea typeface="Quattrocento Sans"/>
                <a:cs typeface="Quattrocento Sans"/>
                <a:sym typeface="Quattrocento Sans"/>
              </a:rPr>
              <a:t>можно установить , что ширина лепестка у виргинского ириса существенно выше, чем у остальных двух видов.</a:t>
            </a:r>
            <a:endParaRPr/>
          </a:p>
        </p:txBody>
      </p:sp>
      <p:pic>
        <p:nvPicPr>
          <p:cNvPr id="489" name="Google Shape;489;p42"/>
          <p:cNvPicPr preferRelativeResize="0"/>
          <p:nvPr/>
        </p:nvPicPr>
        <p:blipFill rotWithShape="1">
          <a:blip r:embed="rId3">
            <a:alphaModFix/>
          </a:blip>
          <a:srcRect b="0" l="0" r="0" t="0"/>
          <a:stretch/>
        </p:blipFill>
        <p:spPr>
          <a:xfrm>
            <a:off x="406400" y="2346325"/>
            <a:ext cx="2573337" cy="4246562"/>
          </a:xfrm>
          <a:prstGeom prst="rect">
            <a:avLst/>
          </a:prstGeom>
          <a:noFill/>
          <a:ln>
            <a:noFill/>
          </a:ln>
        </p:spPr>
      </p:pic>
      <p:sp>
        <p:nvSpPr>
          <p:cNvPr id="490" name="Google Shape;490;p42"/>
          <p:cNvSpPr txBox="1"/>
          <p:nvPr/>
        </p:nvSpPr>
        <p:spPr>
          <a:xfrm>
            <a:off x="457200" y="5543550"/>
            <a:ext cx="2470150" cy="977900"/>
          </a:xfrm>
          <a:prstGeom prst="rect">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491" name="Google Shape;491;p42"/>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43"/>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Наивный Байесовский метод</a:t>
            </a:r>
            <a:endParaRPr/>
          </a:p>
        </p:txBody>
      </p:sp>
      <p:sp>
        <p:nvSpPr>
          <p:cNvPr id="498" name="Google Shape;498;p43"/>
          <p:cNvSpPr txBox="1"/>
          <p:nvPr>
            <p:ph idx="1" type="body"/>
          </p:nvPr>
        </p:nvSpPr>
        <p:spPr>
          <a:xfrm>
            <a:off x="406400" y="1036637"/>
            <a:ext cx="8356600" cy="406400"/>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rgbClr val="F4BE96"/>
              </a:buClr>
              <a:buSzPts val="1920"/>
              <a:buFont typeface="Quattrocento Sans"/>
              <a:buChar char="•"/>
            </a:pPr>
            <a:r>
              <a:rPr b="0" i="0" lang="en-US" sz="2400" u="none" cap="none" strike="noStrike">
                <a:solidFill>
                  <a:schemeClr val="lt1"/>
                </a:solidFill>
                <a:latin typeface="Quattrocento Sans"/>
                <a:ea typeface="Quattrocento Sans"/>
                <a:cs typeface="Quattrocento Sans"/>
                <a:sym typeface="Quattrocento Sans"/>
              </a:rPr>
              <a:t>Выведем отдельно взятую таблицу классификатора:</a:t>
            </a:r>
            <a:endParaRPr/>
          </a:p>
        </p:txBody>
      </p:sp>
      <p:sp>
        <p:nvSpPr>
          <p:cNvPr id="499" name="Google Shape;499;p43"/>
          <p:cNvSpPr txBox="1"/>
          <p:nvPr/>
        </p:nvSpPr>
        <p:spPr>
          <a:xfrm>
            <a:off x="390525" y="1595437"/>
            <a:ext cx="8356600" cy="46196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400"/>
              <a:buFont typeface="Quattrocento Sans"/>
              <a:buNone/>
            </a:pPr>
            <a:r>
              <a:rPr b="1" i="0" lang="en-US" sz="2400" u="none">
                <a:solidFill>
                  <a:schemeClr val="dk2"/>
                </a:solidFill>
                <a:latin typeface="Quattrocento Sans"/>
                <a:ea typeface="Quattrocento Sans"/>
                <a:cs typeface="Quattrocento Sans"/>
                <a:sym typeface="Quattrocento Sans"/>
              </a:rPr>
              <a:t>&gt; naive_iris$tables$Petal.Width</a:t>
            </a:r>
            <a:endParaRPr/>
          </a:p>
        </p:txBody>
      </p:sp>
      <p:sp>
        <p:nvSpPr>
          <p:cNvPr id="500" name="Google Shape;500;p43"/>
          <p:cNvSpPr txBox="1"/>
          <p:nvPr/>
        </p:nvSpPr>
        <p:spPr>
          <a:xfrm>
            <a:off x="168275" y="3584575"/>
            <a:ext cx="8393112" cy="1138237"/>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2000"/>
              <a:buFont typeface="Quattrocento Sans"/>
              <a:buChar char="•"/>
            </a:pPr>
            <a:r>
              <a:rPr b="1" i="0" lang="en-US" sz="2000" u="none">
                <a:solidFill>
                  <a:schemeClr val="lt1"/>
                </a:solidFill>
                <a:latin typeface="Quattrocento Sans"/>
                <a:ea typeface="Quattrocento Sans"/>
                <a:cs typeface="Quattrocento Sans"/>
                <a:sym typeface="Quattrocento Sans"/>
              </a:rPr>
              <a:t>Для визуальной сравнительной оценки связи измеренных переменных с метками классов удобно рассмотреть ядерные функции плотности условной вероятности  с помощью следующих команд:</a:t>
            </a:r>
            <a:endParaRPr/>
          </a:p>
        </p:txBody>
      </p:sp>
      <p:pic>
        <p:nvPicPr>
          <p:cNvPr id="501" name="Google Shape;501;p43"/>
          <p:cNvPicPr preferRelativeResize="0"/>
          <p:nvPr/>
        </p:nvPicPr>
        <p:blipFill rotWithShape="1">
          <a:blip r:embed="rId3">
            <a:alphaModFix/>
          </a:blip>
          <a:srcRect b="0" l="0" r="0" t="0"/>
          <a:stretch/>
        </p:blipFill>
        <p:spPr>
          <a:xfrm>
            <a:off x="2141537" y="2212975"/>
            <a:ext cx="3911600" cy="1244600"/>
          </a:xfrm>
          <a:prstGeom prst="rect">
            <a:avLst/>
          </a:prstGeom>
          <a:noFill/>
          <a:ln>
            <a:noFill/>
          </a:ln>
        </p:spPr>
      </p:pic>
      <p:sp>
        <p:nvSpPr>
          <p:cNvPr id="502" name="Google Shape;502;p43"/>
          <p:cNvSpPr txBox="1"/>
          <p:nvPr/>
        </p:nvSpPr>
        <p:spPr>
          <a:xfrm>
            <a:off x="573087" y="4821237"/>
            <a:ext cx="7583487" cy="8318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400"/>
              <a:buFont typeface="Quattrocento Sans"/>
              <a:buNone/>
            </a:pPr>
            <a:r>
              <a:rPr b="1" i="0" lang="en-US" sz="2400" u="none">
                <a:solidFill>
                  <a:schemeClr val="dk2"/>
                </a:solidFill>
                <a:latin typeface="Quattrocento Sans"/>
                <a:ea typeface="Quattrocento Sans"/>
                <a:cs typeface="Quattrocento Sans"/>
                <a:sym typeface="Quattrocento Sans"/>
              </a:rPr>
              <a:t>layout(matrix(c(1,2,3,4), 2, 2, byrow = TRUE))</a:t>
            </a:r>
            <a:endParaRPr/>
          </a:p>
          <a:p>
            <a:pPr indent="0" lvl="0" marL="0" marR="0" rtl="0" algn="l">
              <a:lnSpc>
                <a:spcPct val="100000"/>
              </a:lnSpc>
              <a:spcBef>
                <a:spcPts val="0"/>
              </a:spcBef>
              <a:spcAft>
                <a:spcPts val="0"/>
              </a:spcAft>
              <a:buClr>
                <a:schemeClr val="dk2"/>
              </a:buClr>
              <a:buSzPts val="2400"/>
              <a:buFont typeface="Quattrocento Sans"/>
              <a:buNone/>
            </a:pPr>
            <a:r>
              <a:rPr b="1" i="0" lang="en-US" sz="2400" u="none">
                <a:solidFill>
                  <a:schemeClr val="dk2"/>
                </a:solidFill>
                <a:latin typeface="Quattrocento Sans"/>
                <a:ea typeface="Quattrocento Sans"/>
                <a:cs typeface="Quattrocento Sans"/>
                <a:sym typeface="Quattrocento Sans"/>
              </a:rPr>
              <a:t>plot(naive_iris,lwd = 2, legendplot=FALSE)</a:t>
            </a:r>
            <a:endParaRPr/>
          </a:p>
        </p:txBody>
      </p:sp>
      <p:sp>
        <p:nvSpPr>
          <p:cNvPr id="503" name="Google Shape;503;p43"/>
          <p:cNvSpPr txBox="1"/>
          <p:nvPr/>
        </p:nvSpPr>
        <p:spPr>
          <a:xfrm>
            <a:off x="312737" y="5838825"/>
            <a:ext cx="8391525" cy="614362"/>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2000"/>
              <a:buFont typeface="Quattrocento Sans"/>
              <a:buChar char="•"/>
            </a:pPr>
            <a:r>
              <a:rPr b="1" i="0" lang="en-US" sz="2000" u="none">
                <a:solidFill>
                  <a:schemeClr val="lt1"/>
                </a:solidFill>
                <a:latin typeface="Quattrocento Sans"/>
                <a:ea typeface="Quattrocento Sans"/>
                <a:cs typeface="Quattrocento Sans"/>
                <a:sym typeface="Quattrocento Sans"/>
              </a:rPr>
              <a:t>Поскольку таблиц у нас было 4 (по числу переменных), то и графиков будет четыре. </a:t>
            </a:r>
            <a:endParaRPr/>
          </a:p>
        </p:txBody>
      </p:sp>
      <p:sp>
        <p:nvSpPr>
          <p:cNvPr id="504" name="Google Shape;504;p43"/>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44"/>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Наивный Байесовский метод</a:t>
            </a:r>
            <a:endParaRPr/>
          </a:p>
        </p:txBody>
      </p:sp>
      <p:sp>
        <p:nvSpPr>
          <p:cNvPr id="511" name="Google Shape;511;p44"/>
          <p:cNvSpPr txBox="1"/>
          <p:nvPr/>
        </p:nvSpPr>
        <p:spPr>
          <a:xfrm>
            <a:off x="0" y="1858962"/>
            <a:ext cx="8593137" cy="563562"/>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1800"/>
              <a:buFont typeface="Quattrocento Sans"/>
              <a:buChar char="•"/>
            </a:pPr>
            <a:r>
              <a:rPr b="1" i="0" lang="en-US" sz="1800" u="none">
                <a:solidFill>
                  <a:schemeClr val="lt1"/>
                </a:solidFill>
                <a:latin typeface="Quattrocento Sans"/>
                <a:ea typeface="Quattrocento Sans"/>
                <a:cs typeface="Quattrocento Sans"/>
                <a:sym typeface="Quattrocento Sans"/>
              </a:rPr>
              <a:t>Ядерные функции плотности условной вероятности для таблицы native_iris</a:t>
            </a:r>
            <a:endParaRPr/>
          </a:p>
        </p:txBody>
      </p:sp>
      <p:sp>
        <p:nvSpPr>
          <p:cNvPr id="512" name="Google Shape;512;p44"/>
          <p:cNvSpPr txBox="1"/>
          <p:nvPr/>
        </p:nvSpPr>
        <p:spPr>
          <a:xfrm>
            <a:off x="922337" y="1019175"/>
            <a:ext cx="6523037" cy="70802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Quattrocento Sans"/>
              <a:buNone/>
            </a:pPr>
            <a:r>
              <a:rPr b="1" i="0" lang="en-US" sz="2000" u="none">
                <a:solidFill>
                  <a:schemeClr val="dk2"/>
                </a:solidFill>
                <a:latin typeface="Quattrocento Sans"/>
                <a:ea typeface="Quattrocento Sans"/>
                <a:cs typeface="Quattrocento Sans"/>
                <a:sym typeface="Quattrocento Sans"/>
              </a:rPr>
              <a:t>layout(matrix(c(1,2,3,4), 2, 2, byrow = TRUE))</a:t>
            </a:r>
            <a:endParaRPr/>
          </a:p>
          <a:p>
            <a:pPr indent="0" lvl="0" marL="0" marR="0" rtl="0" algn="l">
              <a:lnSpc>
                <a:spcPct val="100000"/>
              </a:lnSpc>
              <a:spcBef>
                <a:spcPts val="0"/>
              </a:spcBef>
              <a:spcAft>
                <a:spcPts val="0"/>
              </a:spcAft>
              <a:buClr>
                <a:schemeClr val="dk2"/>
              </a:buClr>
              <a:buSzPts val="2000"/>
              <a:buFont typeface="Quattrocento Sans"/>
              <a:buNone/>
            </a:pPr>
            <a:r>
              <a:rPr b="1" i="0" lang="en-US" sz="2000" u="none">
                <a:solidFill>
                  <a:schemeClr val="dk2"/>
                </a:solidFill>
                <a:latin typeface="Quattrocento Sans"/>
                <a:ea typeface="Quattrocento Sans"/>
                <a:cs typeface="Quattrocento Sans"/>
                <a:sym typeface="Quattrocento Sans"/>
              </a:rPr>
              <a:t>plot(naive_iris,lwd = 2, legendplot=FALSE)</a:t>
            </a:r>
            <a:endParaRPr/>
          </a:p>
        </p:txBody>
      </p:sp>
      <p:pic>
        <p:nvPicPr>
          <p:cNvPr id="513" name="Google Shape;513;p44"/>
          <p:cNvPicPr preferRelativeResize="0"/>
          <p:nvPr/>
        </p:nvPicPr>
        <p:blipFill rotWithShape="1">
          <a:blip r:embed="rId3">
            <a:alphaModFix/>
          </a:blip>
          <a:srcRect b="0" l="0" r="0" t="0"/>
          <a:stretch/>
        </p:blipFill>
        <p:spPr>
          <a:xfrm>
            <a:off x="1958975" y="2286000"/>
            <a:ext cx="6211887" cy="4364037"/>
          </a:xfrm>
          <a:prstGeom prst="rect">
            <a:avLst/>
          </a:prstGeom>
          <a:noFill/>
          <a:ln>
            <a:noFill/>
          </a:ln>
        </p:spPr>
      </p:pic>
      <p:pic>
        <p:nvPicPr>
          <p:cNvPr id="514" name="Google Shape;514;p44"/>
          <p:cNvPicPr preferRelativeResize="0"/>
          <p:nvPr/>
        </p:nvPicPr>
        <p:blipFill rotWithShape="1">
          <a:blip r:embed="rId4">
            <a:alphaModFix/>
          </a:blip>
          <a:srcRect b="0" l="0" r="0" t="0"/>
          <a:stretch/>
        </p:blipFill>
        <p:spPr>
          <a:xfrm>
            <a:off x="195262" y="3533775"/>
            <a:ext cx="1568450" cy="933450"/>
          </a:xfrm>
          <a:prstGeom prst="rect">
            <a:avLst/>
          </a:prstGeom>
          <a:noFill/>
          <a:ln>
            <a:noFill/>
          </a:ln>
        </p:spPr>
      </p:pic>
      <p:sp>
        <p:nvSpPr>
          <p:cNvPr id="515" name="Google Shape;515;p44"/>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45"/>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Наивный Байесовский метод</a:t>
            </a:r>
            <a:endParaRPr/>
          </a:p>
        </p:txBody>
      </p:sp>
      <p:sp>
        <p:nvSpPr>
          <p:cNvPr id="522" name="Google Shape;522;p45"/>
          <p:cNvSpPr txBox="1"/>
          <p:nvPr/>
        </p:nvSpPr>
        <p:spPr>
          <a:xfrm>
            <a:off x="723900" y="1236662"/>
            <a:ext cx="7705725" cy="1323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Quattrocento Sans"/>
              <a:buNone/>
            </a:pPr>
            <a:r>
              <a:rPr b="1" i="0" lang="en-US" sz="2000" u="none">
                <a:solidFill>
                  <a:schemeClr val="dk2"/>
                </a:solidFill>
                <a:latin typeface="Quattrocento Sans"/>
                <a:ea typeface="Quattrocento Sans"/>
                <a:cs typeface="Quattrocento Sans"/>
                <a:sym typeface="Quattrocento Sans"/>
              </a:rPr>
              <a:t>#Удалим пятый столбец таблицы и выполним классификацию по "новым данным"</a:t>
            </a:r>
            <a:endParaRPr/>
          </a:p>
          <a:p>
            <a:pPr indent="0" lvl="0" marL="0" marR="0" rtl="0" algn="l">
              <a:lnSpc>
                <a:spcPct val="100000"/>
              </a:lnSpc>
              <a:spcBef>
                <a:spcPts val="0"/>
              </a:spcBef>
              <a:spcAft>
                <a:spcPts val="0"/>
              </a:spcAft>
              <a:buClr>
                <a:schemeClr val="dk2"/>
              </a:buClr>
              <a:buSzPts val="2000"/>
              <a:buFont typeface="Quattrocento Sans"/>
              <a:buNone/>
            </a:pPr>
            <a:r>
              <a:rPr b="1" i="0" lang="en-US" sz="2000" u="none">
                <a:solidFill>
                  <a:schemeClr val="dk2"/>
                </a:solidFill>
                <a:latin typeface="Quattrocento Sans"/>
                <a:ea typeface="Quattrocento Sans"/>
                <a:cs typeface="Quattrocento Sans"/>
                <a:sym typeface="Quattrocento Sans"/>
              </a:rPr>
              <a:t>pred &lt;- predict(naive_iris, iris[, -5])$class</a:t>
            </a:r>
            <a:endParaRPr/>
          </a:p>
          <a:p>
            <a:pPr indent="0" lvl="0" marL="0" marR="0" rtl="0" algn="l">
              <a:lnSpc>
                <a:spcPct val="100000"/>
              </a:lnSpc>
              <a:spcBef>
                <a:spcPts val="0"/>
              </a:spcBef>
              <a:spcAft>
                <a:spcPts val="0"/>
              </a:spcAft>
              <a:buClr>
                <a:schemeClr val="dk2"/>
              </a:buClr>
              <a:buSzPts val="2000"/>
              <a:buFont typeface="Quattrocento Sans"/>
              <a:buNone/>
            </a:pPr>
            <a:r>
              <a:rPr b="1" i="0" lang="en-US" sz="2000" u="none">
                <a:solidFill>
                  <a:schemeClr val="dk2"/>
                </a:solidFill>
                <a:latin typeface="Quattrocento Sans"/>
                <a:ea typeface="Quattrocento Sans"/>
                <a:cs typeface="Quattrocento Sans"/>
                <a:sym typeface="Quattrocento Sans"/>
              </a:rPr>
              <a:t>(table(Факт = iris$Species, Прогноз = pred))</a:t>
            </a:r>
            <a:endParaRPr/>
          </a:p>
        </p:txBody>
      </p:sp>
      <p:pic>
        <p:nvPicPr>
          <p:cNvPr id="523" name="Google Shape;523;p45"/>
          <p:cNvPicPr preferRelativeResize="0"/>
          <p:nvPr/>
        </p:nvPicPr>
        <p:blipFill rotWithShape="1">
          <a:blip r:embed="rId3">
            <a:alphaModFix/>
          </a:blip>
          <a:srcRect b="0" l="0" r="0" t="0"/>
          <a:stretch/>
        </p:blipFill>
        <p:spPr>
          <a:xfrm>
            <a:off x="723900" y="2846387"/>
            <a:ext cx="7038975" cy="1585912"/>
          </a:xfrm>
          <a:prstGeom prst="rect">
            <a:avLst/>
          </a:prstGeom>
          <a:noFill/>
          <a:ln>
            <a:noFill/>
          </a:ln>
        </p:spPr>
      </p:pic>
      <p:sp>
        <p:nvSpPr>
          <p:cNvPr id="524" name="Google Shape;524;p45"/>
          <p:cNvSpPr txBox="1"/>
          <p:nvPr/>
        </p:nvSpPr>
        <p:spPr>
          <a:xfrm>
            <a:off x="358775" y="4567237"/>
            <a:ext cx="8431212" cy="2230437"/>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2000"/>
              <a:buFont typeface="Quattrocento Sans"/>
              <a:buChar char="•"/>
            </a:pPr>
            <a:r>
              <a:rPr b="1" i="0" lang="en-US" sz="2000" u="none">
                <a:solidFill>
                  <a:schemeClr val="lt1"/>
                </a:solidFill>
                <a:latin typeface="Quattrocento Sans"/>
                <a:ea typeface="Quattrocento Sans"/>
                <a:cs typeface="Quattrocento Sans"/>
                <a:sym typeface="Quattrocento Sans"/>
              </a:rPr>
              <a:t>Таблица демонстрирует, что всего имеется 150 оцениваемых прецедентов (цветов) .</a:t>
            </a:r>
            <a:endParaRPr/>
          </a:p>
          <a:p>
            <a:pPr indent="-334962" lvl="0" marL="334962" marR="0" rtl="0" algn="l">
              <a:lnSpc>
                <a:spcPct val="85000"/>
              </a:lnSpc>
              <a:spcBef>
                <a:spcPts val="500"/>
              </a:spcBef>
              <a:spcAft>
                <a:spcPts val="0"/>
              </a:spcAft>
              <a:buClr>
                <a:schemeClr val="lt1"/>
              </a:buClr>
              <a:buSzPts val="2000"/>
              <a:buFont typeface="Quattrocento Sans"/>
              <a:buChar char="•"/>
            </a:pPr>
            <a:r>
              <a:rPr b="1" i="0" lang="en-US" sz="2000" u="none">
                <a:solidFill>
                  <a:schemeClr val="lt1"/>
                </a:solidFill>
                <a:latin typeface="Quattrocento Sans"/>
                <a:ea typeface="Quattrocento Sans"/>
                <a:cs typeface="Quattrocento Sans"/>
                <a:sym typeface="Quattrocento Sans"/>
              </a:rPr>
              <a:t>1) Из них 50 было однозначно отнесено к сорту "setosa"</a:t>
            </a:r>
            <a:endParaRPr/>
          </a:p>
          <a:p>
            <a:pPr indent="-334962" lvl="0" marL="334962" marR="0" rtl="0" algn="l">
              <a:lnSpc>
                <a:spcPct val="85000"/>
              </a:lnSpc>
              <a:spcBef>
                <a:spcPts val="500"/>
              </a:spcBef>
              <a:spcAft>
                <a:spcPts val="0"/>
              </a:spcAft>
              <a:buClr>
                <a:schemeClr val="lt1"/>
              </a:buClr>
              <a:buSzPts val="2000"/>
              <a:buFont typeface="Quattrocento Sans"/>
              <a:buChar char="•"/>
            </a:pPr>
            <a:r>
              <a:rPr b="1" i="0" lang="en-US" sz="2000" u="none">
                <a:solidFill>
                  <a:schemeClr val="lt1"/>
                </a:solidFill>
                <a:latin typeface="Quattrocento Sans"/>
                <a:ea typeface="Quattrocento Sans"/>
                <a:cs typeface="Quattrocento Sans"/>
                <a:sym typeface="Quattrocento Sans"/>
              </a:rPr>
              <a:t>2) 47 отнесено к классу "versicolor" и 3 ошибочно причислены к "virginica"</a:t>
            </a:r>
            <a:endParaRPr/>
          </a:p>
          <a:p>
            <a:pPr indent="-334962" lvl="0" marL="334962" marR="0" rtl="0" algn="l">
              <a:lnSpc>
                <a:spcPct val="85000"/>
              </a:lnSpc>
              <a:spcBef>
                <a:spcPts val="500"/>
              </a:spcBef>
              <a:spcAft>
                <a:spcPts val="0"/>
              </a:spcAft>
              <a:buClr>
                <a:schemeClr val="lt1"/>
              </a:buClr>
              <a:buSzPts val="2000"/>
              <a:buFont typeface="Quattrocento Sans"/>
              <a:buChar char="•"/>
            </a:pPr>
            <a:r>
              <a:rPr b="1" i="0" lang="en-US" sz="2000" u="none">
                <a:solidFill>
                  <a:schemeClr val="lt1"/>
                </a:solidFill>
                <a:latin typeface="Quattrocento Sans"/>
                <a:ea typeface="Quattrocento Sans"/>
                <a:cs typeface="Quattrocento Sans"/>
                <a:sym typeface="Quattrocento Sans"/>
              </a:rPr>
              <a:t> 3) 47 отнесено к классу "virginica" и 3 ошибочно причислены к "versicolor".</a:t>
            </a:r>
            <a:endParaRPr/>
          </a:p>
        </p:txBody>
      </p:sp>
      <p:sp>
        <p:nvSpPr>
          <p:cNvPr id="525" name="Google Shape;525;p45"/>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46"/>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Наивный Байесовский метод</a:t>
            </a:r>
            <a:endParaRPr/>
          </a:p>
        </p:txBody>
      </p:sp>
      <p:sp>
        <p:nvSpPr>
          <p:cNvPr id="532" name="Google Shape;532;p46"/>
          <p:cNvSpPr txBox="1"/>
          <p:nvPr/>
        </p:nvSpPr>
        <p:spPr>
          <a:xfrm>
            <a:off x="222250" y="1873250"/>
            <a:ext cx="3854450" cy="16319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Quattrocento Sans"/>
              <a:buNone/>
            </a:pPr>
            <a:r>
              <a:rPr b="1" i="0" lang="en-US" sz="2000" u="none">
                <a:solidFill>
                  <a:schemeClr val="dk2"/>
                </a:solidFill>
                <a:latin typeface="Quattrocento Sans"/>
                <a:ea typeface="Quattrocento Sans"/>
                <a:cs typeface="Quattrocento Sans"/>
                <a:sym typeface="Quattrocento Sans"/>
              </a:rPr>
              <a:t>#Сформируем такую табличку:</a:t>
            </a:r>
            <a:endParaRPr/>
          </a:p>
          <a:p>
            <a:pPr indent="0" lvl="0" marL="0" marR="0" rtl="0" algn="l">
              <a:lnSpc>
                <a:spcPct val="100000"/>
              </a:lnSpc>
              <a:spcBef>
                <a:spcPts val="0"/>
              </a:spcBef>
              <a:spcAft>
                <a:spcPts val="0"/>
              </a:spcAft>
              <a:buClr>
                <a:schemeClr val="dk2"/>
              </a:buClr>
              <a:buSzPts val="2000"/>
              <a:buFont typeface="Quattrocento Sans"/>
              <a:buNone/>
            </a:pPr>
            <a:r>
              <a:rPr b="1" i="0" lang="en-US" sz="2000" u="none">
                <a:solidFill>
                  <a:schemeClr val="dk2"/>
                </a:solidFill>
                <a:latin typeface="Quattrocento Sans"/>
                <a:ea typeface="Quattrocento Sans"/>
                <a:cs typeface="Quattrocento Sans"/>
                <a:sym typeface="Quattrocento Sans"/>
              </a:rPr>
              <a:t>test&lt;-iris[48:58,]</a:t>
            </a:r>
            <a:endParaRPr/>
          </a:p>
          <a:p>
            <a:pPr indent="0" lvl="0" marL="0" marR="0" rtl="0" algn="l">
              <a:lnSpc>
                <a:spcPct val="100000"/>
              </a:lnSpc>
              <a:spcBef>
                <a:spcPts val="0"/>
              </a:spcBef>
              <a:spcAft>
                <a:spcPts val="0"/>
              </a:spcAft>
              <a:buClr>
                <a:schemeClr val="dk2"/>
              </a:buClr>
              <a:buSzPts val="2000"/>
              <a:buFont typeface="Quattrocento Sans"/>
              <a:buNone/>
            </a:pPr>
            <a:r>
              <a:rPr b="1" i="0" lang="en-US" sz="2000" u="none">
                <a:solidFill>
                  <a:schemeClr val="dk2"/>
                </a:solidFill>
                <a:latin typeface="Quattrocento Sans"/>
                <a:ea typeface="Quattrocento Sans"/>
                <a:cs typeface="Quattrocento Sans"/>
                <a:sym typeface="Quattrocento Sans"/>
              </a:rPr>
              <a:t># проведем классификацию, находящихся в ней цветов:</a:t>
            </a:r>
            <a:endParaRPr/>
          </a:p>
        </p:txBody>
      </p:sp>
      <p:pic>
        <p:nvPicPr>
          <p:cNvPr id="533" name="Google Shape;533;p46"/>
          <p:cNvPicPr preferRelativeResize="0"/>
          <p:nvPr/>
        </p:nvPicPr>
        <p:blipFill rotWithShape="1">
          <a:blip r:embed="rId3">
            <a:alphaModFix/>
          </a:blip>
          <a:srcRect b="0" l="0" r="0" t="0"/>
          <a:stretch/>
        </p:blipFill>
        <p:spPr>
          <a:xfrm>
            <a:off x="4211637" y="801687"/>
            <a:ext cx="4578350" cy="3024187"/>
          </a:xfrm>
          <a:prstGeom prst="rect">
            <a:avLst/>
          </a:prstGeom>
          <a:noFill/>
          <a:ln>
            <a:noFill/>
          </a:ln>
        </p:spPr>
      </p:pic>
      <p:pic>
        <p:nvPicPr>
          <p:cNvPr id="534" name="Google Shape;534;p46"/>
          <p:cNvPicPr preferRelativeResize="0"/>
          <p:nvPr/>
        </p:nvPicPr>
        <p:blipFill rotWithShape="1">
          <a:blip r:embed="rId4">
            <a:alphaModFix/>
          </a:blip>
          <a:srcRect b="0" l="0" r="0" t="0"/>
          <a:stretch/>
        </p:blipFill>
        <p:spPr>
          <a:xfrm>
            <a:off x="873125" y="4014787"/>
            <a:ext cx="6831012" cy="1779587"/>
          </a:xfrm>
          <a:prstGeom prst="rect">
            <a:avLst/>
          </a:prstGeom>
          <a:noFill/>
          <a:ln>
            <a:noFill/>
          </a:ln>
        </p:spPr>
      </p:pic>
      <p:sp>
        <p:nvSpPr>
          <p:cNvPr id="535" name="Google Shape;535;p46"/>
          <p:cNvSpPr txBox="1"/>
          <p:nvPr/>
        </p:nvSpPr>
        <p:spPr>
          <a:xfrm>
            <a:off x="619125" y="5984875"/>
            <a:ext cx="7183437" cy="666750"/>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2200"/>
              <a:buFont typeface="Quattrocento Sans"/>
              <a:buChar char="•"/>
            </a:pPr>
            <a:r>
              <a:rPr b="1" i="0" lang="en-US" sz="2200" u="none">
                <a:solidFill>
                  <a:schemeClr val="lt1"/>
                </a:solidFill>
                <a:latin typeface="Quattrocento Sans"/>
                <a:ea typeface="Quattrocento Sans"/>
                <a:cs typeface="Quattrocento Sans"/>
                <a:sym typeface="Quattrocento Sans"/>
              </a:rPr>
              <a:t>Из таблицы видим, что всего 1 экземпляр классифицирован ошибочно.</a:t>
            </a:r>
            <a:endParaRPr/>
          </a:p>
        </p:txBody>
      </p:sp>
      <p:sp>
        <p:nvSpPr>
          <p:cNvPr id="536" name="Google Shape;536;p46"/>
          <p:cNvSpPr/>
          <p:nvPr/>
        </p:nvSpPr>
        <p:spPr>
          <a:xfrm>
            <a:off x="3651250" y="2501900"/>
            <a:ext cx="492125" cy="374650"/>
          </a:xfrm>
          <a:prstGeom prst="rightArrow">
            <a:avLst>
              <a:gd fmla="val 13378" name="adj1"/>
              <a:gd fmla="val 50000" name="adj2"/>
            </a:avLst>
          </a:prstGeom>
          <a:solidFill>
            <a:srgbClr val="F9771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537" name="Google Shape;537;p46"/>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47"/>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Наивный Байесовский метод</a:t>
            </a:r>
            <a:endParaRPr/>
          </a:p>
        </p:txBody>
      </p:sp>
      <p:sp>
        <p:nvSpPr>
          <p:cNvPr id="544" name="Google Shape;544;p47"/>
          <p:cNvSpPr txBox="1"/>
          <p:nvPr/>
        </p:nvSpPr>
        <p:spPr>
          <a:xfrm>
            <a:off x="703262" y="5403850"/>
            <a:ext cx="7494587" cy="668337"/>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2200"/>
              <a:buFont typeface="Quattrocento Sans"/>
              <a:buChar char="•"/>
            </a:pPr>
            <a:r>
              <a:rPr b="1" i="0" lang="en-US" sz="2200" u="none">
                <a:solidFill>
                  <a:schemeClr val="lt1"/>
                </a:solidFill>
                <a:latin typeface="Quattrocento Sans"/>
                <a:ea typeface="Quattrocento Sans"/>
                <a:cs typeface="Quattrocento Sans"/>
                <a:sym typeface="Quattrocento Sans"/>
              </a:rPr>
              <a:t>Проверив точность, убеждаемся, что классификатор имеет низкий уровень ошибки.</a:t>
            </a:r>
            <a:endParaRPr/>
          </a:p>
        </p:txBody>
      </p:sp>
      <p:sp>
        <p:nvSpPr>
          <p:cNvPr id="545" name="Google Shape;545;p47"/>
          <p:cNvSpPr txBox="1"/>
          <p:nvPr/>
        </p:nvSpPr>
        <p:spPr>
          <a:xfrm>
            <a:off x="390525" y="1038225"/>
            <a:ext cx="7807325" cy="379412"/>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2200"/>
              <a:buFont typeface="Quattrocento Sans"/>
              <a:buChar char="•"/>
            </a:pPr>
            <a:r>
              <a:rPr b="1" i="0" lang="en-US" sz="2200" u="none">
                <a:solidFill>
                  <a:schemeClr val="lt1"/>
                </a:solidFill>
                <a:latin typeface="Quattrocento Sans"/>
                <a:ea typeface="Quattrocento Sans"/>
                <a:cs typeface="Quattrocento Sans"/>
                <a:sym typeface="Quattrocento Sans"/>
              </a:rPr>
              <a:t>Оценим точность предсказаний для таблицы iris</a:t>
            </a:r>
            <a:endParaRPr/>
          </a:p>
        </p:txBody>
      </p:sp>
      <p:sp>
        <p:nvSpPr>
          <p:cNvPr id="546" name="Google Shape;546;p47"/>
          <p:cNvSpPr txBox="1"/>
          <p:nvPr/>
        </p:nvSpPr>
        <p:spPr>
          <a:xfrm>
            <a:off x="398462" y="1719262"/>
            <a:ext cx="8356600" cy="3384550"/>
          </a:xfrm>
          <a:prstGeom prst="rect">
            <a:avLst/>
          </a:prstGeom>
          <a:solidFill>
            <a:srgbClr val="FFFFFF"/>
          </a:solid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lt1"/>
              </a:buClr>
              <a:buSzPts val="2200"/>
              <a:buFont typeface="Quattrocento Sans"/>
              <a:buNone/>
            </a:pPr>
            <a:r>
              <a:t/>
            </a:r>
            <a:endParaRPr b="0" i="0" sz="2200" u="none">
              <a:solidFill>
                <a:srgbClr val="0000FF"/>
              </a:solidFill>
              <a:latin typeface="Droid Sans Mono"/>
              <a:ea typeface="Droid Sans Mono"/>
              <a:cs typeface="Droid Sans Mono"/>
              <a:sym typeface="Droid Sans Mono"/>
            </a:endParaRPr>
          </a:p>
          <a:p>
            <a:pPr indent="0" lvl="0" marL="0" marR="0" rtl="0" algn="l">
              <a:lnSpc>
                <a:spcPct val="100000"/>
              </a:lnSpc>
              <a:spcBef>
                <a:spcPts val="0"/>
              </a:spcBef>
              <a:spcAft>
                <a:spcPts val="0"/>
              </a:spcAft>
              <a:buClr>
                <a:srgbClr val="0000FF"/>
              </a:buClr>
              <a:buSzPts val="2200"/>
              <a:buFont typeface="Droid Sans Mono"/>
              <a:buNone/>
            </a:pPr>
            <a:r>
              <a:rPr b="0" i="0" lang="en-US" sz="2200" u="none">
                <a:solidFill>
                  <a:srgbClr val="0000FF"/>
                </a:solidFill>
                <a:latin typeface="Droid Sans Mono"/>
                <a:ea typeface="Droid Sans Mono"/>
                <a:cs typeface="Droid Sans Mono"/>
                <a:sym typeface="Droid Sans Mono"/>
              </a:rPr>
              <a:t>&gt; Acc &lt;- mean(pred == iris$Species) </a:t>
            </a:r>
            <a:endParaRPr/>
          </a:p>
          <a:p>
            <a:pPr indent="0" lvl="0" marL="0" marR="0" rtl="0" algn="l">
              <a:lnSpc>
                <a:spcPct val="100000"/>
              </a:lnSpc>
              <a:spcBef>
                <a:spcPts val="0"/>
              </a:spcBef>
              <a:spcAft>
                <a:spcPts val="0"/>
              </a:spcAft>
              <a:buClr>
                <a:srgbClr val="0000FF"/>
              </a:buClr>
              <a:buSzPts val="2200"/>
              <a:buFont typeface="Droid Sans Mono"/>
              <a:buNone/>
            </a:pPr>
            <a:r>
              <a:rPr b="0" i="0" lang="en-US" sz="2200" u="none">
                <a:solidFill>
                  <a:srgbClr val="0000FF"/>
                </a:solidFill>
                <a:latin typeface="Droid Sans Mono"/>
                <a:ea typeface="Droid Sans Mono"/>
                <a:cs typeface="Droid Sans Mono"/>
                <a:sym typeface="Droid Sans Mono"/>
              </a:rPr>
              <a:t>&gt; Acc </a:t>
            </a:r>
            <a:endParaRPr/>
          </a:p>
          <a:p>
            <a:pPr indent="0" lvl="0" marL="0" marR="0" rtl="0" algn="l">
              <a:lnSpc>
                <a:spcPct val="100000"/>
              </a:lnSpc>
              <a:spcBef>
                <a:spcPts val="0"/>
              </a:spcBef>
              <a:spcAft>
                <a:spcPts val="0"/>
              </a:spcAft>
              <a:buClr>
                <a:srgbClr val="000000"/>
              </a:buClr>
              <a:buSzPts val="2200"/>
              <a:buFont typeface="Droid Sans Mono"/>
              <a:buNone/>
            </a:pPr>
            <a:r>
              <a:rPr b="0" i="0" lang="en-US" sz="2200" u="none">
                <a:solidFill>
                  <a:srgbClr val="000000"/>
                </a:solidFill>
                <a:latin typeface="Droid Sans Mono"/>
                <a:ea typeface="Droid Sans Mono"/>
                <a:cs typeface="Droid Sans Mono"/>
                <a:sym typeface="Droid Sans Mono"/>
              </a:rPr>
              <a:t>[1] 0.96 </a:t>
            </a:r>
            <a:endParaRPr/>
          </a:p>
          <a:p>
            <a:pPr indent="0" lvl="0" marL="0" marR="0" rtl="0" algn="l">
              <a:lnSpc>
                <a:spcPct val="100000"/>
              </a:lnSpc>
              <a:spcBef>
                <a:spcPts val="0"/>
              </a:spcBef>
              <a:spcAft>
                <a:spcPts val="0"/>
              </a:spcAft>
              <a:buClr>
                <a:srgbClr val="0000FF"/>
              </a:buClr>
              <a:buSzPts val="2200"/>
              <a:buFont typeface="Droid Sans Mono"/>
              <a:buNone/>
            </a:pPr>
            <a:r>
              <a:rPr b="0" i="0" lang="en-US" sz="2200" u="none">
                <a:solidFill>
                  <a:srgbClr val="0000FF"/>
                </a:solidFill>
                <a:latin typeface="Droid Sans Mono"/>
                <a:ea typeface="Droid Sans Mono"/>
                <a:cs typeface="Droid Sans Mono"/>
                <a:sym typeface="Droid Sans Mono"/>
              </a:rPr>
              <a:t>&gt; #функция paste() конвертирует векторы в </a:t>
            </a:r>
            <a:endParaRPr/>
          </a:p>
          <a:p>
            <a:pPr indent="0" lvl="0" marL="0" marR="0" rtl="0" algn="l">
              <a:lnSpc>
                <a:spcPct val="100000"/>
              </a:lnSpc>
              <a:spcBef>
                <a:spcPts val="0"/>
              </a:spcBef>
              <a:spcAft>
                <a:spcPts val="0"/>
              </a:spcAft>
              <a:buClr>
                <a:srgbClr val="0000FF"/>
              </a:buClr>
              <a:buSzPts val="2200"/>
              <a:buFont typeface="Droid Sans Mono"/>
              <a:buNone/>
            </a:pPr>
            <a:r>
              <a:rPr b="0" i="0" lang="en-US" sz="2200" u="none">
                <a:solidFill>
                  <a:srgbClr val="0000FF"/>
                </a:solidFill>
                <a:latin typeface="Droid Sans Mono"/>
                <a:ea typeface="Droid Sans Mono"/>
                <a:cs typeface="Droid Sans Mono"/>
                <a:sym typeface="Droid Sans Mono"/>
              </a:rPr>
              <a:t>&gt; #текстовые переменные и объединяет их </a:t>
            </a:r>
            <a:endParaRPr/>
          </a:p>
          <a:p>
            <a:pPr indent="0" lvl="0" marL="0" marR="0" rtl="0" algn="l">
              <a:lnSpc>
                <a:spcPct val="100000"/>
              </a:lnSpc>
              <a:spcBef>
                <a:spcPts val="0"/>
              </a:spcBef>
              <a:spcAft>
                <a:spcPts val="0"/>
              </a:spcAft>
              <a:buClr>
                <a:srgbClr val="0000FF"/>
              </a:buClr>
              <a:buSzPts val="2200"/>
              <a:buFont typeface="Droid Sans Mono"/>
              <a:buNone/>
            </a:pPr>
            <a:r>
              <a:rPr b="0" i="0" lang="en-US" sz="2200" u="none">
                <a:solidFill>
                  <a:srgbClr val="0000FF"/>
                </a:solidFill>
                <a:latin typeface="Droid Sans Mono"/>
                <a:ea typeface="Droid Sans Mono"/>
                <a:cs typeface="Droid Sans Mono"/>
                <a:sym typeface="Droid Sans Mono"/>
              </a:rPr>
              <a:t>&gt; #в одно текстовое выражение </a:t>
            </a:r>
            <a:endParaRPr/>
          </a:p>
          <a:p>
            <a:pPr indent="0" lvl="0" marL="0" marR="0" rtl="0" algn="l">
              <a:lnSpc>
                <a:spcPct val="100000"/>
              </a:lnSpc>
              <a:spcBef>
                <a:spcPts val="0"/>
              </a:spcBef>
              <a:spcAft>
                <a:spcPts val="0"/>
              </a:spcAft>
              <a:buClr>
                <a:srgbClr val="0000FF"/>
              </a:buClr>
              <a:buSzPts val="2200"/>
              <a:buFont typeface="Droid Sans Mono"/>
              <a:buNone/>
            </a:pPr>
            <a:r>
              <a:rPr b="0" i="0" lang="en-US" sz="2200" u="none">
                <a:solidFill>
                  <a:srgbClr val="0000FF"/>
                </a:solidFill>
                <a:latin typeface="Droid Sans Mono"/>
                <a:ea typeface="Droid Sans Mono"/>
                <a:cs typeface="Droid Sans Mono"/>
                <a:sym typeface="Droid Sans Mono"/>
              </a:rPr>
              <a:t>&gt; </a:t>
            </a:r>
            <a:r>
              <a:rPr b="0" i="0" lang="en-US" sz="2000" u="none">
                <a:solidFill>
                  <a:srgbClr val="0000FF"/>
                </a:solidFill>
                <a:latin typeface="Droid Sans Mono"/>
                <a:ea typeface="Droid Sans Mono"/>
                <a:cs typeface="Droid Sans Mono"/>
                <a:sym typeface="Droid Sans Mono"/>
              </a:rPr>
              <a:t>paste("Точность=", round(100*Acc, 2), "%", sep = "") </a:t>
            </a:r>
            <a:endParaRPr b="0" i="0" sz="2200" u="none">
              <a:solidFill>
                <a:srgbClr val="0000FF"/>
              </a:solidFill>
              <a:latin typeface="Droid Sans Mono"/>
              <a:ea typeface="Droid Sans Mono"/>
              <a:cs typeface="Droid Sans Mono"/>
              <a:sym typeface="Droid Sans Mono"/>
            </a:endParaRPr>
          </a:p>
          <a:p>
            <a:pPr indent="0" lvl="0" marL="0" marR="0" rtl="0" algn="l">
              <a:lnSpc>
                <a:spcPct val="100000"/>
              </a:lnSpc>
              <a:spcBef>
                <a:spcPts val="0"/>
              </a:spcBef>
              <a:spcAft>
                <a:spcPts val="0"/>
              </a:spcAft>
              <a:buClr>
                <a:srgbClr val="000000"/>
              </a:buClr>
              <a:buSzPts val="2200"/>
              <a:buFont typeface="Droid Sans Mono"/>
              <a:buNone/>
            </a:pPr>
            <a:r>
              <a:rPr b="0" i="0" lang="en-US" sz="2200" u="none">
                <a:solidFill>
                  <a:srgbClr val="000000"/>
                </a:solidFill>
                <a:latin typeface="Droid Sans Mono"/>
                <a:ea typeface="Droid Sans Mono"/>
                <a:cs typeface="Droid Sans Mono"/>
                <a:sym typeface="Droid Sans Mono"/>
              </a:rPr>
              <a:t>&gt; [1] "Точность=96%"</a:t>
            </a:r>
            <a:endParaRPr/>
          </a:p>
          <a:p>
            <a:pPr indent="0" lvl="0" marL="0" marR="0" rtl="0" algn="l">
              <a:lnSpc>
                <a:spcPct val="100000"/>
              </a:lnSpc>
              <a:spcBef>
                <a:spcPts val="0"/>
              </a:spcBef>
              <a:spcAft>
                <a:spcPts val="0"/>
              </a:spcAft>
              <a:buNone/>
            </a:pPr>
            <a:r>
              <a:t/>
            </a:r>
            <a:endParaRPr b="0" i="0" sz="2200" u="none">
              <a:solidFill>
                <a:srgbClr val="000000"/>
              </a:solidFill>
              <a:latin typeface="Droid Sans Mono"/>
              <a:ea typeface="Droid Sans Mono"/>
              <a:cs typeface="Droid Sans Mono"/>
              <a:sym typeface="Droid Sans Mono"/>
            </a:endParaRPr>
          </a:p>
        </p:txBody>
      </p:sp>
      <p:sp>
        <p:nvSpPr>
          <p:cNvPr id="547" name="Google Shape;547;p47"/>
          <p:cNvSpPr txBox="1"/>
          <p:nvPr/>
        </p:nvSpPr>
        <p:spPr>
          <a:xfrm>
            <a:off x="828675" y="6372225"/>
            <a:ext cx="732155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1800"/>
              <a:buFont typeface="Quattrocento Sans"/>
              <a:buNone/>
            </a:pPr>
            <a:r>
              <a:rPr b="1" i="0" lang="en-US" sz="1800" u="none">
                <a:solidFill>
                  <a:srgbClr val="FFFF00"/>
                </a:solidFill>
                <a:latin typeface="Quattrocento Sans"/>
                <a:ea typeface="Quattrocento Sans"/>
                <a:cs typeface="Quattrocento Sans"/>
                <a:sym typeface="Quattrocento Sans"/>
              </a:rPr>
              <a:t>Пример находится в файле     Practical_R_Byesian_Classifier.R</a:t>
            </a:r>
            <a:endParaRPr/>
          </a:p>
        </p:txBody>
      </p:sp>
      <p:sp>
        <p:nvSpPr>
          <p:cNvPr id="548" name="Google Shape;548;p47"/>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48"/>
          <p:cNvSpPr/>
          <p:nvPr/>
        </p:nvSpPr>
        <p:spPr>
          <a:xfrm>
            <a:off x="215900" y="546100"/>
            <a:ext cx="8712200" cy="5829300"/>
          </a:xfrm>
          <a:prstGeom prst="roundRect">
            <a:avLst>
              <a:gd fmla="val 16667" name="adj"/>
            </a:avLst>
          </a:prstGeom>
          <a:solidFill>
            <a:schemeClr val="dk2">
              <a:alpha val="49803"/>
            </a:schemeClr>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554" name="Google Shape;554;p48"/>
          <p:cNvSpPr/>
          <p:nvPr/>
        </p:nvSpPr>
        <p:spPr>
          <a:xfrm>
            <a:off x="344487" y="1262062"/>
            <a:ext cx="8391525" cy="4984750"/>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555" name="Google Shape;555;p48"/>
          <p:cNvSpPr txBox="1"/>
          <p:nvPr/>
        </p:nvSpPr>
        <p:spPr>
          <a:xfrm>
            <a:off x="1560512" y="520700"/>
            <a:ext cx="6022975" cy="64611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2"/>
              </a:buClr>
              <a:buSzPts val="3900"/>
              <a:buFont typeface="Quattrocento Sans"/>
              <a:buNone/>
            </a:pPr>
            <a:r>
              <a:rPr b="1" i="0" lang="en-US" sz="3900" u="none">
                <a:solidFill>
                  <a:schemeClr val="lt2"/>
                </a:solidFill>
                <a:latin typeface="Quattrocento Sans"/>
                <a:ea typeface="Quattrocento Sans"/>
                <a:cs typeface="Quattrocento Sans"/>
                <a:sym typeface="Quattrocento Sans"/>
              </a:rPr>
              <a:t>Классификация</a:t>
            </a:r>
            <a:endParaRPr/>
          </a:p>
        </p:txBody>
      </p:sp>
      <p:sp>
        <p:nvSpPr>
          <p:cNvPr id="556" name="Google Shape;556;p48"/>
          <p:cNvSpPr txBox="1"/>
          <p:nvPr/>
        </p:nvSpPr>
        <p:spPr>
          <a:xfrm>
            <a:off x="8185150" y="6337300"/>
            <a:ext cx="74295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
        <p:nvSpPr>
          <p:cNvPr id="557" name="Google Shape;557;p48"/>
          <p:cNvSpPr txBox="1"/>
          <p:nvPr/>
        </p:nvSpPr>
        <p:spPr>
          <a:xfrm>
            <a:off x="547687" y="1903412"/>
            <a:ext cx="8278812" cy="4083050"/>
          </a:xfrm>
          <a:prstGeom prst="rect">
            <a:avLst/>
          </a:prstGeom>
          <a:noFill/>
          <a:ln>
            <a:noFill/>
          </a:ln>
        </p:spPr>
        <p:txBody>
          <a:bodyPr anchorCtr="0" anchor="ctr" bIns="40675" lIns="81350" spcFirstLastPara="1" rIns="81350" wrap="square" tIns="40675">
            <a:spAutoFit/>
          </a:bodyPr>
          <a:lstStyle/>
          <a:p>
            <a:pPr indent="314325"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Метод  k -ближайших соседей (</a:t>
            </a:r>
            <a:r>
              <a:rPr b="1" i="1" lang="en-US" sz="2000" u="none">
                <a:solidFill>
                  <a:schemeClr val="dk1"/>
                </a:solidFill>
                <a:latin typeface="Arial"/>
                <a:ea typeface="Arial"/>
                <a:cs typeface="Arial"/>
                <a:sym typeface="Arial"/>
              </a:rPr>
              <a:t>k-nearest neighbors algorithm</a:t>
            </a:r>
            <a:r>
              <a:rPr b="1" i="0" lang="en-US" sz="2000" u="none">
                <a:solidFill>
                  <a:schemeClr val="dk1"/>
                </a:solidFill>
                <a:latin typeface="Arial"/>
                <a:ea typeface="Arial"/>
                <a:cs typeface="Arial"/>
                <a:sym typeface="Arial"/>
              </a:rPr>
              <a:t>, k-NN) — метрический алгоритм для автоматической классификации объектов или регрессии. </a:t>
            </a:r>
            <a:endParaRPr/>
          </a:p>
          <a:p>
            <a:pPr indent="314325"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В случае использования метода для классификации объект присваивается тому классу, который является наиболее распространённым среди k соседей данного элемента, классы которых уже известны. В случае использования метода для регрессии, объекту присваивается среднее значение по  </a:t>
            </a:r>
            <a:r>
              <a:rPr b="1" i="0" lang="en-US" sz="2000" u="none">
                <a:solidFill>
                  <a:schemeClr val="dk1"/>
                </a:solidFill>
                <a:latin typeface="Quattrocento Sans"/>
                <a:ea typeface="Quattrocento Sans"/>
                <a:cs typeface="Quattrocento Sans"/>
                <a:sym typeface="Quattrocento Sans"/>
              </a:rPr>
              <a:t>k</a:t>
            </a:r>
            <a:r>
              <a:rPr b="1" i="0" lang="en-US" sz="2000" u="none">
                <a:solidFill>
                  <a:schemeClr val="dk1"/>
                </a:solidFill>
                <a:latin typeface="Arial"/>
                <a:ea typeface="Arial"/>
                <a:cs typeface="Arial"/>
                <a:sym typeface="Arial"/>
              </a:rPr>
              <a:t>  ближайшим к нему объектам, значения которых уже известны. </a:t>
            </a:r>
            <a:endParaRPr/>
          </a:p>
          <a:p>
            <a:pPr indent="314325"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Алгоритм может быть применим к выборкам с большим количеством атрибутов (многомерным). Для этого перед применением нужно определить функцию расстояния; классический вариант такой функции — евклидова метрика</a:t>
            </a:r>
            <a:r>
              <a:rPr b="1" i="0" lang="en-US" sz="2000" u="none">
                <a:solidFill>
                  <a:schemeClr val="dk1"/>
                </a:solidFill>
                <a:latin typeface="Quattrocento Sans"/>
                <a:ea typeface="Quattrocento Sans"/>
                <a:cs typeface="Quattrocento Sans"/>
                <a:sym typeface="Quattrocento Sans"/>
              </a:rPr>
              <a:t>.</a:t>
            </a:r>
            <a:endParaRPr/>
          </a:p>
        </p:txBody>
      </p:sp>
      <p:sp>
        <p:nvSpPr>
          <p:cNvPr id="558" name="Google Shape;558;p48"/>
          <p:cNvSpPr txBox="1"/>
          <p:nvPr>
            <p:ph idx="1" type="body"/>
          </p:nvPr>
        </p:nvSpPr>
        <p:spPr>
          <a:xfrm>
            <a:off x="390525" y="1412875"/>
            <a:ext cx="8356600" cy="622300"/>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rgbClr val="F4BE96"/>
              </a:buClr>
              <a:buSzPts val="2240"/>
              <a:buFont typeface="Quattrocento Sans"/>
              <a:buChar char="•"/>
            </a:pPr>
            <a:r>
              <a:rPr b="1" i="1" lang="en-US" sz="2800" u="none" cap="none" strike="noStrike">
                <a:solidFill>
                  <a:srgbClr val="0000FF"/>
                </a:solidFill>
                <a:latin typeface="Quattrocento Sans"/>
                <a:ea typeface="Quattrocento Sans"/>
                <a:cs typeface="Quattrocento Sans"/>
                <a:sym typeface="Quattrocento Sans"/>
              </a:rPr>
              <a:t>Алгоритм k-ближайших соседей </a:t>
            </a:r>
            <a:endParaRPr/>
          </a:p>
          <a:p>
            <a:pPr indent="-192723" lvl="0" marL="334963" marR="0" rtl="0" algn="l">
              <a:lnSpc>
                <a:spcPct val="85000"/>
              </a:lnSpc>
              <a:spcBef>
                <a:spcPts val="700"/>
              </a:spcBef>
              <a:spcAft>
                <a:spcPts val="0"/>
              </a:spcAft>
              <a:buClr>
                <a:srgbClr val="F4BE96"/>
              </a:buClr>
              <a:buSzPts val="2240"/>
              <a:buFont typeface="Quattrocento Sans"/>
              <a:buNone/>
            </a:pPr>
            <a:r>
              <a:t/>
            </a:r>
            <a:endParaRPr b="1" i="1" sz="2800" u="none">
              <a:solidFill>
                <a:srgbClr val="0000FF"/>
              </a:solidFill>
              <a:latin typeface="Quattrocento Sans"/>
              <a:ea typeface="Quattrocento Sans"/>
              <a:cs typeface="Quattrocento Sans"/>
              <a:sym typeface="Quattrocento Sans"/>
            </a:endParaRPr>
          </a:p>
        </p:txBody>
      </p:sp>
    </p:spTree>
  </p:cSld>
  <p:clrMapOvr>
    <a:masterClrMapping/>
  </p:clrMapOvr>
  <p:transition spd="med">
    <p:fade/>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49"/>
          <p:cNvSpPr/>
          <p:nvPr/>
        </p:nvSpPr>
        <p:spPr>
          <a:xfrm>
            <a:off x="215900" y="546100"/>
            <a:ext cx="8712200" cy="6178550"/>
          </a:xfrm>
          <a:prstGeom prst="roundRect">
            <a:avLst>
              <a:gd fmla="val 16667" name="adj"/>
            </a:avLst>
          </a:prstGeom>
          <a:solidFill>
            <a:schemeClr val="dk2">
              <a:alpha val="49803"/>
            </a:schemeClr>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564" name="Google Shape;564;p49"/>
          <p:cNvSpPr/>
          <p:nvPr/>
        </p:nvSpPr>
        <p:spPr>
          <a:xfrm>
            <a:off x="344487" y="777875"/>
            <a:ext cx="8391525" cy="5567362"/>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565" name="Google Shape;565;p49"/>
          <p:cNvSpPr txBox="1"/>
          <p:nvPr>
            <p:ph idx="1" type="body"/>
          </p:nvPr>
        </p:nvSpPr>
        <p:spPr>
          <a:xfrm>
            <a:off x="1922462" y="871537"/>
            <a:ext cx="6453187" cy="327025"/>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F4BE96"/>
              </a:buClr>
              <a:buSzPts val="1680"/>
              <a:buFont typeface="Quattrocento Sans"/>
              <a:buNone/>
            </a:pPr>
            <a:r>
              <a:rPr b="1" i="1" lang="en-US" sz="2100" u="none">
                <a:solidFill>
                  <a:srgbClr val="0000FF"/>
                </a:solidFill>
                <a:latin typeface="Quattrocento Sans"/>
                <a:ea typeface="Quattrocento Sans"/>
                <a:cs typeface="Quattrocento Sans"/>
                <a:sym typeface="Quattrocento Sans"/>
              </a:rPr>
              <a:t>Алгоритмы k-ближайших соседей </a:t>
            </a:r>
            <a:endParaRPr/>
          </a:p>
        </p:txBody>
      </p:sp>
      <p:sp>
        <p:nvSpPr>
          <p:cNvPr id="566" name="Google Shape;566;p49"/>
          <p:cNvSpPr txBox="1"/>
          <p:nvPr/>
        </p:nvSpPr>
        <p:spPr>
          <a:xfrm>
            <a:off x="1528762" y="133350"/>
            <a:ext cx="6022975" cy="6445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2"/>
              </a:buClr>
              <a:buSzPts val="3900"/>
              <a:buFont typeface="Quattrocento Sans"/>
              <a:buNone/>
            </a:pPr>
            <a:r>
              <a:rPr b="1" i="0" lang="en-US" sz="3900" u="none">
                <a:solidFill>
                  <a:schemeClr val="lt2"/>
                </a:solidFill>
                <a:latin typeface="Quattrocento Sans"/>
                <a:ea typeface="Quattrocento Sans"/>
                <a:cs typeface="Quattrocento Sans"/>
                <a:sym typeface="Quattrocento Sans"/>
              </a:rPr>
              <a:t>Классификация</a:t>
            </a:r>
            <a:endParaRPr/>
          </a:p>
        </p:txBody>
      </p:sp>
      <p:sp>
        <p:nvSpPr>
          <p:cNvPr id="567" name="Google Shape;567;p49"/>
          <p:cNvSpPr txBox="1"/>
          <p:nvPr/>
        </p:nvSpPr>
        <p:spPr>
          <a:xfrm>
            <a:off x="7905750" y="6327775"/>
            <a:ext cx="95885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
        <p:nvSpPr>
          <p:cNvPr id="568" name="Google Shape;568;p49"/>
          <p:cNvSpPr txBox="1"/>
          <p:nvPr/>
        </p:nvSpPr>
        <p:spPr>
          <a:xfrm>
            <a:off x="638175" y="1725612"/>
            <a:ext cx="4381500" cy="3406775"/>
          </a:xfrm>
          <a:prstGeom prst="rect">
            <a:avLst/>
          </a:prstGeom>
          <a:noFill/>
          <a:ln>
            <a:noFill/>
          </a:ln>
        </p:spPr>
        <p:txBody>
          <a:bodyPr anchorCtr="0" anchor="ctr" bIns="40675" lIns="81350" spcFirstLastPara="1" rIns="81350" wrap="square" tIns="40675">
            <a:spAutoFit/>
          </a:bodyPr>
          <a:lstStyle/>
          <a:p>
            <a:pPr indent="314325" lvl="0" marL="0" marR="0" rtl="0" algn="l">
              <a:lnSpc>
                <a:spcPct val="100000"/>
              </a:lnSpc>
              <a:spcBef>
                <a:spcPts val="0"/>
              </a:spcBef>
              <a:spcAft>
                <a:spcPts val="0"/>
              </a:spcAft>
              <a:buClr>
                <a:schemeClr val="dk1"/>
              </a:buClr>
              <a:buSzPts val="1800"/>
              <a:buFont typeface="Quattrocento Sans"/>
              <a:buNone/>
            </a:pPr>
            <a:r>
              <a:rPr b="1" i="0" lang="en-US" sz="1800" u="none">
                <a:solidFill>
                  <a:schemeClr val="dk1"/>
                </a:solidFill>
                <a:latin typeface="Quattrocento Sans"/>
                <a:ea typeface="Quattrocento Sans"/>
                <a:cs typeface="Quattrocento Sans"/>
                <a:sym typeface="Quattrocento Sans"/>
              </a:rPr>
              <a:t>Тестовый образец (зелёный круг) должен быть классифицирован как синий квадрат (класс 1) или как красный треугольник (класс 2)?</a:t>
            </a:r>
            <a:endParaRPr/>
          </a:p>
          <a:p>
            <a:pPr indent="314325" lvl="0" marL="0" marR="0" rtl="0" algn="l">
              <a:lnSpc>
                <a:spcPct val="100000"/>
              </a:lnSpc>
              <a:spcBef>
                <a:spcPts val="0"/>
              </a:spcBef>
              <a:spcAft>
                <a:spcPts val="0"/>
              </a:spcAft>
              <a:buClr>
                <a:schemeClr val="dk1"/>
              </a:buClr>
              <a:buSzPts val="1800"/>
              <a:buFont typeface="Quattrocento Sans"/>
              <a:buNone/>
            </a:pPr>
            <a:r>
              <a:rPr b="1" i="0" lang="en-US" sz="1800" u="none">
                <a:solidFill>
                  <a:schemeClr val="dk1"/>
                </a:solidFill>
                <a:latin typeface="Quattrocento Sans"/>
                <a:ea typeface="Quattrocento Sans"/>
                <a:cs typeface="Quattrocento Sans"/>
                <a:sym typeface="Quattrocento Sans"/>
              </a:rPr>
              <a:t> Если k = 3, то он классифицируется как 2-й класс, потому что внутри меньшего круга 2 треугольника и только 1 квадрат. Если k = 5, то он будет классифицирован как 1-й класс (3 квадрата против 2 треугольников внутри большего круга).</a:t>
            </a:r>
            <a:endParaRPr/>
          </a:p>
        </p:txBody>
      </p:sp>
      <p:pic>
        <p:nvPicPr>
          <p:cNvPr id="569" name="Google Shape;569;p49"/>
          <p:cNvPicPr preferRelativeResize="0"/>
          <p:nvPr/>
        </p:nvPicPr>
        <p:blipFill rotWithShape="1">
          <a:blip r:embed="rId3">
            <a:alphaModFix/>
          </a:blip>
          <a:srcRect b="0" l="0" r="0" t="0"/>
          <a:stretch/>
        </p:blipFill>
        <p:spPr>
          <a:xfrm>
            <a:off x="4984750" y="1543050"/>
            <a:ext cx="3651250" cy="3300412"/>
          </a:xfrm>
          <a:prstGeom prst="rect">
            <a:avLst/>
          </a:prstGeom>
          <a:noFill/>
          <a:ln>
            <a:noFill/>
          </a:ln>
        </p:spPr>
      </p:pic>
      <p:sp>
        <p:nvSpPr>
          <p:cNvPr id="570" name="Google Shape;570;p49"/>
          <p:cNvSpPr txBox="1"/>
          <p:nvPr/>
        </p:nvSpPr>
        <p:spPr>
          <a:xfrm>
            <a:off x="5045075" y="5199062"/>
            <a:ext cx="3754437"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Quattrocento Sans"/>
              <a:buNone/>
            </a:pPr>
            <a:r>
              <a:rPr b="1" i="0" lang="en-US" sz="1800" u="none">
                <a:solidFill>
                  <a:srgbClr val="000000"/>
                </a:solidFill>
                <a:latin typeface="Quattrocento Sans"/>
                <a:ea typeface="Quattrocento Sans"/>
                <a:cs typeface="Quattrocento Sans"/>
                <a:sym typeface="Quattrocento Sans"/>
              </a:rPr>
              <a:t>класс 1 - синий квадрат </a:t>
            </a:r>
            <a:endParaRPr/>
          </a:p>
          <a:p>
            <a:pPr indent="0" lvl="0" marL="0" marR="0" rtl="0" algn="l">
              <a:lnSpc>
                <a:spcPct val="100000"/>
              </a:lnSpc>
              <a:spcBef>
                <a:spcPts val="0"/>
              </a:spcBef>
              <a:spcAft>
                <a:spcPts val="0"/>
              </a:spcAft>
              <a:buClr>
                <a:srgbClr val="3F9CBE"/>
              </a:buClr>
              <a:buSzPts val="1800"/>
              <a:buFont typeface="Quattrocento Sans"/>
              <a:buNone/>
            </a:pPr>
            <a:r>
              <a:rPr b="1" i="0" lang="en-US" sz="1800" u="none">
                <a:solidFill>
                  <a:srgbClr val="3F9CBE"/>
                </a:solidFill>
                <a:latin typeface="Quattrocento Sans"/>
                <a:ea typeface="Quattrocento Sans"/>
                <a:cs typeface="Quattrocento Sans"/>
                <a:sym typeface="Quattrocento Sans"/>
              </a:rPr>
              <a:t>класс 2 - красный треугольник</a:t>
            </a:r>
            <a:endParaRPr/>
          </a:p>
        </p:txBody>
      </p:sp>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50"/>
          <p:cNvSpPr/>
          <p:nvPr/>
        </p:nvSpPr>
        <p:spPr>
          <a:xfrm>
            <a:off x="93662" y="525462"/>
            <a:ext cx="8932862" cy="6080125"/>
          </a:xfrm>
          <a:prstGeom prst="roundRect">
            <a:avLst>
              <a:gd fmla="val 16667" name="adj"/>
            </a:avLst>
          </a:prstGeom>
          <a:solidFill>
            <a:schemeClr val="dk2">
              <a:alpha val="49803"/>
            </a:schemeClr>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576" name="Google Shape;576;p50"/>
          <p:cNvSpPr/>
          <p:nvPr/>
        </p:nvSpPr>
        <p:spPr>
          <a:xfrm>
            <a:off x="344487" y="820737"/>
            <a:ext cx="8391525" cy="5638800"/>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577" name="Google Shape;577;p50"/>
          <p:cNvSpPr txBox="1"/>
          <p:nvPr>
            <p:ph idx="1" type="body"/>
          </p:nvPr>
        </p:nvSpPr>
        <p:spPr>
          <a:xfrm>
            <a:off x="1528762" y="873125"/>
            <a:ext cx="6453187" cy="327025"/>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F4BE96"/>
              </a:buClr>
              <a:buSzPts val="1680"/>
              <a:buFont typeface="Quattrocento Sans"/>
              <a:buNone/>
            </a:pPr>
            <a:r>
              <a:rPr b="1" i="1" lang="en-US" sz="2100" u="none">
                <a:solidFill>
                  <a:srgbClr val="0000FF"/>
                </a:solidFill>
                <a:latin typeface="Quattrocento Sans"/>
                <a:ea typeface="Quattrocento Sans"/>
                <a:cs typeface="Quattrocento Sans"/>
                <a:sym typeface="Quattrocento Sans"/>
              </a:rPr>
              <a:t>Алгоритмы k-ближайших соседей </a:t>
            </a:r>
            <a:endParaRPr/>
          </a:p>
        </p:txBody>
      </p:sp>
      <p:sp>
        <p:nvSpPr>
          <p:cNvPr id="578" name="Google Shape;578;p50"/>
          <p:cNvSpPr txBox="1"/>
          <p:nvPr/>
        </p:nvSpPr>
        <p:spPr>
          <a:xfrm>
            <a:off x="1528762" y="176212"/>
            <a:ext cx="6022975" cy="6445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2"/>
              </a:buClr>
              <a:buSzPts val="3900"/>
              <a:buFont typeface="Quattrocento Sans"/>
              <a:buNone/>
            </a:pPr>
            <a:r>
              <a:rPr b="1" i="0" lang="en-US" sz="3900" u="none">
                <a:solidFill>
                  <a:schemeClr val="lt2"/>
                </a:solidFill>
                <a:latin typeface="Quattrocento Sans"/>
                <a:ea typeface="Quattrocento Sans"/>
                <a:cs typeface="Quattrocento Sans"/>
                <a:sym typeface="Quattrocento Sans"/>
              </a:rPr>
              <a:t>Классификация</a:t>
            </a:r>
            <a:endParaRPr/>
          </a:p>
        </p:txBody>
      </p:sp>
      <p:sp>
        <p:nvSpPr>
          <p:cNvPr id="579" name="Google Shape;579;p50"/>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grpSp>
        <p:nvGrpSpPr>
          <p:cNvPr id="580" name="Google Shape;580;p50"/>
          <p:cNvGrpSpPr/>
          <p:nvPr/>
        </p:nvGrpSpPr>
        <p:grpSpPr>
          <a:xfrm>
            <a:off x="5292725" y="1317625"/>
            <a:ext cx="3462337" cy="2732087"/>
            <a:chOff x="5867995" y="1130654"/>
            <a:chExt cx="2893948" cy="2733106"/>
          </a:xfrm>
        </p:grpSpPr>
        <p:pic>
          <p:nvPicPr>
            <p:cNvPr id="581" name="Google Shape;581;p50"/>
            <p:cNvPicPr preferRelativeResize="0"/>
            <p:nvPr/>
          </p:nvPicPr>
          <p:blipFill rotWithShape="1">
            <a:blip r:embed="rId3">
              <a:alphaModFix/>
            </a:blip>
            <a:srcRect b="0" l="0" r="0" t="0"/>
            <a:stretch/>
          </p:blipFill>
          <p:spPr>
            <a:xfrm>
              <a:off x="6003202" y="1130654"/>
              <a:ext cx="2538862" cy="1962782"/>
            </a:xfrm>
            <a:prstGeom prst="rect">
              <a:avLst/>
            </a:prstGeom>
            <a:noFill/>
            <a:ln>
              <a:noFill/>
            </a:ln>
          </p:spPr>
        </p:pic>
        <p:sp>
          <p:nvSpPr>
            <p:cNvPr id="582" name="Google Shape;582;p50"/>
            <p:cNvSpPr txBox="1"/>
            <p:nvPr/>
          </p:nvSpPr>
          <p:spPr>
            <a:xfrm>
              <a:off x="5867995" y="3125096"/>
              <a:ext cx="2893948"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400"/>
                <a:buFont typeface="Quattrocento Sans"/>
                <a:buNone/>
              </a:pPr>
              <a:r>
                <a:rPr b="1" i="1" lang="en-US" sz="1400" u="none">
                  <a:solidFill>
                    <a:schemeClr val="dk2"/>
                  </a:solidFill>
                  <a:latin typeface="Quattrocento Sans"/>
                  <a:ea typeface="Quattrocento Sans"/>
                  <a:cs typeface="Quattrocento Sans"/>
                  <a:sym typeface="Quattrocento Sans"/>
                </a:rPr>
                <a:t>Согласно методу ближайших соседей, тестовый пример (зеленый шарик) будет отнесен к классу "синие".</a:t>
              </a:r>
              <a:endParaRPr/>
            </a:p>
          </p:txBody>
        </p:sp>
        <p:sp>
          <p:nvSpPr>
            <p:cNvPr id="583" name="Google Shape;583;p50"/>
            <p:cNvSpPr txBox="1"/>
            <p:nvPr/>
          </p:nvSpPr>
          <p:spPr>
            <a:xfrm>
              <a:off x="6714859" y="2622005"/>
              <a:ext cx="189837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класс 1 - синие шары </a:t>
              </a:r>
              <a:endParaRPr/>
            </a:p>
            <a:p>
              <a:pPr indent="0" lvl="0" marL="0" marR="0" rtl="0" algn="l">
                <a:lnSpc>
                  <a:spcPct val="100000"/>
                </a:lnSpc>
                <a:spcBef>
                  <a:spcPts val="0"/>
                </a:spcBef>
                <a:spcAft>
                  <a:spcPts val="0"/>
                </a:spcAft>
                <a:buClr>
                  <a:srgbClr val="FF0000"/>
                </a:buClr>
                <a:buSzPts val="1400"/>
                <a:buFont typeface="Quattrocento Sans"/>
                <a:buNone/>
              </a:pPr>
              <a:r>
                <a:rPr b="1" i="0" lang="en-US" sz="1400" u="none">
                  <a:solidFill>
                    <a:srgbClr val="FF0000"/>
                  </a:solidFill>
                  <a:latin typeface="Quattrocento Sans"/>
                  <a:ea typeface="Quattrocento Sans"/>
                  <a:cs typeface="Quattrocento Sans"/>
                  <a:sym typeface="Quattrocento Sans"/>
                </a:rPr>
                <a:t>класс 2 – красные шары</a:t>
              </a:r>
              <a:endParaRPr/>
            </a:p>
          </p:txBody>
        </p:sp>
      </p:grpSp>
      <p:sp>
        <p:nvSpPr>
          <p:cNvPr id="584" name="Google Shape;584;p50"/>
          <p:cNvSpPr txBox="1"/>
          <p:nvPr/>
        </p:nvSpPr>
        <p:spPr>
          <a:xfrm>
            <a:off x="334962" y="2973387"/>
            <a:ext cx="4870450" cy="820737"/>
          </a:xfrm>
          <a:prstGeom prst="rect">
            <a:avLst/>
          </a:prstGeom>
          <a:noFill/>
          <a:ln>
            <a:noFill/>
          </a:ln>
        </p:spPr>
        <p:txBody>
          <a:bodyPr anchorCtr="0" anchor="ctr" bIns="40675" lIns="81350" spcFirstLastPara="1" rIns="81350" wrap="square" tIns="40675">
            <a:spAutoFit/>
          </a:bodyPr>
          <a:lstStyle/>
          <a:p>
            <a:pPr indent="314325" lvl="0" marL="0" marR="0" rtl="0" algn="l">
              <a:lnSpc>
                <a:spcPct val="100000"/>
              </a:lnSpc>
              <a:spcBef>
                <a:spcPts val="0"/>
              </a:spcBef>
              <a:spcAft>
                <a:spcPts val="0"/>
              </a:spcAft>
              <a:buClr>
                <a:schemeClr val="dk2"/>
              </a:buClr>
              <a:buSzPts val="1600"/>
              <a:buFont typeface="Quattrocento Sans"/>
              <a:buNone/>
            </a:pPr>
            <a:r>
              <a:rPr b="1" i="0" lang="en-US" sz="1600" u="none">
                <a:solidFill>
                  <a:schemeClr val="dk2"/>
                </a:solidFill>
                <a:latin typeface="Quattrocento Sans"/>
                <a:ea typeface="Quattrocento Sans"/>
                <a:cs typeface="Quattrocento Sans"/>
                <a:sym typeface="Quattrocento Sans"/>
              </a:rPr>
              <a:t>Качество классификации/регрессии методом ближайших соседей зависит от нескольких параметров:</a:t>
            </a:r>
            <a:endParaRPr/>
          </a:p>
        </p:txBody>
      </p:sp>
      <p:sp>
        <p:nvSpPr>
          <p:cNvPr id="585" name="Google Shape;585;p50"/>
          <p:cNvSpPr txBox="1"/>
          <p:nvPr/>
        </p:nvSpPr>
        <p:spPr>
          <a:xfrm>
            <a:off x="469900" y="3757612"/>
            <a:ext cx="8107362" cy="2544762"/>
          </a:xfrm>
          <a:prstGeom prst="rect">
            <a:avLst/>
          </a:prstGeom>
          <a:noFill/>
          <a:ln>
            <a:noFill/>
          </a:ln>
        </p:spPr>
        <p:txBody>
          <a:bodyPr anchorCtr="0" anchor="ctr" bIns="40675" lIns="81350" spcFirstLastPara="1" rIns="81350" wrap="square" tIns="40675">
            <a:spAutoFit/>
          </a:bodyPr>
          <a:lstStyle/>
          <a:p>
            <a:pPr indent="-285750" lvl="0" marL="285750" marR="0" rtl="0" algn="l">
              <a:lnSpc>
                <a:spcPct val="100000"/>
              </a:lnSpc>
              <a:spcBef>
                <a:spcPts val="0"/>
              </a:spcBef>
              <a:spcAft>
                <a:spcPts val="0"/>
              </a:spcAft>
              <a:buClr>
                <a:schemeClr val="dk2"/>
              </a:buClr>
              <a:buSzPts val="1600"/>
              <a:buFont typeface="Noto Sans Symbols"/>
              <a:buChar char="✔"/>
            </a:pPr>
            <a:r>
              <a:rPr b="1" i="0" lang="en-US" sz="1600" u="none">
                <a:solidFill>
                  <a:schemeClr val="dk2"/>
                </a:solidFill>
                <a:latin typeface="Quattrocento Sans"/>
                <a:ea typeface="Quattrocento Sans"/>
                <a:cs typeface="Quattrocento Sans"/>
                <a:sym typeface="Quattrocento Sans"/>
              </a:rPr>
              <a:t>число соседей</a:t>
            </a:r>
            <a:endParaRPr/>
          </a:p>
          <a:p>
            <a:pPr indent="-285750" lvl="0" marL="285750" marR="0" rtl="0" algn="l">
              <a:lnSpc>
                <a:spcPct val="100000"/>
              </a:lnSpc>
              <a:spcBef>
                <a:spcPts val="0"/>
              </a:spcBef>
              <a:spcAft>
                <a:spcPts val="0"/>
              </a:spcAft>
              <a:buClr>
                <a:schemeClr val="dk2"/>
              </a:buClr>
              <a:buSzPts val="1600"/>
              <a:buFont typeface="Noto Sans Symbols"/>
              <a:buChar char="✔"/>
            </a:pPr>
            <a:r>
              <a:rPr b="1" i="0" lang="en-US" sz="1600" u="none">
                <a:solidFill>
                  <a:schemeClr val="dk2"/>
                </a:solidFill>
                <a:latin typeface="Quattrocento Sans"/>
                <a:ea typeface="Quattrocento Sans"/>
                <a:cs typeface="Quattrocento Sans"/>
                <a:sym typeface="Quattrocento Sans"/>
              </a:rPr>
              <a:t>метрика расстояния между объектами (часто используются метрика Хэмминга, евклидово расстояние, косинусное расстояние и расстояние Минковского). Отметим, что при использовании большинства метрик значения признаков надо масштабировать. Условно говоря, чтобы признак "Зарплата" с диапазоном значений до 100 тысяч не вносил больший вклад в расстояние, чем "Возраст" со значениями до 100. </a:t>
            </a:r>
            <a:endParaRPr/>
          </a:p>
          <a:p>
            <a:pPr indent="-285750" lvl="0" marL="285750" marR="0" rtl="0" algn="l">
              <a:lnSpc>
                <a:spcPct val="100000"/>
              </a:lnSpc>
              <a:spcBef>
                <a:spcPts val="0"/>
              </a:spcBef>
              <a:spcAft>
                <a:spcPts val="0"/>
              </a:spcAft>
              <a:buClr>
                <a:schemeClr val="dk2"/>
              </a:buClr>
              <a:buSzPts val="1600"/>
              <a:buFont typeface="Noto Sans Symbols"/>
              <a:buChar char="✔"/>
            </a:pPr>
            <a:r>
              <a:rPr b="1" i="0" lang="en-US" sz="1600" u="none">
                <a:solidFill>
                  <a:schemeClr val="dk2"/>
                </a:solidFill>
                <a:latin typeface="Quattrocento Sans"/>
                <a:ea typeface="Quattrocento Sans"/>
                <a:cs typeface="Quattrocento Sans"/>
                <a:sym typeface="Quattrocento Sans"/>
              </a:rPr>
              <a:t>веса соседей (соседи тестового примера могут входить с разными весами, например, чем дальше пример, тем с меньшим коэффициентом учитывается </a:t>
            </a:r>
            <a:endParaRPr/>
          </a:p>
          <a:p>
            <a:pPr indent="-285750" lvl="0" marL="285750" marR="0" rtl="0" algn="l">
              <a:lnSpc>
                <a:spcPct val="100000"/>
              </a:lnSpc>
              <a:spcBef>
                <a:spcPts val="0"/>
              </a:spcBef>
              <a:spcAft>
                <a:spcPts val="0"/>
              </a:spcAft>
              <a:buClr>
                <a:schemeClr val="dk2"/>
              </a:buClr>
              <a:buSzPts val="1600"/>
              <a:buFont typeface="Quattrocento Sans"/>
              <a:buNone/>
            </a:pPr>
            <a:r>
              <a:rPr b="1" i="0" lang="en-US" sz="1600" u="none">
                <a:solidFill>
                  <a:schemeClr val="dk2"/>
                </a:solidFill>
                <a:latin typeface="Quattrocento Sans"/>
                <a:ea typeface="Quattrocento Sans"/>
                <a:cs typeface="Quattrocento Sans"/>
                <a:sym typeface="Quattrocento Sans"/>
              </a:rPr>
              <a:t>         его "голос").</a:t>
            </a:r>
            <a:endParaRPr/>
          </a:p>
        </p:txBody>
      </p:sp>
      <p:sp>
        <p:nvSpPr>
          <p:cNvPr id="586" name="Google Shape;586;p50"/>
          <p:cNvSpPr txBox="1"/>
          <p:nvPr/>
        </p:nvSpPr>
        <p:spPr>
          <a:xfrm>
            <a:off x="325437" y="1381125"/>
            <a:ext cx="5116512" cy="1560512"/>
          </a:xfrm>
          <a:prstGeom prst="rect">
            <a:avLst/>
          </a:prstGeom>
          <a:noFill/>
          <a:ln>
            <a:noFill/>
          </a:ln>
        </p:spPr>
        <p:txBody>
          <a:bodyPr anchorCtr="0" anchor="ctr" bIns="40675" lIns="81350" spcFirstLastPara="1" rIns="81350" wrap="square" tIns="40675">
            <a:spAutoFit/>
          </a:bodyPr>
          <a:lstStyle/>
          <a:p>
            <a:pPr indent="314325" lvl="0" marL="0" marR="0" rtl="0" algn="l">
              <a:lnSpc>
                <a:spcPct val="100000"/>
              </a:lnSpc>
              <a:spcBef>
                <a:spcPts val="0"/>
              </a:spcBef>
              <a:spcAft>
                <a:spcPts val="0"/>
              </a:spcAft>
              <a:buClr>
                <a:schemeClr val="dk2"/>
              </a:buClr>
              <a:buSzPts val="1600"/>
              <a:buFont typeface="Quattrocento Sans"/>
              <a:buNone/>
            </a:pPr>
            <a:r>
              <a:rPr b="0" i="0" lang="en-US" sz="1600" u="none">
                <a:solidFill>
                  <a:schemeClr val="dk2"/>
                </a:solidFill>
                <a:latin typeface="Quattrocento Sans"/>
                <a:ea typeface="Quattrocento Sans"/>
                <a:cs typeface="Quattrocento Sans"/>
                <a:sym typeface="Quattrocento Sans"/>
              </a:rPr>
              <a:t>Идея ближайшего соседа расширяется и на другие задачи, например, в рекомендательных системах простым начальным решением может быть рекомендация какого-то товара (или услуги), популярного среди </a:t>
            </a:r>
            <a:r>
              <a:rPr b="0" i="1" lang="en-US" sz="1600" u="none">
                <a:solidFill>
                  <a:schemeClr val="dk2"/>
                </a:solidFill>
                <a:latin typeface="Quattrocento Sans"/>
                <a:ea typeface="Quattrocento Sans"/>
                <a:cs typeface="Quattrocento Sans"/>
                <a:sym typeface="Quattrocento Sans"/>
              </a:rPr>
              <a:t>ближайших соседей</a:t>
            </a:r>
            <a:r>
              <a:rPr b="0" i="0" lang="en-US" sz="1600" u="none">
                <a:solidFill>
                  <a:schemeClr val="dk2"/>
                </a:solidFill>
                <a:latin typeface="Quattrocento Sans"/>
                <a:ea typeface="Quattrocento Sans"/>
                <a:cs typeface="Quattrocento Sans"/>
                <a:sym typeface="Quattrocento Sans"/>
              </a:rPr>
              <a:t> человека, которому хотим сделать рекомендацию.</a:t>
            </a:r>
            <a:endParaRPr/>
          </a:p>
        </p:txBody>
      </p:sp>
    </p:spTree>
  </p:cSld>
  <p:clrMapOvr>
    <a:masterClrMapping/>
  </p:clrMapOvr>
  <p:transition spd="med">
    <p:fade/>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51"/>
          <p:cNvSpPr txBox="1"/>
          <p:nvPr>
            <p:ph type="title"/>
          </p:nvPr>
        </p:nvSpPr>
        <p:spPr>
          <a:xfrm>
            <a:off x="623887" y="3684587"/>
            <a:ext cx="7886700" cy="877887"/>
          </a:xfrm>
          <a:prstGeom prst="rect">
            <a:avLst/>
          </a:prstGeom>
          <a:noFill/>
          <a:ln>
            <a:noFill/>
          </a:ln>
        </p:spPr>
        <p:txBody>
          <a:bodyPr anchorCtr="0" anchor="b" bIns="45700" lIns="91425" spcFirstLastPara="1" rIns="91425" wrap="square" tIns="45700">
            <a:spAutoFit/>
          </a:bodyPr>
          <a:lstStyle/>
          <a:p>
            <a:pPr indent="0" lvl="0" marL="0" rtl="0" algn="ctr">
              <a:lnSpc>
                <a:spcPct val="85000"/>
              </a:lnSpc>
              <a:spcBef>
                <a:spcPts val="0"/>
              </a:spcBef>
              <a:spcAft>
                <a:spcPts val="0"/>
              </a:spcAft>
              <a:buClr>
                <a:schemeClr val="lt2"/>
              </a:buClr>
              <a:buSzPts val="6000"/>
              <a:buFont typeface="Quattrocento Sans"/>
              <a:buNone/>
            </a:pPr>
            <a:r>
              <a:rPr b="0" i="0" lang="en-US" sz="6000" u="none">
                <a:solidFill>
                  <a:schemeClr val="lt2"/>
                </a:solidFill>
                <a:latin typeface="Quattrocento Sans"/>
                <a:ea typeface="Quattrocento Sans"/>
                <a:cs typeface="Quattrocento Sans"/>
                <a:sym typeface="Quattrocento Sans"/>
              </a:rPr>
              <a:t>Деревья решений</a:t>
            </a:r>
            <a:endParaRPr/>
          </a:p>
        </p:txBody>
      </p:sp>
      <p:pic>
        <p:nvPicPr>
          <p:cNvPr descr="https://habrastorage.org/files/3df/a8a/333/3dfa8a3338c24c74b15aaeaebc1cffc6.png" id="592" name="Google Shape;592;p51"/>
          <p:cNvPicPr preferRelativeResize="0"/>
          <p:nvPr/>
        </p:nvPicPr>
        <p:blipFill rotWithShape="1">
          <a:blip r:embed="rId3">
            <a:alphaModFix/>
          </a:blip>
          <a:srcRect b="0" l="0" r="0" t="0"/>
          <a:stretch/>
        </p:blipFill>
        <p:spPr>
          <a:xfrm>
            <a:off x="2662237" y="557212"/>
            <a:ext cx="3570287" cy="2973387"/>
          </a:xfrm>
          <a:prstGeom prst="rect">
            <a:avLst/>
          </a:prstGeom>
          <a:noFill/>
          <a:ln>
            <a:noFill/>
          </a:ln>
        </p:spPr>
      </p:pic>
    </p:spTree>
  </p:cSld>
  <p:clrMapOvr>
    <a:masterClrMapping/>
  </p:clrMapOvr>
  <p:transition spd="slow">
    <p:fade/>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52"/>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Деревья решений</a:t>
            </a:r>
            <a:endParaRPr/>
          </a:p>
        </p:txBody>
      </p:sp>
      <p:sp>
        <p:nvSpPr>
          <p:cNvPr id="598" name="Google Shape;598;p52"/>
          <p:cNvSpPr txBox="1"/>
          <p:nvPr>
            <p:ph idx="1" type="body"/>
          </p:nvPr>
        </p:nvSpPr>
        <p:spPr>
          <a:xfrm>
            <a:off x="390525" y="1031875"/>
            <a:ext cx="8356600" cy="5478462"/>
          </a:xfrm>
          <a:prstGeom prst="rect">
            <a:avLst/>
          </a:prstGeom>
          <a:noFill/>
          <a:ln>
            <a:noFill/>
          </a:ln>
        </p:spPr>
        <p:txBody>
          <a:bodyPr anchorCtr="0" anchor="t" bIns="45700" lIns="91425" spcFirstLastPara="1" rIns="91425" wrap="square" tIns="45700">
            <a:spAutoFit/>
          </a:bodyPr>
          <a:lstStyle/>
          <a:p>
            <a:pPr indent="-334962" lvl="0" marL="334962" rtl="0" algn="l">
              <a:lnSpc>
                <a:spcPct val="85000"/>
              </a:lnSpc>
              <a:spcBef>
                <a:spcPts val="0"/>
              </a:spcBef>
              <a:spcAft>
                <a:spcPts val="0"/>
              </a:spcAft>
              <a:buSzPts val="1600"/>
              <a:buChar char="•"/>
            </a:pPr>
            <a:r>
              <a:rPr b="0" i="1" lang="en-US" sz="2000" u="none">
                <a:solidFill>
                  <a:schemeClr val="lt1"/>
                </a:solidFill>
                <a:latin typeface="Quattrocento Sans"/>
                <a:ea typeface="Quattrocento Sans"/>
                <a:cs typeface="Quattrocento Sans"/>
                <a:sym typeface="Quattrocento Sans"/>
              </a:rPr>
              <a:t>Метод деревьев решений </a:t>
            </a:r>
            <a:r>
              <a:rPr b="0" i="0" lang="en-US" sz="2000" u="none">
                <a:solidFill>
                  <a:schemeClr val="lt1"/>
                </a:solidFill>
                <a:latin typeface="Quattrocento Sans"/>
                <a:ea typeface="Quattrocento Sans"/>
                <a:cs typeface="Quattrocento Sans"/>
                <a:sym typeface="Quattrocento Sans"/>
              </a:rPr>
              <a:t>(англ.: </a:t>
            </a:r>
            <a:r>
              <a:rPr b="0" i="1" lang="en-US" sz="2000" u="none">
                <a:solidFill>
                  <a:schemeClr val="lt1"/>
                </a:solidFill>
                <a:latin typeface="Quattrocento Sans"/>
                <a:ea typeface="Quattrocento Sans"/>
                <a:cs typeface="Quattrocento Sans"/>
                <a:sym typeface="Quattrocento Sans"/>
              </a:rPr>
              <a:t>decision tree</a:t>
            </a:r>
            <a:r>
              <a:rPr b="0" i="0" lang="en-US" sz="2000" u="none">
                <a:solidFill>
                  <a:schemeClr val="lt1"/>
                </a:solidFill>
                <a:latin typeface="Quattrocento Sans"/>
                <a:ea typeface="Quattrocento Sans"/>
                <a:cs typeface="Quattrocento Sans"/>
                <a:sym typeface="Quattrocento Sans"/>
              </a:rPr>
              <a:t>) для задач классификации состоит в том, чтобы осуществлять процесс деления исходных данных на группы, пока не будут получены однородные (или почти однородные) их множества. Совокупность</a:t>
            </a:r>
            <a:br>
              <a:rPr b="0" i="0" lang="en-US" sz="2000" u="none">
                <a:solidFill>
                  <a:schemeClr val="lt1"/>
                </a:solidFill>
                <a:latin typeface="Quattrocento Sans"/>
                <a:ea typeface="Quattrocento Sans"/>
                <a:cs typeface="Quattrocento Sans"/>
                <a:sym typeface="Quattrocento Sans"/>
              </a:rPr>
            </a:br>
            <a:r>
              <a:rPr b="0" i="0" lang="en-US" sz="2000" u="none">
                <a:solidFill>
                  <a:schemeClr val="lt1"/>
                </a:solidFill>
                <a:latin typeface="Quattrocento Sans"/>
                <a:ea typeface="Quattrocento Sans"/>
                <a:cs typeface="Quattrocento Sans"/>
                <a:sym typeface="Quattrocento Sans"/>
              </a:rPr>
              <a:t>правил, которые дают такое разбиение (англ.: </a:t>
            </a:r>
            <a:r>
              <a:rPr b="0" i="1" lang="en-US" sz="2000" u="none">
                <a:solidFill>
                  <a:schemeClr val="lt1"/>
                </a:solidFill>
                <a:latin typeface="Quattrocento Sans"/>
                <a:ea typeface="Quattrocento Sans"/>
                <a:cs typeface="Quattrocento Sans"/>
                <a:sym typeface="Quattrocento Sans"/>
              </a:rPr>
              <a:t>partition</a:t>
            </a:r>
            <a:r>
              <a:rPr b="0" i="0" lang="en-US" sz="2000" u="none">
                <a:solidFill>
                  <a:schemeClr val="lt1"/>
                </a:solidFill>
                <a:latin typeface="Quattrocento Sans"/>
                <a:ea typeface="Quattrocento Sans"/>
                <a:cs typeface="Quattrocento Sans"/>
                <a:sym typeface="Quattrocento Sans"/>
              </a:rPr>
              <a:t>), позволят затем делать прогноз (т.е. определять наиболее вероятный номер класса) для новых данных.</a:t>
            </a:r>
            <a:endParaRPr/>
          </a:p>
          <a:p>
            <a:pPr indent="-334962" lvl="0" marL="334962" rtl="0" algn="l">
              <a:lnSpc>
                <a:spcPct val="85000"/>
              </a:lnSpc>
              <a:spcBef>
                <a:spcPts val="500"/>
              </a:spcBef>
              <a:spcAft>
                <a:spcPts val="0"/>
              </a:spcAft>
              <a:buSzPts val="1600"/>
              <a:buChar char="•"/>
            </a:pPr>
            <a:r>
              <a:rPr b="0" i="0" lang="en-US" sz="2000" u="none">
                <a:solidFill>
                  <a:schemeClr val="lt1"/>
                </a:solidFill>
                <a:latin typeface="Quattrocento Sans"/>
                <a:ea typeface="Quattrocento Sans"/>
                <a:cs typeface="Quattrocento Sans"/>
                <a:sym typeface="Quattrocento Sans"/>
              </a:rPr>
              <a:t>Метод деревьев решений применим для решения задач классификации, возникающих в самых разных областях, и считается одним из самых эффективных. Среди задач, успешно решаемых с помощью этого метода, можно назвать, например,</a:t>
            </a:r>
            <a:endParaRPr/>
          </a:p>
          <a:p>
            <a:pPr indent="-334962" lvl="0" marL="334962" rtl="0" algn="l">
              <a:lnSpc>
                <a:spcPct val="85000"/>
              </a:lnSpc>
              <a:spcBef>
                <a:spcPts val="500"/>
              </a:spcBef>
              <a:spcAft>
                <a:spcPts val="0"/>
              </a:spcAft>
              <a:buSzPts val="1600"/>
              <a:buChar char="•"/>
            </a:pPr>
            <a:r>
              <a:rPr b="0" i="0" lang="en-US" sz="2000" u="none">
                <a:solidFill>
                  <a:schemeClr val="lt1"/>
                </a:solidFill>
                <a:latin typeface="Quattrocento Sans"/>
                <a:ea typeface="Quattrocento Sans"/>
                <a:cs typeface="Quattrocento Sans"/>
                <a:sym typeface="Quattrocento Sans"/>
              </a:rPr>
              <a:t>• </a:t>
            </a:r>
            <a:r>
              <a:rPr b="0" i="1" lang="en-US" sz="2000" u="none">
                <a:solidFill>
                  <a:schemeClr val="lt1"/>
                </a:solidFill>
                <a:latin typeface="Quattrocento Sans"/>
                <a:ea typeface="Quattrocento Sans"/>
                <a:cs typeface="Quattrocento Sans"/>
                <a:sym typeface="Quattrocento Sans"/>
              </a:rPr>
              <a:t>скоринговые модели </a:t>
            </a:r>
            <a:r>
              <a:rPr b="0" i="0" lang="en-US" sz="2000" u="none">
                <a:solidFill>
                  <a:schemeClr val="lt1"/>
                </a:solidFill>
                <a:latin typeface="Quattrocento Sans"/>
                <a:ea typeface="Quattrocento Sans"/>
                <a:cs typeface="Quattrocento Sans"/>
                <a:sym typeface="Quattrocento Sans"/>
              </a:rPr>
              <a:t>кредитования (англ.: credit scoring models);</a:t>
            </a:r>
            <a:br>
              <a:rPr b="0" i="0" lang="en-US" sz="2000" u="none">
                <a:solidFill>
                  <a:schemeClr val="lt1"/>
                </a:solidFill>
                <a:latin typeface="Quattrocento Sans"/>
                <a:ea typeface="Quattrocento Sans"/>
                <a:cs typeface="Quattrocento Sans"/>
                <a:sym typeface="Quattrocento Sans"/>
              </a:rPr>
            </a:br>
            <a:r>
              <a:rPr b="0" i="0" lang="en-US" sz="2000" u="none">
                <a:solidFill>
                  <a:schemeClr val="lt1"/>
                </a:solidFill>
                <a:latin typeface="Quattrocento Sans"/>
                <a:ea typeface="Quattrocento Sans"/>
                <a:cs typeface="Quattrocento Sans"/>
                <a:sym typeface="Quattrocento Sans"/>
              </a:rPr>
              <a:t>• </a:t>
            </a:r>
            <a:r>
              <a:rPr b="0" i="1" lang="en-US" sz="2000" u="none">
                <a:solidFill>
                  <a:schemeClr val="lt1"/>
                </a:solidFill>
                <a:latin typeface="Quattrocento Sans"/>
                <a:ea typeface="Quattrocento Sans"/>
                <a:cs typeface="Quattrocento Sans"/>
                <a:sym typeface="Quattrocento Sans"/>
              </a:rPr>
              <a:t>маркетинговые исследования</a:t>
            </a:r>
            <a:r>
              <a:rPr b="0" i="0" lang="en-US" sz="2000" u="none">
                <a:solidFill>
                  <a:schemeClr val="lt1"/>
                </a:solidFill>
                <a:latin typeface="Quattrocento Sans"/>
                <a:ea typeface="Quattrocento Sans"/>
                <a:cs typeface="Quattrocento Sans"/>
                <a:sym typeface="Quattrocento Sans"/>
              </a:rPr>
              <a:t>, направленные на выявление предпочтений клиента или степени его удовлетворённости – обычно эти сведения бывают востребованы маркетинговыми</a:t>
            </a:r>
            <a:br>
              <a:rPr b="0" i="0" lang="en-US" sz="2000" u="none">
                <a:solidFill>
                  <a:schemeClr val="lt1"/>
                </a:solidFill>
                <a:latin typeface="Quattrocento Sans"/>
                <a:ea typeface="Quattrocento Sans"/>
                <a:cs typeface="Quattrocento Sans"/>
                <a:sym typeface="Quattrocento Sans"/>
              </a:rPr>
            </a:br>
            <a:r>
              <a:rPr b="0" i="0" lang="en-US" sz="2000" u="none">
                <a:solidFill>
                  <a:schemeClr val="lt1"/>
                </a:solidFill>
                <a:latin typeface="Quattrocento Sans"/>
                <a:ea typeface="Quattrocento Sans"/>
                <a:cs typeface="Quattrocento Sans"/>
                <a:sym typeface="Quattrocento Sans"/>
              </a:rPr>
              <a:t>агентствами или рекламными компаниями;</a:t>
            </a:r>
            <a:br>
              <a:rPr b="0" i="0" lang="en-US" sz="2000" u="none">
                <a:solidFill>
                  <a:schemeClr val="lt1"/>
                </a:solidFill>
                <a:latin typeface="Quattrocento Sans"/>
                <a:ea typeface="Quattrocento Sans"/>
                <a:cs typeface="Quattrocento Sans"/>
                <a:sym typeface="Quattrocento Sans"/>
              </a:rPr>
            </a:br>
            <a:r>
              <a:rPr b="0" i="0" lang="en-US" sz="2000" u="none">
                <a:solidFill>
                  <a:schemeClr val="lt1"/>
                </a:solidFill>
                <a:latin typeface="Quattrocento Sans"/>
                <a:ea typeface="Quattrocento Sans"/>
                <a:cs typeface="Quattrocento Sans"/>
                <a:sym typeface="Quattrocento Sans"/>
              </a:rPr>
              <a:t>• </a:t>
            </a:r>
            <a:r>
              <a:rPr b="0" i="1" lang="en-US" sz="2000" u="none">
                <a:solidFill>
                  <a:schemeClr val="lt1"/>
                </a:solidFill>
                <a:latin typeface="Quattrocento Sans"/>
                <a:ea typeface="Quattrocento Sans"/>
                <a:cs typeface="Quattrocento Sans"/>
                <a:sym typeface="Quattrocento Sans"/>
              </a:rPr>
              <a:t>диагностика </a:t>
            </a:r>
            <a:r>
              <a:rPr b="0" i="0" lang="en-US" sz="2000" u="none">
                <a:solidFill>
                  <a:schemeClr val="lt1"/>
                </a:solidFill>
                <a:latin typeface="Quattrocento Sans"/>
                <a:ea typeface="Quattrocento Sans"/>
                <a:cs typeface="Quattrocento Sans"/>
                <a:sym typeface="Quattrocento Sans"/>
              </a:rPr>
              <a:t>(медицинская или техническая), где по набору значений факторов (симптомов, результатов анализов) нужно поставить диагноз или сделать вывод о динамике процесса.</a:t>
            </a:r>
            <a:br>
              <a:rPr b="0" i="0" lang="en-US" sz="2000" u="none">
                <a:solidFill>
                  <a:schemeClr val="lt1"/>
                </a:solidFill>
                <a:latin typeface="Quattrocento Sans"/>
                <a:ea typeface="Quattrocento Sans"/>
                <a:cs typeface="Quattrocento Sans"/>
                <a:sym typeface="Quattrocento Sans"/>
              </a:rPr>
            </a:br>
            <a:endParaRPr/>
          </a:p>
        </p:txBody>
      </p:sp>
      <p:sp>
        <p:nvSpPr>
          <p:cNvPr id="599" name="Google Shape;599;p52"/>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53"/>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Деревья решений</a:t>
            </a:r>
            <a:endParaRPr/>
          </a:p>
        </p:txBody>
      </p:sp>
      <p:sp>
        <p:nvSpPr>
          <p:cNvPr id="605" name="Google Shape;605;p53"/>
          <p:cNvSpPr txBox="1"/>
          <p:nvPr>
            <p:ph idx="1" type="body"/>
          </p:nvPr>
        </p:nvSpPr>
        <p:spPr>
          <a:xfrm>
            <a:off x="390525" y="1031875"/>
            <a:ext cx="8356600" cy="5532437"/>
          </a:xfrm>
          <a:prstGeom prst="rect">
            <a:avLst/>
          </a:prstGeom>
          <a:noFill/>
          <a:ln>
            <a:noFill/>
          </a:ln>
        </p:spPr>
        <p:txBody>
          <a:bodyPr anchorCtr="0" anchor="t" bIns="45700" lIns="91425" spcFirstLastPara="1" rIns="91425" wrap="square" tIns="45700">
            <a:spAutoFit/>
          </a:bodyPr>
          <a:lstStyle/>
          <a:p>
            <a:pPr indent="-334962" lvl="0" marL="334962" rtl="0" algn="l">
              <a:lnSpc>
                <a:spcPct val="85000"/>
              </a:lnSpc>
              <a:spcBef>
                <a:spcPts val="0"/>
              </a:spcBef>
              <a:spcAft>
                <a:spcPts val="0"/>
              </a:spcAft>
              <a:buSzPts val="1760"/>
              <a:buChar char="•"/>
            </a:pPr>
            <a:r>
              <a:rPr b="0" i="0" lang="en-US" sz="2200" u="none">
                <a:solidFill>
                  <a:schemeClr val="lt1"/>
                </a:solidFill>
                <a:latin typeface="Quattrocento Sans"/>
                <a:ea typeface="Quattrocento Sans"/>
                <a:cs typeface="Quattrocento Sans"/>
                <a:sym typeface="Quattrocento Sans"/>
              </a:rPr>
              <a:t>Деревья решений дают возможность извлекать правила из базы данных на </a:t>
            </a:r>
            <a:r>
              <a:rPr b="1" i="0" lang="en-US" sz="2200" u="none">
                <a:solidFill>
                  <a:schemeClr val="lt1"/>
                </a:solidFill>
                <a:latin typeface="Quattrocento Sans"/>
                <a:ea typeface="Quattrocento Sans"/>
                <a:cs typeface="Quattrocento Sans"/>
                <a:sym typeface="Quattrocento Sans"/>
              </a:rPr>
              <a:t>естественном языке</a:t>
            </a:r>
            <a:r>
              <a:rPr b="0" i="0" lang="en-US" sz="2200" u="none">
                <a:solidFill>
                  <a:schemeClr val="lt1"/>
                </a:solidFill>
                <a:latin typeface="Quattrocento Sans"/>
                <a:ea typeface="Quattrocento Sans"/>
                <a:cs typeface="Quattrocento Sans"/>
                <a:sym typeface="Quattrocento Sans"/>
              </a:rPr>
              <a:t>. </a:t>
            </a:r>
            <a:endParaRPr/>
          </a:p>
          <a:p>
            <a:pPr indent="-282575" lvl="1" marL="619125" rtl="0" algn="l">
              <a:lnSpc>
                <a:spcPct val="85000"/>
              </a:lnSpc>
              <a:spcBef>
                <a:spcPts val="500"/>
              </a:spcBef>
              <a:spcAft>
                <a:spcPts val="0"/>
              </a:spcAft>
              <a:buSzPts val="1500"/>
              <a:buChar char="•"/>
            </a:pPr>
            <a:r>
              <a:rPr b="0" i="0" lang="en-US" sz="2000" u="none">
                <a:solidFill>
                  <a:schemeClr val="lt1"/>
                </a:solidFill>
                <a:latin typeface="Quattrocento Sans"/>
                <a:ea typeface="Quattrocento Sans"/>
                <a:cs typeface="Quattrocento Sans"/>
                <a:sym typeface="Quattrocento Sans"/>
              </a:rPr>
              <a:t>Пример правила: Если Возраст &gt; 35 и Доход &gt; 50, то выдать кредит.</a:t>
            </a:r>
            <a:endParaRPr/>
          </a:p>
          <a:p>
            <a:pPr indent="-334962" lvl="0" marL="334962" rtl="0" algn="l">
              <a:lnSpc>
                <a:spcPct val="85000"/>
              </a:lnSpc>
              <a:spcBef>
                <a:spcPts val="550"/>
              </a:spcBef>
              <a:spcAft>
                <a:spcPts val="0"/>
              </a:spcAft>
              <a:buSzPts val="1760"/>
              <a:buChar char="•"/>
            </a:pPr>
            <a:r>
              <a:rPr b="0" i="0" lang="en-US" sz="2200" u="none">
                <a:solidFill>
                  <a:schemeClr val="lt1"/>
                </a:solidFill>
                <a:latin typeface="Quattrocento Sans"/>
                <a:ea typeface="Quattrocento Sans"/>
                <a:cs typeface="Quattrocento Sans"/>
                <a:sym typeface="Quattrocento Sans"/>
              </a:rPr>
              <a:t>Позволяют создавать классификационные модели в тех областях, где аналитику достаточно сложно формализовать знания.</a:t>
            </a:r>
            <a:endParaRPr/>
          </a:p>
          <a:p>
            <a:pPr indent="-334962" lvl="0" marL="334962" rtl="0" algn="l">
              <a:lnSpc>
                <a:spcPct val="85000"/>
              </a:lnSpc>
              <a:spcBef>
                <a:spcPts val="550"/>
              </a:spcBef>
              <a:spcAft>
                <a:spcPts val="0"/>
              </a:spcAft>
              <a:buSzPts val="1760"/>
              <a:buChar char="•"/>
            </a:pPr>
            <a:r>
              <a:rPr b="0" i="1" lang="en-US" sz="2200" u="none">
                <a:solidFill>
                  <a:schemeClr val="lt1"/>
                </a:solidFill>
                <a:latin typeface="Quattrocento Sans"/>
                <a:ea typeface="Quattrocento Sans"/>
                <a:cs typeface="Quattrocento Sans"/>
                <a:sym typeface="Quattrocento Sans"/>
              </a:rPr>
              <a:t>Точность </a:t>
            </a:r>
            <a:r>
              <a:rPr b="0" i="0" lang="en-US" sz="2200" u="none">
                <a:solidFill>
                  <a:schemeClr val="lt1"/>
                </a:solidFill>
                <a:latin typeface="Quattrocento Sans"/>
                <a:ea typeface="Quattrocento Sans"/>
                <a:cs typeface="Quattrocento Sans"/>
                <a:sym typeface="Quattrocento Sans"/>
              </a:rPr>
              <a:t>моделей, созданных при помощи деревьев решений, сопоставима с другими методами построения классификационных моделей (статистические методы, нейронные сети).</a:t>
            </a:r>
            <a:endParaRPr/>
          </a:p>
          <a:p>
            <a:pPr indent="-334962" lvl="0" marL="334962" rtl="0" algn="l">
              <a:lnSpc>
                <a:spcPct val="85000"/>
              </a:lnSpc>
              <a:spcBef>
                <a:spcPts val="550"/>
              </a:spcBef>
              <a:spcAft>
                <a:spcPts val="0"/>
              </a:spcAft>
              <a:buSzPts val="1760"/>
              <a:buChar char="•"/>
            </a:pPr>
            <a:r>
              <a:rPr b="0" i="0" lang="en-US" sz="2200" u="none">
                <a:solidFill>
                  <a:schemeClr val="lt1"/>
                </a:solidFill>
                <a:latin typeface="Quattrocento Sans"/>
                <a:ea typeface="Quattrocento Sans"/>
                <a:cs typeface="Quattrocento Sans"/>
                <a:sym typeface="Quattrocento Sans"/>
              </a:rPr>
              <a:t>Разработан ряд </a:t>
            </a:r>
            <a:r>
              <a:rPr b="1" i="1" lang="en-US" sz="2200" u="none">
                <a:solidFill>
                  <a:schemeClr val="lt1"/>
                </a:solidFill>
                <a:latin typeface="Quattrocento Sans"/>
                <a:ea typeface="Quattrocento Sans"/>
                <a:cs typeface="Quattrocento Sans"/>
                <a:sym typeface="Quattrocento Sans"/>
              </a:rPr>
              <a:t>масштабируемых алгоритмов</a:t>
            </a:r>
            <a:r>
              <a:rPr b="0" i="0" lang="en-US" sz="2200" u="none">
                <a:solidFill>
                  <a:schemeClr val="lt1"/>
                </a:solidFill>
                <a:latin typeface="Quattrocento Sans"/>
                <a:ea typeface="Quattrocento Sans"/>
                <a:cs typeface="Quattrocento Sans"/>
                <a:sym typeface="Quattrocento Sans"/>
              </a:rPr>
              <a:t>, которые могут быть использованы для построения деревьев решения на сверхбольших базах данных; </a:t>
            </a:r>
            <a:endParaRPr/>
          </a:p>
          <a:p>
            <a:pPr indent="-282575" lvl="1" marL="619125" rtl="0" algn="l">
              <a:lnSpc>
                <a:spcPct val="85000"/>
              </a:lnSpc>
              <a:spcBef>
                <a:spcPts val="450"/>
              </a:spcBef>
              <a:spcAft>
                <a:spcPts val="0"/>
              </a:spcAft>
              <a:buSzPts val="1350"/>
              <a:buChar char="•"/>
            </a:pPr>
            <a:r>
              <a:rPr b="0" i="0" lang="en-US" sz="1800" u="none">
                <a:solidFill>
                  <a:schemeClr val="lt1"/>
                </a:solidFill>
                <a:latin typeface="Quattrocento Sans"/>
                <a:ea typeface="Quattrocento Sans"/>
                <a:cs typeface="Quattrocento Sans"/>
                <a:sym typeface="Quattrocento Sans"/>
              </a:rPr>
              <a:t>масштабируемость здесь означает, что с ростом числа примеров или записей базы данных время, затрачиваемое на обучение, т.е. построение деревьев решений, растет линейно. Примеры таких алгоритмов: </a:t>
            </a:r>
            <a:r>
              <a:rPr b="1" i="0" lang="en-US" sz="1800" u="none">
                <a:solidFill>
                  <a:schemeClr val="lt1"/>
                </a:solidFill>
                <a:latin typeface="Quattrocento Sans"/>
                <a:ea typeface="Quattrocento Sans"/>
                <a:cs typeface="Quattrocento Sans"/>
                <a:sym typeface="Quattrocento Sans"/>
              </a:rPr>
              <a:t>SLIQ, SPRINT</a:t>
            </a:r>
            <a:r>
              <a:rPr b="0" i="0" lang="en-US" sz="1800" u="none">
                <a:solidFill>
                  <a:schemeClr val="lt1"/>
                </a:solidFill>
                <a:latin typeface="Quattrocento Sans"/>
                <a:ea typeface="Quattrocento Sans"/>
                <a:cs typeface="Quattrocento Sans"/>
                <a:sym typeface="Quattrocento Sans"/>
              </a:rPr>
              <a:t>.</a:t>
            </a:r>
            <a:endParaRPr/>
          </a:p>
          <a:p>
            <a:pPr indent="-243523" lvl="0" marL="334963" rtl="0" algn="l">
              <a:lnSpc>
                <a:spcPct val="85000"/>
              </a:lnSpc>
              <a:spcBef>
                <a:spcPts val="450"/>
              </a:spcBef>
              <a:spcAft>
                <a:spcPts val="0"/>
              </a:spcAft>
              <a:buSzPts val="1440"/>
              <a:buNone/>
            </a:pPr>
            <a:r>
              <a:t/>
            </a:r>
            <a:endParaRPr b="0" i="0" sz="1800" u="none">
              <a:solidFill>
                <a:schemeClr val="lt1"/>
              </a:solidFill>
              <a:latin typeface="Quattrocento Sans"/>
              <a:ea typeface="Quattrocento Sans"/>
              <a:cs typeface="Quattrocento Sans"/>
              <a:sym typeface="Quattrocento Sans"/>
            </a:endParaRPr>
          </a:p>
        </p:txBody>
      </p:sp>
    </p:spTree>
  </p:cSld>
  <p:clrMapOvr>
    <a:masterClrMapping/>
  </p:clrMapOvr>
  <p:transition spd="slow">
    <p:fade/>
  </p:transition>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54"/>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Деревья решений</a:t>
            </a:r>
            <a:endParaRPr/>
          </a:p>
        </p:txBody>
      </p:sp>
      <p:sp>
        <p:nvSpPr>
          <p:cNvPr id="611" name="Google Shape;611;p54"/>
          <p:cNvSpPr txBox="1"/>
          <p:nvPr>
            <p:ph idx="1" type="body"/>
          </p:nvPr>
        </p:nvSpPr>
        <p:spPr>
          <a:xfrm>
            <a:off x="390525" y="1265237"/>
            <a:ext cx="8356600" cy="4497387"/>
          </a:xfrm>
          <a:prstGeom prst="rect">
            <a:avLst/>
          </a:prstGeom>
          <a:noFill/>
          <a:ln>
            <a:noFill/>
          </a:ln>
        </p:spPr>
        <p:txBody>
          <a:bodyPr anchorCtr="0" anchor="t" bIns="45700" lIns="91425" spcFirstLastPara="1" rIns="91425" wrap="square" tIns="45700">
            <a:spAutoFit/>
          </a:bodyPr>
          <a:lstStyle/>
          <a:p>
            <a:pPr indent="-334962" lvl="0" marL="334962" rtl="0" algn="l">
              <a:lnSpc>
                <a:spcPct val="85000"/>
              </a:lnSpc>
              <a:spcBef>
                <a:spcPts val="0"/>
              </a:spcBef>
              <a:spcAft>
                <a:spcPts val="0"/>
              </a:spcAft>
              <a:buSzPts val="1920"/>
              <a:buChar char="•"/>
            </a:pPr>
            <a:r>
              <a:rPr b="1" i="0" lang="en-US" sz="2400" u="none">
                <a:solidFill>
                  <a:schemeClr val="lt1"/>
                </a:solidFill>
                <a:latin typeface="Quattrocento Sans"/>
                <a:ea typeface="Quattrocento Sans"/>
                <a:cs typeface="Quattrocento Sans"/>
                <a:sym typeface="Quattrocento Sans"/>
              </a:rPr>
              <a:t>Быстрый процесс обучения</a:t>
            </a:r>
            <a:r>
              <a:rPr b="0" i="0" lang="en-US" sz="2400" u="none">
                <a:solidFill>
                  <a:schemeClr val="lt1"/>
                </a:solidFill>
                <a:latin typeface="Quattrocento Sans"/>
                <a:ea typeface="Quattrocento Sans"/>
                <a:cs typeface="Quattrocento Sans"/>
                <a:sym typeface="Quattrocento Sans"/>
              </a:rPr>
              <a:t>. На построение классификационных моделей при помощи алгоритмов конструирования деревьев решений требуется значительно меньше времени, чем, например, на обучение нейронных сетей.</a:t>
            </a:r>
            <a:endParaRPr/>
          </a:p>
          <a:p>
            <a:pPr indent="-334962" lvl="0" marL="334962" rtl="0" algn="l">
              <a:lnSpc>
                <a:spcPct val="85000"/>
              </a:lnSpc>
              <a:spcBef>
                <a:spcPts val="600"/>
              </a:spcBef>
              <a:spcAft>
                <a:spcPts val="0"/>
              </a:spcAft>
              <a:buSzPts val="1920"/>
              <a:buChar char="•"/>
            </a:pPr>
            <a:r>
              <a:rPr b="0" i="0" lang="en-US" sz="2400" u="none">
                <a:solidFill>
                  <a:schemeClr val="lt1"/>
                </a:solidFill>
                <a:latin typeface="Quattrocento Sans"/>
                <a:ea typeface="Quattrocento Sans"/>
                <a:cs typeface="Quattrocento Sans"/>
                <a:sym typeface="Quattrocento Sans"/>
              </a:rPr>
              <a:t>Большинство алгоритмов конструирования деревьев решений имеют возможность специальной обработки </a:t>
            </a:r>
            <a:r>
              <a:rPr b="1" i="0" lang="en-US" sz="2400" u="none">
                <a:solidFill>
                  <a:schemeClr val="lt1"/>
                </a:solidFill>
                <a:latin typeface="Quattrocento Sans"/>
                <a:ea typeface="Quattrocento Sans"/>
                <a:cs typeface="Quattrocento Sans"/>
                <a:sym typeface="Quattrocento Sans"/>
              </a:rPr>
              <a:t>пропущенных значений</a:t>
            </a:r>
            <a:r>
              <a:rPr b="0" i="0" lang="en-US" sz="2400" u="none">
                <a:solidFill>
                  <a:schemeClr val="lt1"/>
                </a:solidFill>
                <a:latin typeface="Quattrocento Sans"/>
                <a:ea typeface="Quattrocento Sans"/>
                <a:cs typeface="Quattrocento Sans"/>
                <a:sym typeface="Quattrocento Sans"/>
              </a:rPr>
              <a:t>.</a:t>
            </a:r>
            <a:endParaRPr/>
          </a:p>
          <a:p>
            <a:pPr indent="-334962" lvl="0" marL="334962" rtl="0" algn="l">
              <a:lnSpc>
                <a:spcPct val="85000"/>
              </a:lnSpc>
              <a:spcBef>
                <a:spcPts val="600"/>
              </a:spcBef>
              <a:spcAft>
                <a:spcPts val="0"/>
              </a:spcAft>
              <a:buSzPts val="1920"/>
              <a:buChar char="•"/>
            </a:pPr>
            <a:r>
              <a:rPr b="0" i="0" lang="en-US" sz="2400" u="none">
                <a:solidFill>
                  <a:schemeClr val="lt1"/>
                </a:solidFill>
                <a:latin typeface="Quattrocento Sans"/>
                <a:ea typeface="Quattrocento Sans"/>
                <a:cs typeface="Quattrocento Sans"/>
                <a:sym typeface="Quattrocento Sans"/>
              </a:rPr>
              <a:t>Многие классические статистические методы, при помощи которых решаются задачи классификации, могут работать только с числовыми данными, в то время как деревья решений работают и с числовыми, и с </a:t>
            </a:r>
            <a:r>
              <a:rPr b="1" i="0" lang="en-US" sz="2400" u="none">
                <a:solidFill>
                  <a:schemeClr val="lt1"/>
                </a:solidFill>
                <a:latin typeface="Quattrocento Sans"/>
                <a:ea typeface="Quattrocento Sans"/>
                <a:cs typeface="Quattrocento Sans"/>
                <a:sym typeface="Quattrocento Sans"/>
              </a:rPr>
              <a:t>категориальными</a:t>
            </a:r>
            <a:r>
              <a:rPr b="0" i="0" lang="en-US" sz="2400" u="none">
                <a:solidFill>
                  <a:schemeClr val="lt1"/>
                </a:solidFill>
                <a:latin typeface="Quattrocento Sans"/>
                <a:ea typeface="Quattrocento Sans"/>
                <a:cs typeface="Quattrocento Sans"/>
                <a:sym typeface="Quattrocento Sans"/>
              </a:rPr>
              <a:t> типами данных.</a:t>
            </a:r>
            <a:endParaRPr/>
          </a:p>
          <a:p>
            <a:pPr indent="-213043" lvl="0" marL="334963" rtl="0" algn="l">
              <a:lnSpc>
                <a:spcPct val="85000"/>
              </a:lnSpc>
              <a:spcBef>
                <a:spcPts val="600"/>
              </a:spcBef>
              <a:spcAft>
                <a:spcPts val="0"/>
              </a:spcAft>
              <a:buSzPts val="1920"/>
              <a:buNone/>
            </a:pPr>
            <a:r>
              <a:t/>
            </a:r>
            <a:endParaRPr b="0" i="0" sz="2400" u="none">
              <a:solidFill>
                <a:schemeClr val="lt1"/>
              </a:solidFill>
              <a:latin typeface="Quattrocento Sans"/>
              <a:ea typeface="Quattrocento Sans"/>
              <a:cs typeface="Quattrocento Sans"/>
              <a:sym typeface="Quattrocento Sans"/>
            </a:endParaRPr>
          </a:p>
        </p:txBody>
      </p:sp>
      <p:sp>
        <p:nvSpPr>
          <p:cNvPr id="612" name="Google Shape;612;p54"/>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55"/>
          <p:cNvSpPr txBox="1"/>
          <p:nvPr>
            <p:ph type="title"/>
          </p:nvPr>
        </p:nvSpPr>
        <p:spPr>
          <a:xfrm>
            <a:off x="390525" y="228600"/>
            <a:ext cx="8372475"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Деревья решений</a:t>
            </a:r>
            <a:endParaRPr/>
          </a:p>
        </p:txBody>
      </p:sp>
      <p:sp>
        <p:nvSpPr>
          <p:cNvPr id="618" name="Google Shape;618;p55"/>
          <p:cNvSpPr txBox="1"/>
          <p:nvPr>
            <p:ph idx="1" type="body"/>
          </p:nvPr>
        </p:nvSpPr>
        <p:spPr>
          <a:xfrm>
            <a:off x="406400" y="1519237"/>
            <a:ext cx="8356600" cy="4010025"/>
          </a:xfrm>
          <a:prstGeom prst="rect">
            <a:avLst/>
          </a:prstGeom>
          <a:noFill/>
          <a:ln>
            <a:noFill/>
          </a:ln>
        </p:spPr>
        <p:txBody>
          <a:bodyPr anchorCtr="0" anchor="t" bIns="45700" lIns="91425" spcFirstLastPara="1" rIns="91425" wrap="square" tIns="45700">
            <a:spAutoFit/>
          </a:bodyPr>
          <a:lstStyle/>
          <a:p>
            <a:pPr indent="-334962" lvl="0" marL="334962" rtl="0" algn="l">
              <a:lnSpc>
                <a:spcPct val="85000"/>
              </a:lnSpc>
              <a:spcBef>
                <a:spcPts val="0"/>
              </a:spcBef>
              <a:spcAft>
                <a:spcPts val="0"/>
              </a:spcAft>
              <a:buSzPts val="1920"/>
              <a:buChar char="•"/>
            </a:pPr>
            <a:r>
              <a:rPr b="0" i="0" lang="en-US" sz="2400" u="none">
                <a:solidFill>
                  <a:schemeClr val="lt1"/>
                </a:solidFill>
                <a:latin typeface="Quattrocento Sans"/>
                <a:ea typeface="Quattrocento Sans"/>
                <a:cs typeface="Quattrocento Sans"/>
                <a:sym typeface="Quattrocento Sans"/>
              </a:rPr>
              <a:t>Многие статистические методы являются параметрическими, и пользователь должен заранее владеть определенной информацией, например, знать вид модели, иметь гипотезу о виде зависимости между переменными, предполагать, какой вид распределения имеют данные. </a:t>
            </a:r>
            <a:endParaRPr/>
          </a:p>
          <a:p>
            <a:pPr indent="-334962" lvl="0" marL="334962" rtl="0" algn="l">
              <a:lnSpc>
                <a:spcPct val="85000"/>
              </a:lnSpc>
              <a:spcBef>
                <a:spcPts val="600"/>
              </a:spcBef>
              <a:spcAft>
                <a:spcPts val="0"/>
              </a:spcAft>
              <a:buSzPts val="1920"/>
              <a:buChar char="•"/>
            </a:pPr>
            <a:r>
              <a:rPr b="0" i="0" lang="en-US" sz="2400" u="none">
                <a:solidFill>
                  <a:schemeClr val="lt1"/>
                </a:solidFill>
                <a:latin typeface="Quattrocento Sans"/>
                <a:ea typeface="Quattrocento Sans"/>
                <a:cs typeface="Quattrocento Sans"/>
                <a:sym typeface="Quattrocento Sans"/>
              </a:rPr>
              <a:t>Деревья решений, в отличие от таких методов, строят непараметрические модели. Таким образом, </a:t>
            </a:r>
            <a:r>
              <a:rPr b="0" i="0" lang="en-US" sz="2400" u="none">
                <a:solidFill>
                  <a:srgbClr val="F97715"/>
                </a:solidFill>
                <a:latin typeface="Quattrocento Sans"/>
                <a:ea typeface="Quattrocento Sans"/>
                <a:cs typeface="Quattrocento Sans"/>
                <a:sym typeface="Quattrocento Sans"/>
              </a:rPr>
              <a:t>деревья решений способны решать такие задачи Data Mining, в которых отсутствует априорная информация о виде зависимости между исследуемыми данными.</a:t>
            </a:r>
            <a:endParaRPr/>
          </a:p>
          <a:p>
            <a:pPr indent="-213043" lvl="0" marL="334963" rtl="0" algn="l">
              <a:lnSpc>
                <a:spcPct val="85000"/>
              </a:lnSpc>
              <a:spcBef>
                <a:spcPts val="600"/>
              </a:spcBef>
              <a:spcAft>
                <a:spcPts val="0"/>
              </a:spcAft>
              <a:buSzPts val="1920"/>
              <a:buNone/>
            </a:pPr>
            <a:r>
              <a:t/>
            </a:r>
            <a:endParaRPr b="0" i="0" sz="2400" u="none">
              <a:solidFill>
                <a:srgbClr val="F97715"/>
              </a:solidFill>
              <a:latin typeface="Quattrocento Sans"/>
              <a:ea typeface="Quattrocento Sans"/>
              <a:cs typeface="Quattrocento Sans"/>
              <a:sym typeface="Quattrocento Sans"/>
            </a:endParaRPr>
          </a:p>
        </p:txBody>
      </p:sp>
      <p:sp>
        <p:nvSpPr>
          <p:cNvPr id="619" name="Google Shape;619;p55"/>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56"/>
          <p:cNvSpPr txBox="1"/>
          <p:nvPr>
            <p:ph type="title"/>
          </p:nvPr>
        </p:nvSpPr>
        <p:spPr>
          <a:xfrm>
            <a:off x="390525" y="228600"/>
            <a:ext cx="8372475" cy="1138237"/>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1" i="0" lang="en-US" sz="4000" u="none">
                <a:solidFill>
                  <a:schemeClr val="lt2"/>
                </a:solidFill>
                <a:latin typeface="Quattrocento Sans"/>
                <a:ea typeface="Quattrocento Sans"/>
                <a:cs typeface="Quattrocento Sans"/>
                <a:sym typeface="Quattrocento Sans"/>
              </a:rPr>
              <a:t>Процесс конструирования дерева решений</a:t>
            </a:r>
            <a:endParaRPr/>
          </a:p>
        </p:txBody>
      </p:sp>
      <p:sp>
        <p:nvSpPr>
          <p:cNvPr id="625" name="Google Shape;625;p56"/>
          <p:cNvSpPr txBox="1"/>
          <p:nvPr>
            <p:ph idx="1" type="body"/>
          </p:nvPr>
        </p:nvSpPr>
        <p:spPr>
          <a:xfrm>
            <a:off x="406400" y="1519237"/>
            <a:ext cx="8356600" cy="2416175"/>
          </a:xfrm>
          <a:prstGeom prst="rect">
            <a:avLst/>
          </a:prstGeom>
          <a:noFill/>
          <a:ln>
            <a:noFill/>
          </a:ln>
        </p:spPr>
        <p:txBody>
          <a:bodyPr anchorCtr="0" anchor="t" bIns="45700" lIns="91425" spcFirstLastPara="1" rIns="91425" wrap="square" tIns="45700">
            <a:spAutoFit/>
          </a:bodyPr>
          <a:lstStyle/>
          <a:p>
            <a:pPr indent="-334962" lvl="0" marL="334962" rtl="0" algn="l">
              <a:lnSpc>
                <a:spcPct val="85000"/>
              </a:lnSpc>
              <a:spcBef>
                <a:spcPts val="0"/>
              </a:spcBef>
              <a:spcAft>
                <a:spcPts val="0"/>
              </a:spcAft>
              <a:buSzPts val="1600"/>
              <a:buChar char="•"/>
            </a:pPr>
            <a:r>
              <a:rPr b="0" i="0" lang="en-US" sz="2000" u="none">
                <a:solidFill>
                  <a:schemeClr val="lt1"/>
                </a:solidFill>
                <a:latin typeface="Quattrocento Sans"/>
                <a:ea typeface="Quattrocento Sans"/>
                <a:cs typeface="Quattrocento Sans"/>
                <a:sym typeface="Quattrocento Sans"/>
              </a:rPr>
              <a:t>Многие задачи классификации относится к стратегии </a:t>
            </a:r>
            <a:r>
              <a:rPr b="1" i="1" lang="en-US" sz="2000" u="none">
                <a:solidFill>
                  <a:schemeClr val="lt1"/>
                </a:solidFill>
                <a:latin typeface="Quattrocento Sans"/>
                <a:ea typeface="Quattrocento Sans"/>
                <a:cs typeface="Quattrocento Sans"/>
                <a:sym typeface="Quattrocento Sans"/>
              </a:rPr>
              <a:t>обучения с учителем</a:t>
            </a:r>
            <a:r>
              <a:rPr b="0" i="0" lang="en-US" sz="2000" u="none">
                <a:solidFill>
                  <a:schemeClr val="lt1"/>
                </a:solidFill>
                <a:latin typeface="Quattrocento Sans"/>
                <a:ea typeface="Quattrocento Sans"/>
                <a:cs typeface="Quattrocento Sans"/>
                <a:sym typeface="Quattrocento Sans"/>
              </a:rPr>
              <a:t>, иногда называемого </a:t>
            </a:r>
            <a:r>
              <a:rPr b="1" i="1" lang="en-US" sz="2000" u="none">
                <a:solidFill>
                  <a:schemeClr val="lt1"/>
                </a:solidFill>
                <a:latin typeface="Quattrocento Sans"/>
                <a:ea typeface="Quattrocento Sans"/>
                <a:cs typeface="Quattrocento Sans"/>
                <a:sym typeface="Quattrocento Sans"/>
              </a:rPr>
              <a:t>индуктивным обучением</a:t>
            </a:r>
            <a:r>
              <a:rPr b="0" i="0" lang="en-US" sz="2000" u="none">
                <a:solidFill>
                  <a:schemeClr val="lt1"/>
                </a:solidFill>
                <a:latin typeface="Quattrocento Sans"/>
                <a:ea typeface="Quattrocento Sans"/>
                <a:cs typeface="Quattrocento Sans"/>
                <a:sym typeface="Quattrocento Sans"/>
              </a:rPr>
              <a:t>. В этих случаях все объекты тренировочного набора данных заранее отнесены к одному из предопределенных классов.</a:t>
            </a:r>
            <a:endParaRPr/>
          </a:p>
          <a:p>
            <a:pPr indent="-334962" lvl="0" marL="334962" rtl="0" algn="l">
              <a:lnSpc>
                <a:spcPct val="85000"/>
              </a:lnSpc>
              <a:spcBef>
                <a:spcPts val="500"/>
              </a:spcBef>
              <a:spcAft>
                <a:spcPts val="0"/>
              </a:spcAft>
              <a:buSzPts val="1600"/>
              <a:buChar char="•"/>
            </a:pPr>
            <a:r>
              <a:rPr b="1" i="0" lang="en-US" sz="2000" u="none">
                <a:solidFill>
                  <a:schemeClr val="lt1"/>
                </a:solidFill>
                <a:latin typeface="Quattrocento Sans"/>
                <a:ea typeface="Quattrocento Sans"/>
                <a:cs typeface="Quattrocento Sans"/>
                <a:sym typeface="Quattrocento Sans"/>
              </a:rPr>
              <a:t>Алгоритмы конструирования</a:t>
            </a:r>
            <a:r>
              <a:rPr b="0" i="0" lang="en-US" sz="2000" u="none">
                <a:solidFill>
                  <a:schemeClr val="lt1"/>
                </a:solidFill>
                <a:latin typeface="Quattrocento Sans"/>
                <a:ea typeface="Quattrocento Sans"/>
                <a:cs typeface="Quattrocento Sans"/>
                <a:sym typeface="Quattrocento Sans"/>
              </a:rPr>
              <a:t> деревьев решений состоят из этапов </a:t>
            </a:r>
            <a:endParaRPr/>
          </a:p>
          <a:p>
            <a:pPr indent="-282575" lvl="1" marL="619125" rtl="0" algn="l">
              <a:lnSpc>
                <a:spcPct val="85000"/>
              </a:lnSpc>
              <a:spcBef>
                <a:spcPts val="450"/>
              </a:spcBef>
              <a:spcAft>
                <a:spcPts val="0"/>
              </a:spcAft>
              <a:buSzPts val="1350"/>
              <a:buChar char="•"/>
            </a:pPr>
            <a:r>
              <a:rPr b="1" i="1" lang="en-US" sz="1800" u="none">
                <a:solidFill>
                  <a:schemeClr val="lt1"/>
                </a:solidFill>
                <a:latin typeface="Quattrocento Sans"/>
                <a:ea typeface="Quattrocento Sans"/>
                <a:cs typeface="Quattrocento Sans"/>
                <a:sym typeface="Quattrocento Sans"/>
              </a:rPr>
              <a:t>"построение" или " создание " дерева (tree building) </a:t>
            </a:r>
            <a:r>
              <a:rPr b="0" i="0" lang="en-US" sz="1800" u="none">
                <a:solidFill>
                  <a:schemeClr val="lt1"/>
                </a:solidFill>
                <a:latin typeface="Quattrocento Sans"/>
                <a:ea typeface="Quattrocento Sans"/>
                <a:cs typeface="Quattrocento Sans"/>
                <a:sym typeface="Quattrocento Sans"/>
              </a:rPr>
              <a:t>и </a:t>
            </a:r>
            <a:endParaRPr/>
          </a:p>
          <a:p>
            <a:pPr indent="-282575" lvl="1" marL="619125" rtl="0" algn="l">
              <a:lnSpc>
                <a:spcPct val="85000"/>
              </a:lnSpc>
              <a:spcBef>
                <a:spcPts val="450"/>
              </a:spcBef>
              <a:spcAft>
                <a:spcPts val="0"/>
              </a:spcAft>
              <a:buSzPts val="1350"/>
              <a:buChar char="•"/>
            </a:pPr>
            <a:r>
              <a:rPr b="1" i="1" lang="en-US" sz="1800" u="none">
                <a:solidFill>
                  <a:schemeClr val="lt1"/>
                </a:solidFill>
                <a:latin typeface="Quattrocento Sans"/>
                <a:ea typeface="Quattrocento Sans"/>
                <a:cs typeface="Quattrocento Sans"/>
                <a:sym typeface="Quattrocento Sans"/>
              </a:rPr>
              <a:t>"сокращение" дерева (tree pruning). </a:t>
            </a:r>
            <a:endParaRPr/>
          </a:p>
        </p:txBody>
      </p:sp>
      <p:grpSp>
        <p:nvGrpSpPr>
          <p:cNvPr id="626" name="Google Shape;626;p56"/>
          <p:cNvGrpSpPr/>
          <p:nvPr/>
        </p:nvGrpSpPr>
        <p:grpSpPr>
          <a:xfrm>
            <a:off x="297416" y="3396702"/>
            <a:ext cx="4579384" cy="2438948"/>
            <a:chOff x="281526" y="3931053"/>
            <a:chExt cx="4580034" cy="2439874"/>
          </a:xfrm>
        </p:grpSpPr>
        <p:sp>
          <p:nvSpPr>
            <p:cNvPr id="627" name="Google Shape;627;p56"/>
            <p:cNvSpPr/>
            <p:nvPr/>
          </p:nvSpPr>
          <p:spPr>
            <a:xfrm>
              <a:off x="390525" y="4731036"/>
              <a:ext cx="4471035" cy="1639891"/>
            </a:xfrm>
            <a:prstGeom prst="roundRect">
              <a:avLst>
                <a:gd fmla="val 16667"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628" name="Google Shape;628;p56"/>
            <p:cNvSpPr txBox="1"/>
            <p:nvPr/>
          </p:nvSpPr>
          <p:spPr>
            <a:xfrm>
              <a:off x="487362" y="4832044"/>
              <a:ext cx="4374198" cy="15388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000"/>
                <a:buFont typeface="Quattrocento Sans"/>
                <a:buNone/>
              </a:pPr>
              <a:r>
                <a:rPr b="1" i="0" lang="en-US" sz="2000" u="none">
                  <a:solidFill>
                    <a:srgbClr val="0070C0"/>
                  </a:solidFill>
                  <a:latin typeface="Quattrocento Sans"/>
                  <a:ea typeface="Quattrocento Sans"/>
                  <a:cs typeface="Quattrocento Sans"/>
                  <a:sym typeface="Quattrocento Sans"/>
                </a:rPr>
                <a:t>В ходе создания дерева решаются вопросы: </a:t>
              </a:r>
              <a:endParaRPr/>
            </a:p>
            <a:p>
              <a:pPr indent="-274637" lvl="1" marL="274637" marR="0" rtl="0" algn="l">
                <a:lnSpc>
                  <a:spcPct val="100000"/>
                </a:lnSpc>
                <a:spcBef>
                  <a:spcPts val="0"/>
                </a:spcBef>
                <a:spcAft>
                  <a:spcPts val="0"/>
                </a:spcAft>
                <a:buClr>
                  <a:srgbClr val="0070C0"/>
                </a:buClr>
                <a:buSzPts val="1800"/>
                <a:buFont typeface="Arial"/>
                <a:buChar char="•"/>
              </a:pPr>
              <a:r>
                <a:rPr b="1" i="1" lang="en-US" sz="1800" u="none" cap="none" strike="noStrike">
                  <a:solidFill>
                    <a:srgbClr val="0070C0"/>
                  </a:solidFill>
                  <a:latin typeface="Quattrocento Sans"/>
                  <a:ea typeface="Quattrocento Sans"/>
                  <a:cs typeface="Quattrocento Sans"/>
                  <a:sym typeface="Quattrocento Sans"/>
                </a:rPr>
                <a:t>выбора критерия расщепления </a:t>
              </a:r>
              <a:r>
                <a:rPr b="1" i="0" lang="en-US" sz="1800" u="none" cap="none" strike="noStrike">
                  <a:solidFill>
                    <a:srgbClr val="0070C0"/>
                  </a:solidFill>
                  <a:latin typeface="Quattrocento Sans"/>
                  <a:ea typeface="Quattrocento Sans"/>
                  <a:cs typeface="Quattrocento Sans"/>
                  <a:sym typeface="Quattrocento Sans"/>
                </a:rPr>
                <a:t>и </a:t>
              </a:r>
              <a:endParaRPr/>
            </a:p>
            <a:p>
              <a:pPr indent="-274637" lvl="1" marL="274637" marR="0" rtl="0" algn="l">
                <a:lnSpc>
                  <a:spcPct val="100000"/>
                </a:lnSpc>
                <a:spcBef>
                  <a:spcPts val="0"/>
                </a:spcBef>
                <a:spcAft>
                  <a:spcPts val="0"/>
                </a:spcAft>
                <a:buClr>
                  <a:srgbClr val="0070C0"/>
                </a:buClr>
                <a:buSzPts val="1800"/>
                <a:buFont typeface="Arial"/>
                <a:buChar char="•"/>
              </a:pPr>
              <a:r>
                <a:rPr b="1" i="1" lang="en-US" sz="1800" u="none" cap="none" strike="noStrike">
                  <a:solidFill>
                    <a:srgbClr val="0070C0"/>
                  </a:solidFill>
                  <a:latin typeface="Quattrocento Sans"/>
                  <a:ea typeface="Quattrocento Sans"/>
                  <a:cs typeface="Quattrocento Sans"/>
                  <a:sym typeface="Quattrocento Sans"/>
                </a:rPr>
                <a:t>остановки обучения </a:t>
              </a:r>
              <a:r>
                <a:rPr b="1" i="0" lang="en-US" sz="1800" u="none" cap="none" strike="noStrike">
                  <a:solidFill>
                    <a:srgbClr val="0070C0"/>
                  </a:solidFill>
                  <a:latin typeface="Quattrocento Sans"/>
                  <a:ea typeface="Quattrocento Sans"/>
                  <a:cs typeface="Quattrocento Sans"/>
                  <a:sym typeface="Quattrocento Sans"/>
                </a:rPr>
                <a:t>(если это предусмотрено алгоритмом). </a:t>
              </a:r>
              <a:endParaRPr/>
            </a:p>
          </p:txBody>
        </p:sp>
        <p:sp>
          <p:nvSpPr>
            <p:cNvPr id="629" name="Google Shape;629;p56"/>
            <p:cNvSpPr/>
            <p:nvPr/>
          </p:nvSpPr>
          <p:spPr>
            <a:xfrm rot="1320000">
              <a:off x="431806" y="3963364"/>
              <a:ext cx="341361" cy="868691"/>
            </a:xfrm>
            <a:custGeom>
              <a:rect b="b" l="l" r="r" t="t"/>
              <a:pathLst>
                <a:path extrusionOk="0" h="868680" w="656328">
                  <a:moveTo>
                    <a:pt x="305808" y="0"/>
                  </a:moveTo>
                  <a:cubicBezTo>
                    <a:pt x="145788" y="154940"/>
                    <a:pt x="-14232" y="309880"/>
                    <a:pt x="1008" y="441960"/>
                  </a:cubicBezTo>
                  <a:cubicBezTo>
                    <a:pt x="16248" y="574040"/>
                    <a:pt x="288028" y="721360"/>
                    <a:pt x="397248" y="792480"/>
                  </a:cubicBezTo>
                  <a:cubicBezTo>
                    <a:pt x="506468" y="863600"/>
                    <a:pt x="581398" y="866140"/>
                    <a:pt x="656328" y="868680"/>
                  </a:cubicBezTo>
                </a:path>
              </a:pathLst>
            </a:custGeom>
            <a:noFill/>
            <a:ln cap="flat" cmpd="sng" w="28575">
              <a:solidFill>
                <a:srgbClr val="F9771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grpSp>
      <p:grpSp>
        <p:nvGrpSpPr>
          <p:cNvPr id="630" name="Google Shape;630;p56"/>
          <p:cNvGrpSpPr/>
          <p:nvPr/>
        </p:nvGrpSpPr>
        <p:grpSpPr>
          <a:xfrm>
            <a:off x="4973637" y="3779837"/>
            <a:ext cx="3987800" cy="2055812"/>
            <a:chOff x="4958397" y="4314825"/>
            <a:chExt cx="3987483" cy="2056102"/>
          </a:xfrm>
        </p:grpSpPr>
        <p:sp>
          <p:nvSpPr>
            <p:cNvPr id="631" name="Google Shape;631;p56"/>
            <p:cNvSpPr/>
            <p:nvPr/>
          </p:nvSpPr>
          <p:spPr>
            <a:xfrm>
              <a:off x="4958397" y="4731036"/>
              <a:ext cx="3987483" cy="1639891"/>
            </a:xfrm>
            <a:prstGeom prst="roundRect">
              <a:avLst>
                <a:gd fmla="val 16667"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632" name="Google Shape;632;p56"/>
            <p:cNvSpPr txBox="1"/>
            <p:nvPr/>
          </p:nvSpPr>
          <p:spPr>
            <a:xfrm>
              <a:off x="5105400" y="4886325"/>
              <a:ext cx="3657600"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000"/>
                <a:buFont typeface="Quattrocento Sans"/>
                <a:buNone/>
              </a:pPr>
              <a:r>
                <a:rPr b="1" i="0" lang="en-US" sz="2000" u="none">
                  <a:solidFill>
                    <a:srgbClr val="0070C0"/>
                  </a:solidFill>
                  <a:latin typeface="Quattrocento Sans"/>
                  <a:ea typeface="Quattrocento Sans"/>
                  <a:cs typeface="Quattrocento Sans"/>
                  <a:sym typeface="Quattrocento Sans"/>
                </a:rPr>
                <a:t>В ходе этапа сокращения дерева решается вопрос </a:t>
              </a:r>
              <a:endParaRPr/>
            </a:p>
            <a:p>
              <a:pPr indent="-365125" lvl="1" marL="365125" marR="0" rtl="0" algn="l">
                <a:lnSpc>
                  <a:spcPct val="100000"/>
                </a:lnSpc>
                <a:spcBef>
                  <a:spcPts val="0"/>
                </a:spcBef>
                <a:spcAft>
                  <a:spcPts val="0"/>
                </a:spcAft>
                <a:buClr>
                  <a:srgbClr val="0070C0"/>
                </a:buClr>
                <a:buSzPts val="1800"/>
                <a:buFont typeface="Arial"/>
                <a:buChar char="•"/>
              </a:pPr>
              <a:r>
                <a:rPr b="1" i="1" lang="en-US" sz="1800" u="none" cap="none" strike="noStrike">
                  <a:solidFill>
                    <a:srgbClr val="0070C0"/>
                  </a:solidFill>
                  <a:latin typeface="Quattrocento Sans"/>
                  <a:ea typeface="Quattrocento Sans"/>
                  <a:cs typeface="Quattrocento Sans"/>
                  <a:sym typeface="Quattrocento Sans"/>
                </a:rPr>
                <a:t>отсечения некоторых его ветвей</a:t>
              </a:r>
              <a:r>
                <a:rPr b="1" i="0" lang="en-US" sz="1800" u="none" cap="none" strike="noStrike">
                  <a:solidFill>
                    <a:srgbClr val="0070C0"/>
                  </a:solidFill>
                  <a:latin typeface="Quattrocento Sans"/>
                  <a:ea typeface="Quattrocento Sans"/>
                  <a:cs typeface="Quattrocento Sans"/>
                  <a:sym typeface="Quattrocento Sans"/>
                </a:rPr>
                <a:t>.</a:t>
              </a:r>
              <a:endParaRPr/>
            </a:p>
          </p:txBody>
        </p:sp>
        <p:sp>
          <p:nvSpPr>
            <p:cNvPr id="633" name="Google Shape;633;p56"/>
            <p:cNvSpPr/>
            <p:nvPr/>
          </p:nvSpPr>
          <p:spPr>
            <a:xfrm>
              <a:off x="5782244" y="4314825"/>
              <a:ext cx="350810" cy="571580"/>
            </a:xfrm>
            <a:custGeom>
              <a:rect b="b" l="l" r="r" t="t"/>
              <a:pathLst>
                <a:path extrusionOk="0" h="571500" w="351007">
                  <a:moveTo>
                    <a:pt x="0" y="0"/>
                  </a:moveTo>
                  <a:cubicBezTo>
                    <a:pt x="153987" y="61912"/>
                    <a:pt x="307975" y="123825"/>
                    <a:pt x="342900" y="219075"/>
                  </a:cubicBezTo>
                  <a:cubicBezTo>
                    <a:pt x="377825" y="314325"/>
                    <a:pt x="293687" y="442912"/>
                    <a:pt x="209550" y="571500"/>
                  </a:cubicBezTo>
                </a:path>
              </a:pathLst>
            </a:custGeom>
            <a:noFill/>
            <a:ln cap="flat" cmpd="sng" w="28575">
              <a:solidFill>
                <a:srgbClr val="F9771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grpSp>
      <p:sp>
        <p:nvSpPr>
          <p:cNvPr id="634" name="Google Shape;634;p56"/>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57"/>
          <p:cNvSpPr txBox="1"/>
          <p:nvPr>
            <p:ph type="title"/>
          </p:nvPr>
        </p:nvSpPr>
        <p:spPr>
          <a:xfrm>
            <a:off x="390525" y="228600"/>
            <a:ext cx="8372475" cy="61595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1" i="0" lang="en-US" sz="4000" u="none">
                <a:solidFill>
                  <a:schemeClr val="lt2"/>
                </a:solidFill>
                <a:latin typeface="Quattrocento Sans"/>
                <a:ea typeface="Quattrocento Sans"/>
                <a:cs typeface="Quattrocento Sans"/>
                <a:sym typeface="Quattrocento Sans"/>
              </a:rPr>
              <a:t>Критерий расщепления</a:t>
            </a:r>
            <a:endParaRPr/>
          </a:p>
        </p:txBody>
      </p:sp>
      <p:sp>
        <p:nvSpPr>
          <p:cNvPr id="640" name="Google Shape;640;p57"/>
          <p:cNvSpPr txBox="1"/>
          <p:nvPr>
            <p:ph idx="1" type="body"/>
          </p:nvPr>
        </p:nvSpPr>
        <p:spPr>
          <a:xfrm>
            <a:off x="261937" y="1266825"/>
            <a:ext cx="8697912" cy="4324350"/>
          </a:xfrm>
          <a:prstGeom prst="rect">
            <a:avLst/>
          </a:prstGeom>
          <a:noFill/>
          <a:ln>
            <a:noFill/>
          </a:ln>
        </p:spPr>
        <p:txBody>
          <a:bodyPr anchorCtr="0" anchor="t" bIns="45700" lIns="91425" spcFirstLastPara="1" rIns="91425" wrap="square" tIns="45700">
            <a:spAutoFit/>
          </a:bodyPr>
          <a:lstStyle/>
          <a:p>
            <a:pPr indent="-334962" lvl="0" marL="334962" rtl="0" algn="l">
              <a:lnSpc>
                <a:spcPct val="85000"/>
              </a:lnSpc>
              <a:spcBef>
                <a:spcPts val="0"/>
              </a:spcBef>
              <a:spcAft>
                <a:spcPts val="0"/>
              </a:spcAft>
              <a:buSzPts val="1600"/>
              <a:buChar char="•"/>
            </a:pPr>
            <a:r>
              <a:rPr b="0" i="0" lang="en-US" sz="2000" u="none">
                <a:solidFill>
                  <a:schemeClr val="lt1"/>
                </a:solidFill>
                <a:latin typeface="Quattrocento Sans"/>
                <a:ea typeface="Quattrocento Sans"/>
                <a:cs typeface="Quattrocento Sans"/>
                <a:sym typeface="Quattrocento Sans"/>
              </a:rPr>
              <a:t>Процесс создания дерева является нисходящим. </a:t>
            </a:r>
            <a:endParaRPr/>
          </a:p>
          <a:p>
            <a:pPr indent="-334962" lvl="0" marL="334962" rtl="0" algn="l">
              <a:lnSpc>
                <a:spcPct val="85000"/>
              </a:lnSpc>
              <a:spcBef>
                <a:spcPts val="500"/>
              </a:spcBef>
              <a:spcAft>
                <a:spcPts val="0"/>
              </a:spcAft>
              <a:buSzPts val="1600"/>
              <a:buChar char="•"/>
            </a:pPr>
            <a:r>
              <a:rPr b="0" i="0" lang="en-US" sz="2000" u="none">
                <a:solidFill>
                  <a:schemeClr val="lt1"/>
                </a:solidFill>
                <a:latin typeface="Quattrocento Sans"/>
                <a:ea typeface="Quattrocento Sans"/>
                <a:cs typeface="Quattrocento Sans"/>
                <a:sym typeface="Quattrocento Sans"/>
              </a:rPr>
              <a:t>Алгоритм должен найти такой критерий расщепления (разбиения), чтобы разбить множество на подмножества, которые бы ассоциировались с данным узлом проверки. Каждый узел проверки должен быть помечен определенным </a:t>
            </a:r>
            <a:r>
              <a:rPr b="1" i="1" lang="en-US" sz="2000" u="none">
                <a:solidFill>
                  <a:srgbClr val="FFFF00"/>
                </a:solidFill>
                <a:latin typeface="Quattrocento Sans"/>
                <a:ea typeface="Quattrocento Sans"/>
                <a:cs typeface="Quattrocento Sans"/>
                <a:sym typeface="Quattrocento Sans"/>
              </a:rPr>
              <a:t>атрибутом</a:t>
            </a:r>
            <a:r>
              <a:rPr b="0" i="0" lang="en-US" sz="2000" u="none">
                <a:solidFill>
                  <a:schemeClr val="lt1"/>
                </a:solidFill>
                <a:latin typeface="Quattrocento Sans"/>
                <a:ea typeface="Quattrocento Sans"/>
                <a:cs typeface="Quattrocento Sans"/>
                <a:sym typeface="Quattrocento Sans"/>
              </a:rPr>
              <a:t>. </a:t>
            </a:r>
            <a:endParaRPr/>
          </a:p>
          <a:p>
            <a:pPr indent="-334962" lvl="0" marL="334962" rtl="0" algn="l">
              <a:lnSpc>
                <a:spcPct val="85000"/>
              </a:lnSpc>
              <a:spcBef>
                <a:spcPts val="500"/>
              </a:spcBef>
              <a:spcAft>
                <a:spcPts val="0"/>
              </a:spcAft>
              <a:buSzPts val="1600"/>
              <a:buChar char="•"/>
            </a:pPr>
            <a:r>
              <a:rPr b="0" i="0" lang="en-US" sz="2000" u="none">
                <a:solidFill>
                  <a:schemeClr val="lt1"/>
                </a:solidFill>
                <a:latin typeface="Quattrocento Sans"/>
                <a:ea typeface="Quattrocento Sans"/>
                <a:cs typeface="Quattrocento Sans"/>
                <a:sym typeface="Quattrocento Sans"/>
              </a:rPr>
              <a:t>Существует </a:t>
            </a:r>
            <a:r>
              <a:rPr b="1" i="1" lang="en-US" sz="2000" u="none">
                <a:solidFill>
                  <a:srgbClr val="FFFF00"/>
                </a:solidFill>
                <a:latin typeface="Quattrocento Sans"/>
                <a:ea typeface="Quattrocento Sans"/>
                <a:cs typeface="Quattrocento Sans"/>
                <a:sym typeface="Quattrocento Sans"/>
              </a:rPr>
              <a:t>правило выбора атрибута</a:t>
            </a:r>
            <a:r>
              <a:rPr b="0" i="0" lang="en-US" sz="2000" u="none">
                <a:solidFill>
                  <a:schemeClr val="lt1"/>
                </a:solidFill>
                <a:latin typeface="Quattrocento Sans"/>
                <a:ea typeface="Quattrocento Sans"/>
                <a:cs typeface="Quattrocento Sans"/>
                <a:sym typeface="Quattrocento Sans"/>
              </a:rPr>
              <a:t>: он должен разбивать исходное множество данных таким образом, чтобы объекты подмножеств, получаемых в результате этого разбиения, являлись представителями одного класса или же были максимально приближены к нему. Это означает, что количество объектов из других классов, так называемых "примесей", в каждом классе должно стремиться к минимуму.</a:t>
            </a:r>
            <a:endParaRPr/>
          </a:p>
          <a:p>
            <a:pPr indent="-334962" lvl="0" marL="334962" rtl="0" algn="l">
              <a:lnSpc>
                <a:spcPct val="85000"/>
              </a:lnSpc>
              <a:spcBef>
                <a:spcPts val="500"/>
              </a:spcBef>
              <a:spcAft>
                <a:spcPts val="0"/>
              </a:spcAft>
              <a:buSzPts val="1600"/>
              <a:buChar char="•"/>
            </a:pPr>
            <a:r>
              <a:rPr b="0" i="0" lang="en-US" sz="2000" u="none">
                <a:solidFill>
                  <a:schemeClr val="lt1"/>
                </a:solidFill>
                <a:latin typeface="Quattrocento Sans"/>
                <a:ea typeface="Quattrocento Sans"/>
                <a:cs typeface="Quattrocento Sans"/>
                <a:sym typeface="Quattrocento Sans"/>
              </a:rPr>
              <a:t>Существуют различные критерии расщепления. Наиболее известные - </a:t>
            </a:r>
            <a:r>
              <a:rPr b="1" i="1" lang="en-US" sz="2000" u="none">
                <a:solidFill>
                  <a:srgbClr val="FFFF00"/>
                </a:solidFill>
                <a:latin typeface="Quattrocento Sans"/>
                <a:ea typeface="Quattrocento Sans"/>
                <a:cs typeface="Quattrocento Sans"/>
                <a:sym typeface="Quattrocento Sans"/>
              </a:rPr>
              <a:t>мера энтропии (индекс Gain) </a:t>
            </a:r>
            <a:r>
              <a:rPr b="0" i="0" lang="en-US" sz="2000" u="none">
                <a:solidFill>
                  <a:schemeClr val="lt1"/>
                </a:solidFill>
                <a:latin typeface="Quattrocento Sans"/>
                <a:ea typeface="Quattrocento Sans"/>
                <a:cs typeface="Quattrocento Sans"/>
                <a:sym typeface="Quattrocento Sans"/>
              </a:rPr>
              <a:t>и </a:t>
            </a:r>
            <a:r>
              <a:rPr b="1" i="1" lang="en-US" sz="2000" u="none">
                <a:solidFill>
                  <a:srgbClr val="FFFF00"/>
                </a:solidFill>
                <a:latin typeface="Quattrocento Sans"/>
                <a:ea typeface="Quattrocento Sans"/>
                <a:cs typeface="Quattrocento Sans"/>
                <a:sym typeface="Quattrocento Sans"/>
              </a:rPr>
              <a:t>индекс Gini.</a:t>
            </a:r>
            <a:endParaRPr/>
          </a:p>
          <a:p>
            <a:pPr indent="-233363" lvl="0" marL="334963" rtl="0" algn="l">
              <a:lnSpc>
                <a:spcPct val="85000"/>
              </a:lnSpc>
              <a:spcBef>
                <a:spcPts val="500"/>
              </a:spcBef>
              <a:spcAft>
                <a:spcPts val="0"/>
              </a:spcAft>
              <a:buSzPts val="1600"/>
              <a:buNone/>
            </a:pPr>
            <a:r>
              <a:t/>
            </a:r>
            <a:endParaRPr b="1" i="1" sz="2000" u="none">
              <a:solidFill>
                <a:srgbClr val="FFFF00"/>
              </a:solidFill>
              <a:latin typeface="Quattrocento Sans"/>
              <a:ea typeface="Quattrocento Sans"/>
              <a:cs typeface="Quattrocento Sans"/>
              <a:sym typeface="Quattrocento Sans"/>
            </a:endParaRPr>
          </a:p>
        </p:txBody>
      </p:sp>
      <p:sp>
        <p:nvSpPr>
          <p:cNvPr id="641" name="Google Shape;641;p57"/>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58"/>
          <p:cNvSpPr txBox="1"/>
          <p:nvPr>
            <p:ph type="title"/>
          </p:nvPr>
        </p:nvSpPr>
        <p:spPr>
          <a:xfrm>
            <a:off x="390525" y="228600"/>
            <a:ext cx="8372475" cy="61595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1" i="0" lang="en-US" sz="4000" u="none">
                <a:solidFill>
                  <a:schemeClr val="lt2"/>
                </a:solidFill>
                <a:latin typeface="Quattrocento Sans"/>
                <a:ea typeface="Quattrocento Sans"/>
                <a:cs typeface="Quattrocento Sans"/>
                <a:sym typeface="Quattrocento Sans"/>
              </a:rPr>
              <a:t>Критерий расщепления</a:t>
            </a:r>
            <a:endParaRPr/>
          </a:p>
        </p:txBody>
      </p:sp>
      <p:sp>
        <p:nvSpPr>
          <p:cNvPr id="647" name="Google Shape;647;p58"/>
          <p:cNvSpPr txBox="1"/>
          <p:nvPr>
            <p:ph idx="1" type="body"/>
          </p:nvPr>
        </p:nvSpPr>
        <p:spPr>
          <a:xfrm>
            <a:off x="261937" y="1011237"/>
            <a:ext cx="8356600" cy="2182812"/>
          </a:xfrm>
          <a:prstGeom prst="rect">
            <a:avLst/>
          </a:prstGeom>
          <a:noFill/>
          <a:ln>
            <a:noFill/>
          </a:ln>
        </p:spPr>
        <p:txBody>
          <a:bodyPr anchorCtr="0" anchor="t" bIns="45700" lIns="91425" spcFirstLastPara="1" rIns="91425" wrap="square" tIns="45700">
            <a:spAutoFit/>
          </a:bodyPr>
          <a:lstStyle/>
          <a:p>
            <a:pPr indent="-334962" lvl="0" marL="334962" rtl="0" algn="l">
              <a:lnSpc>
                <a:spcPct val="85000"/>
              </a:lnSpc>
              <a:spcBef>
                <a:spcPts val="0"/>
              </a:spcBef>
              <a:spcAft>
                <a:spcPts val="0"/>
              </a:spcAft>
              <a:buSzPts val="1760"/>
              <a:buChar char="•"/>
            </a:pPr>
            <a:r>
              <a:rPr b="0" i="0" lang="en-US" sz="2200" u="none">
                <a:solidFill>
                  <a:schemeClr val="lt1"/>
                </a:solidFill>
                <a:latin typeface="Quattrocento Sans"/>
                <a:ea typeface="Quattrocento Sans"/>
                <a:cs typeface="Quattrocento Sans"/>
                <a:sym typeface="Quattrocento Sans"/>
              </a:rPr>
              <a:t>Поясним идею расщепления на простом графическом </a:t>
            </a:r>
            <a:r>
              <a:rPr b="1" i="1" lang="en-US" sz="2200" u="none">
                <a:solidFill>
                  <a:srgbClr val="FFC000"/>
                </a:solidFill>
                <a:latin typeface="Quattrocento Sans"/>
                <a:ea typeface="Quattrocento Sans"/>
                <a:cs typeface="Quattrocento Sans"/>
                <a:sym typeface="Quattrocento Sans"/>
              </a:rPr>
              <a:t>примере:</a:t>
            </a:r>
            <a:endParaRPr/>
          </a:p>
          <a:p>
            <a:pPr indent="-334962" lvl="0" marL="334962" rtl="0" algn="l">
              <a:lnSpc>
                <a:spcPct val="85000"/>
              </a:lnSpc>
              <a:spcBef>
                <a:spcPts val="500"/>
              </a:spcBef>
              <a:spcAft>
                <a:spcPts val="0"/>
              </a:spcAft>
              <a:buSzPts val="1600"/>
              <a:buChar char="•"/>
            </a:pPr>
            <a:r>
              <a:rPr b="0" i="0" lang="en-US" sz="2000" u="none">
                <a:solidFill>
                  <a:schemeClr val="lt1"/>
                </a:solidFill>
                <a:latin typeface="Quattrocento Sans"/>
                <a:ea typeface="Quattrocento Sans"/>
                <a:cs typeface="Quattrocento Sans"/>
                <a:sym typeface="Quattrocento Sans"/>
              </a:rPr>
              <a:t>Пусть у нас есть множество кинофильмов и мы хотим  разложить их по трём ящикам:</a:t>
            </a:r>
            <a:endParaRPr/>
          </a:p>
          <a:p>
            <a:pPr indent="-282575" lvl="1" marL="619125" rtl="0" algn="l">
              <a:lnSpc>
                <a:spcPct val="85000"/>
              </a:lnSpc>
              <a:spcBef>
                <a:spcPts val="450"/>
              </a:spcBef>
              <a:spcAft>
                <a:spcPts val="0"/>
              </a:spcAft>
              <a:buSzPts val="1350"/>
              <a:buChar char="•"/>
            </a:pPr>
            <a:r>
              <a:rPr b="0" i="0" lang="en-US" sz="1800" u="none">
                <a:solidFill>
                  <a:schemeClr val="lt1"/>
                </a:solidFill>
                <a:latin typeface="Quattrocento Sans"/>
                <a:ea typeface="Quattrocento Sans"/>
                <a:cs typeface="Quattrocento Sans"/>
                <a:sym typeface="Quattrocento Sans"/>
              </a:rPr>
              <a:t>Популярные (англ.: «mainstream hits»);</a:t>
            </a:r>
            <a:endParaRPr/>
          </a:p>
          <a:p>
            <a:pPr indent="-282575" lvl="1" marL="619125" rtl="0" algn="l">
              <a:lnSpc>
                <a:spcPct val="85000"/>
              </a:lnSpc>
              <a:spcBef>
                <a:spcPts val="450"/>
              </a:spcBef>
              <a:spcAft>
                <a:spcPts val="0"/>
              </a:spcAft>
              <a:buSzPts val="1350"/>
              <a:buChar char="•"/>
            </a:pPr>
            <a:r>
              <a:rPr b="0" i="0" lang="en-US" sz="1800" u="none">
                <a:solidFill>
                  <a:schemeClr val="lt1"/>
                </a:solidFill>
                <a:latin typeface="Quattrocento Sans"/>
                <a:ea typeface="Quattrocento Sans"/>
                <a:cs typeface="Quattrocento Sans"/>
                <a:sym typeface="Quattrocento Sans"/>
              </a:rPr>
              <a:t>Не популярные у зрителей, но получившие высокую оценку критиков;</a:t>
            </a:r>
            <a:endParaRPr/>
          </a:p>
          <a:p>
            <a:pPr indent="-282575" lvl="1" marL="619125" rtl="0" algn="l">
              <a:lnSpc>
                <a:spcPct val="85000"/>
              </a:lnSpc>
              <a:spcBef>
                <a:spcPts val="450"/>
              </a:spcBef>
              <a:spcAft>
                <a:spcPts val="0"/>
              </a:spcAft>
              <a:buSzPts val="1350"/>
              <a:buChar char="•"/>
            </a:pPr>
            <a:r>
              <a:rPr b="0" i="0" lang="en-US" sz="1800" u="none">
                <a:solidFill>
                  <a:schemeClr val="lt1"/>
                </a:solidFill>
                <a:latin typeface="Quattrocento Sans"/>
                <a:ea typeface="Quattrocento Sans"/>
                <a:cs typeface="Quattrocento Sans"/>
                <a:sym typeface="Quattrocento Sans"/>
              </a:rPr>
              <a:t>Не имеющие успеха.</a:t>
            </a:r>
            <a:endParaRPr/>
          </a:p>
        </p:txBody>
      </p:sp>
      <p:pic>
        <p:nvPicPr>
          <p:cNvPr id="648" name="Google Shape;648;p58"/>
          <p:cNvPicPr preferRelativeResize="0"/>
          <p:nvPr/>
        </p:nvPicPr>
        <p:blipFill rotWithShape="1">
          <a:blip r:embed="rId3">
            <a:alphaModFix/>
          </a:blip>
          <a:srcRect b="0" l="0" r="0" t="0"/>
          <a:stretch/>
        </p:blipFill>
        <p:spPr>
          <a:xfrm>
            <a:off x="5091112" y="3556000"/>
            <a:ext cx="3868737" cy="2290762"/>
          </a:xfrm>
          <a:prstGeom prst="rect">
            <a:avLst/>
          </a:prstGeom>
          <a:noFill/>
          <a:ln>
            <a:noFill/>
          </a:ln>
        </p:spPr>
      </p:pic>
      <p:sp>
        <p:nvSpPr>
          <p:cNvPr id="649" name="Google Shape;649;p58"/>
          <p:cNvSpPr txBox="1"/>
          <p:nvPr/>
        </p:nvSpPr>
        <p:spPr>
          <a:xfrm>
            <a:off x="390525" y="3360737"/>
            <a:ext cx="4560887" cy="2917825"/>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1800"/>
              <a:buFont typeface="Quattrocento Sans"/>
              <a:buChar char="•"/>
            </a:pPr>
            <a:r>
              <a:rPr b="0" i="0" lang="en-US" sz="1800" u="none">
                <a:solidFill>
                  <a:schemeClr val="lt1"/>
                </a:solidFill>
                <a:latin typeface="Quattrocento Sans"/>
                <a:ea typeface="Quattrocento Sans"/>
                <a:cs typeface="Quattrocento Sans"/>
                <a:sym typeface="Quattrocento Sans"/>
              </a:rPr>
              <a:t>Мы хотим разработать алгоритм, реализующий принцип «разделяй и властвуй» для классификации сценариев. Для этого мы идём в архив киностудии, чтобы собрать данные о киносценариях за последние 10 лет. После просмотра 30 киносценариев мы начинаем замечать, что фильмы с высоким бюджетом привлекают больше звёзд. Эта закономерность хорошо просматривается на диаграмме:</a:t>
            </a:r>
            <a:endParaRPr/>
          </a:p>
        </p:txBody>
      </p:sp>
      <p:sp>
        <p:nvSpPr>
          <p:cNvPr id="650" name="Google Shape;650;p58"/>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59"/>
          <p:cNvSpPr txBox="1"/>
          <p:nvPr>
            <p:ph type="title"/>
          </p:nvPr>
        </p:nvSpPr>
        <p:spPr>
          <a:xfrm>
            <a:off x="390525" y="228600"/>
            <a:ext cx="8372475" cy="61595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1" i="0" lang="en-US" sz="4000" u="none">
                <a:solidFill>
                  <a:schemeClr val="lt2"/>
                </a:solidFill>
                <a:latin typeface="Quattrocento Sans"/>
                <a:ea typeface="Quattrocento Sans"/>
                <a:cs typeface="Quattrocento Sans"/>
                <a:sym typeface="Quattrocento Sans"/>
              </a:rPr>
              <a:t>Критерий расщепления</a:t>
            </a:r>
            <a:endParaRPr/>
          </a:p>
        </p:txBody>
      </p:sp>
      <p:sp>
        <p:nvSpPr>
          <p:cNvPr id="656" name="Google Shape;656;p59"/>
          <p:cNvSpPr txBox="1"/>
          <p:nvPr>
            <p:ph idx="1" type="body"/>
          </p:nvPr>
        </p:nvSpPr>
        <p:spPr>
          <a:xfrm>
            <a:off x="261937" y="1011237"/>
            <a:ext cx="4614862" cy="200025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SzPts val="1760"/>
              <a:buNone/>
            </a:pPr>
            <a:r>
              <a:rPr b="1" i="1" lang="en-US" sz="2200" u="none">
                <a:solidFill>
                  <a:srgbClr val="FFC000"/>
                </a:solidFill>
                <a:latin typeface="Quattrocento Sans"/>
                <a:ea typeface="Quattrocento Sans"/>
                <a:cs typeface="Quattrocento Sans"/>
                <a:sym typeface="Quattrocento Sans"/>
              </a:rPr>
              <a:t>Пример (продолжение):</a:t>
            </a:r>
            <a:endParaRPr/>
          </a:p>
          <a:p>
            <a:pPr indent="-101600" lvl="0" marL="0" rtl="0" algn="l">
              <a:lnSpc>
                <a:spcPct val="85000"/>
              </a:lnSpc>
              <a:spcBef>
                <a:spcPts val="500"/>
              </a:spcBef>
              <a:spcAft>
                <a:spcPts val="0"/>
              </a:spcAft>
              <a:buSzPts val="1600"/>
              <a:buChar char="•"/>
            </a:pPr>
            <a:r>
              <a:rPr b="0" i="0" lang="en-US" sz="2000" u="none">
                <a:solidFill>
                  <a:schemeClr val="lt1"/>
                </a:solidFill>
                <a:latin typeface="Quattrocento Sans"/>
                <a:ea typeface="Quattrocento Sans"/>
                <a:cs typeface="Quattrocento Sans"/>
                <a:sym typeface="Quattrocento Sans"/>
              </a:rPr>
              <a:t>Будем использовать количество снимавшихся в фильме звёзд </a:t>
            </a:r>
            <a:r>
              <a:rPr b="1" i="1" lang="en-US" sz="2000" u="none">
                <a:solidFill>
                  <a:srgbClr val="FFC000"/>
                </a:solidFill>
                <a:latin typeface="Quattrocento Sans"/>
                <a:ea typeface="Quattrocento Sans"/>
                <a:cs typeface="Quattrocento Sans"/>
                <a:sym typeface="Quattrocento Sans"/>
              </a:rPr>
              <a:t>(мало/много) </a:t>
            </a:r>
            <a:r>
              <a:rPr b="0" i="0" lang="en-US" sz="2000" u="none">
                <a:solidFill>
                  <a:schemeClr val="lt1"/>
                </a:solidFill>
                <a:latin typeface="Quattrocento Sans"/>
                <a:ea typeface="Quattrocento Sans"/>
                <a:cs typeface="Quattrocento Sans"/>
                <a:sym typeface="Quattrocento Sans"/>
              </a:rPr>
              <a:t>как первый из признаков, по которому производится разбиение данных.</a:t>
            </a:r>
            <a:br>
              <a:rPr b="0" i="0" lang="en-US" sz="2000" u="none">
                <a:solidFill>
                  <a:schemeClr val="lt1"/>
                </a:solidFill>
                <a:latin typeface="Quattrocento Sans"/>
                <a:ea typeface="Quattrocento Sans"/>
                <a:cs typeface="Quattrocento Sans"/>
                <a:sym typeface="Quattrocento Sans"/>
              </a:rPr>
            </a:br>
            <a:endParaRPr/>
          </a:p>
        </p:txBody>
      </p:sp>
      <p:sp>
        <p:nvSpPr>
          <p:cNvPr id="657" name="Google Shape;657;p59"/>
          <p:cNvSpPr txBox="1"/>
          <p:nvPr/>
        </p:nvSpPr>
        <p:spPr>
          <a:xfrm>
            <a:off x="261937" y="2830512"/>
            <a:ext cx="4979987" cy="1400175"/>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Рассмотрим теперь группу сценариев с большим числом задействованных звёзд. Разобьём её на 2 подгруппы по признаку «размер бюджета» </a:t>
            </a:r>
            <a:r>
              <a:rPr b="1" i="1" lang="en-US" sz="2000" u="none">
                <a:solidFill>
                  <a:srgbClr val="FFC000"/>
                </a:solidFill>
                <a:latin typeface="Quattrocento Sans"/>
                <a:ea typeface="Quattrocento Sans"/>
                <a:cs typeface="Quattrocento Sans"/>
                <a:sym typeface="Quattrocento Sans"/>
              </a:rPr>
              <a:t>низкий/высокий.</a:t>
            </a:r>
            <a:r>
              <a:rPr b="0" i="0" lang="en-US" sz="2000" u="none">
                <a:solidFill>
                  <a:schemeClr val="lt1"/>
                </a:solidFill>
                <a:latin typeface="Quattrocento Sans"/>
                <a:ea typeface="Quattrocento Sans"/>
                <a:cs typeface="Quattrocento Sans"/>
                <a:sym typeface="Quattrocento Sans"/>
              </a:rPr>
              <a:t>  </a:t>
            </a:r>
            <a:endParaRPr/>
          </a:p>
        </p:txBody>
      </p:sp>
      <p:pic>
        <p:nvPicPr>
          <p:cNvPr id="658" name="Google Shape;658;p59"/>
          <p:cNvPicPr preferRelativeResize="0"/>
          <p:nvPr/>
        </p:nvPicPr>
        <p:blipFill rotWithShape="1">
          <a:blip r:embed="rId3">
            <a:alphaModFix/>
          </a:blip>
          <a:srcRect b="0" l="0" r="0" t="0"/>
          <a:stretch/>
        </p:blipFill>
        <p:spPr>
          <a:xfrm>
            <a:off x="5511800" y="1011237"/>
            <a:ext cx="2400300" cy="1549400"/>
          </a:xfrm>
          <a:prstGeom prst="rect">
            <a:avLst/>
          </a:prstGeom>
          <a:noFill/>
          <a:ln>
            <a:noFill/>
          </a:ln>
        </p:spPr>
      </p:pic>
      <p:pic>
        <p:nvPicPr>
          <p:cNvPr id="659" name="Google Shape;659;p59"/>
          <p:cNvPicPr preferRelativeResize="0"/>
          <p:nvPr/>
        </p:nvPicPr>
        <p:blipFill rotWithShape="1">
          <a:blip r:embed="rId4">
            <a:alphaModFix/>
          </a:blip>
          <a:srcRect b="0" l="0" r="0" t="0"/>
          <a:stretch/>
        </p:blipFill>
        <p:spPr>
          <a:xfrm>
            <a:off x="5511800" y="2743200"/>
            <a:ext cx="2400300" cy="1606550"/>
          </a:xfrm>
          <a:prstGeom prst="rect">
            <a:avLst/>
          </a:prstGeom>
          <a:noFill/>
          <a:ln>
            <a:noFill/>
          </a:ln>
        </p:spPr>
      </p:pic>
      <p:sp>
        <p:nvSpPr>
          <p:cNvPr id="660" name="Google Shape;660;p59"/>
          <p:cNvSpPr txBox="1"/>
          <p:nvPr/>
        </p:nvSpPr>
        <p:spPr>
          <a:xfrm>
            <a:off x="261937" y="4383087"/>
            <a:ext cx="8745537" cy="2114550"/>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1800"/>
              <a:buFont typeface="Quattrocento Sans"/>
              <a:buChar char="•"/>
            </a:pPr>
            <a:r>
              <a:rPr b="0" i="0" lang="en-US" sz="1800" u="none">
                <a:solidFill>
                  <a:schemeClr val="lt1"/>
                </a:solidFill>
                <a:latin typeface="Quattrocento Sans"/>
                <a:ea typeface="Quattrocento Sans"/>
                <a:cs typeface="Quattrocento Sans"/>
                <a:sym typeface="Quattrocento Sans"/>
              </a:rPr>
              <a:t>Левая верхняя группа (зелёные квадраты) содержит исключительно те фильмы, которые были высоко оценены критиками. Для них характерно большое число занятых звёзд, но относительно небольшой бюджет.</a:t>
            </a:r>
            <a:endParaRPr/>
          </a:p>
          <a:p>
            <a:pPr indent="-334962" lvl="0" marL="334962" marR="0" rtl="0" algn="l">
              <a:lnSpc>
                <a:spcPct val="85000"/>
              </a:lnSpc>
              <a:spcBef>
                <a:spcPts val="450"/>
              </a:spcBef>
              <a:spcAft>
                <a:spcPts val="0"/>
              </a:spcAft>
              <a:buClr>
                <a:schemeClr val="lt1"/>
              </a:buClr>
              <a:buSzPts val="1800"/>
              <a:buFont typeface="Quattrocento Sans"/>
              <a:buChar char="•"/>
            </a:pPr>
            <a:r>
              <a:rPr b="0" i="0" lang="en-US" sz="1800" u="none">
                <a:solidFill>
                  <a:schemeClr val="lt1"/>
                </a:solidFill>
                <a:latin typeface="Quattrocento Sans"/>
                <a:ea typeface="Quattrocento Sans"/>
                <a:cs typeface="Quattrocento Sans"/>
                <a:sym typeface="Quattrocento Sans"/>
              </a:rPr>
              <a:t>Группа из синих треугольников  представляет фильмы с большим бюджетом и большим числом звёзд;</a:t>
            </a:r>
            <a:endParaRPr/>
          </a:p>
          <a:p>
            <a:pPr indent="-334962" lvl="0" marL="334962" marR="0" rtl="0" algn="l">
              <a:lnSpc>
                <a:spcPct val="85000"/>
              </a:lnSpc>
              <a:spcBef>
                <a:spcPts val="450"/>
              </a:spcBef>
              <a:spcAft>
                <a:spcPts val="0"/>
              </a:spcAft>
              <a:buClr>
                <a:schemeClr val="lt1"/>
              </a:buClr>
              <a:buSzPts val="1800"/>
              <a:buFont typeface="Quattrocento Sans"/>
              <a:buChar char="•"/>
            </a:pPr>
            <a:r>
              <a:rPr b="0" i="0" lang="en-US" sz="1800" u="none">
                <a:solidFill>
                  <a:schemeClr val="lt1"/>
                </a:solidFill>
                <a:latin typeface="Quattrocento Sans"/>
                <a:ea typeface="Quattrocento Sans"/>
                <a:cs typeface="Quattrocento Sans"/>
                <a:sym typeface="Quattrocento Sans"/>
              </a:rPr>
              <a:t>Третья группа – красные кружки – состоит преимущественно из фильмов, не имевших успеха – число звёзд, занятых в них, невелико, а их бюджет варьируется от очень малого до очень большого.</a:t>
            </a:r>
            <a:endParaRPr/>
          </a:p>
        </p:txBody>
      </p:sp>
      <p:sp>
        <p:nvSpPr>
          <p:cNvPr id="661" name="Google Shape;661;p59"/>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60"/>
          <p:cNvSpPr txBox="1"/>
          <p:nvPr>
            <p:ph type="title"/>
          </p:nvPr>
        </p:nvSpPr>
        <p:spPr>
          <a:xfrm>
            <a:off x="390525" y="228600"/>
            <a:ext cx="8372475" cy="61595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1" i="0" lang="en-US" sz="4000" u="none">
                <a:solidFill>
                  <a:schemeClr val="lt2"/>
                </a:solidFill>
                <a:latin typeface="Quattrocento Sans"/>
                <a:ea typeface="Quattrocento Sans"/>
                <a:cs typeface="Quattrocento Sans"/>
                <a:sym typeface="Quattrocento Sans"/>
              </a:rPr>
              <a:t>Критерий расщепления</a:t>
            </a:r>
            <a:endParaRPr/>
          </a:p>
        </p:txBody>
      </p:sp>
      <p:sp>
        <p:nvSpPr>
          <p:cNvPr id="667" name="Google Shape;667;p60"/>
          <p:cNvSpPr txBox="1"/>
          <p:nvPr>
            <p:ph idx="1" type="body"/>
          </p:nvPr>
        </p:nvSpPr>
        <p:spPr>
          <a:xfrm>
            <a:off x="261937" y="1011237"/>
            <a:ext cx="8745537" cy="2549525"/>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SzPts val="1760"/>
              <a:buNone/>
            </a:pPr>
            <a:r>
              <a:rPr b="1" i="1" lang="en-US" sz="2200" u="none">
                <a:solidFill>
                  <a:srgbClr val="FFC000"/>
                </a:solidFill>
                <a:latin typeface="Quattrocento Sans"/>
                <a:ea typeface="Quattrocento Sans"/>
                <a:cs typeface="Quattrocento Sans"/>
                <a:sym typeface="Quattrocento Sans"/>
              </a:rPr>
              <a:t>Пример (продолжение):</a:t>
            </a:r>
            <a:endParaRPr/>
          </a:p>
          <a:p>
            <a:pPr indent="-101600" lvl="0" marL="0" rtl="0" algn="l">
              <a:lnSpc>
                <a:spcPct val="85000"/>
              </a:lnSpc>
              <a:spcBef>
                <a:spcPts val="500"/>
              </a:spcBef>
              <a:spcAft>
                <a:spcPts val="0"/>
              </a:spcAft>
              <a:buSzPts val="1600"/>
              <a:buChar char="•"/>
            </a:pPr>
            <a:r>
              <a:rPr b="0" i="0" lang="en-US" sz="2000" u="none">
                <a:solidFill>
                  <a:schemeClr val="lt1"/>
                </a:solidFill>
                <a:latin typeface="Quattrocento Sans"/>
                <a:ea typeface="Quattrocento Sans"/>
                <a:cs typeface="Quattrocento Sans"/>
                <a:sym typeface="Quattrocento Sans"/>
              </a:rPr>
              <a:t>Ничто не мешает нам продолжать процесс разделения данных (по каждому из возможных значений числа звёзд, снявшихся в фильме), пока не получим очень «мелкое» разделение (может даже оказаться, что каждая группа будет содержать лишь по одному элементу). Понятно, что смысла в такой классификации нет. Поэтому мы ограничим ветвление дерева – например, остановим процесс, когда </a:t>
            </a:r>
            <a:r>
              <a:rPr b="0" i="1" lang="en-US" sz="2000" u="none">
                <a:solidFill>
                  <a:schemeClr val="lt1"/>
                </a:solidFill>
                <a:latin typeface="Quattrocento Sans"/>
                <a:ea typeface="Quattrocento Sans"/>
                <a:cs typeface="Quattrocento Sans"/>
                <a:sym typeface="Quattrocento Sans"/>
              </a:rPr>
              <a:t>каждая группа хотя бы на 80% будет состоять из элементов одного и того же класса</a:t>
            </a:r>
            <a:endParaRPr/>
          </a:p>
        </p:txBody>
      </p:sp>
      <p:sp>
        <p:nvSpPr>
          <p:cNvPr id="668" name="Google Shape;668;p60"/>
          <p:cNvSpPr txBox="1"/>
          <p:nvPr/>
        </p:nvSpPr>
        <p:spPr>
          <a:xfrm>
            <a:off x="204787" y="3560762"/>
            <a:ext cx="6410325" cy="2447925"/>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Возможно, мы могли бы получить и лучшее разбиение, но </a:t>
            </a:r>
            <a:r>
              <a:rPr b="1" i="0" lang="en-US" sz="2000" u="none">
                <a:solidFill>
                  <a:schemeClr val="lt1"/>
                </a:solidFill>
                <a:latin typeface="Quattrocento Sans"/>
                <a:ea typeface="Quattrocento Sans"/>
                <a:cs typeface="Quattrocento Sans"/>
                <a:sym typeface="Quattrocento Sans"/>
              </a:rPr>
              <a:t>метод деревьев решений </a:t>
            </a:r>
            <a:r>
              <a:rPr b="0" i="0" lang="en-US" sz="2000" u="none">
                <a:solidFill>
                  <a:schemeClr val="lt1"/>
                </a:solidFill>
                <a:latin typeface="Quattrocento Sans"/>
                <a:ea typeface="Quattrocento Sans"/>
                <a:cs typeface="Quattrocento Sans"/>
                <a:sym typeface="Quattrocento Sans"/>
              </a:rPr>
              <a:t>не позволяет строить такие разбиения, поскольку для разделения данных используются условия вида: </a:t>
            </a:r>
            <a:r>
              <a:rPr b="1" i="1" lang="en-US" sz="2000" u="none">
                <a:solidFill>
                  <a:schemeClr val="lt1"/>
                </a:solidFill>
                <a:latin typeface="Quattrocento Sans"/>
                <a:ea typeface="Quattrocento Sans"/>
                <a:cs typeface="Quattrocento Sans"/>
                <a:sym typeface="Quattrocento Sans"/>
              </a:rPr>
              <a:t>{x &lt; a}, {x &gt; a},</a:t>
            </a:r>
            <a:r>
              <a:rPr b="0" i="0" lang="en-US" sz="2000" u="none">
                <a:solidFill>
                  <a:schemeClr val="lt1"/>
                </a:solidFill>
                <a:latin typeface="Quattrocento Sans"/>
                <a:ea typeface="Quattrocento Sans"/>
                <a:cs typeface="Quattrocento Sans"/>
                <a:sym typeface="Quattrocento Sans"/>
              </a:rPr>
              <a:t> где </a:t>
            </a:r>
            <a:r>
              <a:rPr b="1" i="1" lang="en-US" sz="2000" u="none">
                <a:solidFill>
                  <a:srgbClr val="FFC000"/>
                </a:solidFill>
                <a:latin typeface="Quattrocento Sans"/>
                <a:ea typeface="Quattrocento Sans"/>
                <a:cs typeface="Quattrocento Sans"/>
                <a:sym typeface="Quattrocento Sans"/>
              </a:rPr>
              <a:t>x </a:t>
            </a:r>
            <a:r>
              <a:rPr b="0" i="0" lang="en-US" sz="2000" u="none">
                <a:solidFill>
                  <a:schemeClr val="lt1"/>
                </a:solidFill>
                <a:latin typeface="Quattrocento Sans"/>
                <a:ea typeface="Quattrocento Sans"/>
                <a:cs typeface="Quattrocento Sans"/>
                <a:sym typeface="Quattrocento Sans"/>
              </a:rPr>
              <a:t>– значение фактора,   </a:t>
            </a:r>
            <a:r>
              <a:rPr b="0" i="1" lang="en-US" sz="2000" u="none">
                <a:solidFill>
                  <a:srgbClr val="FFC000"/>
                </a:solidFill>
                <a:latin typeface="Quattrocento Sans"/>
                <a:ea typeface="Quattrocento Sans"/>
                <a:cs typeface="Quattrocento Sans"/>
                <a:sym typeface="Quattrocento Sans"/>
              </a:rPr>
              <a:t>a</a:t>
            </a:r>
            <a:r>
              <a:rPr b="0" i="0" lang="en-US" sz="2000" u="none">
                <a:solidFill>
                  <a:schemeClr val="lt1"/>
                </a:solidFill>
                <a:latin typeface="Quattrocento Sans"/>
                <a:ea typeface="Quattrocento Sans"/>
                <a:cs typeface="Quattrocento Sans"/>
                <a:sym typeface="Quattrocento Sans"/>
              </a:rPr>
              <a:t> – некоторое фиксированное число. Такие разбиения в англоязычной литературе называются «</a:t>
            </a:r>
            <a:r>
              <a:rPr b="0" i="1" lang="en-US" sz="2000" u="none">
                <a:solidFill>
                  <a:schemeClr val="lt1"/>
                </a:solidFill>
                <a:latin typeface="Quattrocento Sans"/>
                <a:ea typeface="Quattrocento Sans"/>
                <a:cs typeface="Quattrocento Sans"/>
                <a:sym typeface="Quattrocento Sans"/>
              </a:rPr>
              <a:t>axisparallel splits</a:t>
            </a:r>
            <a:r>
              <a:rPr b="0" i="0" lang="en-US" sz="2000" u="none">
                <a:solidFill>
                  <a:schemeClr val="lt1"/>
                </a:solidFill>
                <a:latin typeface="Quattrocento Sans"/>
                <a:ea typeface="Quattrocento Sans"/>
                <a:cs typeface="Quattrocento Sans"/>
                <a:sym typeface="Quattrocento Sans"/>
              </a:rPr>
              <a:t>», т.е. «разбиения, параллельные осям».</a:t>
            </a:r>
            <a:endParaRPr/>
          </a:p>
        </p:txBody>
      </p:sp>
      <p:pic>
        <p:nvPicPr>
          <p:cNvPr id="669" name="Google Shape;669;p60"/>
          <p:cNvPicPr preferRelativeResize="0"/>
          <p:nvPr/>
        </p:nvPicPr>
        <p:blipFill rotWithShape="1">
          <a:blip r:embed="rId3">
            <a:alphaModFix/>
          </a:blip>
          <a:srcRect b="0" l="0" r="0" t="0"/>
          <a:stretch/>
        </p:blipFill>
        <p:spPr>
          <a:xfrm>
            <a:off x="6402387" y="3560762"/>
            <a:ext cx="2360612" cy="1362075"/>
          </a:xfrm>
          <a:prstGeom prst="rect">
            <a:avLst/>
          </a:prstGeom>
          <a:noFill/>
          <a:ln>
            <a:noFill/>
          </a:ln>
        </p:spPr>
      </p:pic>
      <p:sp>
        <p:nvSpPr>
          <p:cNvPr id="670" name="Google Shape;670;p60"/>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61"/>
          <p:cNvSpPr txBox="1"/>
          <p:nvPr>
            <p:ph type="title"/>
          </p:nvPr>
        </p:nvSpPr>
        <p:spPr>
          <a:xfrm>
            <a:off x="390525" y="228600"/>
            <a:ext cx="8372475" cy="61595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1" i="0" lang="en-US" sz="4000" u="none">
                <a:solidFill>
                  <a:schemeClr val="lt2"/>
                </a:solidFill>
                <a:latin typeface="Quattrocento Sans"/>
                <a:ea typeface="Quattrocento Sans"/>
                <a:cs typeface="Quattrocento Sans"/>
                <a:sym typeface="Quattrocento Sans"/>
              </a:rPr>
              <a:t>Критерий расщепления</a:t>
            </a:r>
            <a:endParaRPr/>
          </a:p>
        </p:txBody>
      </p:sp>
      <p:sp>
        <p:nvSpPr>
          <p:cNvPr id="676" name="Google Shape;676;p61"/>
          <p:cNvSpPr txBox="1"/>
          <p:nvPr>
            <p:ph idx="1" type="body"/>
          </p:nvPr>
        </p:nvSpPr>
        <p:spPr>
          <a:xfrm>
            <a:off x="276225" y="1179512"/>
            <a:ext cx="4402137" cy="45085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SzPts val="1760"/>
              <a:buNone/>
            </a:pPr>
            <a:r>
              <a:rPr b="1" i="1" lang="en-US" sz="2200" u="none">
                <a:solidFill>
                  <a:srgbClr val="FFC000"/>
                </a:solidFill>
                <a:latin typeface="Quattrocento Sans"/>
                <a:ea typeface="Quattrocento Sans"/>
                <a:cs typeface="Quattrocento Sans"/>
                <a:sym typeface="Quattrocento Sans"/>
              </a:rPr>
              <a:t>Пример (продолжение):</a:t>
            </a:r>
            <a:endParaRPr/>
          </a:p>
          <a:p>
            <a:pPr indent="-101600" lvl="0" marL="0" rtl="0" algn="l">
              <a:lnSpc>
                <a:spcPct val="85000"/>
              </a:lnSpc>
              <a:spcBef>
                <a:spcPts val="500"/>
              </a:spcBef>
              <a:spcAft>
                <a:spcPts val="0"/>
              </a:spcAft>
              <a:buSzPts val="1600"/>
              <a:buChar char="•"/>
            </a:pPr>
            <a:r>
              <a:rPr b="0" i="0" lang="en-US" sz="2000" u="none">
                <a:solidFill>
                  <a:schemeClr val="lt1"/>
                </a:solidFill>
                <a:latin typeface="Quattrocento Sans"/>
                <a:ea typeface="Quattrocento Sans"/>
                <a:cs typeface="Quattrocento Sans"/>
                <a:sym typeface="Quattrocento Sans"/>
              </a:rPr>
              <a:t>Группы, полностью состоящие из элементов одного класса называют «</a:t>
            </a:r>
            <a:r>
              <a:rPr b="1" i="1" lang="en-US" sz="2000" u="none">
                <a:solidFill>
                  <a:schemeClr val="lt1"/>
                </a:solidFill>
                <a:latin typeface="Quattrocento Sans"/>
                <a:ea typeface="Quattrocento Sans"/>
                <a:cs typeface="Quattrocento Sans"/>
                <a:sym typeface="Quattrocento Sans"/>
              </a:rPr>
              <a:t>чистыми</a:t>
            </a:r>
            <a:r>
              <a:rPr b="1" i="0" lang="en-US" sz="2000" u="none">
                <a:solidFill>
                  <a:schemeClr val="lt1"/>
                </a:solidFill>
                <a:latin typeface="Quattrocento Sans"/>
                <a:ea typeface="Quattrocento Sans"/>
                <a:cs typeface="Quattrocento Sans"/>
                <a:sym typeface="Quattrocento Sans"/>
              </a:rPr>
              <a:t>» (англ.: «</a:t>
            </a:r>
            <a:r>
              <a:rPr b="1" i="1" lang="en-US" sz="2000" u="none">
                <a:solidFill>
                  <a:schemeClr val="lt1"/>
                </a:solidFill>
                <a:latin typeface="Quattrocento Sans"/>
                <a:ea typeface="Quattrocento Sans"/>
                <a:cs typeface="Quattrocento Sans"/>
                <a:sym typeface="Quattrocento Sans"/>
              </a:rPr>
              <a:t>pure</a:t>
            </a:r>
            <a:r>
              <a:rPr b="1" i="0" lang="en-US" sz="2000" u="none">
                <a:solidFill>
                  <a:schemeClr val="lt1"/>
                </a:solidFill>
                <a:latin typeface="Quattrocento Sans"/>
                <a:ea typeface="Quattrocento Sans"/>
                <a:cs typeface="Quattrocento Sans"/>
                <a:sym typeface="Quattrocento Sans"/>
              </a:rPr>
              <a:t>»). </a:t>
            </a:r>
            <a:endParaRPr/>
          </a:p>
          <a:p>
            <a:pPr indent="-101600" lvl="0" marL="0" rtl="0" algn="l">
              <a:lnSpc>
                <a:spcPct val="85000"/>
              </a:lnSpc>
              <a:spcBef>
                <a:spcPts val="500"/>
              </a:spcBef>
              <a:spcAft>
                <a:spcPts val="0"/>
              </a:spcAft>
              <a:buSzPts val="1600"/>
              <a:buChar char="•"/>
            </a:pPr>
            <a:r>
              <a:rPr b="0" i="0" lang="en-US" sz="2000" u="none">
                <a:solidFill>
                  <a:schemeClr val="lt1"/>
                </a:solidFill>
                <a:latin typeface="Quattrocento Sans"/>
                <a:ea typeface="Quattrocento Sans"/>
                <a:cs typeface="Quattrocento Sans"/>
                <a:sym typeface="Quattrocento Sans"/>
              </a:rPr>
              <a:t>Таким образом, мы искали такой признак (для построения разбиения по нему), который позволил бы нам получить как можно более чистые группы.</a:t>
            </a:r>
            <a:endParaRPr/>
          </a:p>
          <a:p>
            <a:pPr indent="-101600" lvl="0" marL="0" rtl="0" algn="l">
              <a:lnSpc>
                <a:spcPct val="85000"/>
              </a:lnSpc>
              <a:spcBef>
                <a:spcPts val="500"/>
              </a:spcBef>
              <a:spcAft>
                <a:spcPts val="0"/>
              </a:spcAft>
              <a:buSzPts val="1600"/>
              <a:buChar char="•"/>
            </a:pPr>
            <a:r>
              <a:rPr b="0" i="0" lang="en-US" sz="2000" u="none">
                <a:solidFill>
                  <a:schemeClr val="lt1"/>
                </a:solidFill>
                <a:latin typeface="Quattrocento Sans"/>
                <a:ea typeface="Quattrocento Sans"/>
                <a:cs typeface="Quattrocento Sans"/>
                <a:sym typeface="Quattrocento Sans"/>
              </a:rPr>
              <a:t>Возникает вопрос: </a:t>
            </a:r>
            <a:r>
              <a:rPr b="0" i="1" lang="en-US" sz="2000" u="none">
                <a:solidFill>
                  <a:schemeClr val="lt1"/>
                </a:solidFill>
                <a:latin typeface="Quattrocento Sans"/>
                <a:ea typeface="Quattrocento Sans"/>
                <a:cs typeface="Quattrocento Sans"/>
                <a:sym typeface="Quattrocento Sans"/>
              </a:rPr>
              <a:t>как измерить степень чистоты группы</a:t>
            </a:r>
            <a:r>
              <a:rPr b="0" i="0" lang="en-US" sz="2000" u="none">
                <a:solidFill>
                  <a:schemeClr val="lt1"/>
                </a:solidFill>
                <a:latin typeface="Quattrocento Sans"/>
                <a:ea typeface="Quattrocento Sans"/>
                <a:cs typeface="Quattrocento Sans"/>
                <a:sym typeface="Quattrocento Sans"/>
              </a:rPr>
              <a:t>? Для этого существует несколько уже упоминавшихся способов: </a:t>
            </a:r>
            <a:r>
              <a:rPr b="1" i="1" lang="en-US" sz="1800" u="none">
                <a:solidFill>
                  <a:srgbClr val="FFFF00"/>
                </a:solidFill>
                <a:latin typeface="Quattrocento Sans"/>
                <a:ea typeface="Quattrocento Sans"/>
                <a:cs typeface="Quattrocento Sans"/>
                <a:sym typeface="Quattrocento Sans"/>
              </a:rPr>
              <a:t>мера энтропии (индекс Gain) </a:t>
            </a:r>
            <a:r>
              <a:rPr b="0" i="0" lang="en-US" sz="1800" u="none">
                <a:solidFill>
                  <a:schemeClr val="lt1"/>
                </a:solidFill>
                <a:latin typeface="Quattrocento Sans"/>
                <a:ea typeface="Quattrocento Sans"/>
                <a:cs typeface="Quattrocento Sans"/>
                <a:sym typeface="Quattrocento Sans"/>
              </a:rPr>
              <a:t>и </a:t>
            </a:r>
            <a:r>
              <a:rPr b="1" i="1" lang="en-US" sz="1800" u="none">
                <a:solidFill>
                  <a:srgbClr val="FFFF00"/>
                </a:solidFill>
                <a:latin typeface="Quattrocento Sans"/>
                <a:ea typeface="Quattrocento Sans"/>
                <a:cs typeface="Quattrocento Sans"/>
                <a:sym typeface="Quattrocento Sans"/>
              </a:rPr>
              <a:t>индекс Gini.</a:t>
            </a:r>
            <a:endParaRPr/>
          </a:p>
        </p:txBody>
      </p:sp>
      <p:pic>
        <p:nvPicPr>
          <p:cNvPr id="677" name="Google Shape;677;p61"/>
          <p:cNvPicPr preferRelativeResize="0"/>
          <p:nvPr/>
        </p:nvPicPr>
        <p:blipFill rotWithShape="1">
          <a:blip r:embed="rId3">
            <a:alphaModFix/>
          </a:blip>
          <a:srcRect b="0" l="0" r="0" t="0"/>
          <a:stretch/>
        </p:blipFill>
        <p:spPr>
          <a:xfrm>
            <a:off x="4937125" y="1169987"/>
            <a:ext cx="3825875" cy="4518025"/>
          </a:xfrm>
          <a:prstGeom prst="rect">
            <a:avLst/>
          </a:prstGeom>
          <a:noFill/>
          <a:ln>
            <a:noFill/>
          </a:ln>
        </p:spPr>
      </p:pic>
      <p:sp>
        <p:nvSpPr>
          <p:cNvPr id="678" name="Google Shape;678;p61"/>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62"/>
          <p:cNvSpPr txBox="1"/>
          <p:nvPr>
            <p:ph type="title"/>
          </p:nvPr>
        </p:nvSpPr>
        <p:spPr>
          <a:xfrm>
            <a:off x="390525" y="228600"/>
            <a:ext cx="8372475" cy="61595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1" i="0" lang="en-US" sz="4000" u="none">
                <a:solidFill>
                  <a:schemeClr val="lt2"/>
                </a:solidFill>
                <a:latin typeface="Quattrocento Sans"/>
                <a:ea typeface="Quattrocento Sans"/>
                <a:cs typeface="Quattrocento Sans"/>
                <a:sym typeface="Quattrocento Sans"/>
              </a:rPr>
              <a:t>Критерий расщепления</a:t>
            </a:r>
            <a:endParaRPr/>
          </a:p>
        </p:txBody>
      </p:sp>
      <p:pic>
        <p:nvPicPr>
          <p:cNvPr id="684" name="Google Shape;684;p62"/>
          <p:cNvPicPr preferRelativeResize="0"/>
          <p:nvPr>
            <p:ph idx="1" type="body"/>
          </p:nvPr>
        </p:nvPicPr>
        <p:blipFill rotWithShape="1">
          <a:blip r:embed="rId3">
            <a:alphaModFix/>
          </a:blip>
          <a:srcRect b="0" l="0" r="0" t="0"/>
          <a:stretch/>
        </p:blipFill>
        <p:spPr>
          <a:xfrm>
            <a:off x="323850" y="2044700"/>
            <a:ext cx="8505825" cy="4521200"/>
          </a:xfrm>
          <a:prstGeom prst="rect">
            <a:avLst/>
          </a:prstGeom>
          <a:noFill/>
          <a:ln>
            <a:noFill/>
          </a:ln>
        </p:spPr>
      </p:pic>
      <p:sp>
        <p:nvSpPr>
          <p:cNvPr id="685" name="Google Shape;685;p62"/>
          <p:cNvSpPr txBox="1"/>
          <p:nvPr/>
        </p:nvSpPr>
        <p:spPr>
          <a:xfrm>
            <a:off x="390525" y="857250"/>
            <a:ext cx="8153400" cy="9239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Quattrocento Sans"/>
              <a:buNone/>
            </a:pPr>
            <a:r>
              <a:rPr b="1" i="0" lang="en-US" sz="1800" u="none">
                <a:solidFill>
                  <a:schemeClr val="lt1"/>
                </a:solidFill>
                <a:latin typeface="Quattrocento Sans"/>
                <a:ea typeface="Quattrocento Sans"/>
                <a:cs typeface="Quattrocento Sans"/>
                <a:sym typeface="Quattrocento Sans"/>
              </a:rPr>
              <a:t>Дерево решений - это граф, представляющий варианты выбора и их результатов в виде дерева. Узлы графа представляют событие или выбор, а ребра графа - правила принятия решений или условия.</a:t>
            </a:r>
            <a:endParaRPr/>
          </a:p>
        </p:txBody>
      </p:sp>
    </p:spTree>
  </p:cSld>
  <p:clrMapOvr>
    <a:masterClrMapping/>
  </p:clrMapOvr>
  <p:transition spd="slow">
    <p:fade/>
  </p:transition>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63"/>
          <p:cNvSpPr txBox="1"/>
          <p:nvPr>
            <p:ph type="title"/>
          </p:nvPr>
        </p:nvSpPr>
        <p:spPr>
          <a:xfrm>
            <a:off x="390525" y="228600"/>
            <a:ext cx="8372475" cy="61595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1" i="0" lang="en-US" sz="4000" u="none">
                <a:solidFill>
                  <a:schemeClr val="lt2"/>
                </a:solidFill>
                <a:latin typeface="Quattrocento Sans"/>
                <a:ea typeface="Quattrocento Sans"/>
                <a:cs typeface="Quattrocento Sans"/>
                <a:sym typeface="Quattrocento Sans"/>
              </a:rPr>
              <a:t>Критерий расщепления</a:t>
            </a:r>
            <a:endParaRPr/>
          </a:p>
        </p:txBody>
      </p:sp>
      <p:sp>
        <p:nvSpPr>
          <p:cNvPr id="692" name="Google Shape;692;p63"/>
          <p:cNvSpPr txBox="1"/>
          <p:nvPr>
            <p:ph idx="1" type="body"/>
          </p:nvPr>
        </p:nvSpPr>
        <p:spPr>
          <a:xfrm>
            <a:off x="211137" y="1054100"/>
            <a:ext cx="8721725" cy="4749800"/>
          </a:xfrm>
          <a:prstGeom prst="rect">
            <a:avLst/>
          </a:prstGeom>
          <a:noFill/>
          <a:ln>
            <a:noFill/>
          </a:ln>
        </p:spPr>
        <p:txBody>
          <a:bodyPr anchorCtr="0" anchor="t" bIns="45700" lIns="91425" spcFirstLastPara="1" rIns="91425" wrap="square" tIns="45700">
            <a:spAutoFit/>
          </a:bodyPr>
          <a:lstStyle/>
          <a:p>
            <a:pPr indent="-334962" lvl="0" marL="334962" rtl="0" algn="l">
              <a:lnSpc>
                <a:spcPct val="85000"/>
              </a:lnSpc>
              <a:spcBef>
                <a:spcPts val="0"/>
              </a:spcBef>
              <a:spcAft>
                <a:spcPts val="0"/>
              </a:spcAft>
              <a:buSzPts val="1600"/>
              <a:buChar char="•"/>
            </a:pPr>
            <a:r>
              <a:rPr b="1" i="1" lang="en-US" sz="2000" u="none">
                <a:solidFill>
                  <a:srgbClr val="FFFF00"/>
                </a:solidFill>
                <a:latin typeface="Quattrocento Sans"/>
                <a:ea typeface="Quattrocento Sans"/>
                <a:cs typeface="Quattrocento Sans"/>
                <a:sym typeface="Quattrocento Sans"/>
              </a:rPr>
              <a:t>Индекс Gini </a:t>
            </a:r>
            <a:r>
              <a:rPr b="1" i="0" lang="en-US" sz="2000" u="none">
                <a:solidFill>
                  <a:schemeClr val="lt1"/>
                </a:solidFill>
                <a:latin typeface="Quattrocento Sans"/>
                <a:ea typeface="Quattrocento Sans"/>
                <a:cs typeface="Quattrocento Sans"/>
                <a:sym typeface="Quattrocento Sans"/>
              </a:rPr>
              <a:t>- </a:t>
            </a:r>
            <a:r>
              <a:rPr b="0" i="0" lang="en-US" sz="2000" u="none">
                <a:solidFill>
                  <a:schemeClr val="lt1"/>
                </a:solidFill>
                <a:latin typeface="Quattrocento Sans"/>
                <a:ea typeface="Quattrocento Sans"/>
                <a:cs typeface="Quattrocento Sans"/>
                <a:sym typeface="Quattrocento Sans"/>
              </a:rPr>
              <a:t>критерий расщепления, предложенный Брейманом (Breiman) и др., реализован в алгоритме </a:t>
            </a:r>
            <a:r>
              <a:rPr b="1" i="0" lang="en-US" sz="2000" u="none">
                <a:solidFill>
                  <a:schemeClr val="lt1"/>
                </a:solidFill>
                <a:latin typeface="Quattrocento Sans"/>
                <a:ea typeface="Quattrocento Sans"/>
                <a:cs typeface="Quattrocento Sans"/>
                <a:sym typeface="Quattrocento Sans"/>
              </a:rPr>
              <a:t>CART </a:t>
            </a:r>
            <a:r>
              <a:rPr b="0" i="0" lang="en-US" sz="2000" u="none">
                <a:solidFill>
                  <a:schemeClr val="lt1"/>
                </a:solidFill>
                <a:latin typeface="Quattrocento Sans"/>
                <a:ea typeface="Quattrocento Sans"/>
                <a:cs typeface="Quattrocento Sans"/>
                <a:sym typeface="Quattrocento Sans"/>
              </a:rPr>
              <a:t> (Classification and Regression Tree). </a:t>
            </a:r>
            <a:endParaRPr/>
          </a:p>
          <a:p>
            <a:pPr indent="-334962" lvl="0" marL="334962" rtl="0" algn="l">
              <a:lnSpc>
                <a:spcPct val="85000"/>
              </a:lnSpc>
              <a:spcBef>
                <a:spcPts val="500"/>
              </a:spcBef>
              <a:spcAft>
                <a:spcPts val="0"/>
              </a:spcAft>
              <a:buSzPts val="1600"/>
              <a:buChar char="•"/>
            </a:pPr>
            <a:r>
              <a:rPr b="0" i="0" lang="en-US" sz="2000" u="none">
                <a:solidFill>
                  <a:schemeClr val="lt1"/>
                </a:solidFill>
                <a:latin typeface="Quattrocento Sans"/>
                <a:ea typeface="Quattrocento Sans"/>
                <a:cs typeface="Quattrocento Sans"/>
                <a:sym typeface="Quattrocento Sans"/>
              </a:rPr>
              <a:t>При помощи этого индекса атрибут выбирается на основании расстояний между распределениями классов.</a:t>
            </a:r>
            <a:endParaRPr/>
          </a:p>
          <a:p>
            <a:pPr indent="-334962" lvl="0" marL="334962" rtl="0" algn="l">
              <a:lnSpc>
                <a:spcPct val="85000"/>
              </a:lnSpc>
              <a:spcBef>
                <a:spcPts val="500"/>
              </a:spcBef>
              <a:spcAft>
                <a:spcPts val="0"/>
              </a:spcAft>
              <a:buSzPts val="1600"/>
              <a:buChar char="•"/>
            </a:pPr>
            <a:r>
              <a:rPr b="0" i="0" lang="en-US" sz="2000" u="none">
                <a:solidFill>
                  <a:schemeClr val="lt1"/>
                </a:solidFill>
                <a:latin typeface="Quattrocento Sans"/>
                <a:ea typeface="Quattrocento Sans"/>
                <a:cs typeface="Quattrocento Sans"/>
                <a:sym typeface="Quattrocento Sans"/>
              </a:rPr>
              <a:t>Если дано множество </a:t>
            </a:r>
            <a:r>
              <a:rPr b="1" i="1" lang="en-US" sz="2000" u="none">
                <a:solidFill>
                  <a:srgbClr val="FFFF00"/>
                </a:solidFill>
                <a:latin typeface="Quattrocento Sans"/>
                <a:ea typeface="Quattrocento Sans"/>
                <a:cs typeface="Quattrocento Sans"/>
                <a:sym typeface="Quattrocento Sans"/>
              </a:rPr>
              <a:t>T</a:t>
            </a:r>
            <a:r>
              <a:rPr b="0" i="0" lang="en-US" sz="2000" u="none">
                <a:solidFill>
                  <a:schemeClr val="lt1"/>
                </a:solidFill>
                <a:latin typeface="Quattrocento Sans"/>
                <a:ea typeface="Quattrocento Sans"/>
                <a:cs typeface="Quattrocento Sans"/>
                <a:sym typeface="Quattrocento Sans"/>
              </a:rPr>
              <a:t>, включающее примеры из </a:t>
            </a:r>
            <a:r>
              <a:rPr b="1" i="1" lang="en-US" sz="2000" u="none">
                <a:solidFill>
                  <a:srgbClr val="FFFF00"/>
                </a:solidFill>
                <a:latin typeface="Quattrocento Sans"/>
                <a:ea typeface="Quattrocento Sans"/>
                <a:cs typeface="Quattrocento Sans"/>
                <a:sym typeface="Quattrocento Sans"/>
              </a:rPr>
              <a:t>n</a:t>
            </a:r>
            <a:r>
              <a:rPr b="0" i="0" lang="en-US" sz="2000" u="none">
                <a:solidFill>
                  <a:schemeClr val="lt1"/>
                </a:solidFill>
                <a:latin typeface="Quattrocento Sans"/>
                <a:ea typeface="Quattrocento Sans"/>
                <a:cs typeface="Quattrocento Sans"/>
                <a:sym typeface="Quattrocento Sans"/>
              </a:rPr>
              <a:t> классов, индекс Gini, т.е. </a:t>
            </a:r>
            <a:r>
              <a:rPr b="1" i="1" lang="en-US" sz="2000" u="none">
                <a:solidFill>
                  <a:srgbClr val="FFFF00"/>
                </a:solidFill>
                <a:latin typeface="Quattrocento Sans"/>
                <a:ea typeface="Quattrocento Sans"/>
                <a:cs typeface="Quattrocento Sans"/>
                <a:sym typeface="Quattrocento Sans"/>
              </a:rPr>
              <a:t>Gini(T), </a:t>
            </a:r>
            <a:r>
              <a:rPr b="0" i="0" lang="en-US" sz="2000" u="none">
                <a:solidFill>
                  <a:schemeClr val="lt1"/>
                </a:solidFill>
                <a:latin typeface="Quattrocento Sans"/>
                <a:ea typeface="Quattrocento Sans"/>
                <a:cs typeface="Quattrocento Sans"/>
                <a:sym typeface="Quattrocento Sans"/>
              </a:rPr>
              <a:t>определяется по формуле </a:t>
            </a:r>
            <a:r>
              <a:rPr b="1" i="1" lang="en-US" sz="2000" u="none">
                <a:solidFill>
                  <a:schemeClr val="lt1"/>
                </a:solidFill>
                <a:latin typeface="Quattrocento Sans"/>
                <a:ea typeface="Quattrocento Sans"/>
                <a:cs typeface="Quattrocento Sans"/>
                <a:sym typeface="Quattrocento Sans"/>
              </a:rPr>
              <a:t>(1)</a:t>
            </a:r>
            <a:r>
              <a:rPr b="0" i="0" lang="en-US" sz="2000" u="none">
                <a:solidFill>
                  <a:schemeClr val="lt1"/>
                </a:solidFill>
                <a:latin typeface="Quattrocento Sans"/>
                <a:ea typeface="Quattrocento Sans"/>
                <a:cs typeface="Quattrocento Sans"/>
                <a:sym typeface="Quattrocento Sans"/>
              </a:rPr>
              <a:t>:</a:t>
            </a:r>
            <a:endParaRPr/>
          </a:p>
          <a:p>
            <a:pPr indent="-233361" lvl="0" marL="334962" rtl="0" algn="l">
              <a:lnSpc>
                <a:spcPct val="85000"/>
              </a:lnSpc>
              <a:spcBef>
                <a:spcPts val="500"/>
              </a:spcBef>
              <a:spcAft>
                <a:spcPts val="0"/>
              </a:spcAft>
              <a:buSzPts val="1600"/>
              <a:buNone/>
            </a:pPr>
            <a:r>
              <a:t/>
            </a:r>
            <a:endParaRPr b="0" i="0" sz="2000" u="none">
              <a:solidFill>
                <a:schemeClr val="lt1"/>
              </a:solidFill>
              <a:latin typeface="Quattrocento Sans"/>
              <a:ea typeface="Quattrocento Sans"/>
              <a:cs typeface="Quattrocento Sans"/>
              <a:sym typeface="Quattrocento Sans"/>
            </a:endParaRPr>
          </a:p>
          <a:p>
            <a:pPr indent="-233361" lvl="0" marL="334962" rtl="0" algn="l">
              <a:lnSpc>
                <a:spcPct val="85000"/>
              </a:lnSpc>
              <a:spcBef>
                <a:spcPts val="500"/>
              </a:spcBef>
              <a:spcAft>
                <a:spcPts val="0"/>
              </a:spcAft>
              <a:buSzPts val="1600"/>
              <a:buNone/>
            </a:pPr>
            <a:r>
              <a:t/>
            </a:r>
            <a:endParaRPr b="0" i="0" sz="2000" u="none">
              <a:solidFill>
                <a:schemeClr val="lt1"/>
              </a:solidFill>
              <a:latin typeface="Quattrocento Sans"/>
              <a:ea typeface="Quattrocento Sans"/>
              <a:cs typeface="Quattrocento Sans"/>
              <a:sym typeface="Quattrocento Sans"/>
            </a:endParaRPr>
          </a:p>
          <a:p>
            <a:pPr indent="-282575" lvl="1" marL="619125" rtl="0" algn="l">
              <a:lnSpc>
                <a:spcPct val="85000"/>
              </a:lnSpc>
              <a:spcBef>
                <a:spcPts val="400"/>
              </a:spcBef>
              <a:spcAft>
                <a:spcPts val="0"/>
              </a:spcAft>
              <a:buSzPts val="1200"/>
              <a:buChar char="•"/>
            </a:pPr>
            <a:r>
              <a:rPr b="0" i="0" lang="en-US" sz="1600" u="none">
                <a:solidFill>
                  <a:schemeClr val="lt1"/>
                </a:solidFill>
                <a:latin typeface="Quattrocento Sans"/>
                <a:ea typeface="Quattrocento Sans"/>
                <a:cs typeface="Quattrocento Sans"/>
                <a:sym typeface="Quattrocento Sans"/>
              </a:rPr>
              <a:t>где </a:t>
            </a:r>
            <a:r>
              <a:rPr b="1" i="1" lang="en-US" sz="1600" u="none">
                <a:solidFill>
                  <a:srgbClr val="FFFF00"/>
                </a:solidFill>
                <a:latin typeface="Quattrocento Sans"/>
                <a:ea typeface="Quattrocento Sans"/>
                <a:cs typeface="Quattrocento Sans"/>
                <a:sym typeface="Quattrocento Sans"/>
              </a:rPr>
              <a:t>T</a:t>
            </a:r>
            <a:r>
              <a:rPr b="0" i="0" lang="en-US" sz="1600" u="none">
                <a:solidFill>
                  <a:schemeClr val="lt1"/>
                </a:solidFill>
                <a:latin typeface="Quattrocento Sans"/>
                <a:ea typeface="Quattrocento Sans"/>
                <a:cs typeface="Quattrocento Sans"/>
                <a:sym typeface="Quattrocento Sans"/>
              </a:rPr>
              <a:t> - текущий узел, </a:t>
            </a:r>
            <a:r>
              <a:rPr b="1" i="1" lang="en-US" sz="1600" u="none">
                <a:solidFill>
                  <a:srgbClr val="FFFF00"/>
                </a:solidFill>
                <a:latin typeface="Quattrocento Sans"/>
                <a:ea typeface="Quattrocento Sans"/>
                <a:cs typeface="Quattrocento Sans"/>
                <a:sym typeface="Quattrocento Sans"/>
              </a:rPr>
              <a:t>p</a:t>
            </a:r>
            <a:r>
              <a:rPr b="1" baseline="-25000" i="1" lang="en-US" sz="1600" u="none">
                <a:solidFill>
                  <a:srgbClr val="FFFF00"/>
                </a:solidFill>
                <a:latin typeface="Quattrocento Sans"/>
                <a:ea typeface="Quattrocento Sans"/>
                <a:cs typeface="Quattrocento Sans"/>
                <a:sym typeface="Quattrocento Sans"/>
              </a:rPr>
              <a:t>j</a:t>
            </a:r>
            <a:r>
              <a:rPr b="0" i="0" lang="en-US" sz="1600" u="none">
                <a:solidFill>
                  <a:schemeClr val="lt1"/>
                </a:solidFill>
                <a:latin typeface="Quattrocento Sans"/>
                <a:ea typeface="Quattrocento Sans"/>
                <a:cs typeface="Quattrocento Sans"/>
                <a:sym typeface="Quattrocento Sans"/>
              </a:rPr>
              <a:t> - вероятность класса </a:t>
            </a:r>
            <a:r>
              <a:rPr b="1" i="1" lang="en-US" sz="1600" u="none">
                <a:solidFill>
                  <a:srgbClr val="FFFF00"/>
                </a:solidFill>
                <a:latin typeface="Quattrocento Sans"/>
                <a:ea typeface="Quattrocento Sans"/>
                <a:cs typeface="Quattrocento Sans"/>
                <a:sym typeface="Quattrocento Sans"/>
              </a:rPr>
              <a:t>j</a:t>
            </a:r>
            <a:r>
              <a:rPr b="0" i="0" lang="en-US" sz="1600" u="none">
                <a:solidFill>
                  <a:schemeClr val="lt1"/>
                </a:solidFill>
                <a:latin typeface="Quattrocento Sans"/>
                <a:ea typeface="Quattrocento Sans"/>
                <a:cs typeface="Quattrocento Sans"/>
                <a:sym typeface="Quattrocento Sans"/>
              </a:rPr>
              <a:t> в узле </a:t>
            </a:r>
            <a:r>
              <a:rPr b="1" i="1" lang="en-US" sz="1600" u="none">
                <a:solidFill>
                  <a:srgbClr val="FFFF00"/>
                </a:solidFill>
                <a:latin typeface="Quattrocento Sans"/>
                <a:ea typeface="Quattrocento Sans"/>
                <a:cs typeface="Quattrocento Sans"/>
                <a:sym typeface="Quattrocento Sans"/>
              </a:rPr>
              <a:t>T, n </a:t>
            </a:r>
            <a:r>
              <a:rPr b="0" i="0" lang="en-US" sz="1600" u="none">
                <a:solidFill>
                  <a:schemeClr val="lt1"/>
                </a:solidFill>
                <a:latin typeface="Quattrocento Sans"/>
                <a:ea typeface="Quattrocento Sans"/>
                <a:cs typeface="Quattrocento Sans"/>
                <a:sym typeface="Quattrocento Sans"/>
              </a:rPr>
              <a:t>- количество классов.</a:t>
            </a:r>
            <a:endParaRPr/>
          </a:p>
          <a:p>
            <a:pPr indent="-334962" lvl="0" marL="334962" rtl="0" algn="l">
              <a:lnSpc>
                <a:spcPct val="85000"/>
              </a:lnSpc>
              <a:spcBef>
                <a:spcPts val="500"/>
              </a:spcBef>
              <a:spcAft>
                <a:spcPts val="0"/>
              </a:spcAft>
              <a:buSzPts val="1600"/>
              <a:buChar char="•"/>
            </a:pPr>
            <a:r>
              <a:rPr b="0" i="0" lang="en-US" sz="2000" u="none">
                <a:solidFill>
                  <a:schemeClr val="lt1"/>
                </a:solidFill>
                <a:latin typeface="Quattrocento Sans"/>
                <a:ea typeface="Quattrocento Sans"/>
                <a:cs typeface="Quattrocento Sans"/>
                <a:sym typeface="Quattrocento Sans"/>
              </a:rPr>
              <a:t>Коэффициент Джини является числом между 0 и 1, где нулю соответствует полное равенство (когда каждый имеет, например, одинаковый доход), а единице — абсолютное неравенство.</a:t>
            </a:r>
            <a:endParaRPr/>
          </a:p>
          <a:p>
            <a:pPr indent="-334962" lvl="0" marL="334962" rtl="0" algn="l">
              <a:lnSpc>
                <a:spcPct val="85000"/>
              </a:lnSpc>
              <a:spcBef>
                <a:spcPts val="500"/>
              </a:spcBef>
              <a:spcAft>
                <a:spcPts val="0"/>
              </a:spcAft>
              <a:buSzPts val="1600"/>
              <a:buChar char="•"/>
            </a:pPr>
            <a:r>
              <a:rPr b="0" i="0" lang="en-US" sz="2000" u="none">
                <a:solidFill>
                  <a:schemeClr val="lt1"/>
                </a:solidFill>
                <a:latin typeface="Quattrocento Sans"/>
                <a:ea typeface="Quattrocento Sans"/>
                <a:cs typeface="Quattrocento Sans"/>
                <a:sym typeface="Quattrocento Sans"/>
              </a:rPr>
              <a:t>Если набор </a:t>
            </a:r>
            <a:r>
              <a:rPr b="0" i="1" lang="en-US" sz="2000" u="none">
                <a:solidFill>
                  <a:schemeClr val="lt1"/>
                </a:solidFill>
                <a:latin typeface="Quattrocento Sans"/>
                <a:ea typeface="Quattrocento Sans"/>
                <a:cs typeface="Quattrocento Sans"/>
                <a:sym typeface="Quattrocento Sans"/>
              </a:rPr>
              <a:t>Т</a:t>
            </a:r>
            <a:r>
              <a:rPr b="0" i="0" lang="en-US" sz="2000" u="none">
                <a:solidFill>
                  <a:schemeClr val="lt1"/>
                </a:solidFill>
                <a:latin typeface="Quattrocento Sans"/>
                <a:ea typeface="Quattrocento Sans"/>
                <a:cs typeface="Quattrocento Sans"/>
                <a:sym typeface="Quattrocento Sans"/>
              </a:rPr>
              <a:t> разбивается на две части </a:t>
            </a:r>
            <a:r>
              <a:rPr b="0" i="1" lang="en-US" sz="2000" u="none">
                <a:solidFill>
                  <a:schemeClr val="lt1"/>
                </a:solidFill>
                <a:latin typeface="Quattrocento Sans"/>
                <a:ea typeface="Quattrocento Sans"/>
                <a:cs typeface="Quattrocento Sans"/>
                <a:sym typeface="Quattrocento Sans"/>
              </a:rPr>
              <a:t>Т1</a:t>
            </a:r>
            <a:r>
              <a:rPr b="0" i="0" lang="en-US" sz="2000" u="none">
                <a:solidFill>
                  <a:schemeClr val="lt1"/>
                </a:solidFill>
                <a:latin typeface="Quattrocento Sans"/>
                <a:ea typeface="Quattrocento Sans"/>
                <a:cs typeface="Quattrocento Sans"/>
                <a:sym typeface="Quattrocento Sans"/>
              </a:rPr>
              <a:t> и </a:t>
            </a:r>
            <a:r>
              <a:rPr b="0" i="1" lang="en-US" sz="2000" u="none">
                <a:solidFill>
                  <a:schemeClr val="lt1"/>
                </a:solidFill>
                <a:latin typeface="Quattrocento Sans"/>
                <a:ea typeface="Quattrocento Sans"/>
                <a:cs typeface="Quattrocento Sans"/>
                <a:sym typeface="Quattrocento Sans"/>
              </a:rPr>
              <a:t>Т2</a:t>
            </a:r>
            <a:r>
              <a:rPr b="0" i="0" lang="en-US" sz="2000" u="none">
                <a:solidFill>
                  <a:schemeClr val="lt1"/>
                </a:solidFill>
                <a:latin typeface="Quattrocento Sans"/>
                <a:ea typeface="Quattrocento Sans"/>
                <a:cs typeface="Quattrocento Sans"/>
                <a:sym typeface="Quattrocento Sans"/>
              </a:rPr>
              <a:t> с числом примеров в каждом </a:t>
            </a:r>
            <a:r>
              <a:rPr b="0" i="1" lang="en-US" sz="2000" u="none">
                <a:solidFill>
                  <a:schemeClr val="lt1"/>
                </a:solidFill>
                <a:latin typeface="Quattrocento Sans"/>
                <a:ea typeface="Quattrocento Sans"/>
                <a:cs typeface="Quattrocento Sans"/>
                <a:sym typeface="Quattrocento Sans"/>
              </a:rPr>
              <a:t>N1</a:t>
            </a:r>
            <a:r>
              <a:rPr b="0" i="0" lang="en-US" sz="2000" u="none">
                <a:solidFill>
                  <a:schemeClr val="lt1"/>
                </a:solidFill>
                <a:latin typeface="Quattrocento Sans"/>
                <a:ea typeface="Quattrocento Sans"/>
                <a:cs typeface="Quattrocento Sans"/>
                <a:sym typeface="Quattrocento Sans"/>
              </a:rPr>
              <a:t> и </a:t>
            </a:r>
            <a:r>
              <a:rPr b="0" i="1" lang="en-US" sz="2000" u="none">
                <a:solidFill>
                  <a:schemeClr val="lt1"/>
                </a:solidFill>
                <a:latin typeface="Quattrocento Sans"/>
                <a:ea typeface="Quattrocento Sans"/>
                <a:cs typeface="Quattrocento Sans"/>
                <a:sym typeface="Quattrocento Sans"/>
              </a:rPr>
              <a:t>N2</a:t>
            </a:r>
            <a:r>
              <a:rPr b="0" i="0" lang="en-US" sz="2000" u="none">
                <a:solidFill>
                  <a:schemeClr val="lt1"/>
                </a:solidFill>
                <a:latin typeface="Quattrocento Sans"/>
                <a:ea typeface="Quattrocento Sans"/>
                <a:cs typeface="Quattrocento Sans"/>
                <a:sym typeface="Quattrocento Sans"/>
              </a:rPr>
              <a:t> соответственно, тогда показатель качества разбиения будет определяться по формуле (</a:t>
            </a:r>
            <a:r>
              <a:rPr b="1" i="1" lang="en-US" sz="2000" u="none">
                <a:solidFill>
                  <a:schemeClr val="lt1"/>
                </a:solidFill>
                <a:latin typeface="Quattrocento Sans"/>
                <a:ea typeface="Quattrocento Sans"/>
                <a:cs typeface="Quattrocento Sans"/>
                <a:sym typeface="Quattrocento Sans"/>
              </a:rPr>
              <a:t>2)</a:t>
            </a:r>
            <a:r>
              <a:rPr b="0" i="0" lang="en-US" sz="2000" u="none">
                <a:solidFill>
                  <a:schemeClr val="lt1"/>
                </a:solidFill>
                <a:latin typeface="Quattrocento Sans"/>
                <a:ea typeface="Quattrocento Sans"/>
                <a:cs typeface="Quattrocento Sans"/>
                <a:sym typeface="Quattrocento Sans"/>
              </a:rPr>
              <a:t>.</a:t>
            </a:r>
            <a:endParaRPr/>
          </a:p>
        </p:txBody>
      </p:sp>
      <p:pic>
        <p:nvPicPr>
          <p:cNvPr descr="Gini_\text{split}(T)=\frac{N_1}{N}\cdot Gini(T_1)+\frac{N_2}{N}\cdot Gini(T_2)" id="693" name="Google Shape;693;p63"/>
          <p:cNvPicPr preferRelativeResize="0"/>
          <p:nvPr/>
        </p:nvPicPr>
        <p:blipFill rotWithShape="1">
          <a:blip r:embed="rId3">
            <a:alphaModFix/>
          </a:blip>
          <a:srcRect b="0" l="0" r="0" t="0"/>
          <a:stretch/>
        </p:blipFill>
        <p:spPr>
          <a:xfrm>
            <a:off x="3194475" y="2903762"/>
            <a:ext cx="4452937" cy="530225"/>
          </a:xfrm>
          <a:prstGeom prst="rect">
            <a:avLst/>
          </a:prstGeom>
          <a:noFill/>
          <a:ln>
            <a:noFill/>
          </a:ln>
        </p:spPr>
      </p:pic>
      <p:pic>
        <p:nvPicPr>
          <p:cNvPr descr="Gini(T)=1-\sum_{i=1}^n p_i^2" id="694" name="Google Shape;694;p63"/>
          <p:cNvPicPr preferRelativeResize="0"/>
          <p:nvPr/>
        </p:nvPicPr>
        <p:blipFill rotWithShape="1">
          <a:blip r:embed="rId4">
            <a:alphaModFix/>
          </a:blip>
          <a:srcRect b="0" l="0" r="0" t="0"/>
          <a:stretch/>
        </p:blipFill>
        <p:spPr>
          <a:xfrm>
            <a:off x="790187" y="2974712"/>
            <a:ext cx="1905000" cy="530225"/>
          </a:xfrm>
          <a:prstGeom prst="rect">
            <a:avLst/>
          </a:prstGeom>
          <a:noFill/>
          <a:ln>
            <a:noFill/>
          </a:ln>
        </p:spPr>
      </p:pic>
      <p:sp>
        <p:nvSpPr>
          <p:cNvPr id="695" name="Google Shape;695;p63"/>
          <p:cNvSpPr txBox="1"/>
          <p:nvPr/>
        </p:nvSpPr>
        <p:spPr>
          <a:xfrm>
            <a:off x="2978150" y="3324225"/>
            <a:ext cx="550862"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Quattrocento Sans"/>
              <a:buNone/>
            </a:pPr>
            <a:r>
              <a:rPr b="1" i="0" lang="en-US" sz="1800" u="none">
                <a:solidFill>
                  <a:schemeClr val="lt1"/>
                </a:solidFill>
                <a:latin typeface="Quattrocento Sans"/>
                <a:ea typeface="Quattrocento Sans"/>
                <a:cs typeface="Quattrocento Sans"/>
                <a:sym typeface="Quattrocento Sans"/>
              </a:rPr>
              <a:t>(1)</a:t>
            </a:r>
            <a:endParaRPr/>
          </a:p>
        </p:txBody>
      </p:sp>
      <p:sp>
        <p:nvSpPr>
          <p:cNvPr id="696" name="Google Shape;696;p63"/>
          <p:cNvSpPr txBox="1"/>
          <p:nvPr/>
        </p:nvSpPr>
        <p:spPr>
          <a:xfrm>
            <a:off x="8294687" y="3324225"/>
            <a:ext cx="550862"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Quattrocento Sans"/>
              <a:buNone/>
            </a:pPr>
            <a:r>
              <a:rPr b="1" i="0" lang="en-US" sz="1800" u="none">
                <a:solidFill>
                  <a:schemeClr val="lt1"/>
                </a:solidFill>
                <a:latin typeface="Quattrocento Sans"/>
                <a:ea typeface="Quattrocento Sans"/>
                <a:cs typeface="Quattrocento Sans"/>
                <a:sym typeface="Quattrocento Sans"/>
              </a:rPr>
              <a:t>(2)</a:t>
            </a:r>
            <a:endParaRPr/>
          </a:p>
        </p:txBody>
      </p:sp>
      <p:sp>
        <p:nvSpPr>
          <p:cNvPr id="697" name="Google Shape;697;p63"/>
          <p:cNvSpPr txBox="1"/>
          <p:nvPr/>
        </p:nvSpPr>
        <p:spPr>
          <a:xfrm>
            <a:off x="8051800" y="6289675"/>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64"/>
          <p:cNvSpPr txBox="1"/>
          <p:nvPr>
            <p:ph type="title"/>
          </p:nvPr>
        </p:nvSpPr>
        <p:spPr>
          <a:xfrm>
            <a:off x="390525" y="228600"/>
            <a:ext cx="8372475" cy="1033462"/>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3600"/>
              <a:buFont typeface="Quattrocento Sans"/>
              <a:buNone/>
            </a:pPr>
            <a:r>
              <a:rPr b="1" i="0" lang="en-US" sz="3600" u="none">
                <a:solidFill>
                  <a:schemeClr val="lt2"/>
                </a:solidFill>
                <a:latin typeface="Quattrocento Sans"/>
                <a:ea typeface="Quattrocento Sans"/>
                <a:cs typeface="Quattrocento Sans"/>
                <a:sym typeface="Quattrocento Sans"/>
              </a:rPr>
              <a:t>Критерий расщепления – коэффициент Gini</a:t>
            </a:r>
            <a:endParaRPr/>
          </a:p>
        </p:txBody>
      </p:sp>
      <p:pic>
        <p:nvPicPr>
          <p:cNvPr id="704" name="Google Shape;704;p64"/>
          <p:cNvPicPr preferRelativeResize="0"/>
          <p:nvPr/>
        </p:nvPicPr>
        <p:blipFill rotWithShape="1">
          <a:blip r:embed="rId3">
            <a:alphaModFix/>
          </a:blip>
          <a:srcRect b="0" l="0" r="0" t="0"/>
          <a:stretch/>
        </p:blipFill>
        <p:spPr>
          <a:xfrm>
            <a:off x="1157287" y="1366837"/>
            <a:ext cx="6143625" cy="3875087"/>
          </a:xfrm>
          <a:prstGeom prst="rect">
            <a:avLst/>
          </a:prstGeom>
          <a:noFill/>
          <a:ln>
            <a:noFill/>
          </a:ln>
        </p:spPr>
      </p:pic>
      <p:sp>
        <p:nvSpPr>
          <p:cNvPr id="705" name="Google Shape;705;p64"/>
          <p:cNvSpPr txBox="1"/>
          <p:nvPr/>
        </p:nvSpPr>
        <p:spPr>
          <a:xfrm>
            <a:off x="184150" y="5208587"/>
            <a:ext cx="8794750" cy="1477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Quattrocento Sans"/>
              <a:buNone/>
            </a:pPr>
            <a:r>
              <a:rPr b="0" i="0" lang="en-US" sz="1800" u="none">
                <a:solidFill>
                  <a:schemeClr val="lt1"/>
                </a:solidFill>
                <a:latin typeface="Quattrocento Sans"/>
                <a:ea typeface="Quattrocento Sans"/>
                <a:cs typeface="Quattrocento Sans"/>
                <a:sym typeface="Quattrocento Sans"/>
              </a:rPr>
              <a:t>Коэффициент Джини — статистический показатель степени расслоения общества данной страны или региона по отношению к какому-либо изучаемому признаку.</a:t>
            </a:r>
            <a:endParaRPr/>
          </a:p>
          <a:p>
            <a:pPr indent="0" lvl="0" marL="0" marR="0" rtl="0" algn="l">
              <a:lnSpc>
                <a:spcPct val="100000"/>
              </a:lnSpc>
              <a:spcBef>
                <a:spcPts val="0"/>
              </a:spcBef>
              <a:spcAft>
                <a:spcPts val="0"/>
              </a:spcAft>
              <a:buClr>
                <a:schemeClr val="lt1"/>
              </a:buClr>
              <a:buSzPts val="1800"/>
              <a:buFont typeface="Quattrocento Sans"/>
              <a:buNone/>
            </a:pPr>
            <a:r>
              <a:rPr b="0" i="0" lang="en-US" sz="1800" u="none">
                <a:solidFill>
                  <a:schemeClr val="lt1"/>
                </a:solidFill>
                <a:latin typeface="Quattrocento Sans"/>
                <a:ea typeface="Quattrocento Sans"/>
                <a:cs typeface="Quattrocento Sans"/>
                <a:sym typeface="Quattrocento Sans"/>
              </a:rPr>
              <a:t>Коэффициент Джини изменяется от 0 до 1. Чем ближе его значение к нулю, тем более равномерно распределён показатель.</a:t>
            </a:r>
            <a:endParaRPr/>
          </a:p>
        </p:txBody>
      </p:sp>
      <p:sp>
        <p:nvSpPr>
          <p:cNvPr id="706" name="Google Shape;706;p64"/>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65"/>
          <p:cNvSpPr txBox="1"/>
          <p:nvPr>
            <p:ph type="title"/>
          </p:nvPr>
        </p:nvSpPr>
        <p:spPr>
          <a:xfrm>
            <a:off x="390525" y="228600"/>
            <a:ext cx="8372475" cy="61595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1" i="0" lang="en-US" sz="4000" u="none">
                <a:solidFill>
                  <a:schemeClr val="lt2"/>
                </a:solidFill>
                <a:latin typeface="Quattrocento Sans"/>
                <a:ea typeface="Quattrocento Sans"/>
                <a:cs typeface="Quattrocento Sans"/>
                <a:sym typeface="Quattrocento Sans"/>
              </a:rPr>
              <a:t>Остановка построения дерева</a:t>
            </a:r>
            <a:endParaRPr/>
          </a:p>
        </p:txBody>
      </p:sp>
      <p:sp>
        <p:nvSpPr>
          <p:cNvPr id="712" name="Google Shape;712;p65"/>
          <p:cNvSpPr txBox="1"/>
          <p:nvPr>
            <p:ph idx="1" type="body"/>
          </p:nvPr>
        </p:nvSpPr>
        <p:spPr>
          <a:xfrm>
            <a:off x="244475" y="1185862"/>
            <a:ext cx="8899525" cy="4924425"/>
          </a:xfrm>
          <a:prstGeom prst="rect">
            <a:avLst/>
          </a:prstGeom>
          <a:noFill/>
          <a:ln>
            <a:noFill/>
          </a:ln>
        </p:spPr>
        <p:txBody>
          <a:bodyPr anchorCtr="0" anchor="t" bIns="45700" lIns="91425" spcFirstLastPara="1" rIns="91425" wrap="square" tIns="45700">
            <a:spAutoFit/>
          </a:bodyPr>
          <a:lstStyle/>
          <a:p>
            <a:pPr indent="-334962" lvl="0" marL="334962" rtl="0" algn="l">
              <a:lnSpc>
                <a:spcPct val="85000"/>
              </a:lnSpc>
              <a:spcBef>
                <a:spcPts val="0"/>
              </a:spcBef>
              <a:spcAft>
                <a:spcPts val="0"/>
              </a:spcAft>
              <a:buSzPts val="1760"/>
              <a:buChar char="•"/>
            </a:pPr>
            <a:r>
              <a:rPr b="1" i="1" lang="en-US" sz="2200" u="none">
                <a:solidFill>
                  <a:schemeClr val="lt1"/>
                </a:solidFill>
                <a:latin typeface="Quattrocento Sans"/>
                <a:ea typeface="Quattrocento Sans"/>
                <a:cs typeface="Quattrocento Sans"/>
                <a:sym typeface="Quattrocento Sans"/>
              </a:rPr>
              <a:t>Остановка</a:t>
            </a:r>
            <a:r>
              <a:rPr b="1" i="0" lang="en-US" sz="2200" u="none">
                <a:solidFill>
                  <a:schemeClr val="lt1"/>
                </a:solidFill>
                <a:latin typeface="Quattrocento Sans"/>
                <a:ea typeface="Quattrocento Sans"/>
                <a:cs typeface="Quattrocento Sans"/>
                <a:sym typeface="Quattrocento Sans"/>
              </a:rPr>
              <a:t> - такой момент в процессе построения дерева, когда следует прекратить дальнейшие ветвления</a:t>
            </a:r>
            <a:r>
              <a:rPr b="0" i="0" lang="en-US" sz="2200" u="none">
                <a:solidFill>
                  <a:schemeClr val="lt1"/>
                </a:solidFill>
                <a:latin typeface="Quattrocento Sans"/>
                <a:ea typeface="Quattrocento Sans"/>
                <a:cs typeface="Quattrocento Sans"/>
                <a:sym typeface="Quattrocento Sans"/>
              </a:rPr>
              <a:t>.</a:t>
            </a:r>
            <a:endParaRPr/>
          </a:p>
          <a:p>
            <a:pPr indent="-334962" lvl="0" marL="334962" rtl="0" algn="l">
              <a:lnSpc>
                <a:spcPct val="85000"/>
              </a:lnSpc>
              <a:spcBef>
                <a:spcPts val="550"/>
              </a:spcBef>
              <a:spcAft>
                <a:spcPts val="0"/>
              </a:spcAft>
              <a:buClr>
                <a:srgbClr val="F4BE96"/>
              </a:buClr>
              <a:buSzPts val="1760"/>
              <a:buFont typeface="Quattrocento Sans"/>
              <a:buAutoNum type="arabicPeriod"/>
            </a:pPr>
            <a:r>
              <a:rPr b="1" i="1" lang="en-US" sz="2200" u="none">
                <a:solidFill>
                  <a:srgbClr val="FFFF00"/>
                </a:solidFill>
                <a:latin typeface="Quattrocento Sans"/>
                <a:ea typeface="Quattrocento Sans"/>
                <a:cs typeface="Quattrocento Sans"/>
                <a:sym typeface="Quattrocento Sans"/>
              </a:rPr>
              <a:t>"Ранняя остановка" </a:t>
            </a:r>
            <a:r>
              <a:rPr b="0" i="0" lang="en-US" sz="2200" u="none">
                <a:solidFill>
                  <a:schemeClr val="lt1"/>
                </a:solidFill>
                <a:latin typeface="Quattrocento Sans"/>
                <a:ea typeface="Quattrocento Sans"/>
                <a:cs typeface="Quattrocento Sans"/>
                <a:sym typeface="Quattrocento Sans"/>
              </a:rPr>
              <a:t>(prepruning) -  определяет целесообразность разбиения узла. Преимущество использования такого варианта - уменьшение времени на обучение модели. Но здесь возникает риск снижения точности классификации. Поэтому рекомендуется "вместо остановки использовать отсечение" (Breiman, 1984).</a:t>
            </a:r>
            <a:endParaRPr/>
          </a:p>
          <a:p>
            <a:pPr indent="-334962" lvl="0" marL="334962" rtl="0" algn="l">
              <a:lnSpc>
                <a:spcPct val="85000"/>
              </a:lnSpc>
              <a:spcBef>
                <a:spcPts val="550"/>
              </a:spcBef>
              <a:spcAft>
                <a:spcPts val="0"/>
              </a:spcAft>
              <a:buClr>
                <a:srgbClr val="F4BE96"/>
              </a:buClr>
              <a:buSzPts val="1760"/>
              <a:buFont typeface="Quattrocento Sans"/>
              <a:buAutoNum type="arabicPeriod"/>
            </a:pPr>
            <a:r>
              <a:rPr b="1" i="1" lang="en-US" sz="2200" u="none">
                <a:solidFill>
                  <a:srgbClr val="FFFF00"/>
                </a:solidFill>
                <a:latin typeface="Quattrocento Sans"/>
                <a:ea typeface="Quattrocento Sans"/>
                <a:cs typeface="Quattrocento Sans"/>
                <a:sym typeface="Quattrocento Sans"/>
              </a:rPr>
              <a:t>Ограничение глубины дерева </a:t>
            </a:r>
            <a:r>
              <a:rPr b="0" i="0" lang="en-US" sz="2200" u="none">
                <a:solidFill>
                  <a:schemeClr val="lt1"/>
                </a:solidFill>
                <a:latin typeface="Quattrocento Sans"/>
                <a:ea typeface="Quattrocento Sans"/>
                <a:cs typeface="Quattrocento Sans"/>
                <a:sym typeface="Quattrocento Sans"/>
              </a:rPr>
              <a:t>(остановки обучения). Построение заканчивается, если достигнута заданная глубина.</a:t>
            </a:r>
            <a:endParaRPr/>
          </a:p>
          <a:p>
            <a:pPr indent="-334962" lvl="0" marL="334962" rtl="0" algn="l">
              <a:lnSpc>
                <a:spcPct val="85000"/>
              </a:lnSpc>
              <a:spcBef>
                <a:spcPts val="550"/>
              </a:spcBef>
              <a:spcAft>
                <a:spcPts val="0"/>
              </a:spcAft>
              <a:buClr>
                <a:srgbClr val="F4BE96"/>
              </a:buClr>
              <a:buSzPts val="1760"/>
              <a:buFont typeface="Quattrocento Sans"/>
              <a:buAutoNum type="arabicPeriod"/>
            </a:pPr>
            <a:r>
              <a:rPr b="1" i="1" lang="en-US" sz="2200" u="none">
                <a:solidFill>
                  <a:srgbClr val="FFFF00"/>
                </a:solidFill>
                <a:latin typeface="Quattrocento Sans"/>
                <a:ea typeface="Quattrocento Sans"/>
                <a:cs typeface="Quattrocento Sans"/>
                <a:sym typeface="Quattrocento Sans"/>
              </a:rPr>
              <a:t>Задание минимального количества примеров</a:t>
            </a:r>
            <a:r>
              <a:rPr b="0" i="0" lang="en-US" sz="2200" u="none">
                <a:solidFill>
                  <a:schemeClr val="lt1"/>
                </a:solidFill>
                <a:latin typeface="Quattrocento Sans"/>
                <a:ea typeface="Quattrocento Sans"/>
                <a:cs typeface="Quattrocento Sans"/>
                <a:sym typeface="Quattrocento Sans"/>
              </a:rPr>
              <a:t>, которые будут содержаться в конечных узлах дерева. Ветвления продолжаются до того момента, пока все конечные узлы дерева будут содержать не более чем заданное число объектов.</a:t>
            </a:r>
            <a:endParaRPr/>
          </a:p>
        </p:txBody>
      </p:sp>
      <p:sp>
        <p:nvSpPr>
          <p:cNvPr id="713" name="Google Shape;713;p65"/>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66"/>
          <p:cNvSpPr txBox="1"/>
          <p:nvPr>
            <p:ph type="title"/>
          </p:nvPr>
        </p:nvSpPr>
        <p:spPr>
          <a:xfrm>
            <a:off x="390525" y="228600"/>
            <a:ext cx="8372475" cy="1138237"/>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1" i="0" lang="en-US" sz="4000" u="none">
                <a:solidFill>
                  <a:schemeClr val="lt2"/>
                </a:solidFill>
                <a:latin typeface="Quattrocento Sans"/>
                <a:ea typeface="Quattrocento Sans"/>
                <a:cs typeface="Quattrocento Sans"/>
                <a:sym typeface="Quattrocento Sans"/>
              </a:rPr>
              <a:t>Сокращение дерева или отсечение ветвей</a:t>
            </a:r>
            <a:endParaRPr/>
          </a:p>
        </p:txBody>
      </p:sp>
      <p:sp>
        <p:nvSpPr>
          <p:cNvPr id="719" name="Google Shape;719;p66"/>
          <p:cNvSpPr txBox="1"/>
          <p:nvPr>
            <p:ph idx="1" type="body"/>
          </p:nvPr>
        </p:nvSpPr>
        <p:spPr>
          <a:xfrm>
            <a:off x="390525" y="1625600"/>
            <a:ext cx="8556625" cy="4348162"/>
          </a:xfrm>
          <a:prstGeom prst="rect">
            <a:avLst/>
          </a:prstGeom>
          <a:noFill/>
          <a:ln>
            <a:noFill/>
          </a:ln>
        </p:spPr>
        <p:txBody>
          <a:bodyPr anchorCtr="0" anchor="t" bIns="45700" lIns="91425" spcFirstLastPara="1" rIns="91425" wrap="square" tIns="45700">
            <a:spAutoFit/>
          </a:bodyPr>
          <a:lstStyle/>
          <a:p>
            <a:pPr indent="-334962" lvl="0" marL="334962" rtl="0" algn="l">
              <a:lnSpc>
                <a:spcPct val="85000"/>
              </a:lnSpc>
              <a:spcBef>
                <a:spcPts val="0"/>
              </a:spcBef>
              <a:spcAft>
                <a:spcPts val="0"/>
              </a:spcAft>
              <a:buSzPts val="1760"/>
              <a:buChar char="•"/>
            </a:pPr>
            <a:r>
              <a:rPr b="0" i="0" lang="en-US" sz="2200" u="none">
                <a:solidFill>
                  <a:schemeClr val="lt1"/>
                </a:solidFill>
                <a:latin typeface="Quattrocento Sans"/>
                <a:ea typeface="Quattrocento Sans"/>
                <a:cs typeface="Quattrocento Sans"/>
                <a:sym typeface="Quattrocento Sans"/>
              </a:rPr>
              <a:t>Решением проблемы слишком ветвистого дерева является его сокращение путем </a:t>
            </a:r>
            <a:r>
              <a:rPr b="1" i="1" lang="en-US" sz="2200" u="none">
                <a:solidFill>
                  <a:srgbClr val="FFFF00"/>
                </a:solidFill>
                <a:latin typeface="Quattrocento Sans"/>
                <a:ea typeface="Quattrocento Sans"/>
                <a:cs typeface="Quattrocento Sans"/>
                <a:sym typeface="Quattrocento Sans"/>
              </a:rPr>
              <a:t>отсечения (pruning) </a:t>
            </a:r>
            <a:r>
              <a:rPr b="0" i="0" lang="en-US" sz="2200" u="none">
                <a:solidFill>
                  <a:schemeClr val="lt1"/>
                </a:solidFill>
                <a:latin typeface="Quattrocento Sans"/>
                <a:ea typeface="Quattrocento Sans"/>
                <a:cs typeface="Quattrocento Sans"/>
                <a:sym typeface="Quattrocento Sans"/>
              </a:rPr>
              <a:t>некоторых ветвей.</a:t>
            </a:r>
            <a:endParaRPr/>
          </a:p>
          <a:p>
            <a:pPr indent="-334962" lvl="0" marL="334962" rtl="0" algn="l">
              <a:lnSpc>
                <a:spcPct val="85000"/>
              </a:lnSpc>
              <a:spcBef>
                <a:spcPts val="550"/>
              </a:spcBef>
              <a:spcAft>
                <a:spcPts val="0"/>
              </a:spcAft>
              <a:buSzPts val="1760"/>
              <a:buChar char="•"/>
            </a:pPr>
            <a:r>
              <a:rPr b="1" i="1" lang="en-US" sz="2200" u="none">
                <a:solidFill>
                  <a:schemeClr val="lt1"/>
                </a:solidFill>
                <a:latin typeface="Quattrocento Sans"/>
                <a:ea typeface="Quattrocento Sans"/>
                <a:cs typeface="Quattrocento Sans"/>
                <a:sym typeface="Quattrocento Sans"/>
              </a:rPr>
              <a:t>Качество классификационной модели</a:t>
            </a:r>
            <a:r>
              <a:rPr b="0" i="0" lang="en-US" sz="2200" u="none">
                <a:solidFill>
                  <a:schemeClr val="lt1"/>
                </a:solidFill>
                <a:latin typeface="Quattrocento Sans"/>
                <a:ea typeface="Quattrocento Sans"/>
                <a:cs typeface="Quattrocento Sans"/>
                <a:sym typeface="Quattrocento Sans"/>
              </a:rPr>
              <a:t>, построенной при помощи дерева решений, характеризуется двумя основными признаками: </a:t>
            </a:r>
            <a:r>
              <a:rPr b="1" i="1" lang="en-US" sz="2200" u="none">
                <a:solidFill>
                  <a:srgbClr val="FFFF00"/>
                </a:solidFill>
                <a:latin typeface="Quattrocento Sans"/>
                <a:ea typeface="Quattrocento Sans"/>
                <a:cs typeface="Quattrocento Sans"/>
                <a:sym typeface="Quattrocento Sans"/>
              </a:rPr>
              <a:t>точностью распознавания </a:t>
            </a:r>
            <a:r>
              <a:rPr b="0" i="0" lang="en-US" sz="2200" u="none">
                <a:solidFill>
                  <a:schemeClr val="lt1"/>
                </a:solidFill>
                <a:latin typeface="Quattrocento Sans"/>
                <a:ea typeface="Quattrocento Sans"/>
                <a:cs typeface="Quattrocento Sans"/>
                <a:sym typeface="Quattrocento Sans"/>
              </a:rPr>
              <a:t>и </a:t>
            </a:r>
            <a:r>
              <a:rPr b="1" i="1" lang="en-US" sz="2200" u="none">
                <a:solidFill>
                  <a:srgbClr val="FFFF00"/>
                </a:solidFill>
                <a:latin typeface="Quattrocento Sans"/>
                <a:ea typeface="Quattrocento Sans"/>
                <a:cs typeface="Quattrocento Sans"/>
                <a:sym typeface="Quattrocento Sans"/>
              </a:rPr>
              <a:t>ошибкой</a:t>
            </a:r>
            <a:r>
              <a:rPr b="0" i="0" lang="en-US" sz="2200" u="none">
                <a:solidFill>
                  <a:schemeClr val="lt1"/>
                </a:solidFill>
                <a:latin typeface="Quattrocento Sans"/>
                <a:ea typeface="Quattrocento Sans"/>
                <a:cs typeface="Quattrocento Sans"/>
                <a:sym typeface="Quattrocento Sans"/>
              </a:rPr>
              <a:t>.</a:t>
            </a:r>
            <a:endParaRPr/>
          </a:p>
          <a:p>
            <a:pPr indent="-334962" lvl="0" marL="334962" rtl="0" algn="l">
              <a:lnSpc>
                <a:spcPct val="85000"/>
              </a:lnSpc>
              <a:spcBef>
                <a:spcPts val="550"/>
              </a:spcBef>
              <a:spcAft>
                <a:spcPts val="0"/>
              </a:spcAft>
              <a:buSzPts val="1760"/>
              <a:buChar char="•"/>
            </a:pPr>
            <a:r>
              <a:rPr b="1" i="1" lang="en-US" sz="2200" u="none">
                <a:solidFill>
                  <a:srgbClr val="FFFF00"/>
                </a:solidFill>
                <a:latin typeface="Quattrocento Sans"/>
                <a:ea typeface="Quattrocento Sans"/>
                <a:cs typeface="Quattrocento Sans"/>
                <a:sym typeface="Quattrocento Sans"/>
              </a:rPr>
              <a:t>Точность распознавания</a:t>
            </a:r>
            <a:r>
              <a:rPr b="0" i="1" lang="en-US" sz="2200" u="none">
                <a:solidFill>
                  <a:srgbClr val="FFFF00"/>
                </a:solidFill>
                <a:latin typeface="Quattrocento Sans"/>
                <a:ea typeface="Quattrocento Sans"/>
                <a:cs typeface="Quattrocento Sans"/>
                <a:sym typeface="Quattrocento Sans"/>
              </a:rPr>
              <a:t> </a:t>
            </a:r>
            <a:r>
              <a:rPr b="0" i="0" lang="en-US" sz="2200" u="none">
                <a:solidFill>
                  <a:schemeClr val="lt1"/>
                </a:solidFill>
                <a:latin typeface="Quattrocento Sans"/>
                <a:ea typeface="Quattrocento Sans"/>
                <a:cs typeface="Quattrocento Sans"/>
                <a:sym typeface="Quattrocento Sans"/>
              </a:rPr>
              <a:t>рассчитывается как отношение объектов, правильно классифицированных в процессе обучения, к общему количеству объектов набора данных, которые принимали участие в обучении.</a:t>
            </a:r>
            <a:endParaRPr/>
          </a:p>
          <a:p>
            <a:pPr indent="-334962" lvl="0" marL="334962" rtl="0" algn="l">
              <a:lnSpc>
                <a:spcPct val="85000"/>
              </a:lnSpc>
              <a:spcBef>
                <a:spcPts val="550"/>
              </a:spcBef>
              <a:spcAft>
                <a:spcPts val="0"/>
              </a:spcAft>
              <a:buSzPts val="1760"/>
              <a:buChar char="•"/>
            </a:pPr>
            <a:r>
              <a:rPr b="1" i="1" lang="en-US" sz="2200" u="none">
                <a:solidFill>
                  <a:srgbClr val="FFFF00"/>
                </a:solidFill>
                <a:latin typeface="Quattrocento Sans"/>
                <a:ea typeface="Quattrocento Sans"/>
                <a:cs typeface="Quattrocento Sans"/>
                <a:sym typeface="Quattrocento Sans"/>
              </a:rPr>
              <a:t>Ошибка </a:t>
            </a:r>
            <a:r>
              <a:rPr b="0" i="0" lang="en-US" sz="2200" u="none">
                <a:solidFill>
                  <a:schemeClr val="lt1"/>
                </a:solidFill>
                <a:latin typeface="Quattrocento Sans"/>
                <a:ea typeface="Quattrocento Sans"/>
                <a:cs typeface="Quattrocento Sans"/>
                <a:sym typeface="Quattrocento Sans"/>
              </a:rPr>
              <a:t>рассчитывается как отношение объектов, неправильно классифицированных в процессе обучения, к общему количеству объектов набора данных, которые принимали участие в обучении.</a:t>
            </a:r>
            <a:endParaRPr/>
          </a:p>
        </p:txBody>
      </p:sp>
      <p:sp>
        <p:nvSpPr>
          <p:cNvPr id="720" name="Google Shape;720;p66"/>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67"/>
          <p:cNvSpPr txBox="1"/>
          <p:nvPr>
            <p:ph type="title"/>
          </p:nvPr>
        </p:nvSpPr>
        <p:spPr>
          <a:xfrm>
            <a:off x="390525" y="228600"/>
            <a:ext cx="8372475" cy="1138237"/>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1" i="0" lang="en-US" sz="4000" u="none">
                <a:solidFill>
                  <a:schemeClr val="lt2"/>
                </a:solidFill>
                <a:latin typeface="Quattrocento Sans"/>
                <a:ea typeface="Quattrocento Sans"/>
                <a:cs typeface="Quattrocento Sans"/>
                <a:sym typeface="Quattrocento Sans"/>
              </a:rPr>
              <a:t>Сокращение дерева или отсечение ветвей</a:t>
            </a:r>
            <a:endParaRPr/>
          </a:p>
        </p:txBody>
      </p:sp>
      <p:sp>
        <p:nvSpPr>
          <p:cNvPr id="726" name="Google Shape;726;p67"/>
          <p:cNvSpPr txBox="1"/>
          <p:nvPr>
            <p:ph idx="1" type="body"/>
          </p:nvPr>
        </p:nvSpPr>
        <p:spPr>
          <a:xfrm>
            <a:off x="390525" y="1627187"/>
            <a:ext cx="8372475" cy="4271962"/>
          </a:xfrm>
          <a:prstGeom prst="rect">
            <a:avLst/>
          </a:prstGeom>
          <a:noFill/>
          <a:ln>
            <a:noFill/>
          </a:ln>
        </p:spPr>
        <p:txBody>
          <a:bodyPr anchorCtr="0" anchor="t" bIns="45700" lIns="91425" spcFirstLastPara="1" rIns="91425" wrap="square" tIns="45700">
            <a:spAutoFit/>
          </a:bodyPr>
          <a:lstStyle/>
          <a:p>
            <a:pPr indent="-334962" lvl="0" marL="334962" rtl="0" algn="l">
              <a:lnSpc>
                <a:spcPct val="85000"/>
              </a:lnSpc>
              <a:spcBef>
                <a:spcPts val="0"/>
              </a:spcBef>
              <a:spcAft>
                <a:spcPts val="0"/>
              </a:spcAft>
              <a:buSzPts val="1760"/>
              <a:buChar char="•"/>
            </a:pPr>
            <a:r>
              <a:rPr b="0" i="0" lang="en-US" sz="2200" u="none">
                <a:solidFill>
                  <a:schemeClr val="lt1"/>
                </a:solidFill>
                <a:latin typeface="Quattrocento Sans"/>
                <a:ea typeface="Quattrocento Sans"/>
                <a:cs typeface="Quattrocento Sans"/>
                <a:sym typeface="Quattrocento Sans"/>
              </a:rPr>
              <a:t>Отсечение ветвей или замену некоторых ветвей поддеревом следует проводить там, где эта процедура не приводит к возрастанию ошибки. Процесс проходит снизу вверх, т.е. является восходящим. Это более популярная процедура, чем использование правил остановки. </a:t>
            </a:r>
            <a:endParaRPr/>
          </a:p>
          <a:p>
            <a:pPr indent="-334962" lvl="0" marL="334962" rtl="0" algn="l">
              <a:lnSpc>
                <a:spcPct val="85000"/>
              </a:lnSpc>
              <a:spcBef>
                <a:spcPts val="550"/>
              </a:spcBef>
              <a:spcAft>
                <a:spcPts val="0"/>
              </a:spcAft>
              <a:buSzPts val="1760"/>
              <a:buChar char="•"/>
            </a:pPr>
            <a:r>
              <a:rPr b="0" i="0" lang="en-US" sz="2200" u="none">
                <a:solidFill>
                  <a:schemeClr val="lt1"/>
                </a:solidFill>
                <a:latin typeface="Quattrocento Sans"/>
                <a:ea typeface="Quattrocento Sans"/>
                <a:cs typeface="Quattrocento Sans"/>
                <a:sym typeface="Quattrocento Sans"/>
              </a:rPr>
              <a:t>Деревья, получаемые после отсечения некоторых ветвей, называют </a:t>
            </a:r>
            <a:r>
              <a:rPr b="1" i="1" lang="en-US" sz="2200" u="none">
                <a:solidFill>
                  <a:schemeClr val="lt1"/>
                </a:solidFill>
                <a:latin typeface="Quattrocento Sans"/>
                <a:ea typeface="Quattrocento Sans"/>
                <a:cs typeface="Quattrocento Sans"/>
                <a:sym typeface="Quattrocento Sans"/>
              </a:rPr>
              <a:t>усеченными</a:t>
            </a:r>
            <a:r>
              <a:rPr b="0" i="0" lang="en-US" sz="2200" u="none">
                <a:solidFill>
                  <a:schemeClr val="lt1"/>
                </a:solidFill>
                <a:latin typeface="Quattrocento Sans"/>
                <a:ea typeface="Quattrocento Sans"/>
                <a:cs typeface="Quattrocento Sans"/>
                <a:sym typeface="Quattrocento Sans"/>
              </a:rPr>
              <a:t>.</a:t>
            </a:r>
            <a:endParaRPr/>
          </a:p>
          <a:p>
            <a:pPr indent="-334962" lvl="0" marL="334962" rtl="0" algn="l">
              <a:lnSpc>
                <a:spcPct val="85000"/>
              </a:lnSpc>
              <a:spcBef>
                <a:spcPts val="550"/>
              </a:spcBef>
              <a:spcAft>
                <a:spcPts val="0"/>
              </a:spcAft>
              <a:buSzPts val="1760"/>
              <a:buChar char="•"/>
            </a:pPr>
            <a:r>
              <a:rPr b="0" i="0" lang="en-US" sz="2200" u="none">
                <a:solidFill>
                  <a:schemeClr val="lt1"/>
                </a:solidFill>
                <a:latin typeface="Quattrocento Sans"/>
                <a:ea typeface="Quattrocento Sans"/>
                <a:cs typeface="Quattrocento Sans"/>
                <a:sym typeface="Quattrocento Sans"/>
              </a:rPr>
              <a:t>Если такое усеченное дерево все еще не является интуитивным и сложно для понимания, используют извлечение правил, которые объединяют в наборы для описания классов. </a:t>
            </a:r>
            <a:endParaRPr/>
          </a:p>
          <a:p>
            <a:pPr indent="-282575" lvl="1" marL="619125" rtl="0" algn="l">
              <a:lnSpc>
                <a:spcPct val="85000"/>
              </a:lnSpc>
              <a:spcBef>
                <a:spcPts val="450"/>
              </a:spcBef>
              <a:spcAft>
                <a:spcPts val="0"/>
              </a:spcAft>
              <a:buSzPts val="1350"/>
              <a:buChar char="•"/>
            </a:pPr>
            <a:r>
              <a:rPr b="0" i="0" lang="en-US" sz="1800" u="none">
                <a:solidFill>
                  <a:schemeClr val="lt1"/>
                </a:solidFill>
                <a:latin typeface="Quattrocento Sans"/>
                <a:ea typeface="Quattrocento Sans"/>
                <a:cs typeface="Quattrocento Sans"/>
                <a:sym typeface="Quattrocento Sans"/>
              </a:rPr>
              <a:t>Каждый путь от корня дерева до его вершины или листа дает одно правило. </a:t>
            </a:r>
            <a:endParaRPr/>
          </a:p>
          <a:p>
            <a:pPr indent="-282575" lvl="1" marL="619125" rtl="0" algn="l">
              <a:lnSpc>
                <a:spcPct val="85000"/>
              </a:lnSpc>
              <a:spcBef>
                <a:spcPts val="450"/>
              </a:spcBef>
              <a:spcAft>
                <a:spcPts val="0"/>
              </a:spcAft>
              <a:buSzPts val="1350"/>
              <a:buChar char="•"/>
            </a:pPr>
            <a:r>
              <a:rPr b="0" i="0" lang="en-US" sz="1800" u="none">
                <a:solidFill>
                  <a:schemeClr val="lt1"/>
                </a:solidFill>
                <a:latin typeface="Quattrocento Sans"/>
                <a:ea typeface="Quattrocento Sans"/>
                <a:cs typeface="Quattrocento Sans"/>
                <a:sym typeface="Quattrocento Sans"/>
              </a:rPr>
              <a:t>Условиями правила являются проверки на внутренних узлах дерева.</a:t>
            </a:r>
            <a:endParaRPr/>
          </a:p>
        </p:txBody>
      </p:sp>
      <p:sp>
        <p:nvSpPr>
          <p:cNvPr id="727" name="Google Shape;727;p67"/>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68"/>
          <p:cNvSpPr txBox="1"/>
          <p:nvPr>
            <p:ph type="title"/>
          </p:nvPr>
        </p:nvSpPr>
        <p:spPr>
          <a:xfrm>
            <a:off x="390525" y="228600"/>
            <a:ext cx="8372475" cy="61595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1" i="0" lang="en-US" sz="4000" u="none">
                <a:solidFill>
                  <a:schemeClr val="lt2"/>
                </a:solidFill>
                <a:latin typeface="Quattrocento Sans"/>
                <a:ea typeface="Quattrocento Sans"/>
                <a:cs typeface="Quattrocento Sans"/>
                <a:sym typeface="Quattrocento Sans"/>
              </a:rPr>
              <a:t>Алгоритмы деревьев решений</a:t>
            </a:r>
            <a:endParaRPr/>
          </a:p>
        </p:txBody>
      </p:sp>
      <p:sp>
        <p:nvSpPr>
          <p:cNvPr id="733" name="Google Shape;733;p68"/>
          <p:cNvSpPr txBox="1"/>
          <p:nvPr>
            <p:ph idx="1" type="body"/>
          </p:nvPr>
        </p:nvSpPr>
        <p:spPr>
          <a:xfrm>
            <a:off x="390525" y="1208087"/>
            <a:ext cx="8372475" cy="4524375"/>
          </a:xfrm>
          <a:prstGeom prst="rect">
            <a:avLst/>
          </a:prstGeom>
          <a:noFill/>
          <a:ln>
            <a:noFill/>
          </a:ln>
        </p:spPr>
        <p:txBody>
          <a:bodyPr anchorCtr="0" anchor="t" bIns="45700" lIns="91425" spcFirstLastPara="1" rIns="91425" wrap="square" tIns="45700">
            <a:spAutoFit/>
          </a:bodyPr>
          <a:lstStyle/>
          <a:p>
            <a:pPr indent="-334962" lvl="0" marL="334962" rtl="0" algn="l">
              <a:lnSpc>
                <a:spcPct val="85000"/>
              </a:lnSpc>
              <a:spcBef>
                <a:spcPts val="0"/>
              </a:spcBef>
              <a:spcAft>
                <a:spcPts val="0"/>
              </a:spcAft>
              <a:buSzPts val="1760"/>
              <a:buChar char="•"/>
            </a:pPr>
            <a:r>
              <a:rPr b="0" i="0" lang="en-US" sz="2200" u="none">
                <a:solidFill>
                  <a:schemeClr val="lt1"/>
                </a:solidFill>
                <a:latin typeface="Quattrocento Sans"/>
                <a:ea typeface="Quattrocento Sans"/>
                <a:cs typeface="Quattrocento Sans"/>
                <a:sym typeface="Quattrocento Sans"/>
              </a:rPr>
              <a:t>На сегодняшний день существует значительное число алгоритмов, реализующих деревья решений CART, C4.5, NewId, ITrule, CHAID, CN2 и др. Но наибольшее распространение и популярность получили следующие два:</a:t>
            </a:r>
            <a:endParaRPr/>
          </a:p>
          <a:p>
            <a:pPr indent="-334962" lvl="0" marL="334962" rtl="0" algn="l">
              <a:lnSpc>
                <a:spcPct val="85000"/>
              </a:lnSpc>
              <a:spcBef>
                <a:spcPts val="550"/>
              </a:spcBef>
              <a:spcAft>
                <a:spcPts val="0"/>
              </a:spcAft>
              <a:buSzPts val="1760"/>
              <a:buChar char="•"/>
            </a:pPr>
            <a:r>
              <a:rPr b="1" i="1" lang="en-US" sz="2200" u="none">
                <a:solidFill>
                  <a:srgbClr val="FFC000"/>
                </a:solidFill>
                <a:latin typeface="Quattrocento Sans"/>
                <a:ea typeface="Quattrocento Sans"/>
                <a:cs typeface="Quattrocento Sans"/>
                <a:sym typeface="Quattrocento Sans"/>
              </a:rPr>
              <a:t>CART</a:t>
            </a:r>
            <a:r>
              <a:rPr b="0" i="0" lang="en-US" sz="2200" u="none">
                <a:solidFill>
                  <a:schemeClr val="lt1"/>
                </a:solidFill>
                <a:latin typeface="Quattrocento Sans"/>
                <a:ea typeface="Quattrocento Sans"/>
                <a:cs typeface="Quattrocento Sans"/>
                <a:sym typeface="Quattrocento Sans"/>
              </a:rPr>
              <a:t> (Classification and Regression Tree) – это алгоритм построения бинарного "дерева решений" – дихотомической классификационной модели. Каждый узел дерева при разбиении имеет только двух потомков. Как видно из названия алгоритма, он решает задачи классификации и регрессии; </a:t>
            </a:r>
            <a:endParaRPr/>
          </a:p>
          <a:p>
            <a:pPr indent="-334962" lvl="0" marL="334962" rtl="0" algn="l">
              <a:lnSpc>
                <a:spcPct val="85000"/>
              </a:lnSpc>
              <a:spcBef>
                <a:spcPts val="550"/>
              </a:spcBef>
              <a:spcAft>
                <a:spcPts val="0"/>
              </a:spcAft>
              <a:buSzPts val="1760"/>
              <a:buChar char="•"/>
            </a:pPr>
            <a:r>
              <a:rPr b="1" i="1" lang="en-US" sz="2200" u="none">
                <a:solidFill>
                  <a:srgbClr val="FFC000"/>
                </a:solidFill>
                <a:latin typeface="Quattrocento Sans"/>
                <a:ea typeface="Quattrocento Sans"/>
                <a:cs typeface="Quattrocento Sans"/>
                <a:sym typeface="Quattrocento Sans"/>
              </a:rPr>
              <a:t>C4.5</a:t>
            </a:r>
            <a:r>
              <a:rPr b="0" i="0" lang="en-US" sz="2200" u="none">
                <a:solidFill>
                  <a:schemeClr val="lt1"/>
                </a:solidFill>
                <a:latin typeface="Quattrocento Sans"/>
                <a:ea typeface="Quattrocento Sans"/>
                <a:cs typeface="Quattrocento Sans"/>
                <a:sym typeface="Quattrocento Sans"/>
              </a:rPr>
              <a:t> – это алгоритм построения "дерева решений", количество потомков у узла не ограничено. Не умеет работать с непрерывным целевым полем, поэтому решает только задачи классификации.</a:t>
            </a:r>
            <a:endParaRPr/>
          </a:p>
        </p:txBody>
      </p:sp>
      <p:sp>
        <p:nvSpPr>
          <p:cNvPr id="734" name="Google Shape;734;p68"/>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69"/>
          <p:cNvSpPr txBox="1"/>
          <p:nvPr>
            <p:ph type="title"/>
          </p:nvPr>
        </p:nvSpPr>
        <p:spPr>
          <a:xfrm>
            <a:off x="390525" y="228600"/>
            <a:ext cx="8372475" cy="61595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1" i="0" lang="en-US" sz="4000" u="none">
                <a:solidFill>
                  <a:schemeClr val="lt2"/>
                </a:solidFill>
                <a:latin typeface="Quattrocento Sans"/>
                <a:ea typeface="Quattrocento Sans"/>
                <a:cs typeface="Quattrocento Sans"/>
                <a:sym typeface="Quattrocento Sans"/>
              </a:rPr>
              <a:t>Алгоритмы деревьев решений</a:t>
            </a:r>
            <a:endParaRPr/>
          </a:p>
        </p:txBody>
      </p:sp>
      <p:sp>
        <p:nvSpPr>
          <p:cNvPr id="740" name="Google Shape;740;p69"/>
          <p:cNvSpPr txBox="1"/>
          <p:nvPr>
            <p:ph idx="1" type="body"/>
          </p:nvPr>
        </p:nvSpPr>
        <p:spPr>
          <a:xfrm>
            <a:off x="390525" y="927100"/>
            <a:ext cx="8372475" cy="641350"/>
          </a:xfrm>
          <a:prstGeom prst="rect">
            <a:avLst/>
          </a:prstGeom>
          <a:noFill/>
          <a:ln>
            <a:noFill/>
          </a:ln>
        </p:spPr>
        <p:txBody>
          <a:bodyPr anchorCtr="0" anchor="t" bIns="45700" lIns="91425" spcFirstLastPara="1" rIns="91425" wrap="square" tIns="45700">
            <a:spAutoFit/>
          </a:bodyPr>
          <a:lstStyle/>
          <a:p>
            <a:pPr indent="-334962" lvl="0" marL="334962" rtl="0" algn="l">
              <a:lnSpc>
                <a:spcPct val="85000"/>
              </a:lnSpc>
              <a:spcBef>
                <a:spcPts val="0"/>
              </a:spcBef>
              <a:spcAft>
                <a:spcPts val="0"/>
              </a:spcAft>
              <a:buSzPts val="1760"/>
              <a:buChar char="•"/>
            </a:pPr>
            <a:r>
              <a:rPr b="1" i="1" lang="en-US" sz="2200" u="none">
                <a:solidFill>
                  <a:srgbClr val="FFC000"/>
                </a:solidFill>
                <a:latin typeface="Quattrocento Sans"/>
                <a:ea typeface="Quattrocento Sans"/>
                <a:cs typeface="Quattrocento Sans"/>
                <a:sym typeface="Quattrocento Sans"/>
              </a:rPr>
              <a:t>Пример 1. Задача прогноза</a:t>
            </a:r>
            <a:r>
              <a:rPr b="0" i="0" lang="en-US" sz="2200" u="none">
                <a:solidFill>
                  <a:schemeClr val="lt1"/>
                </a:solidFill>
                <a:latin typeface="Quattrocento Sans"/>
                <a:ea typeface="Quattrocento Sans"/>
                <a:cs typeface="Quattrocento Sans"/>
                <a:sym typeface="Quattrocento Sans"/>
              </a:rPr>
              <a:t>. </a:t>
            </a:r>
            <a:r>
              <a:rPr b="0" i="0" lang="en-US" sz="2000" u="none">
                <a:solidFill>
                  <a:schemeClr val="lt1"/>
                </a:solidFill>
                <a:latin typeface="Quattrocento Sans"/>
                <a:ea typeface="Quattrocento Sans"/>
                <a:cs typeface="Quattrocento Sans"/>
                <a:sym typeface="Quattrocento Sans"/>
              </a:rPr>
              <a:t>Мы используем алгоритм "</a:t>
            </a:r>
            <a:r>
              <a:rPr b="0" i="1" lang="en-US" sz="2000" u="none">
                <a:solidFill>
                  <a:schemeClr val="lt1"/>
                </a:solidFill>
                <a:latin typeface="Quattrocento Sans"/>
                <a:ea typeface="Quattrocento Sans"/>
                <a:cs typeface="Quattrocento Sans"/>
                <a:sym typeface="Quattrocento Sans"/>
              </a:rPr>
              <a:t>дерево решений"</a:t>
            </a:r>
            <a:r>
              <a:rPr b="0" i="0" lang="en-US" sz="2000" u="none">
                <a:solidFill>
                  <a:schemeClr val="lt1"/>
                </a:solidFill>
                <a:latin typeface="Quattrocento Sans"/>
                <a:ea typeface="Quattrocento Sans"/>
                <a:cs typeface="Quattrocento Sans"/>
                <a:sym typeface="Quattrocento Sans"/>
              </a:rPr>
              <a:t> для ответа на вопрос: "Дадут ли кредит?"</a:t>
            </a:r>
            <a:endParaRPr/>
          </a:p>
        </p:txBody>
      </p:sp>
      <p:pic>
        <p:nvPicPr>
          <p:cNvPr id="741" name="Google Shape;741;p69"/>
          <p:cNvPicPr preferRelativeResize="0"/>
          <p:nvPr/>
        </p:nvPicPr>
        <p:blipFill rotWithShape="1">
          <a:blip r:embed="rId3">
            <a:alphaModFix/>
          </a:blip>
          <a:srcRect b="0" l="0" r="0" t="0"/>
          <a:stretch/>
        </p:blipFill>
        <p:spPr>
          <a:xfrm>
            <a:off x="1841500" y="1652587"/>
            <a:ext cx="5740400" cy="4479925"/>
          </a:xfrm>
          <a:prstGeom prst="rect">
            <a:avLst/>
          </a:prstGeom>
          <a:noFill/>
          <a:ln>
            <a:noFill/>
          </a:ln>
        </p:spPr>
      </p:pic>
      <p:sp>
        <p:nvSpPr>
          <p:cNvPr id="742" name="Google Shape;742;p69"/>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70"/>
          <p:cNvSpPr txBox="1"/>
          <p:nvPr>
            <p:ph type="title"/>
          </p:nvPr>
        </p:nvSpPr>
        <p:spPr>
          <a:xfrm>
            <a:off x="390525" y="228600"/>
            <a:ext cx="8372475" cy="61595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1" i="0" lang="en-US" sz="4000" u="none">
                <a:solidFill>
                  <a:schemeClr val="lt2"/>
                </a:solidFill>
                <a:latin typeface="Quattrocento Sans"/>
                <a:ea typeface="Quattrocento Sans"/>
                <a:cs typeface="Quattrocento Sans"/>
                <a:sym typeface="Quattrocento Sans"/>
              </a:rPr>
              <a:t>Алгоритмы деревьев решений</a:t>
            </a:r>
            <a:endParaRPr/>
          </a:p>
        </p:txBody>
      </p:sp>
      <p:sp>
        <p:nvSpPr>
          <p:cNvPr id="748" name="Google Shape;748;p70"/>
          <p:cNvSpPr txBox="1"/>
          <p:nvPr>
            <p:ph idx="1" type="body"/>
          </p:nvPr>
        </p:nvSpPr>
        <p:spPr>
          <a:xfrm>
            <a:off x="428625" y="958850"/>
            <a:ext cx="8372475" cy="379412"/>
          </a:xfrm>
          <a:prstGeom prst="rect">
            <a:avLst/>
          </a:prstGeom>
          <a:noFill/>
          <a:ln>
            <a:noFill/>
          </a:ln>
        </p:spPr>
        <p:txBody>
          <a:bodyPr anchorCtr="0" anchor="t" bIns="45700" lIns="91425" spcFirstLastPara="1" rIns="91425" wrap="square" tIns="45700">
            <a:spAutoFit/>
          </a:bodyPr>
          <a:lstStyle/>
          <a:p>
            <a:pPr indent="-334962" lvl="0" marL="334962" rtl="0" algn="l">
              <a:lnSpc>
                <a:spcPct val="85000"/>
              </a:lnSpc>
              <a:spcBef>
                <a:spcPts val="0"/>
              </a:spcBef>
              <a:spcAft>
                <a:spcPts val="0"/>
              </a:spcAft>
              <a:buSzPts val="1760"/>
              <a:buChar char="•"/>
            </a:pPr>
            <a:r>
              <a:rPr b="1" i="1" lang="en-US" sz="2200" u="none">
                <a:solidFill>
                  <a:srgbClr val="FFC000"/>
                </a:solidFill>
                <a:latin typeface="Quattrocento Sans"/>
                <a:ea typeface="Quattrocento Sans"/>
                <a:cs typeface="Quattrocento Sans"/>
                <a:sym typeface="Quattrocento Sans"/>
              </a:rPr>
              <a:t>Пример 2. Задача классификации</a:t>
            </a:r>
            <a:r>
              <a:rPr b="0" i="0" lang="en-US" sz="2200" u="none">
                <a:solidFill>
                  <a:schemeClr val="lt1"/>
                </a:solidFill>
                <a:latin typeface="Quattrocento Sans"/>
                <a:ea typeface="Quattrocento Sans"/>
                <a:cs typeface="Quattrocento Sans"/>
                <a:sym typeface="Quattrocento Sans"/>
              </a:rPr>
              <a:t>.</a:t>
            </a:r>
            <a:endParaRPr/>
          </a:p>
        </p:txBody>
      </p:sp>
      <p:pic>
        <p:nvPicPr>
          <p:cNvPr descr="http://crypto.pp.ua/img/ai2008_image152.jpg" id="749" name="Google Shape;749;p70"/>
          <p:cNvPicPr preferRelativeResize="0"/>
          <p:nvPr/>
        </p:nvPicPr>
        <p:blipFill rotWithShape="1">
          <a:blip r:embed="rId3">
            <a:alphaModFix/>
          </a:blip>
          <a:srcRect b="0" l="0" r="0" t="0"/>
          <a:stretch/>
        </p:blipFill>
        <p:spPr>
          <a:xfrm>
            <a:off x="1046162" y="1541462"/>
            <a:ext cx="6535737" cy="3432175"/>
          </a:xfrm>
          <a:prstGeom prst="rect">
            <a:avLst/>
          </a:prstGeom>
          <a:noFill/>
          <a:ln>
            <a:noFill/>
          </a:ln>
        </p:spPr>
      </p:pic>
      <p:sp>
        <p:nvSpPr>
          <p:cNvPr id="750" name="Google Shape;750;p70"/>
          <p:cNvSpPr/>
          <p:nvPr/>
        </p:nvSpPr>
        <p:spPr>
          <a:xfrm>
            <a:off x="5422900" y="1519237"/>
            <a:ext cx="1079500" cy="363537"/>
          </a:xfrm>
          <a:prstGeom prst="wedgeRoundRectCallout">
            <a:avLst>
              <a:gd fmla="val -3610" name="adj1"/>
              <a:gd fmla="val 33355" name="adj2"/>
              <a:gd fmla="val 0" name="adj3"/>
            </a:avLst>
          </a:prstGeom>
          <a:solidFill>
            <a:srgbClr val="DADAD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Quattrocento Sans"/>
              <a:buNone/>
            </a:pPr>
            <a:r>
              <a:rPr b="1" i="0" lang="en-US" sz="1800" u="none">
                <a:solidFill>
                  <a:schemeClr val="dk1"/>
                </a:solidFill>
                <a:latin typeface="Quattrocento Sans"/>
                <a:ea typeface="Quattrocento Sans"/>
                <a:cs typeface="Quattrocento Sans"/>
                <a:sym typeface="Quattrocento Sans"/>
              </a:rPr>
              <a:t>Корень</a:t>
            </a:r>
            <a:endParaRPr/>
          </a:p>
        </p:txBody>
      </p:sp>
      <p:sp>
        <p:nvSpPr>
          <p:cNvPr id="751" name="Google Shape;751;p70"/>
          <p:cNvSpPr/>
          <p:nvPr/>
        </p:nvSpPr>
        <p:spPr>
          <a:xfrm>
            <a:off x="6502400" y="3902075"/>
            <a:ext cx="1079500" cy="363537"/>
          </a:xfrm>
          <a:prstGeom prst="wedgeRoundRectCallout">
            <a:avLst>
              <a:gd fmla="val 10366" name="adj1"/>
              <a:gd fmla="val -18708" name="adj2"/>
              <a:gd fmla="val 0" name="adj3"/>
            </a:avLst>
          </a:prstGeom>
          <a:solidFill>
            <a:srgbClr val="DADAD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Quattrocento Sans"/>
              <a:buNone/>
            </a:pPr>
            <a:r>
              <a:rPr b="1" i="0" lang="en-US" sz="1800" u="none">
                <a:solidFill>
                  <a:schemeClr val="dk1"/>
                </a:solidFill>
                <a:latin typeface="Quattrocento Sans"/>
                <a:ea typeface="Quattrocento Sans"/>
                <a:cs typeface="Quattrocento Sans"/>
                <a:sym typeface="Quattrocento Sans"/>
              </a:rPr>
              <a:t>Листья</a:t>
            </a:r>
            <a:endParaRPr/>
          </a:p>
        </p:txBody>
      </p:sp>
      <p:sp>
        <p:nvSpPr>
          <p:cNvPr id="752" name="Google Shape;752;p70"/>
          <p:cNvSpPr/>
          <p:nvPr/>
        </p:nvSpPr>
        <p:spPr>
          <a:xfrm>
            <a:off x="5084762" y="4787900"/>
            <a:ext cx="998537" cy="434975"/>
          </a:xfrm>
          <a:prstGeom prst="wedgeRoundRectCallout">
            <a:avLst>
              <a:gd fmla="val -15456" name="adj1"/>
              <a:gd fmla="val -62673" name="adj2"/>
              <a:gd fmla="val 0" name="adj3"/>
            </a:avLst>
          </a:prstGeom>
          <a:solidFill>
            <a:srgbClr val="DADAD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Quattrocento Sans"/>
              <a:buNone/>
            </a:pPr>
            <a:r>
              <a:rPr b="1" i="0" lang="en-US" sz="1800" u="none">
                <a:solidFill>
                  <a:schemeClr val="dk1"/>
                </a:solidFill>
                <a:latin typeface="Quattrocento Sans"/>
                <a:ea typeface="Quattrocento Sans"/>
                <a:cs typeface="Quattrocento Sans"/>
                <a:sym typeface="Quattrocento Sans"/>
              </a:rPr>
              <a:t>Узлы</a:t>
            </a:r>
            <a:endParaRPr/>
          </a:p>
        </p:txBody>
      </p:sp>
      <p:sp>
        <p:nvSpPr>
          <p:cNvPr id="753" name="Google Shape;753;p70"/>
          <p:cNvSpPr txBox="1"/>
          <p:nvPr/>
        </p:nvSpPr>
        <p:spPr>
          <a:xfrm>
            <a:off x="142875" y="5176837"/>
            <a:ext cx="8858250" cy="1504950"/>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1800"/>
              <a:buFont typeface="Quattrocento Sans"/>
              <a:buChar char="•"/>
            </a:pPr>
            <a:r>
              <a:rPr b="0" i="0" lang="en-US" sz="1800" u="none">
                <a:solidFill>
                  <a:schemeClr val="lt1"/>
                </a:solidFill>
                <a:latin typeface="Quattrocento Sans"/>
                <a:ea typeface="Quattrocento Sans"/>
                <a:cs typeface="Quattrocento Sans"/>
                <a:sym typeface="Quattrocento Sans"/>
              </a:rPr>
              <a:t>Листьями дерева принятия решений являются классы. Чтобы классифицировать объект при помощи дерева принятия решений — нужно последовательно спускаться по дереву (выбирая направление основываясь на значениях предикатов применяемых к классифицируемому объекту). Путь от корня дерева до листьев можно трактовать как объяснение того, почему тот или иной объект отнесён к какому-либо классу.</a:t>
            </a:r>
            <a:endParaRPr/>
          </a:p>
        </p:txBody>
      </p:sp>
      <p:sp>
        <p:nvSpPr>
          <p:cNvPr id="754" name="Google Shape;754;p70"/>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71"/>
          <p:cNvSpPr txBox="1"/>
          <p:nvPr>
            <p:ph idx="4294967295" type="title"/>
          </p:nvPr>
        </p:nvSpPr>
        <p:spPr>
          <a:xfrm>
            <a:off x="390525" y="228600"/>
            <a:ext cx="8372475" cy="61595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chemeClr val="lt2"/>
              </a:buClr>
              <a:buSzPts val="4000"/>
              <a:buFont typeface="Quattrocento Sans"/>
              <a:buNone/>
            </a:pPr>
            <a:r>
              <a:rPr b="1" i="0" lang="en-US" sz="4000" u="none" cap="none" strike="noStrike">
                <a:solidFill>
                  <a:schemeClr val="lt2"/>
                </a:solidFill>
                <a:latin typeface="Quattrocento Sans"/>
                <a:ea typeface="Quattrocento Sans"/>
                <a:cs typeface="Quattrocento Sans"/>
                <a:sym typeface="Quattrocento Sans"/>
              </a:rPr>
              <a:t>Алгоритмы деревьев решений</a:t>
            </a:r>
            <a:endParaRPr/>
          </a:p>
        </p:txBody>
      </p:sp>
      <p:sp>
        <p:nvSpPr>
          <p:cNvPr id="760" name="Google Shape;760;p71"/>
          <p:cNvSpPr txBox="1"/>
          <p:nvPr>
            <p:ph idx="4294967295" type="body"/>
          </p:nvPr>
        </p:nvSpPr>
        <p:spPr>
          <a:xfrm>
            <a:off x="390525" y="1047750"/>
            <a:ext cx="8372475" cy="379412"/>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rgbClr val="F4BE96"/>
              </a:buClr>
              <a:buSzPts val="1760"/>
              <a:buFont typeface="Quattrocento Sans"/>
              <a:buChar char="•"/>
            </a:pPr>
            <a:r>
              <a:rPr b="1" i="1" lang="en-US" sz="2200" u="none">
                <a:solidFill>
                  <a:srgbClr val="FFC000"/>
                </a:solidFill>
                <a:latin typeface="Quattrocento Sans"/>
                <a:ea typeface="Quattrocento Sans"/>
                <a:cs typeface="Quattrocento Sans"/>
                <a:sym typeface="Quattrocento Sans"/>
              </a:rPr>
              <a:t>Пример 3. Задача классификации </a:t>
            </a:r>
            <a:r>
              <a:rPr b="1" baseline="30000" i="1" lang="en-US" sz="2200" u="none">
                <a:solidFill>
                  <a:srgbClr val="FFC000"/>
                </a:solidFill>
                <a:latin typeface="Quattrocento Sans"/>
                <a:ea typeface="Quattrocento Sans"/>
                <a:cs typeface="Quattrocento Sans"/>
                <a:sym typeface="Quattrocento Sans"/>
              </a:rPr>
              <a:t>*)</a:t>
            </a:r>
            <a:endParaRPr/>
          </a:p>
        </p:txBody>
      </p:sp>
      <p:sp>
        <p:nvSpPr>
          <p:cNvPr id="761" name="Google Shape;761;p71"/>
          <p:cNvSpPr txBox="1"/>
          <p:nvPr/>
        </p:nvSpPr>
        <p:spPr>
          <a:xfrm>
            <a:off x="274637" y="4383087"/>
            <a:ext cx="8488362" cy="1477962"/>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Целевым атрибутом для дерева решений будет атрибут «Привлекательность» </a:t>
            </a:r>
            <a:r>
              <a:rPr b="0" i="1" lang="en-US" sz="2000" u="none">
                <a:solidFill>
                  <a:schemeClr val="lt1"/>
                </a:solidFill>
                <a:latin typeface="Quattrocento Sans"/>
                <a:ea typeface="Quattrocento Sans"/>
                <a:cs typeface="Quattrocento Sans"/>
                <a:sym typeface="Quattrocento Sans"/>
              </a:rPr>
              <a:t>(пример "неполиткорректный" и не имеет никакого отношения к реальности</a:t>
            </a:r>
            <a:r>
              <a:rPr b="0" i="0" lang="en-US" sz="2000" u="none">
                <a:solidFill>
                  <a:schemeClr val="lt1"/>
                </a:solidFill>
                <a:latin typeface="Quattrocento Sans"/>
                <a:ea typeface="Quattrocento Sans"/>
                <a:cs typeface="Quattrocento Sans"/>
                <a:sym typeface="Quattrocento Sans"/>
              </a:rPr>
              <a:t>).</a:t>
            </a:r>
            <a:endParaRPr/>
          </a:p>
          <a:p>
            <a:pPr indent="-334962" lvl="0" marL="334962" marR="0" rtl="0" algn="l">
              <a:lnSpc>
                <a:spcPct val="85000"/>
              </a:lnSpc>
              <a:spcBef>
                <a:spcPts val="50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Вычислим энтропию с учетом, что у нас простая бинарная классификация Да/Нет по целевому атрибуту.</a:t>
            </a:r>
            <a:endParaRPr/>
          </a:p>
        </p:txBody>
      </p:sp>
      <p:graphicFrame>
        <p:nvGraphicFramePr>
          <p:cNvPr id="762" name="Google Shape;762;p71"/>
          <p:cNvGraphicFramePr/>
          <p:nvPr/>
        </p:nvGraphicFramePr>
        <p:xfrm>
          <a:off x="784225" y="1592262"/>
          <a:ext cx="3000000" cy="3000000"/>
        </p:xfrm>
        <a:graphic>
          <a:graphicData uri="http://schemas.openxmlformats.org/drawingml/2006/table">
            <a:tbl>
              <a:tblPr>
                <a:noFill/>
                <a:tableStyleId>{4A9718B0-E53D-4CFF-AC7E-A2A48AE619F5}</a:tableStyleId>
              </a:tblPr>
              <a:tblGrid>
                <a:gridCol w="1589075"/>
                <a:gridCol w="1698625"/>
                <a:gridCol w="1697025"/>
                <a:gridCol w="1966900"/>
              </a:tblGrid>
              <a:tr h="288925">
                <a:tc>
                  <a:txBody>
                    <a:bodyPr/>
                    <a:lstStyle/>
                    <a:p>
                      <a:pPr indent="0" lvl="0" marL="0" marR="0" rtl="0" algn="ctr">
                        <a:lnSpc>
                          <a:spcPct val="107000"/>
                        </a:lnSpc>
                        <a:spcBef>
                          <a:spcPts val="0"/>
                        </a:spcBef>
                        <a:spcAft>
                          <a:spcPts val="0"/>
                        </a:spcAft>
                        <a:buClr>
                          <a:srgbClr val="FFFFFF"/>
                        </a:buClr>
                        <a:buSzPts val="1400"/>
                        <a:buFont typeface="Quattrocento Sans"/>
                        <a:buNone/>
                      </a:pPr>
                      <a:r>
                        <a:rPr b="1" i="0" lang="en-US" sz="1400" u="none">
                          <a:solidFill>
                            <a:srgbClr val="FFFFFF"/>
                          </a:solidFill>
                          <a:latin typeface="Quattrocento Sans"/>
                          <a:ea typeface="Quattrocento Sans"/>
                          <a:cs typeface="Quattrocento Sans"/>
                          <a:sym typeface="Quattrocento Sans"/>
                        </a:rPr>
                        <a:t>Рост</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7000"/>
                        </a:lnSpc>
                        <a:spcBef>
                          <a:spcPts val="0"/>
                        </a:spcBef>
                        <a:spcAft>
                          <a:spcPts val="0"/>
                        </a:spcAft>
                        <a:buClr>
                          <a:srgbClr val="FFFFFF"/>
                        </a:buClr>
                        <a:buSzPts val="1400"/>
                        <a:buFont typeface="Quattrocento Sans"/>
                        <a:buNone/>
                      </a:pPr>
                      <a:r>
                        <a:rPr b="1" i="0" lang="en-US" sz="1400" u="none">
                          <a:solidFill>
                            <a:srgbClr val="FFFFFF"/>
                          </a:solidFill>
                          <a:latin typeface="Quattrocento Sans"/>
                          <a:ea typeface="Quattrocento Sans"/>
                          <a:cs typeface="Quattrocento Sans"/>
                          <a:sym typeface="Quattrocento Sans"/>
                        </a:rPr>
                        <a:t>Волосы</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7000"/>
                        </a:lnSpc>
                        <a:spcBef>
                          <a:spcPts val="0"/>
                        </a:spcBef>
                        <a:spcAft>
                          <a:spcPts val="0"/>
                        </a:spcAft>
                        <a:buClr>
                          <a:srgbClr val="FFFFFF"/>
                        </a:buClr>
                        <a:buSzPts val="1400"/>
                        <a:buFont typeface="Quattrocento Sans"/>
                        <a:buNone/>
                      </a:pPr>
                      <a:r>
                        <a:rPr b="1" i="0" lang="en-US" sz="1400" u="none">
                          <a:solidFill>
                            <a:srgbClr val="FFFFFF"/>
                          </a:solidFill>
                          <a:latin typeface="Quattrocento Sans"/>
                          <a:ea typeface="Quattrocento Sans"/>
                          <a:cs typeface="Quattrocento Sans"/>
                          <a:sym typeface="Quattrocento Sans"/>
                        </a:rPr>
                        <a:t>Глаза</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FFFFFF"/>
                        </a:buClr>
                        <a:buSzPts val="1400"/>
                        <a:buFont typeface="Quattrocento Sans"/>
                        <a:buNone/>
                      </a:pPr>
                      <a:r>
                        <a:rPr b="1" i="0" lang="en-US" sz="1400" u="none">
                          <a:solidFill>
                            <a:srgbClr val="FFFFFF"/>
                          </a:solidFill>
                          <a:latin typeface="Quattrocento Sans"/>
                          <a:ea typeface="Quattrocento Sans"/>
                          <a:cs typeface="Quattrocento Sans"/>
                          <a:sym typeface="Quattrocento Sans"/>
                        </a:rPr>
                        <a:t>Привлекательность?</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292100">
                <a:tc>
                  <a:txBody>
                    <a:bodyPr/>
                    <a:lstStyle/>
                    <a:p>
                      <a:pPr indent="0" lvl="0" marL="0" marR="0" rtl="0" algn="ctr">
                        <a:lnSpc>
                          <a:spcPct val="107000"/>
                        </a:lnSpc>
                        <a:spcBef>
                          <a:spcPts val="0"/>
                        </a:spcBef>
                        <a:spcAft>
                          <a:spcPts val="0"/>
                        </a:spcAft>
                        <a:buClr>
                          <a:srgbClr val="FFFFFF"/>
                        </a:buClr>
                        <a:buSzPts val="1400"/>
                        <a:buFont typeface="Quattrocento Sans"/>
                        <a:buNone/>
                      </a:pPr>
                      <a:r>
                        <a:rPr b="1" i="0" lang="en-US" sz="1400" u="none">
                          <a:solidFill>
                            <a:srgbClr val="FFFFFF"/>
                          </a:solidFill>
                          <a:latin typeface="Quattrocento Sans"/>
                          <a:ea typeface="Quattrocento Sans"/>
                          <a:cs typeface="Quattrocento Sans"/>
                          <a:sym typeface="Quattrocento Sans"/>
                        </a:rPr>
                        <a:t>Низкий</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Блонд</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ctr">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Карие</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ctr">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Нет</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93675">
                <a:tc>
                  <a:txBody>
                    <a:bodyPr/>
                    <a:lstStyle/>
                    <a:p>
                      <a:pPr indent="0" lvl="0" marL="0" marR="0" rtl="0" algn="ctr">
                        <a:lnSpc>
                          <a:spcPct val="107000"/>
                        </a:lnSpc>
                        <a:spcBef>
                          <a:spcPts val="0"/>
                        </a:spcBef>
                        <a:spcAft>
                          <a:spcPts val="0"/>
                        </a:spcAft>
                        <a:buClr>
                          <a:srgbClr val="FFFFFF"/>
                        </a:buClr>
                        <a:buSzPts val="1400"/>
                        <a:buFont typeface="Quattrocento Sans"/>
                        <a:buNone/>
                      </a:pPr>
                      <a:r>
                        <a:rPr b="1" i="0" lang="en-US" sz="1400" u="none">
                          <a:solidFill>
                            <a:srgbClr val="FFFFFF"/>
                          </a:solidFill>
                          <a:latin typeface="Quattrocento Sans"/>
                          <a:ea typeface="Quattrocento Sans"/>
                          <a:cs typeface="Quattrocento Sans"/>
                          <a:sym typeface="Quattrocento Sans"/>
                        </a:rPr>
                        <a:t>Высокий</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Темные</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ctr">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Карие</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ctr">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Нет</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r h="292100">
                <a:tc>
                  <a:txBody>
                    <a:bodyPr/>
                    <a:lstStyle/>
                    <a:p>
                      <a:pPr indent="0" lvl="0" marL="0" marR="0" rtl="0" algn="ctr">
                        <a:lnSpc>
                          <a:spcPct val="107000"/>
                        </a:lnSpc>
                        <a:spcBef>
                          <a:spcPts val="0"/>
                        </a:spcBef>
                        <a:spcAft>
                          <a:spcPts val="0"/>
                        </a:spcAft>
                        <a:buClr>
                          <a:srgbClr val="FFFFFF"/>
                        </a:buClr>
                        <a:buSzPts val="1400"/>
                        <a:buFont typeface="Quattrocento Sans"/>
                        <a:buNone/>
                      </a:pPr>
                      <a:r>
                        <a:rPr b="1" i="0" lang="en-US" sz="1400" u="none">
                          <a:solidFill>
                            <a:srgbClr val="FFFFFF"/>
                          </a:solidFill>
                          <a:latin typeface="Quattrocento Sans"/>
                          <a:ea typeface="Quattrocento Sans"/>
                          <a:cs typeface="Quattrocento Sans"/>
                          <a:sym typeface="Quattrocento Sans"/>
                        </a:rPr>
                        <a:t>Высокий</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Блонд</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ctr">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Голубые</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ctr">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Да</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92100">
                <a:tc>
                  <a:txBody>
                    <a:bodyPr/>
                    <a:lstStyle/>
                    <a:p>
                      <a:pPr indent="0" lvl="0" marL="0" marR="0" rtl="0" algn="ctr">
                        <a:lnSpc>
                          <a:spcPct val="107000"/>
                        </a:lnSpc>
                        <a:spcBef>
                          <a:spcPts val="0"/>
                        </a:spcBef>
                        <a:spcAft>
                          <a:spcPts val="0"/>
                        </a:spcAft>
                        <a:buClr>
                          <a:srgbClr val="FFFFFF"/>
                        </a:buClr>
                        <a:buSzPts val="1400"/>
                        <a:buFont typeface="Quattrocento Sans"/>
                        <a:buNone/>
                      </a:pPr>
                      <a:r>
                        <a:rPr b="1" i="0" lang="en-US" sz="1400" u="none">
                          <a:solidFill>
                            <a:srgbClr val="FFFFFF"/>
                          </a:solidFill>
                          <a:latin typeface="Quattrocento Sans"/>
                          <a:ea typeface="Quattrocento Sans"/>
                          <a:cs typeface="Quattrocento Sans"/>
                          <a:sym typeface="Quattrocento Sans"/>
                        </a:rPr>
                        <a:t>Высокий</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Темные</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ctr">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Голубые</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ctr">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Нет</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r h="292100">
                <a:tc>
                  <a:txBody>
                    <a:bodyPr/>
                    <a:lstStyle/>
                    <a:p>
                      <a:pPr indent="0" lvl="0" marL="0" marR="0" rtl="0" algn="ctr">
                        <a:lnSpc>
                          <a:spcPct val="107000"/>
                        </a:lnSpc>
                        <a:spcBef>
                          <a:spcPts val="0"/>
                        </a:spcBef>
                        <a:spcAft>
                          <a:spcPts val="0"/>
                        </a:spcAft>
                        <a:buClr>
                          <a:srgbClr val="FFFFFF"/>
                        </a:buClr>
                        <a:buSzPts val="1400"/>
                        <a:buFont typeface="Quattrocento Sans"/>
                        <a:buNone/>
                      </a:pPr>
                      <a:r>
                        <a:rPr b="1" i="0" lang="en-US" sz="1400" u="none">
                          <a:solidFill>
                            <a:srgbClr val="FFFFFF"/>
                          </a:solidFill>
                          <a:latin typeface="Quattrocento Sans"/>
                          <a:ea typeface="Quattrocento Sans"/>
                          <a:cs typeface="Quattrocento Sans"/>
                          <a:sym typeface="Quattrocento Sans"/>
                        </a:rPr>
                        <a:t>Низкий</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Темные</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ctr">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Голубые</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ctr">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Нет</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92100">
                <a:tc>
                  <a:txBody>
                    <a:bodyPr/>
                    <a:lstStyle/>
                    <a:p>
                      <a:pPr indent="0" lvl="0" marL="0" marR="0" rtl="0" algn="ctr">
                        <a:lnSpc>
                          <a:spcPct val="107000"/>
                        </a:lnSpc>
                        <a:spcBef>
                          <a:spcPts val="0"/>
                        </a:spcBef>
                        <a:spcAft>
                          <a:spcPts val="0"/>
                        </a:spcAft>
                        <a:buClr>
                          <a:srgbClr val="FFFFFF"/>
                        </a:buClr>
                        <a:buSzPts val="1400"/>
                        <a:buFont typeface="Quattrocento Sans"/>
                        <a:buNone/>
                      </a:pPr>
                      <a:r>
                        <a:rPr b="1" i="0" lang="en-US" sz="1400" u="none">
                          <a:solidFill>
                            <a:srgbClr val="FFFFFF"/>
                          </a:solidFill>
                          <a:latin typeface="Quattrocento Sans"/>
                          <a:ea typeface="Quattrocento Sans"/>
                          <a:cs typeface="Quattrocento Sans"/>
                          <a:sym typeface="Quattrocento Sans"/>
                        </a:rPr>
                        <a:t>Высокий</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Рыжие</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ctr">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Голубые</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ctr">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Да</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r h="292100">
                <a:tc>
                  <a:txBody>
                    <a:bodyPr/>
                    <a:lstStyle/>
                    <a:p>
                      <a:pPr indent="0" lvl="0" marL="0" marR="0" rtl="0" algn="ctr">
                        <a:lnSpc>
                          <a:spcPct val="107000"/>
                        </a:lnSpc>
                        <a:spcBef>
                          <a:spcPts val="0"/>
                        </a:spcBef>
                        <a:spcAft>
                          <a:spcPts val="0"/>
                        </a:spcAft>
                        <a:buClr>
                          <a:srgbClr val="FFFFFF"/>
                        </a:buClr>
                        <a:buSzPts val="1400"/>
                        <a:buFont typeface="Quattrocento Sans"/>
                        <a:buNone/>
                      </a:pPr>
                      <a:r>
                        <a:rPr b="1" i="0" lang="en-US" sz="1400" u="none">
                          <a:solidFill>
                            <a:srgbClr val="FFFFFF"/>
                          </a:solidFill>
                          <a:latin typeface="Quattrocento Sans"/>
                          <a:ea typeface="Quattrocento Sans"/>
                          <a:cs typeface="Quattrocento Sans"/>
                          <a:sym typeface="Quattrocento Sans"/>
                        </a:rPr>
                        <a:t>Высокий</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Блонд</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ctr">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Карие</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ctr">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Нет</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92100">
                <a:tc>
                  <a:txBody>
                    <a:bodyPr/>
                    <a:lstStyle/>
                    <a:p>
                      <a:pPr indent="0" lvl="0" marL="0" marR="0" rtl="0" algn="ctr">
                        <a:lnSpc>
                          <a:spcPct val="107000"/>
                        </a:lnSpc>
                        <a:spcBef>
                          <a:spcPts val="0"/>
                        </a:spcBef>
                        <a:spcAft>
                          <a:spcPts val="0"/>
                        </a:spcAft>
                        <a:buClr>
                          <a:srgbClr val="FFFFFF"/>
                        </a:buClr>
                        <a:buSzPts val="1400"/>
                        <a:buFont typeface="Quattrocento Sans"/>
                        <a:buNone/>
                      </a:pPr>
                      <a:r>
                        <a:rPr b="1" i="0" lang="en-US" sz="1400" u="none">
                          <a:solidFill>
                            <a:srgbClr val="FFFFFF"/>
                          </a:solidFill>
                          <a:latin typeface="Quattrocento Sans"/>
                          <a:ea typeface="Quattrocento Sans"/>
                          <a:cs typeface="Quattrocento Sans"/>
                          <a:sym typeface="Quattrocento Sans"/>
                        </a:rPr>
                        <a:t>Низкий</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Блонд</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ctr">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Голубые</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ctr">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Да</a:t>
                      </a:r>
                      <a:endParaRPr/>
                    </a:p>
                  </a:txBody>
                  <a:tcPr marT="8350" marB="8350" marR="8350" marL="83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bl>
          </a:graphicData>
        </a:graphic>
      </p:graphicFrame>
      <p:sp>
        <p:nvSpPr>
          <p:cNvPr id="763" name="Google Shape;763;p71"/>
          <p:cNvSpPr txBox="1"/>
          <p:nvPr/>
        </p:nvSpPr>
        <p:spPr>
          <a:xfrm>
            <a:off x="596900" y="6024562"/>
            <a:ext cx="760412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Quattrocento Sans"/>
              <a:buNone/>
            </a:pPr>
            <a:r>
              <a:rPr b="0" baseline="30000" i="0" lang="en-US" sz="1600" u="none">
                <a:solidFill>
                  <a:schemeClr val="lt1"/>
                </a:solidFill>
                <a:latin typeface="Quattrocento Sans"/>
                <a:ea typeface="Quattrocento Sans"/>
                <a:cs typeface="Quattrocento Sans"/>
                <a:sym typeface="Quattrocento Sans"/>
              </a:rPr>
              <a:t>*) </a:t>
            </a:r>
            <a:r>
              <a:rPr b="0" i="0" lang="en-US" sz="1600" u="none">
                <a:solidFill>
                  <a:schemeClr val="lt1"/>
                </a:solidFill>
                <a:latin typeface="Quattrocento Sans"/>
                <a:ea typeface="Quattrocento Sans"/>
                <a:cs typeface="Quattrocento Sans"/>
                <a:sym typeface="Quattrocento Sans"/>
              </a:rPr>
              <a:t>Классификация не претендует на объективность, придумана для примера.</a:t>
            </a:r>
            <a:endParaRPr/>
          </a:p>
        </p:txBody>
      </p:sp>
    </p:spTree>
  </p:cSld>
  <p:clrMapOvr>
    <a:masterClrMapping/>
  </p:clrMapOvr>
  <p:transition spd="slow">
    <p:fade/>
  </p:transition>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72"/>
          <p:cNvSpPr txBox="1"/>
          <p:nvPr>
            <p:ph idx="4294967295" type="title"/>
          </p:nvPr>
        </p:nvSpPr>
        <p:spPr>
          <a:xfrm>
            <a:off x="390525" y="228600"/>
            <a:ext cx="8372475" cy="61595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chemeClr val="lt2"/>
              </a:buClr>
              <a:buSzPts val="4000"/>
              <a:buFont typeface="Quattrocento Sans"/>
              <a:buNone/>
            </a:pPr>
            <a:r>
              <a:rPr b="1" i="0" lang="en-US" sz="4000" u="none" cap="none" strike="noStrike">
                <a:solidFill>
                  <a:schemeClr val="lt2"/>
                </a:solidFill>
                <a:latin typeface="Quattrocento Sans"/>
                <a:ea typeface="Quattrocento Sans"/>
                <a:cs typeface="Quattrocento Sans"/>
                <a:sym typeface="Quattrocento Sans"/>
              </a:rPr>
              <a:t>Алгоритмы деревьев решений</a:t>
            </a:r>
            <a:endParaRPr/>
          </a:p>
        </p:txBody>
      </p:sp>
      <p:sp>
        <p:nvSpPr>
          <p:cNvPr id="769" name="Google Shape;769;p72"/>
          <p:cNvSpPr txBox="1"/>
          <p:nvPr>
            <p:ph idx="4294967295" type="body"/>
          </p:nvPr>
        </p:nvSpPr>
        <p:spPr>
          <a:xfrm>
            <a:off x="390525" y="1109662"/>
            <a:ext cx="8372475" cy="379412"/>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rgbClr val="F4BE96"/>
              </a:buClr>
              <a:buSzPts val="1760"/>
              <a:buFont typeface="Quattrocento Sans"/>
              <a:buChar char="•"/>
            </a:pPr>
            <a:r>
              <a:rPr b="1" i="1" lang="en-US" sz="2200" u="none">
                <a:solidFill>
                  <a:srgbClr val="FFC000"/>
                </a:solidFill>
                <a:latin typeface="Quattrocento Sans"/>
                <a:ea typeface="Quattrocento Sans"/>
                <a:cs typeface="Quattrocento Sans"/>
                <a:sym typeface="Quattrocento Sans"/>
              </a:rPr>
              <a:t>Пример 3. Задача классификации (Энтропия)</a:t>
            </a:r>
            <a:endParaRPr/>
          </a:p>
        </p:txBody>
      </p:sp>
      <p:sp>
        <p:nvSpPr>
          <p:cNvPr id="770" name="Google Shape;770;p72"/>
          <p:cNvSpPr txBox="1"/>
          <p:nvPr/>
        </p:nvSpPr>
        <p:spPr>
          <a:xfrm>
            <a:off x="390525" y="1489075"/>
            <a:ext cx="8372475" cy="3878262"/>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Энтропия в теории информации описывает количество информации (в битах), которое необходимо, чтобы закодировать сообщение о принадлежности случайно выбранного объекта (строки) из нашей выборки </a:t>
            </a:r>
            <a:r>
              <a:rPr b="0" i="1" lang="en-US" sz="2000" u="none">
                <a:solidFill>
                  <a:schemeClr val="lt1"/>
                </a:solidFill>
                <a:latin typeface="Quattrocento Sans"/>
                <a:ea typeface="Quattrocento Sans"/>
                <a:cs typeface="Quattrocento Sans"/>
                <a:sym typeface="Quattrocento Sans"/>
              </a:rPr>
              <a:t>X</a:t>
            </a:r>
            <a:r>
              <a:rPr b="0" i="0" lang="en-US" sz="2000" u="none">
                <a:solidFill>
                  <a:schemeClr val="lt1"/>
                </a:solidFill>
                <a:latin typeface="Quattrocento Sans"/>
                <a:ea typeface="Quattrocento Sans"/>
                <a:cs typeface="Quattrocento Sans"/>
                <a:sym typeface="Quattrocento Sans"/>
              </a:rPr>
              <a:t> к одному из классов и передать его получателю. </a:t>
            </a:r>
            <a:endParaRPr/>
          </a:p>
          <a:p>
            <a:pPr indent="-334962" lvl="0" marL="334962" marR="0" rtl="0" algn="l">
              <a:lnSpc>
                <a:spcPct val="85000"/>
              </a:lnSpc>
              <a:spcBef>
                <a:spcPts val="50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Если класс только один, получателю ничего не нужно передавать, энтропия равна 0. </a:t>
            </a:r>
            <a:endParaRPr/>
          </a:p>
          <a:p>
            <a:pPr indent="-334962" lvl="0" marL="334962" marR="0" rtl="0" algn="l">
              <a:lnSpc>
                <a:spcPct val="85000"/>
              </a:lnSpc>
              <a:spcBef>
                <a:spcPts val="50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Если все классы равновероятны, то потребуется log</a:t>
            </a:r>
            <a:r>
              <a:rPr b="0" baseline="-25000" i="0" lang="en-US" sz="2000" u="none">
                <a:solidFill>
                  <a:schemeClr val="lt1"/>
                </a:solidFill>
                <a:latin typeface="Quattrocento Sans"/>
                <a:ea typeface="Quattrocento Sans"/>
                <a:cs typeface="Quattrocento Sans"/>
                <a:sym typeface="Quattrocento Sans"/>
              </a:rPr>
              <a:t>2</a:t>
            </a:r>
            <a:r>
              <a:rPr b="0" i="1" lang="en-US" sz="2000" u="none">
                <a:solidFill>
                  <a:schemeClr val="lt1"/>
                </a:solidFill>
                <a:latin typeface="Quattrocento Sans"/>
                <a:ea typeface="Quattrocento Sans"/>
                <a:cs typeface="Quattrocento Sans"/>
                <a:sym typeface="Quattrocento Sans"/>
              </a:rPr>
              <a:t>c</a:t>
            </a:r>
            <a:r>
              <a:rPr b="0" i="0" lang="en-US" sz="2000" u="none">
                <a:solidFill>
                  <a:schemeClr val="lt1"/>
                </a:solidFill>
                <a:latin typeface="Quattrocento Sans"/>
                <a:ea typeface="Quattrocento Sans"/>
                <a:cs typeface="Quattrocento Sans"/>
                <a:sym typeface="Quattrocento Sans"/>
              </a:rPr>
              <a:t> бит (</a:t>
            </a:r>
            <a:r>
              <a:rPr b="0" i="1" lang="en-US" sz="2000" u="none">
                <a:solidFill>
                  <a:schemeClr val="lt1"/>
                </a:solidFill>
                <a:latin typeface="Quattrocento Sans"/>
                <a:ea typeface="Quattrocento Sans"/>
                <a:cs typeface="Quattrocento Sans"/>
                <a:sym typeface="Quattrocento Sans"/>
              </a:rPr>
              <a:t>c</a:t>
            </a:r>
            <a:r>
              <a:rPr b="0" i="0" lang="en-US" sz="2000" u="none">
                <a:solidFill>
                  <a:schemeClr val="lt1"/>
                </a:solidFill>
                <a:latin typeface="Quattrocento Sans"/>
                <a:ea typeface="Quattrocento Sans"/>
                <a:cs typeface="Quattrocento Sans"/>
                <a:sym typeface="Quattrocento Sans"/>
              </a:rPr>
              <a:t> – общее количество классов) – максимум функции энтропии.</a:t>
            </a:r>
            <a:endParaRPr/>
          </a:p>
          <a:p>
            <a:pPr indent="-207961" lvl="0" marL="334962" marR="0" rtl="0" algn="l">
              <a:lnSpc>
                <a:spcPct val="85000"/>
              </a:lnSpc>
              <a:spcBef>
                <a:spcPts val="500"/>
              </a:spcBef>
              <a:spcAft>
                <a:spcPts val="0"/>
              </a:spcAft>
              <a:buClr>
                <a:schemeClr val="lt1"/>
              </a:buClr>
              <a:buSzPts val="2000"/>
              <a:buFont typeface="Quattrocento Sans"/>
              <a:buNone/>
            </a:pPr>
            <a:r>
              <a:t/>
            </a:r>
            <a:endParaRPr b="0" i="0" sz="2000" u="none">
              <a:solidFill>
                <a:schemeClr val="lt1"/>
              </a:solidFill>
              <a:latin typeface="Quattrocento Sans"/>
              <a:ea typeface="Quattrocento Sans"/>
              <a:cs typeface="Quattrocento Sans"/>
              <a:sym typeface="Quattrocento Sans"/>
            </a:endParaRPr>
          </a:p>
          <a:p>
            <a:pPr indent="-207961" lvl="0" marL="334962" marR="0" rtl="0" algn="l">
              <a:lnSpc>
                <a:spcPct val="85000"/>
              </a:lnSpc>
              <a:spcBef>
                <a:spcPts val="500"/>
              </a:spcBef>
              <a:spcAft>
                <a:spcPts val="0"/>
              </a:spcAft>
              <a:buClr>
                <a:schemeClr val="lt1"/>
              </a:buClr>
              <a:buSzPts val="2000"/>
              <a:buFont typeface="Quattrocento Sans"/>
              <a:buNone/>
            </a:pPr>
            <a:r>
              <a:t/>
            </a:r>
            <a:endParaRPr b="0" i="0" sz="2000" u="none">
              <a:solidFill>
                <a:schemeClr val="lt1"/>
              </a:solidFill>
              <a:latin typeface="Quattrocento Sans"/>
              <a:ea typeface="Quattrocento Sans"/>
              <a:cs typeface="Quattrocento Sans"/>
              <a:sym typeface="Quattrocento Sans"/>
            </a:endParaRPr>
          </a:p>
          <a:p>
            <a:pPr indent="-334962" lvl="0" marL="334962" marR="0" rtl="0" algn="l">
              <a:lnSpc>
                <a:spcPct val="85000"/>
              </a:lnSpc>
              <a:spcBef>
                <a:spcPts val="50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Далее, для выбора атрибута, для каждого атрибута A вычисляется так называемый прирост информации (индекс Gain)</a:t>
            </a:r>
            <a:endParaRPr/>
          </a:p>
        </p:txBody>
      </p:sp>
      <p:sp>
        <p:nvSpPr>
          <p:cNvPr id="771" name="Google Shape;771;p72"/>
          <p:cNvSpPr txBox="1"/>
          <p:nvPr/>
        </p:nvSpPr>
        <p:spPr>
          <a:xfrm>
            <a:off x="2587825" y="3767075"/>
            <a:ext cx="3844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2800"/>
              <a:buFont typeface="Quattrocento Sans"/>
              <a:buNone/>
            </a:pPr>
            <a:r>
              <a:rPr b="0" i="1" lang="en-US" sz="2800" u="none">
                <a:solidFill>
                  <a:srgbClr val="FFFF00"/>
                </a:solidFill>
                <a:latin typeface="Quattrocento Sans"/>
                <a:ea typeface="Quattrocento Sans"/>
                <a:cs typeface="Quattrocento Sans"/>
                <a:sym typeface="Quattrocento Sans"/>
              </a:rPr>
              <a:t>E(p</a:t>
            </a:r>
            <a:r>
              <a:rPr b="0" baseline="-25000" i="1" lang="en-US" sz="2800" u="none">
                <a:solidFill>
                  <a:srgbClr val="FFFF00"/>
                </a:solidFill>
                <a:latin typeface="Quattrocento Sans"/>
                <a:ea typeface="Quattrocento Sans"/>
                <a:cs typeface="Quattrocento Sans"/>
                <a:sym typeface="Quattrocento Sans"/>
              </a:rPr>
              <a:t>1</a:t>
            </a:r>
            <a:r>
              <a:rPr b="0" i="1" lang="en-US" sz="2800" u="none">
                <a:solidFill>
                  <a:srgbClr val="FFFF00"/>
                </a:solidFill>
                <a:latin typeface="Quattrocento Sans"/>
                <a:ea typeface="Quattrocento Sans"/>
                <a:cs typeface="Quattrocento Sans"/>
                <a:sym typeface="Quattrocento Sans"/>
              </a:rPr>
              <a:t>,...,p</a:t>
            </a:r>
            <a:r>
              <a:rPr b="0" baseline="-25000" i="1" lang="en-US" sz="2800" u="none">
                <a:solidFill>
                  <a:srgbClr val="FFFF00"/>
                </a:solidFill>
                <a:latin typeface="Quattrocento Sans"/>
                <a:ea typeface="Quattrocento Sans"/>
                <a:cs typeface="Quattrocento Sans"/>
                <a:sym typeface="Quattrocento Sans"/>
              </a:rPr>
              <a:t>n</a:t>
            </a:r>
            <a:r>
              <a:rPr b="0" i="1" lang="en-US" sz="2800" u="none">
                <a:solidFill>
                  <a:srgbClr val="FFFF00"/>
                </a:solidFill>
                <a:latin typeface="Quattrocento Sans"/>
                <a:ea typeface="Quattrocento Sans"/>
                <a:cs typeface="Quattrocento Sans"/>
                <a:sym typeface="Quattrocento Sans"/>
              </a:rPr>
              <a:t>) = </a:t>
            </a:r>
            <a:r>
              <a:rPr b="0" i="1" lang="en-US" sz="3200" u="none">
                <a:solidFill>
                  <a:srgbClr val="FFFF00"/>
                </a:solidFill>
                <a:latin typeface="Quattrocento Sans"/>
                <a:ea typeface="Quattrocento Sans"/>
                <a:cs typeface="Quattrocento Sans"/>
                <a:sym typeface="Quattrocento Sans"/>
              </a:rPr>
              <a:t>-Σ</a:t>
            </a:r>
            <a:r>
              <a:rPr b="0" i="1" lang="en-US" sz="2800" u="none">
                <a:solidFill>
                  <a:srgbClr val="FFFF00"/>
                </a:solidFill>
                <a:latin typeface="Quattrocento Sans"/>
                <a:ea typeface="Quattrocento Sans"/>
                <a:cs typeface="Quattrocento Sans"/>
                <a:sym typeface="Quattrocento Sans"/>
              </a:rPr>
              <a:t>p</a:t>
            </a:r>
            <a:r>
              <a:rPr b="0" baseline="-25000" i="1" lang="en-US" sz="2800" u="none">
                <a:solidFill>
                  <a:srgbClr val="FFFF00"/>
                </a:solidFill>
                <a:latin typeface="Quattrocento Sans"/>
                <a:ea typeface="Quattrocento Sans"/>
                <a:cs typeface="Quattrocento Sans"/>
                <a:sym typeface="Quattrocento Sans"/>
              </a:rPr>
              <a:t>i</a:t>
            </a:r>
            <a:r>
              <a:rPr b="0" i="1" lang="en-US" sz="2800" u="none">
                <a:solidFill>
                  <a:srgbClr val="FFFF00"/>
                </a:solidFill>
                <a:latin typeface="Quattrocento Sans"/>
                <a:ea typeface="Quattrocento Sans"/>
                <a:cs typeface="Quattrocento Sans"/>
                <a:sym typeface="Quattrocento Sans"/>
              </a:rPr>
              <a:t>log</a:t>
            </a:r>
            <a:r>
              <a:rPr b="0" baseline="-25000" i="1" lang="en-US" sz="2800" u="none">
                <a:solidFill>
                  <a:srgbClr val="FFFF00"/>
                </a:solidFill>
                <a:latin typeface="Quattrocento Sans"/>
                <a:ea typeface="Quattrocento Sans"/>
                <a:cs typeface="Quattrocento Sans"/>
                <a:sym typeface="Quattrocento Sans"/>
              </a:rPr>
              <a:t>2</a:t>
            </a:r>
            <a:r>
              <a:rPr b="0" i="1" lang="en-US" sz="2800" u="none">
                <a:solidFill>
                  <a:srgbClr val="FFFF00"/>
                </a:solidFill>
                <a:latin typeface="Quattrocento Sans"/>
                <a:ea typeface="Quattrocento Sans"/>
                <a:cs typeface="Quattrocento Sans"/>
                <a:sym typeface="Quattrocento Sans"/>
              </a:rPr>
              <a:t>p</a:t>
            </a:r>
            <a:r>
              <a:rPr b="0" baseline="-25000" i="1" lang="en-US" sz="2800" u="none">
                <a:solidFill>
                  <a:srgbClr val="FFFF00"/>
                </a:solidFill>
                <a:latin typeface="Quattrocento Sans"/>
                <a:ea typeface="Quattrocento Sans"/>
                <a:cs typeface="Quattrocento Sans"/>
                <a:sym typeface="Quattrocento Sans"/>
              </a:rPr>
              <a:t>i</a:t>
            </a:r>
            <a:r>
              <a:rPr b="0" i="1" lang="en-US" sz="2800" u="none">
                <a:solidFill>
                  <a:srgbClr val="FFFF00"/>
                </a:solidFill>
                <a:latin typeface="Quattrocento Sans"/>
                <a:ea typeface="Quattrocento Sans"/>
                <a:cs typeface="Quattrocento Sans"/>
                <a:sym typeface="Quattrocento Sans"/>
              </a:rPr>
              <a:t> </a:t>
            </a:r>
            <a:endParaRPr/>
          </a:p>
        </p:txBody>
      </p:sp>
      <p:grpSp>
        <p:nvGrpSpPr>
          <p:cNvPr id="772" name="Google Shape;772;p72"/>
          <p:cNvGrpSpPr/>
          <p:nvPr/>
        </p:nvGrpSpPr>
        <p:grpSpPr>
          <a:xfrm>
            <a:off x="1560512" y="5367337"/>
            <a:ext cx="5732462" cy="949325"/>
            <a:chOff x="1561262" y="5455004"/>
            <a:chExt cx="5732660" cy="948058"/>
          </a:xfrm>
        </p:grpSpPr>
        <p:sp>
          <p:nvSpPr>
            <p:cNvPr id="773" name="Google Shape;773;p72"/>
            <p:cNvSpPr txBox="1"/>
            <p:nvPr/>
          </p:nvSpPr>
          <p:spPr>
            <a:xfrm>
              <a:off x="1561262" y="5455004"/>
              <a:ext cx="5732660"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2800"/>
                <a:buFont typeface="Quattrocento Sans"/>
                <a:buNone/>
              </a:pPr>
              <a:r>
                <a:rPr b="0" i="1" lang="en-US" sz="2800" u="none">
                  <a:solidFill>
                    <a:srgbClr val="FFFF00"/>
                  </a:solidFill>
                  <a:latin typeface="Quattrocento Sans"/>
                  <a:ea typeface="Quattrocento Sans"/>
                  <a:cs typeface="Quattrocento Sans"/>
                  <a:sym typeface="Quattrocento Sans"/>
                </a:rPr>
                <a:t>Gain(X,A) = E(X)</a:t>
              </a:r>
              <a:r>
                <a:rPr b="0" i="1" lang="en-US" sz="3200" u="none">
                  <a:solidFill>
                    <a:srgbClr val="FFFF00"/>
                  </a:solidFill>
                  <a:latin typeface="Quattrocento Sans"/>
                  <a:ea typeface="Quattrocento Sans"/>
                  <a:cs typeface="Quattrocento Sans"/>
                  <a:sym typeface="Quattrocento Sans"/>
                </a:rPr>
                <a:t>-</a:t>
              </a:r>
              <a:r>
                <a:rPr b="0" i="1" lang="en-US" sz="4000" u="none">
                  <a:solidFill>
                    <a:srgbClr val="FFFF00"/>
                  </a:solidFill>
                  <a:latin typeface="Quattrocento Sans"/>
                  <a:ea typeface="Quattrocento Sans"/>
                  <a:cs typeface="Quattrocento Sans"/>
                  <a:sym typeface="Quattrocento Sans"/>
                </a:rPr>
                <a:t>Σ</a:t>
              </a:r>
              <a:r>
                <a:rPr b="0" i="1" lang="en-US" sz="3200" u="none">
                  <a:solidFill>
                    <a:srgbClr val="FFFF00"/>
                  </a:solidFill>
                  <a:latin typeface="Quattrocento Sans"/>
                  <a:ea typeface="Quattrocento Sans"/>
                  <a:cs typeface="Quattrocento Sans"/>
                  <a:sym typeface="Quattrocento Sans"/>
                </a:rPr>
                <a:t> |</a:t>
              </a:r>
              <a:r>
                <a:rPr b="0" i="1" lang="en-US" sz="2800" u="none">
                  <a:solidFill>
                    <a:srgbClr val="FFFF00"/>
                  </a:solidFill>
                  <a:latin typeface="Quattrocento Sans"/>
                  <a:ea typeface="Quattrocento Sans"/>
                  <a:cs typeface="Quattrocento Sans"/>
                  <a:sym typeface="Quattrocento Sans"/>
                </a:rPr>
                <a:t>X</a:t>
              </a:r>
              <a:r>
                <a:rPr b="0" baseline="-25000" i="1" lang="en-US" sz="2800" u="none">
                  <a:solidFill>
                    <a:srgbClr val="FFFF00"/>
                  </a:solidFill>
                  <a:latin typeface="Quattrocento Sans"/>
                  <a:ea typeface="Quattrocento Sans"/>
                  <a:cs typeface="Quattrocento Sans"/>
                  <a:sym typeface="Quattrocento Sans"/>
                </a:rPr>
                <a:t>a</a:t>
              </a:r>
              <a:r>
                <a:rPr b="0" i="1" lang="en-US" sz="2800" u="none">
                  <a:solidFill>
                    <a:srgbClr val="FFFF00"/>
                  </a:solidFill>
                  <a:latin typeface="Quattrocento Sans"/>
                  <a:ea typeface="Quattrocento Sans"/>
                  <a:cs typeface="Quattrocento Sans"/>
                  <a:sym typeface="Quattrocento Sans"/>
                </a:rPr>
                <a:t>| / |X|*E(X</a:t>
              </a:r>
              <a:r>
                <a:rPr b="0" baseline="-25000" i="1" lang="en-US" sz="2800" u="none">
                  <a:solidFill>
                    <a:srgbClr val="FFFF00"/>
                  </a:solidFill>
                  <a:latin typeface="Quattrocento Sans"/>
                  <a:ea typeface="Quattrocento Sans"/>
                  <a:cs typeface="Quattrocento Sans"/>
                  <a:sym typeface="Quattrocento Sans"/>
                </a:rPr>
                <a:t>a</a:t>
              </a:r>
              <a:r>
                <a:rPr b="0" i="1" lang="en-US" sz="2800" u="none">
                  <a:solidFill>
                    <a:srgbClr val="FFFF00"/>
                  </a:solidFill>
                  <a:latin typeface="Quattrocento Sans"/>
                  <a:ea typeface="Quattrocento Sans"/>
                  <a:cs typeface="Quattrocento Sans"/>
                  <a:sym typeface="Quattrocento Sans"/>
                </a:rPr>
                <a:t>)</a:t>
              </a:r>
              <a:endParaRPr/>
            </a:p>
          </p:txBody>
        </p:sp>
        <p:sp>
          <p:nvSpPr>
            <p:cNvPr id="774" name="Google Shape;774;p72"/>
            <p:cNvSpPr txBox="1"/>
            <p:nvPr/>
          </p:nvSpPr>
          <p:spPr>
            <a:xfrm>
              <a:off x="3845739" y="6033730"/>
              <a:ext cx="14526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1800"/>
                <a:buFont typeface="Quattrocento Sans"/>
                <a:buNone/>
              </a:pPr>
              <a:r>
                <a:rPr b="0" i="1" lang="en-US" sz="1800" u="none">
                  <a:solidFill>
                    <a:srgbClr val="FFFF00"/>
                  </a:solidFill>
                  <a:latin typeface="Quattrocento Sans"/>
                  <a:ea typeface="Quattrocento Sans"/>
                  <a:cs typeface="Quattrocento Sans"/>
                  <a:sym typeface="Quattrocento Sans"/>
                </a:rPr>
                <a:t>a∈values(A)</a:t>
              </a:r>
              <a:endParaRPr/>
            </a:p>
          </p:txBody>
        </p:sp>
      </p:grpSp>
      <p:sp>
        <p:nvSpPr>
          <p:cNvPr id="775" name="Google Shape;775;p72"/>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73"/>
          <p:cNvSpPr txBox="1"/>
          <p:nvPr>
            <p:ph idx="4294967295" type="title"/>
          </p:nvPr>
        </p:nvSpPr>
        <p:spPr>
          <a:xfrm>
            <a:off x="390525" y="228600"/>
            <a:ext cx="8372475" cy="61595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chemeClr val="lt2"/>
              </a:buClr>
              <a:buSzPts val="4000"/>
              <a:buFont typeface="Quattrocento Sans"/>
              <a:buNone/>
            </a:pPr>
            <a:r>
              <a:rPr b="1" i="0" lang="en-US" sz="4000" u="none" cap="none" strike="noStrike">
                <a:solidFill>
                  <a:schemeClr val="lt2"/>
                </a:solidFill>
                <a:latin typeface="Quattrocento Sans"/>
                <a:ea typeface="Quattrocento Sans"/>
                <a:cs typeface="Quattrocento Sans"/>
                <a:sym typeface="Quattrocento Sans"/>
              </a:rPr>
              <a:t>Алгоритмы деревьев решений</a:t>
            </a:r>
            <a:endParaRPr/>
          </a:p>
        </p:txBody>
      </p:sp>
      <p:sp>
        <p:nvSpPr>
          <p:cNvPr id="781" name="Google Shape;781;p73"/>
          <p:cNvSpPr txBox="1"/>
          <p:nvPr>
            <p:ph idx="4294967295" type="body"/>
          </p:nvPr>
        </p:nvSpPr>
        <p:spPr>
          <a:xfrm>
            <a:off x="390525" y="1208087"/>
            <a:ext cx="8372475" cy="379412"/>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rgbClr val="F4BE96"/>
              </a:buClr>
              <a:buSzPts val="1760"/>
              <a:buFont typeface="Quattrocento Sans"/>
              <a:buChar char="•"/>
            </a:pPr>
            <a:r>
              <a:rPr b="1" i="1" lang="en-US" sz="2200" u="none">
                <a:solidFill>
                  <a:srgbClr val="FFC000"/>
                </a:solidFill>
                <a:latin typeface="Quattrocento Sans"/>
                <a:ea typeface="Quattrocento Sans"/>
                <a:cs typeface="Quattrocento Sans"/>
                <a:sym typeface="Quattrocento Sans"/>
              </a:rPr>
              <a:t>Пример 3. Задача классификации (индекс Gain)</a:t>
            </a:r>
            <a:endParaRPr/>
          </a:p>
        </p:txBody>
      </p:sp>
      <p:sp>
        <p:nvSpPr>
          <p:cNvPr id="782" name="Google Shape;782;p73"/>
          <p:cNvSpPr txBox="1"/>
          <p:nvPr/>
        </p:nvSpPr>
        <p:spPr>
          <a:xfrm>
            <a:off x="184150" y="2384425"/>
            <a:ext cx="8578850" cy="4170362"/>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Где values(A) – все принимаемые значения атрибута </a:t>
            </a:r>
            <a:r>
              <a:rPr b="0" i="1" lang="en-US" sz="2000" u="none">
                <a:solidFill>
                  <a:schemeClr val="lt1"/>
                </a:solidFill>
                <a:latin typeface="Quattrocento Sans"/>
                <a:ea typeface="Quattrocento Sans"/>
                <a:cs typeface="Quattrocento Sans"/>
                <a:sym typeface="Quattrocento Sans"/>
              </a:rPr>
              <a:t>A, Xa</a:t>
            </a:r>
            <a:r>
              <a:rPr b="0" i="0" lang="en-US" sz="2000" u="none">
                <a:solidFill>
                  <a:schemeClr val="lt1"/>
                </a:solidFill>
                <a:latin typeface="Quattrocento Sans"/>
                <a:ea typeface="Quattrocento Sans"/>
                <a:cs typeface="Quattrocento Sans"/>
                <a:sym typeface="Quattrocento Sans"/>
              </a:rPr>
              <a:t> – подмножество набора данных, где </a:t>
            </a:r>
            <a:r>
              <a:rPr b="0" i="1" lang="en-US" sz="2000" u="none">
                <a:solidFill>
                  <a:schemeClr val="lt1"/>
                </a:solidFill>
                <a:latin typeface="Quattrocento Sans"/>
                <a:ea typeface="Quattrocento Sans"/>
                <a:cs typeface="Quattrocento Sans"/>
                <a:sym typeface="Quattrocento Sans"/>
              </a:rPr>
              <a:t>A = a, |X| </a:t>
            </a:r>
            <a:r>
              <a:rPr b="0" i="0" lang="en-US" sz="2000" u="none">
                <a:solidFill>
                  <a:schemeClr val="lt1"/>
                </a:solidFill>
                <a:latin typeface="Quattrocento Sans"/>
                <a:ea typeface="Quattrocento Sans"/>
                <a:cs typeface="Quattrocento Sans"/>
                <a:sym typeface="Quattrocento Sans"/>
              </a:rPr>
              <a:t>– количество элементов во множестве. E(Xa) -  величина, описывающая ожидаемое уменьшение энтропии после разбиения набора данных по выбранному атрибуту. Второе слагаемое  в целом – это сумма энтропий для каждого подмножества, взятая со своим весом. Общая разность описывает, как уменьшится энтропия, сколько мы сэкономим бит для кодирования класса случайного объекта из набора X, если мы знаем значения атрибута A и разобьем набор данных на подмножества по данному атрибуту.</a:t>
            </a:r>
            <a:endParaRPr/>
          </a:p>
          <a:p>
            <a:pPr indent="-334962" lvl="0" marL="334962" marR="0" rtl="0" algn="l">
              <a:lnSpc>
                <a:spcPct val="85000"/>
              </a:lnSpc>
              <a:spcBef>
                <a:spcPts val="50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Алгоритм выбирает атрибут, соответствующий максимальному значению прироста информации.</a:t>
            </a:r>
            <a:endParaRPr/>
          </a:p>
          <a:p>
            <a:pPr indent="-334962" lvl="0" marL="334962" marR="0" rtl="0" algn="l">
              <a:lnSpc>
                <a:spcPct val="85000"/>
              </a:lnSpc>
              <a:spcBef>
                <a:spcPts val="50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Когда атрибут выбран, исходный набор разбивается на подмножества в соответствии с его значениями, исходный атрибут исключается из анализа, процесс повторяется рекурсивно.</a:t>
            </a:r>
            <a:endParaRPr/>
          </a:p>
        </p:txBody>
      </p:sp>
      <p:grpSp>
        <p:nvGrpSpPr>
          <p:cNvPr id="783" name="Google Shape;783;p73"/>
          <p:cNvGrpSpPr/>
          <p:nvPr/>
        </p:nvGrpSpPr>
        <p:grpSpPr>
          <a:xfrm>
            <a:off x="1466850" y="1498600"/>
            <a:ext cx="4929187" cy="889000"/>
            <a:chOff x="1452515" y="5598676"/>
            <a:chExt cx="4929404" cy="888606"/>
          </a:xfrm>
        </p:grpSpPr>
        <p:sp>
          <p:nvSpPr>
            <p:cNvPr id="784" name="Google Shape;784;p73"/>
            <p:cNvSpPr txBox="1"/>
            <p:nvPr/>
          </p:nvSpPr>
          <p:spPr>
            <a:xfrm>
              <a:off x="1452515" y="5598676"/>
              <a:ext cx="4929404" cy="6463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2400"/>
                <a:buFont typeface="Quattrocento Sans"/>
                <a:buNone/>
              </a:pPr>
              <a:r>
                <a:rPr b="0" i="1" lang="en-US" sz="2400" u="none">
                  <a:solidFill>
                    <a:srgbClr val="FFFF00"/>
                  </a:solidFill>
                  <a:latin typeface="Quattrocento Sans"/>
                  <a:ea typeface="Quattrocento Sans"/>
                  <a:cs typeface="Quattrocento Sans"/>
                  <a:sym typeface="Quattrocento Sans"/>
                </a:rPr>
                <a:t>Gain(X,A) = E(X)</a:t>
              </a:r>
              <a:r>
                <a:rPr b="0" i="1" lang="en-US" sz="2800" u="none">
                  <a:solidFill>
                    <a:srgbClr val="FFFF00"/>
                  </a:solidFill>
                  <a:latin typeface="Quattrocento Sans"/>
                  <a:ea typeface="Quattrocento Sans"/>
                  <a:cs typeface="Quattrocento Sans"/>
                  <a:sym typeface="Quattrocento Sans"/>
                </a:rPr>
                <a:t>-</a:t>
              </a:r>
              <a:r>
                <a:rPr b="0" i="1" lang="en-US" sz="3600" u="none">
                  <a:solidFill>
                    <a:srgbClr val="FFFF00"/>
                  </a:solidFill>
                  <a:latin typeface="Quattrocento Sans"/>
                  <a:ea typeface="Quattrocento Sans"/>
                  <a:cs typeface="Quattrocento Sans"/>
                  <a:sym typeface="Quattrocento Sans"/>
                </a:rPr>
                <a:t>Σ</a:t>
              </a:r>
              <a:r>
                <a:rPr b="0" i="1" lang="en-US" sz="2800" u="none">
                  <a:solidFill>
                    <a:srgbClr val="FFFF00"/>
                  </a:solidFill>
                  <a:latin typeface="Quattrocento Sans"/>
                  <a:ea typeface="Quattrocento Sans"/>
                  <a:cs typeface="Quattrocento Sans"/>
                  <a:sym typeface="Quattrocento Sans"/>
                </a:rPr>
                <a:t> |</a:t>
              </a:r>
              <a:r>
                <a:rPr b="0" i="1" lang="en-US" sz="2400" u="none">
                  <a:solidFill>
                    <a:srgbClr val="FFFF00"/>
                  </a:solidFill>
                  <a:latin typeface="Quattrocento Sans"/>
                  <a:ea typeface="Quattrocento Sans"/>
                  <a:cs typeface="Quattrocento Sans"/>
                  <a:sym typeface="Quattrocento Sans"/>
                </a:rPr>
                <a:t>X</a:t>
              </a:r>
              <a:r>
                <a:rPr b="0" baseline="-25000" i="1" lang="en-US" sz="2400" u="none">
                  <a:solidFill>
                    <a:srgbClr val="FFFF00"/>
                  </a:solidFill>
                  <a:latin typeface="Quattrocento Sans"/>
                  <a:ea typeface="Quattrocento Sans"/>
                  <a:cs typeface="Quattrocento Sans"/>
                  <a:sym typeface="Quattrocento Sans"/>
                </a:rPr>
                <a:t>a</a:t>
              </a:r>
              <a:r>
                <a:rPr b="0" i="1" lang="en-US" sz="2400" u="none">
                  <a:solidFill>
                    <a:srgbClr val="FFFF00"/>
                  </a:solidFill>
                  <a:latin typeface="Quattrocento Sans"/>
                  <a:ea typeface="Quattrocento Sans"/>
                  <a:cs typeface="Quattrocento Sans"/>
                  <a:sym typeface="Quattrocento Sans"/>
                </a:rPr>
                <a:t>| / |X|*E(X</a:t>
              </a:r>
              <a:r>
                <a:rPr b="0" baseline="-25000" i="1" lang="en-US" sz="2400" u="none">
                  <a:solidFill>
                    <a:srgbClr val="FFFF00"/>
                  </a:solidFill>
                  <a:latin typeface="Quattrocento Sans"/>
                  <a:ea typeface="Quattrocento Sans"/>
                  <a:cs typeface="Quattrocento Sans"/>
                  <a:sym typeface="Quattrocento Sans"/>
                </a:rPr>
                <a:t>a</a:t>
              </a:r>
              <a:r>
                <a:rPr b="0" i="1" lang="en-US" sz="2400" u="none">
                  <a:solidFill>
                    <a:srgbClr val="FFFF00"/>
                  </a:solidFill>
                  <a:latin typeface="Quattrocento Sans"/>
                  <a:ea typeface="Quattrocento Sans"/>
                  <a:cs typeface="Quattrocento Sans"/>
                  <a:sym typeface="Quattrocento Sans"/>
                </a:rPr>
                <a:t>)</a:t>
              </a:r>
              <a:endParaRPr/>
            </a:p>
          </p:txBody>
        </p:sp>
        <p:sp>
          <p:nvSpPr>
            <p:cNvPr id="785" name="Google Shape;785;p73"/>
            <p:cNvSpPr txBox="1"/>
            <p:nvPr/>
          </p:nvSpPr>
          <p:spPr>
            <a:xfrm>
              <a:off x="3429513" y="6117950"/>
              <a:ext cx="14526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1800"/>
                <a:buFont typeface="Quattrocento Sans"/>
                <a:buNone/>
              </a:pPr>
              <a:r>
                <a:rPr b="0" i="1" lang="en-US" sz="1800" u="none">
                  <a:solidFill>
                    <a:srgbClr val="FFFF00"/>
                  </a:solidFill>
                  <a:latin typeface="Quattrocento Sans"/>
                  <a:ea typeface="Quattrocento Sans"/>
                  <a:cs typeface="Quattrocento Sans"/>
                  <a:sym typeface="Quattrocento Sans"/>
                </a:rPr>
                <a:t>a∈values(A)</a:t>
              </a:r>
              <a:endParaRPr/>
            </a:p>
          </p:txBody>
        </p:sp>
      </p:grpSp>
      <p:sp>
        <p:nvSpPr>
          <p:cNvPr id="786" name="Google Shape;786;p73"/>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74"/>
          <p:cNvSpPr txBox="1"/>
          <p:nvPr>
            <p:ph idx="4294967295" type="title"/>
          </p:nvPr>
        </p:nvSpPr>
        <p:spPr>
          <a:xfrm>
            <a:off x="390525" y="228600"/>
            <a:ext cx="8372475" cy="61595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chemeClr val="lt2"/>
              </a:buClr>
              <a:buSzPts val="4000"/>
              <a:buFont typeface="Quattrocento Sans"/>
              <a:buNone/>
            </a:pPr>
            <a:r>
              <a:rPr b="1" i="0" lang="en-US" sz="4000" u="none" cap="none" strike="noStrike">
                <a:solidFill>
                  <a:schemeClr val="lt2"/>
                </a:solidFill>
                <a:latin typeface="Quattrocento Sans"/>
                <a:ea typeface="Quattrocento Sans"/>
                <a:cs typeface="Quattrocento Sans"/>
                <a:sym typeface="Quattrocento Sans"/>
              </a:rPr>
              <a:t>Алгоритмы деревьев решений</a:t>
            </a:r>
            <a:endParaRPr/>
          </a:p>
        </p:txBody>
      </p:sp>
      <p:sp>
        <p:nvSpPr>
          <p:cNvPr id="792" name="Google Shape;792;p74"/>
          <p:cNvSpPr txBox="1"/>
          <p:nvPr>
            <p:ph idx="4294967295" type="body"/>
          </p:nvPr>
        </p:nvSpPr>
        <p:spPr>
          <a:xfrm>
            <a:off x="390525" y="1208087"/>
            <a:ext cx="8372475" cy="379412"/>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rgbClr val="F4BE96"/>
              </a:buClr>
              <a:buSzPts val="1760"/>
              <a:buFont typeface="Quattrocento Sans"/>
              <a:buChar char="•"/>
            </a:pPr>
            <a:r>
              <a:rPr b="1" i="1" lang="en-US" sz="2200" u="none">
                <a:solidFill>
                  <a:srgbClr val="FFC000"/>
                </a:solidFill>
                <a:latin typeface="Quattrocento Sans"/>
                <a:ea typeface="Quattrocento Sans"/>
                <a:cs typeface="Quattrocento Sans"/>
                <a:sym typeface="Quattrocento Sans"/>
              </a:rPr>
              <a:t>Пример 3. Задача классификации </a:t>
            </a:r>
            <a:endParaRPr/>
          </a:p>
        </p:txBody>
      </p:sp>
      <p:sp>
        <p:nvSpPr>
          <p:cNvPr id="793" name="Google Shape;793;p74"/>
          <p:cNvSpPr txBox="1"/>
          <p:nvPr/>
        </p:nvSpPr>
        <p:spPr>
          <a:xfrm>
            <a:off x="287337" y="1798637"/>
            <a:ext cx="8578850" cy="615950"/>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Вычислим энтропию с учетом того, что у нас простая бинарная классификация Да/Нет по целевому атрибуту:</a:t>
            </a:r>
            <a:endParaRPr/>
          </a:p>
        </p:txBody>
      </p:sp>
      <p:sp>
        <p:nvSpPr>
          <p:cNvPr id="794" name="Google Shape;794;p74"/>
          <p:cNvSpPr txBox="1"/>
          <p:nvPr/>
        </p:nvSpPr>
        <p:spPr>
          <a:xfrm>
            <a:off x="1866900" y="2408237"/>
            <a:ext cx="5629275"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2800"/>
              <a:buFont typeface="Quattrocento Sans"/>
              <a:buNone/>
            </a:pPr>
            <a:r>
              <a:rPr b="0" i="1" lang="en-US" sz="2800" u="none">
                <a:solidFill>
                  <a:srgbClr val="FFFF00"/>
                </a:solidFill>
                <a:latin typeface="Quattrocento Sans"/>
                <a:ea typeface="Quattrocento Sans"/>
                <a:cs typeface="Quattrocento Sans"/>
                <a:sym typeface="Quattrocento Sans"/>
              </a:rPr>
              <a:t>E(X) = </a:t>
            </a:r>
            <a:r>
              <a:rPr b="0" i="1" lang="en-US" sz="3200" u="none">
                <a:solidFill>
                  <a:srgbClr val="FFFF00"/>
                </a:solidFill>
                <a:latin typeface="Quattrocento Sans"/>
                <a:ea typeface="Quattrocento Sans"/>
                <a:cs typeface="Quattrocento Sans"/>
                <a:sym typeface="Quattrocento Sans"/>
              </a:rPr>
              <a:t>-</a:t>
            </a:r>
            <a:r>
              <a:rPr b="0" i="1" lang="en-US" sz="2800" u="none">
                <a:solidFill>
                  <a:srgbClr val="FFFF00"/>
                </a:solidFill>
                <a:latin typeface="Quattrocento Sans"/>
                <a:ea typeface="Quattrocento Sans"/>
                <a:cs typeface="Quattrocento Sans"/>
                <a:sym typeface="Quattrocento Sans"/>
              </a:rPr>
              <a:t>p</a:t>
            </a:r>
            <a:r>
              <a:rPr b="0" baseline="-25000" i="1" lang="en-US" sz="2800" u="none">
                <a:solidFill>
                  <a:srgbClr val="FFFF00"/>
                </a:solidFill>
                <a:latin typeface="Quattrocento Sans"/>
                <a:ea typeface="Quattrocento Sans"/>
                <a:cs typeface="Quattrocento Sans"/>
                <a:sym typeface="Quattrocento Sans"/>
              </a:rPr>
              <a:t>Да</a:t>
            </a:r>
            <a:r>
              <a:rPr b="0" i="1" lang="en-US" sz="2800" u="none">
                <a:solidFill>
                  <a:srgbClr val="FFFF00"/>
                </a:solidFill>
                <a:latin typeface="Quattrocento Sans"/>
                <a:ea typeface="Quattrocento Sans"/>
                <a:cs typeface="Quattrocento Sans"/>
                <a:sym typeface="Quattrocento Sans"/>
              </a:rPr>
              <a:t>log</a:t>
            </a:r>
            <a:r>
              <a:rPr b="0" baseline="-25000" i="1" lang="en-US" sz="2800" u="none">
                <a:solidFill>
                  <a:srgbClr val="FFFF00"/>
                </a:solidFill>
                <a:latin typeface="Quattrocento Sans"/>
                <a:ea typeface="Quattrocento Sans"/>
                <a:cs typeface="Quattrocento Sans"/>
                <a:sym typeface="Quattrocento Sans"/>
              </a:rPr>
              <a:t>2</a:t>
            </a:r>
            <a:r>
              <a:rPr b="0" i="1" lang="en-US" sz="2800" u="none">
                <a:solidFill>
                  <a:srgbClr val="FFFF00"/>
                </a:solidFill>
                <a:latin typeface="Quattrocento Sans"/>
                <a:ea typeface="Quattrocento Sans"/>
                <a:cs typeface="Quattrocento Sans"/>
                <a:sym typeface="Quattrocento Sans"/>
              </a:rPr>
              <a:t>p</a:t>
            </a:r>
            <a:r>
              <a:rPr b="0" baseline="-25000" i="1" lang="en-US" sz="2800" u="none">
                <a:solidFill>
                  <a:srgbClr val="FFFF00"/>
                </a:solidFill>
                <a:latin typeface="Quattrocento Sans"/>
                <a:ea typeface="Quattrocento Sans"/>
                <a:cs typeface="Quattrocento Sans"/>
                <a:sym typeface="Quattrocento Sans"/>
              </a:rPr>
              <a:t>Да</a:t>
            </a:r>
            <a:r>
              <a:rPr b="0" i="1" lang="en-US" sz="2800" u="none">
                <a:solidFill>
                  <a:srgbClr val="FFFF00"/>
                </a:solidFill>
                <a:latin typeface="Quattrocento Sans"/>
                <a:ea typeface="Quattrocento Sans"/>
                <a:cs typeface="Quattrocento Sans"/>
                <a:sym typeface="Quattrocento Sans"/>
              </a:rPr>
              <a:t> </a:t>
            </a:r>
            <a:r>
              <a:rPr b="0" i="1" lang="en-US" sz="3200" u="none">
                <a:solidFill>
                  <a:srgbClr val="FFFF00"/>
                </a:solidFill>
                <a:latin typeface="Quattrocento Sans"/>
                <a:ea typeface="Quattrocento Sans"/>
                <a:cs typeface="Quattrocento Sans"/>
                <a:sym typeface="Quattrocento Sans"/>
              </a:rPr>
              <a:t>-</a:t>
            </a:r>
            <a:r>
              <a:rPr b="0" i="1" lang="en-US" sz="2800" u="none">
                <a:solidFill>
                  <a:srgbClr val="FFFF00"/>
                </a:solidFill>
                <a:latin typeface="Quattrocento Sans"/>
                <a:ea typeface="Quattrocento Sans"/>
                <a:cs typeface="Quattrocento Sans"/>
                <a:sym typeface="Quattrocento Sans"/>
              </a:rPr>
              <a:t>p</a:t>
            </a:r>
            <a:r>
              <a:rPr b="0" baseline="-25000" i="1" lang="en-US" sz="2800" u="none">
                <a:solidFill>
                  <a:srgbClr val="FFFF00"/>
                </a:solidFill>
                <a:latin typeface="Quattrocento Sans"/>
                <a:ea typeface="Quattrocento Sans"/>
                <a:cs typeface="Quattrocento Sans"/>
                <a:sym typeface="Quattrocento Sans"/>
              </a:rPr>
              <a:t>Нет</a:t>
            </a:r>
            <a:r>
              <a:rPr b="0" i="1" lang="en-US" sz="2800" u="none">
                <a:solidFill>
                  <a:srgbClr val="FFFF00"/>
                </a:solidFill>
                <a:latin typeface="Quattrocento Sans"/>
                <a:ea typeface="Quattrocento Sans"/>
                <a:cs typeface="Quattrocento Sans"/>
                <a:sym typeface="Quattrocento Sans"/>
              </a:rPr>
              <a:t>log</a:t>
            </a:r>
            <a:r>
              <a:rPr b="0" baseline="-25000" i="1" lang="en-US" sz="2800" u="none">
                <a:solidFill>
                  <a:srgbClr val="FFFF00"/>
                </a:solidFill>
                <a:latin typeface="Quattrocento Sans"/>
                <a:ea typeface="Quattrocento Sans"/>
                <a:cs typeface="Quattrocento Sans"/>
                <a:sym typeface="Quattrocento Sans"/>
              </a:rPr>
              <a:t>2</a:t>
            </a:r>
            <a:r>
              <a:rPr b="0" i="1" lang="en-US" sz="2800" u="none">
                <a:solidFill>
                  <a:srgbClr val="FFFF00"/>
                </a:solidFill>
                <a:latin typeface="Quattrocento Sans"/>
                <a:ea typeface="Quattrocento Sans"/>
                <a:cs typeface="Quattrocento Sans"/>
                <a:sym typeface="Quattrocento Sans"/>
              </a:rPr>
              <a:t>p</a:t>
            </a:r>
            <a:r>
              <a:rPr b="0" baseline="-25000" i="1" lang="en-US" sz="2800" u="none">
                <a:solidFill>
                  <a:srgbClr val="FFFF00"/>
                </a:solidFill>
                <a:latin typeface="Quattrocento Sans"/>
                <a:ea typeface="Quattrocento Sans"/>
                <a:cs typeface="Quattrocento Sans"/>
                <a:sym typeface="Quattrocento Sans"/>
              </a:rPr>
              <a:t>Нет</a:t>
            </a:r>
            <a:r>
              <a:rPr b="0" i="1" lang="en-US" sz="2800" u="none">
                <a:solidFill>
                  <a:srgbClr val="FFFF00"/>
                </a:solidFill>
                <a:latin typeface="Quattrocento Sans"/>
                <a:ea typeface="Quattrocento Sans"/>
                <a:cs typeface="Quattrocento Sans"/>
                <a:sym typeface="Quattrocento Sans"/>
              </a:rPr>
              <a:t> =</a:t>
            </a:r>
            <a:endParaRPr/>
          </a:p>
        </p:txBody>
      </p:sp>
      <p:pic>
        <p:nvPicPr>
          <p:cNvPr id="795" name="Google Shape;795;p74"/>
          <p:cNvPicPr preferRelativeResize="0"/>
          <p:nvPr/>
        </p:nvPicPr>
        <p:blipFill rotWithShape="1">
          <a:blip r:embed="rId3">
            <a:alphaModFix/>
          </a:blip>
          <a:srcRect b="0" l="0" r="0" t="0"/>
          <a:stretch/>
        </p:blipFill>
        <p:spPr>
          <a:xfrm>
            <a:off x="3005137" y="3124200"/>
            <a:ext cx="3133725" cy="609600"/>
          </a:xfrm>
          <a:prstGeom prst="rect">
            <a:avLst/>
          </a:prstGeom>
          <a:noFill/>
          <a:ln>
            <a:noFill/>
          </a:ln>
        </p:spPr>
      </p:pic>
      <p:graphicFrame>
        <p:nvGraphicFramePr>
          <p:cNvPr id="796" name="Google Shape;796;p74"/>
          <p:cNvGraphicFramePr/>
          <p:nvPr/>
        </p:nvGraphicFramePr>
        <p:xfrm>
          <a:off x="823912" y="3870325"/>
          <a:ext cx="3000000" cy="3000000"/>
        </p:xfrm>
        <a:graphic>
          <a:graphicData uri="http://schemas.openxmlformats.org/drawingml/2006/table">
            <a:tbl>
              <a:tblPr>
                <a:noFill/>
                <a:tableStyleId>{4A9718B0-E53D-4CFF-AC7E-A2A48AE619F5}</a:tableStyleId>
              </a:tblPr>
              <a:tblGrid>
                <a:gridCol w="806450"/>
                <a:gridCol w="1473200"/>
                <a:gridCol w="1473200"/>
                <a:gridCol w="1471600"/>
                <a:gridCol w="2455850"/>
              </a:tblGrid>
              <a:tr h="385750">
                <a:tc>
                  <a:txBody>
                    <a:bodyPr/>
                    <a:lstStyle/>
                    <a:p>
                      <a:pPr indent="0" lvl="0" marL="0" marR="0" rtl="0" algn="ctr">
                        <a:lnSpc>
                          <a:spcPct val="107000"/>
                        </a:lnSpc>
                        <a:spcBef>
                          <a:spcPts val="0"/>
                        </a:spcBef>
                        <a:spcAft>
                          <a:spcPts val="0"/>
                        </a:spcAft>
                        <a:buClr>
                          <a:srgbClr val="FFFFFF"/>
                        </a:buClr>
                        <a:buSzPts val="1800"/>
                        <a:buFont typeface="Quattrocento Sans"/>
                        <a:buNone/>
                      </a:pPr>
                      <a:r>
                        <a:rPr b="1" i="0" lang="en-US" sz="1800" u="none">
                          <a:solidFill>
                            <a:srgbClr val="FFFFFF"/>
                          </a:solidFill>
                          <a:latin typeface="Quattrocento Sans"/>
                          <a:ea typeface="Quattrocento Sans"/>
                          <a:cs typeface="Quattrocento Sans"/>
                          <a:sym typeface="Quattrocento Sans"/>
                        </a:rPr>
                        <a:t>№</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FFFFFF"/>
                        </a:buClr>
                        <a:buSzPts val="1800"/>
                        <a:buFont typeface="Quattrocento Sans"/>
                        <a:buNone/>
                      </a:pPr>
                      <a:r>
                        <a:rPr b="1" i="0" lang="en-US" sz="1800" u="none">
                          <a:solidFill>
                            <a:srgbClr val="FFFFFF"/>
                          </a:solidFill>
                          <a:latin typeface="Quattrocento Sans"/>
                          <a:ea typeface="Quattrocento Sans"/>
                          <a:cs typeface="Quattrocento Sans"/>
                          <a:sym typeface="Quattrocento Sans"/>
                        </a:rPr>
                        <a:t>Рост</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FFFFFF"/>
                        </a:buClr>
                        <a:buSzPts val="1800"/>
                        <a:buFont typeface="Quattrocento Sans"/>
                        <a:buNone/>
                      </a:pPr>
                      <a:r>
                        <a:rPr b="1" i="0" lang="en-US" sz="1800" u="none">
                          <a:solidFill>
                            <a:srgbClr val="FFFFFF"/>
                          </a:solidFill>
                          <a:latin typeface="Quattrocento Sans"/>
                          <a:ea typeface="Quattrocento Sans"/>
                          <a:cs typeface="Quattrocento Sans"/>
                          <a:sym typeface="Quattrocento Sans"/>
                        </a:rPr>
                        <a:t>Волосы</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FFFFFF"/>
                        </a:buClr>
                        <a:buSzPts val="1800"/>
                        <a:buFont typeface="Quattrocento Sans"/>
                        <a:buNone/>
                      </a:pPr>
                      <a:r>
                        <a:rPr b="1" i="0" lang="en-US" sz="1800" u="none">
                          <a:solidFill>
                            <a:srgbClr val="FFFFFF"/>
                          </a:solidFill>
                          <a:latin typeface="Quattrocento Sans"/>
                          <a:ea typeface="Quattrocento Sans"/>
                          <a:cs typeface="Quattrocento Sans"/>
                          <a:sym typeface="Quattrocento Sans"/>
                        </a:rPr>
                        <a:t>Глаза</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FFFFFF"/>
                        </a:buClr>
                        <a:buSzPts val="1800"/>
                        <a:buFont typeface="Quattrocento Sans"/>
                        <a:buNone/>
                      </a:pPr>
                      <a:r>
                        <a:rPr b="1" i="0" lang="en-US" sz="1800" u="none">
                          <a:solidFill>
                            <a:srgbClr val="FFFFFF"/>
                          </a:solidFill>
                          <a:latin typeface="Quattrocento Sans"/>
                          <a:ea typeface="Quattrocento Sans"/>
                          <a:cs typeface="Quattrocento Sans"/>
                          <a:sym typeface="Quattrocento Sans"/>
                        </a:rPr>
                        <a:t>Привлекательность?</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292100">
                <a:tc>
                  <a:txBody>
                    <a:bodyPr/>
                    <a:lstStyle/>
                    <a:p>
                      <a:pPr indent="0" lvl="0" marL="0" marR="0" rtl="0" algn="ctr">
                        <a:lnSpc>
                          <a:spcPct val="107000"/>
                        </a:lnSpc>
                        <a:spcBef>
                          <a:spcPts val="0"/>
                        </a:spcBef>
                        <a:spcAft>
                          <a:spcPts val="0"/>
                        </a:spcAft>
                        <a:buClr>
                          <a:srgbClr val="FFFFFF"/>
                        </a:buClr>
                        <a:buSzPts val="1800"/>
                        <a:buFont typeface="Quattrocento Sans"/>
                        <a:buNone/>
                      </a:pPr>
                      <a:r>
                        <a:rPr b="1" i="0" lang="en-US" sz="1800" u="none">
                          <a:solidFill>
                            <a:srgbClr val="FFFFFF"/>
                          </a:solidFill>
                          <a:latin typeface="Quattrocento Sans"/>
                          <a:ea typeface="Quattrocento Sans"/>
                          <a:cs typeface="Quattrocento Sans"/>
                          <a:sym typeface="Quattrocento Sans"/>
                        </a:rPr>
                        <a:t>1</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Низкий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Блонд</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Карие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Нет</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92100">
                <a:tc>
                  <a:txBody>
                    <a:bodyPr/>
                    <a:lstStyle/>
                    <a:p>
                      <a:pPr indent="0" lvl="0" marL="0" marR="0" rtl="0" algn="ctr">
                        <a:lnSpc>
                          <a:spcPct val="107000"/>
                        </a:lnSpc>
                        <a:spcBef>
                          <a:spcPts val="0"/>
                        </a:spcBef>
                        <a:spcAft>
                          <a:spcPts val="0"/>
                        </a:spcAft>
                        <a:buClr>
                          <a:srgbClr val="FFFFFF"/>
                        </a:buClr>
                        <a:buSzPts val="1800"/>
                        <a:buFont typeface="Quattrocento Sans"/>
                        <a:buNone/>
                      </a:pPr>
                      <a:r>
                        <a:rPr b="1" i="0" lang="en-US" sz="1800" u="none">
                          <a:solidFill>
                            <a:srgbClr val="FFFFFF"/>
                          </a:solidFill>
                          <a:latin typeface="Quattrocento Sans"/>
                          <a:ea typeface="Quattrocento Sans"/>
                          <a:cs typeface="Quattrocento Sans"/>
                          <a:sym typeface="Quattrocento Sans"/>
                        </a:rPr>
                        <a:t>2</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Высокий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Темные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Карие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Нет</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r h="293675">
                <a:tc>
                  <a:txBody>
                    <a:bodyPr/>
                    <a:lstStyle/>
                    <a:p>
                      <a:pPr indent="0" lvl="0" marL="0" marR="0" rtl="0" algn="ctr">
                        <a:lnSpc>
                          <a:spcPct val="107000"/>
                        </a:lnSpc>
                        <a:spcBef>
                          <a:spcPts val="0"/>
                        </a:spcBef>
                        <a:spcAft>
                          <a:spcPts val="0"/>
                        </a:spcAft>
                        <a:buClr>
                          <a:srgbClr val="FFFFFF"/>
                        </a:buClr>
                        <a:buSzPts val="1800"/>
                        <a:buFont typeface="Quattrocento Sans"/>
                        <a:buNone/>
                      </a:pPr>
                      <a:r>
                        <a:rPr b="1" i="0" lang="en-US" sz="1800" u="none">
                          <a:solidFill>
                            <a:srgbClr val="FFFFFF"/>
                          </a:solidFill>
                          <a:latin typeface="Quattrocento Sans"/>
                          <a:ea typeface="Quattrocento Sans"/>
                          <a:cs typeface="Quattrocento Sans"/>
                          <a:sym typeface="Quattrocento Sans"/>
                        </a:rPr>
                        <a:t>3</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Высокий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Блонд</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Голубые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Да</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92100">
                <a:tc>
                  <a:txBody>
                    <a:bodyPr/>
                    <a:lstStyle/>
                    <a:p>
                      <a:pPr indent="0" lvl="0" marL="0" marR="0" rtl="0" algn="ctr">
                        <a:lnSpc>
                          <a:spcPct val="107000"/>
                        </a:lnSpc>
                        <a:spcBef>
                          <a:spcPts val="0"/>
                        </a:spcBef>
                        <a:spcAft>
                          <a:spcPts val="0"/>
                        </a:spcAft>
                        <a:buClr>
                          <a:srgbClr val="FFFFFF"/>
                        </a:buClr>
                        <a:buSzPts val="1800"/>
                        <a:buFont typeface="Quattrocento Sans"/>
                        <a:buNone/>
                      </a:pPr>
                      <a:r>
                        <a:rPr b="1" i="0" lang="en-US" sz="1800" u="none">
                          <a:solidFill>
                            <a:srgbClr val="FFFFFF"/>
                          </a:solidFill>
                          <a:latin typeface="Quattrocento Sans"/>
                          <a:ea typeface="Quattrocento Sans"/>
                          <a:cs typeface="Quattrocento Sans"/>
                          <a:sym typeface="Quattrocento Sans"/>
                        </a:rPr>
                        <a:t>4</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Высокий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Темные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Голубые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Нет</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r h="292100">
                <a:tc>
                  <a:txBody>
                    <a:bodyPr/>
                    <a:lstStyle/>
                    <a:p>
                      <a:pPr indent="0" lvl="0" marL="0" marR="0" rtl="0" algn="ctr">
                        <a:lnSpc>
                          <a:spcPct val="107000"/>
                        </a:lnSpc>
                        <a:spcBef>
                          <a:spcPts val="0"/>
                        </a:spcBef>
                        <a:spcAft>
                          <a:spcPts val="0"/>
                        </a:spcAft>
                        <a:buClr>
                          <a:srgbClr val="FFFFFF"/>
                        </a:buClr>
                        <a:buSzPts val="1800"/>
                        <a:buFont typeface="Quattrocento Sans"/>
                        <a:buNone/>
                      </a:pPr>
                      <a:r>
                        <a:rPr b="1" i="0" lang="en-US" sz="1800" u="none">
                          <a:solidFill>
                            <a:srgbClr val="FFFFFF"/>
                          </a:solidFill>
                          <a:latin typeface="Quattrocento Sans"/>
                          <a:ea typeface="Quattrocento Sans"/>
                          <a:cs typeface="Quattrocento Sans"/>
                          <a:sym typeface="Quattrocento Sans"/>
                        </a:rPr>
                        <a:t>5</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Низкий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Темные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Голубые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Нет</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92100">
                <a:tc>
                  <a:txBody>
                    <a:bodyPr/>
                    <a:lstStyle/>
                    <a:p>
                      <a:pPr indent="0" lvl="0" marL="0" marR="0" rtl="0" algn="ctr">
                        <a:lnSpc>
                          <a:spcPct val="107000"/>
                        </a:lnSpc>
                        <a:spcBef>
                          <a:spcPts val="0"/>
                        </a:spcBef>
                        <a:spcAft>
                          <a:spcPts val="0"/>
                        </a:spcAft>
                        <a:buClr>
                          <a:srgbClr val="FFFFFF"/>
                        </a:buClr>
                        <a:buSzPts val="1800"/>
                        <a:buFont typeface="Quattrocento Sans"/>
                        <a:buNone/>
                      </a:pPr>
                      <a:r>
                        <a:rPr b="1" i="0" lang="en-US" sz="1800" u="none">
                          <a:solidFill>
                            <a:srgbClr val="FFFFFF"/>
                          </a:solidFill>
                          <a:latin typeface="Quattrocento Sans"/>
                          <a:ea typeface="Quattrocento Sans"/>
                          <a:cs typeface="Quattrocento Sans"/>
                          <a:sym typeface="Quattrocento Sans"/>
                        </a:rPr>
                        <a:t>6</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Высокий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Рыжие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Голубые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Да</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r h="292100">
                <a:tc>
                  <a:txBody>
                    <a:bodyPr/>
                    <a:lstStyle/>
                    <a:p>
                      <a:pPr indent="0" lvl="0" marL="0" marR="0" rtl="0" algn="ctr">
                        <a:lnSpc>
                          <a:spcPct val="107000"/>
                        </a:lnSpc>
                        <a:spcBef>
                          <a:spcPts val="0"/>
                        </a:spcBef>
                        <a:spcAft>
                          <a:spcPts val="0"/>
                        </a:spcAft>
                        <a:buClr>
                          <a:srgbClr val="FFFFFF"/>
                        </a:buClr>
                        <a:buSzPts val="1800"/>
                        <a:buFont typeface="Quattrocento Sans"/>
                        <a:buNone/>
                      </a:pPr>
                      <a:r>
                        <a:rPr b="1" i="0" lang="en-US" sz="1800" u="none">
                          <a:solidFill>
                            <a:srgbClr val="FFFFFF"/>
                          </a:solidFill>
                          <a:latin typeface="Quattrocento Sans"/>
                          <a:ea typeface="Quattrocento Sans"/>
                          <a:cs typeface="Quattrocento Sans"/>
                          <a:sym typeface="Quattrocento Sans"/>
                        </a:rPr>
                        <a:t>7</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Высокий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Блонд</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Карие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Нет</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92100">
                <a:tc>
                  <a:txBody>
                    <a:bodyPr/>
                    <a:lstStyle/>
                    <a:p>
                      <a:pPr indent="0" lvl="0" marL="0" marR="0" rtl="0" algn="ctr">
                        <a:lnSpc>
                          <a:spcPct val="107000"/>
                        </a:lnSpc>
                        <a:spcBef>
                          <a:spcPts val="0"/>
                        </a:spcBef>
                        <a:spcAft>
                          <a:spcPts val="0"/>
                        </a:spcAft>
                        <a:buClr>
                          <a:srgbClr val="FFFFFF"/>
                        </a:buClr>
                        <a:buSzPts val="1800"/>
                        <a:buFont typeface="Quattrocento Sans"/>
                        <a:buNone/>
                      </a:pPr>
                      <a:r>
                        <a:rPr b="1" i="0" lang="en-US" sz="1800" u="none">
                          <a:solidFill>
                            <a:srgbClr val="FFFFFF"/>
                          </a:solidFill>
                          <a:latin typeface="Quattrocento Sans"/>
                          <a:ea typeface="Quattrocento Sans"/>
                          <a:cs typeface="Quattrocento Sans"/>
                          <a:sym typeface="Quattrocento Sans"/>
                        </a:rPr>
                        <a:t>8</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Низкий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Блонд</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Голубые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800"/>
                        <a:buFont typeface="Quattrocento Sans"/>
                        <a:buNone/>
                      </a:pPr>
                      <a:r>
                        <a:rPr b="0" i="0" lang="en-US" sz="1800" u="none">
                          <a:solidFill>
                            <a:srgbClr val="000000"/>
                          </a:solidFill>
                          <a:latin typeface="Quattrocento Sans"/>
                          <a:ea typeface="Quattrocento Sans"/>
                          <a:cs typeface="Quattrocento Sans"/>
                          <a:sym typeface="Quattrocento Sans"/>
                        </a:rPr>
                        <a:t>Да</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bl>
          </a:graphicData>
        </a:graphic>
      </p:graphicFrame>
    </p:spTree>
  </p:cSld>
  <p:clrMapOvr>
    <a:masterClrMapping/>
  </p:clrMapOvr>
  <p:transition spd="slow">
    <p:fade/>
  </p:transition>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75"/>
          <p:cNvSpPr txBox="1"/>
          <p:nvPr>
            <p:ph idx="4294967295" type="title"/>
          </p:nvPr>
        </p:nvSpPr>
        <p:spPr>
          <a:xfrm>
            <a:off x="390525" y="228600"/>
            <a:ext cx="8372475" cy="61595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chemeClr val="lt2"/>
              </a:buClr>
              <a:buSzPts val="4000"/>
              <a:buFont typeface="Quattrocento Sans"/>
              <a:buNone/>
            </a:pPr>
            <a:r>
              <a:rPr b="1" i="0" lang="en-US" sz="4000" u="none" cap="none" strike="noStrike">
                <a:solidFill>
                  <a:schemeClr val="lt2"/>
                </a:solidFill>
                <a:latin typeface="Quattrocento Sans"/>
                <a:ea typeface="Quattrocento Sans"/>
                <a:cs typeface="Quattrocento Sans"/>
                <a:sym typeface="Quattrocento Sans"/>
              </a:rPr>
              <a:t>Алгоритмы деревьев решений</a:t>
            </a:r>
            <a:endParaRPr/>
          </a:p>
        </p:txBody>
      </p:sp>
      <p:sp>
        <p:nvSpPr>
          <p:cNvPr id="802" name="Google Shape;802;p75"/>
          <p:cNvSpPr txBox="1"/>
          <p:nvPr>
            <p:ph idx="4294967295" type="body"/>
          </p:nvPr>
        </p:nvSpPr>
        <p:spPr>
          <a:xfrm>
            <a:off x="390525" y="963612"/>
            <a:ext cx="8372475" cy="379412"/>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rgbClr val="F4BE96"/>
              </a:buClr>
              <a:buSzPts val="1760"/>
              <a:buFont typeface="Quattrocento Sans"/>
              <a:buChar char="•"/>
            </a:pPr>
            <a:r>
              <a:rPr b="1" i="1" lang="en-US" sz="2200" u="none">
                <a:solidFill>
                  <a:srgbClr val="FFC000"/>
                </a:solidFill>
                <a:latin typeface="Quattrocento Sans"/>
                <a:ea typeface="Quattrocento Sans"/>
                <a:cs typeface="Quattrocento Sans"/>
                <a:sym typeface="Quattrocento Sans"/>
              </a:rPr>
              <a:t>Пример 3. Задача классификации </a:t>
            </a:r>
            <a:endParaRPr/>
          </a:p>
        </p:txBody>
      </p:sp>
      <p:sp>
        <p:nvSpPr>
          <p:cNvPr id="803" name="Google Shape;803;p75"/>
          <p:cNvSpPr txBox="1"/>
          <p:nvPr/>
        </p:nvSpPr>
        <p:spPr>
          <a:xfrm>
            <a:off x="284162" y="1352550"/>
            <a:ext cx="7815262" cy="354012"/>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Теперь для каждого атрибута оценим прирост информации:</a:t>
            </a:r>
            <a:endParaRPr/>
          </a:p>
        </p:txBody>
      </p:sp>
      <p:graphicFrame>
        <p:nvGraphicFramePr>
          <p:cNvPr id="804" name="Google Shape;804;p75"/>
          <p:cNvGraphicFramePr/>
          <p:nvPr/>
        </p:nvGraphicFramePr>
        <p:xfrm>
          <a:off x="77787" y="2201862"/>
          <a:ext cx="3000000" cy="3000000"/>
        </p:xfrm>
        <a:graphic>
          <a:graphicData uri="http://schemas.openxmlformats.org/drawingml/2006/table">
            <a:tbl>
              <a:tblPr>
                <a:noFill/>
                <a:tableStyleId>{4A9718B0-E53D-4CFF-AC7E-A2A48AE619F5}</a:tableStyleId>
              </a:tblPr>
              <a:tblGrid>
                <a:gridCol w="665150"/>
                <a:gridCol w="893750"/>
                <a:gridCol w="728650"/>
                <a:gridCol w="893750"/>
                <a:gridCol w="933450"/>
              </a:tblGrid>
              <a:tr h="285750">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Рост</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Волосы</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Глаза</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Привлек?</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241300">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1</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Низкий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Блонд</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Карие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Нет</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42875">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2</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Высокий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Темные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Карие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Нет</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r h="241300">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3</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Высокий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Блонд</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Голубые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Да</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41300">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4</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Высокий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Темные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Голубые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Нет</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r h="242875">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5</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Низкий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Темные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Голубые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Нет</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41300">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6</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Высокий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Рыжие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Голубые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Да</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r h="242875">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7</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Высокий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Блонд</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Карие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Нет</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41300">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8</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Низкий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Блонд</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Голубые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Да</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bl>
          </a:graphicData>
        </a:graphic>
      </p:graphicFrame>
      <p:sp>
        <p:nvSpPr>
          <p:cNvPr id="805" name="Google Shape;805;p75"/>
          <p:cNvSpPr txBox="1"/>
          <p:nvPr/>
        </p:nvSpPr>
        <p:spPr>
          <a:xfrm>
            <a:off x="1143000" y="1644650"/>
            <a:ext cx="184150" cy="36988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pic>
        <p:nvPicPr>
          <p:cNvPr id="806" name="Google Shape;806;p75"/>
          <p:cNvPicPr preferRelativeResize="0"/>
          <p:nvPr/>
        </p:nvPicPr>
        <p:blipFill rotWithShape="1">
          <a:blip r:embed="rId3">
            <a:alphaModFix/>
          </a:blip>
          <a:srcRect b="0" l="0" r="0" t="0"/>
          <a:stretch/>
        </p:blipFill>
        <p:spPr>
          <a:xfrm>
            <a:off x="4267200" y="2024062"/>
            <a:ext cx="4830762" cy="542925"/>
          </a:xfrm>
          <a:prstGeom prst="rect">
            <a:avLst/>
          </a:prstGeom>
          <a:noFill/>
          <a:ln>
            <a:noFill/>
          </a:ln>
        </p:spPr>
      </p:pic>
      <p:sp>
        <p:nvSpPr>
          <p:cNvPr id="807" name="Google Shape;807;p75"/>
          <p:cNvSpPr txBox="1"/>
          <p:nvPr/>
        </p:nvSpPr>
        <p:spPr>
          <a:xfrm>
            <a:off x="0" y="0"/>
            <a:ext cx="9144000" cy="457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pic>
        <p:nvPicPr>
          <p:cNvPr id="808" name="Google Shape;808;p75"/>
          <p:cNvPicPr preferRelativeResize="0"/>
          <p:nvPr/>
        </p:nvPicPr>
        <p:blipFill rotWithShape="1">
          <a:blip r:embed="rId4">
            <a:alphaModFix/>
          </a:blip>
          <a:srcRect b="0" l="0" r="0" t="0"/>
          <a:stretch/>
        </p:blipFill>
        <p:spPr>
          <a:xfrm>
            <a:off x="390525" y="4749800"/>
            <a:ext cx="8229600" cy="752475"/>
          </a:xfrm>
          <a:prstGeom prst="rect">
            <a:avLst/>
          </a:prstGeom>
          <a:noFill/>
          <a:ln>
            <a:noFill/>
          </a:ln>
        </p:spPr>
      </p:pic>
      <p:pic>
        <p:nvPicPr>
          <p:cNvPr id="809" name="Google Shape;809;p75"/>
          <p:cNvPicPr preferRelativeResize="0"/>
          <p:nvPr/>
        </p:nvPicPr>
        <p:blipFill rotWithShape="1">
          <a:blip r:embed="rId5">
            <a:alphaModFix/>
          </a:blip>
          <a:srcRect b="0" l="0" r="0" t="0"/>
          <a:stretch/>
        </p:blipFill>
        <p:spPr>
          <a:xfrm>
            <a:off x="1327150" y="5672137"/>
            <a:ext cx="6427787" cy="635000"/>
          </a:xfrm>
          <a:prstGeom prst="rect">
            <a:avLst/>
          </a:prstGeom>
          <a:noFill/>
          <a:ln>
            <a:noFill/>
          </a:ln>
        </p:spPr>
      </p:pic>
      <p:sp>
        <p:nvSpPr>
          <p:cNvPr id="810" name="Google Shape;810;p75"/>
          <p:cNvSpPr txBox="1"/>
          <p:nvPr/>
        </p:nvSpPr>
        <p:spPr>
          <a:xfrm>
            <a:off x="0" y="0"/>
            <a:ext cx="9144000" cy="457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pic>
        <p:nvPicPr>
          <p:cNvPr id="811" name="Google Shape;811;p75"/>
          <p:cNvPicPr preferRelativeResize="0"/>
          <p:nvPr/>
        </p:nvPicPr>
        <p:blipFill rotWithShape="1">
          <a:blip r:embed="rId6">
            <a:alphaModFix/>
          </a:blip>
          <a:srcRect b="0" l="0" r="0" t="0"/>
          <a:stretch/>
        </p:blipFill>
        <p:spPr>
          <a:xfrm>
            <a:off x="4267200" y="3316287"/>
            <a:ext cx="4876800" cy="600075"/>
          </a:xfrm>
          <a:prstGeom prst="rect">
            <a:avLst/>
          </a:prstGeom>
          <a:noFill/>
          <a:ln>
            <a:noFill/>
          </a:ln>
        </p:spPr>
      </p:pic>
      <p:pic>
        <p:nvPicPr>
          <p:cNvPr id="812" name="Google Shape;812;p75"/>
          <p:cNvPicPr preferRelativeResize="0"/>
          <p:nvPr/>
        </p:nvPicPr>
        <p:blipFill rotWithShape="1">
          <a:blip r:embed="rId7">
            <a:alphaModFix/>
          </a:blip>
          <a:srcRect b="0" l="0" r="0" t="0"/>
          <a:stretch/>
        </p:blipFill>
        <p:spPr>
          <a:xfrm>
            <a:off x="4267200" y="4140200"/>
            <a:ext cx="4495800" cy="522287"/>
          </a:xfrm>
          <a:prstGeom prst="rect">
            <a:avLst/>
          </a:prstGeom>
          <a:noFill/>
          <a:ln>
            <a:noFill/>
          </a:ln>
        </p:spPr>
      </p:pic>
      <p:grpSp>
        <p:nvGrpSpPr>
          <p:cNvPr id="813" name="Google Shape;813;p75"/>
          <p:cNvGrpSpPr/>
          <p:nvPr/>
        </p:nvGrpSpPr>
        <p:grpSpPr>
          <a:xfrm>
            <a:off x="4267200" y="2667000"/>
            <a:ext cx="4830762" cy="444500"/>
            <a:chOff x="4267200" y="2667000"/>
            <a:chExt cx="4830763" cy="444500"/>
          </a:xfrm>
        </p:grpSpPr>
        <p:pic>
          <p:nvPicPr>
            <p:cNvPr id="814" name="Google Shape;814;p75"/>
            <p:cNvPicPr preferRelativeResize="0"/>
            <p:nvPr/>
          </p:nvPicPr>
          <p:blipFill rotWithShape="1">
            <a:blip r:embed="rId8">
              <a:alphaModFix/>
            </a:blip>
            <a:srcRect b="0" l="0" r="0" t="0"/>
            <a:stretch/>
          </p:blipFill>
          <p:spPr>
            <a:xfrm>
              <a:off x="4267200" y="2697163"/>
              <a:ext cx="4830763" cy="414337"/>
            </a:xfrm>
            <a:prstGeom prst="rect">
              <a:avLst/>
            </a:prstGeom>
            <a:noFill/>
            <a:ln>
              <a:noFill/>
            </a:ln>
          </p:spPr>
        </p:pic>
        <p:sp>
          <p:nvSpPr>
            <p:cNvPr id="815" name="Google Shape;815;p75"/>
            <p:cNvSpPr txBox="1"/>
            <p:nvPr/>
          </p:nvSpPr>
          <p:spPr>
            <a:xfrm>
              <a:off x="8153400" y="2667000"/>
              <a:ext cx="114300" cy="26035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100"/>
                <a:buFont typeface="Quattrocento Sans"/>
                <a:buNone/>
              </a:pPr>
              <a:r>
                <a:rPr b="1" i="0" lang="en-US" sz="1100" u="sng">
                  <a:solidFill>
                    <a:schemeClr val="dk2"/>
                  </a:solidFill>
                  <a:latin typeface="Quattrocento Sans"/>
                  <a:ea typeface="Quattrocento Sans"/>
                  <a:cs typeface="Quattrocento Sans"/>
                  <a:sym typeface="Quattrocento Sans"/>
                </a:rPr>
                <a:t>2</a:t>
              </a:r>
              <a:endParaRPr/>
            </a:p>
          </p:txBody>
        </p:sp>
      </p:grpSp>
      <p:sp>
        <p:nvSpPr>
          <p:cNvPr id="816" name="Google Shape;816;p75"/>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2"/>
                                        </p:tgtEl>
                                        <p:attrNameLst>
                                          <p:attrName>style.visibility</p:attrName>
                                        </p:attrNameLst>
                                      </p:cBhvr>
                                      <p:to>
                                        <p:strVal val="visible"/>
                                      </p:to>
                                    </p:set>
                                    <p:animEffect filter="fade" transition="in">
                                      <p:cBhvr>
                                        <p:cTn dur="500"/>
                                        <p:tgtEl>
                                          <p:spTgt spid="8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9"/>
                                        </p:tgtEl>
                                        <p:attrNameLst>
                                          <p:attrName>style.visibility</p:attrName>
                                        </p:attrNameLst>
                                      </p:cBhvr>
                                      <p:to>
                                        <p:strVal val="visible"/>
                                      </p:to>
                                    </p:set>
                                    <p:animEffect filter="fade" transition="in">
                                      <p:cBhvr>
                                        <p:cTn dur="500"/>
                                        <p:tgtEl>
                                          <p:spTgt spid="8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76"/>
          <p:cNvSpPr txBox="1"/>
          <p:nvPr>
            <p:ph idx="4294967295" type="title"/>
          </p:nvPr>
        </p:nvSpPr>
        <p:spPr>
          <a:xfrm>
            <a:off x="390525" y="228600"/>
            <a:ext cx="8372475" cy="61595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chemeClr val="lt2"/>
              </a:buClr>
              <a:buSzPts val="4000"/>
              <a:buFont typeface="Quattrocento Sans"/>
              <a:buNone/>
            </a:pPr>
            <a:r>
              <a:rPr b="1" i="0" lang="en-US" sz="4000" u="none" cap="none" strike="noStrike">
                <a:solidFill>
                  <a:schemeClr val="lt2"/>
                </a:solidFill>
                <a:latin typeface="Quattrocento Sans"/>
                <a:ea typeface="Quattrocento Sans"/>
                <a:cs typeface="Quattrocento Sans"/>
                <a:sym typeface="Quattrocento Sans"/>
              </a:rPr>
              <a:t>Алгоритмы деревьев решений</a:t>
            </a:r>
            <a:endParaRPr/>
          </a:p>
        </p:txBody>
      </p:sp>
      <p:sp>
        <p:nvSpPr>
          <p:cNvPr id="822" name="Google Shape;822;p76"/>
          <p:cNvSpPr txBox="1"/>
          <p:nvPr>
            <p:ph idx="4294967295" type="body"/>
          </p:nvPr>
        </p:nvSpPr>
        <p:spPr>
          <a:xfrm>
            <a:off x="390525" y="1208087"/>
            <a:ext cx="8372475" cy="379412"/>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rgbClr val="F4BE96"/>
              </a:buClr>
              <a:buSzPts val="1760"/>
              <a:buFont typeface="Quattrocento Sans"/>
              <a:buChar char="•"/>
            </a:pPr>
            <a:r>
              <a:rPr b="1" i="1" lang="en-US" sz="2200" u="none">
                <a:solidFill>
                  <a:srgbClr val="FFC000"/>
                </a:solidFill>
                <a:latin typeface="Quattrocento Sans"/>
                <a:ea typeface="Quattrocento Sans"/>
                <a:cs typeface="Quattrocento Sans"/>
                <a:sym typeface="Quattrocento Sans"/>
              </a:rPr>
              <a:t>Пример 3. Задача классификации (выводы)</a:t>
            </a:r>
            <a:endParaRPr/>
          </a:p>
        </p:txBody>
      </p:sp>
      <p:sp>
        <p:nvSpPr>
          <p:cNvPr id="823" name="Google Shape;823;p76"/>
          <p:cNvSpPr txBox="1"/>
          <p:nvPr/>
        </p:nvSpPr>
        <p:spPr>
          <a:xfrm>
            <a:off x="84137" y="1587500"/>
            <a:ext cx="8975725" cy="2678112"/>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Таким образом, наибольший прирост информации на первом шаге обеспечивает атрибут «Волосы». Именно он является самым информативным и наилучшим образом разделяет набор данных на наши классы Да/Нет. И это видно невооруженным глазом, если посмотреть в исходную таблицу данных: </a:t>
            </a:r>
            <a:endParaRPr/>
          </a:p>
          <a:p>
            <a:pPr indent="-334962" lvl="0" marL="334962" marR="0" rtl="0" algn="l">
              <a:lnSpc>
                <a:spcPct val="85000"/>
              </a:lnSpc>
              <a:spcBef>
                <a:spcPts val="50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(«Волосы»=Темные) сразу обращает («Привлекательность?» ⇒ Нет), </a:t>
            </a:r>
            <a:endParaRPr/>
          </a:p>
          <a:p>
            <a:pPr indent="-334962" lvl="0" marL="334962" marR="0" rtl="0" algn="l">
              <a:lnSpc>
                <a:spcPct val="85000"/>
              </a:lnSpc>
              <a:spcBef>
                <a:spcPts val="50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(«Волосы»=Рыжие) сразу влечет («Привлекательность?»</a:t>
            </a:r>
            <a:r>
              <a:rPr b="0" i="0" lang="en-US" sz="2000" u="none">
                <a:solidFill>
                  <a:schemeClr val="dk2"/>
                </a:solidFill>
                <a:latin typeface="Quattrocento Sans"/>
                <a:ea typeface="Quattrocento Sans"/>
                <a:cs typeface="Quattrocento Sans"/>
                <a:sym typeface="Quattrocento Sans"/>
              </a:rPr>
              <a:t> </a:t>
            </a:r>
            <a:r>
              <a:rPr b="0" i="0" lang="en-US" sz="2000" u="none">
                <a:solidFill>
                  <a:schemeClr val="lt1"/>
                </a:solidFill>
                <a:latin typeface="Quattrocento Sans"/>
                <a:ea typeface="Quattrocento Sans"/>
                <a:cs typeface="Quattrocento Sans"/>
                <a:sym typeface="Quattrocento Sans"/>
              </a:rPr>
              <a:t>⇒ Да). </a:t>
            </a:r>
            <a:endParaRPr/>
          </a:p>
          <a:p>
            <a:pPr indent="-334962" lvl="0" marL="334962" marR="0" rtl="0" algn="l">
              <a:lnSpc>
                <a:spcPct val="85000"/>
              </a:lnSpc>
              <a:spcBef>
                <a:spcPts val="50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Про Блонд ничего сказать нельзя. Атрибут «Рост», наоборот, самый неинформативный и значения практически не имеет.</a:t>
            </a:r>
            <a:endParaRPr/>
          </a:p>
        </p:txBody>
      </p:sp>
      <p:graphicFrame>
        <p:nvGraphicFramePr>
          <p:cNvPr id="824" name="Google Shape;824;p76"/>
          <p:cNvGraphicFramePr/>
          <p:nvPr/>
        </p:nvGraphicFramePr>
        <p:xfrm>
          <a:off x="2514600" y="4265612"/>
          <a:ext cx="3000000" cy="3000000"/>
        </p:xfrm>
        <a:graphic>
          <a:graphicData uri="http://schemas.openxmlformats.org/drawingml/2006/table">
            <a:tbl>
              <a:tblPr>
                <a:noFill/>
                <a:tableStyleId>{4A9718B0-E53D-4CFF-AC7E-A2A48AE619F5}</a:tableStyleId>
              </a:tblPr>
              <a:tblGrid>
                <a:gridCol w="665150"/>
                <a:gridCol w="893750"/>
                <a:gridCol w="728650"/>
                <a:gridCol w="893750"/>
                <a:gridCol w="933450"/>
              </a:tblGrid>
              <a:tr h="285750">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Рост</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Волосы</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Глаза</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Привлек?</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241300">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1</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Низкий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Блонд</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Карие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Нет</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42875">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2</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Высокий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Темные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Карие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Нет</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r h="241300">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3</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Высокий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Блонд</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Голубые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Да</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41300">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4</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Высокий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Темные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Голубые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Нет</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r h="242875">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5</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Низкий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Темные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Голубые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Нет</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41300">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6</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Высокий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Рыжие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Голубые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Да</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r h="242875">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7</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Высокий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Блонд</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Карие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Нет</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41300">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8</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Низкий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Блонд</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Голубые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Да</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bl>
          </a:graphicData>
        </a:graphic>
      </p:graphicFrame>
    </p:spTree>
  </p:cSld>
  <p:clrMapOvr>
    <a:masterClrMapping/>
  </p:clrMapOvr>
  <p:transition spd="slow">
    <p:fade/>
  </p:transition>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77"/>
          <p:cNvSpPr txBox="1"/>
          <p:nvPr>
            <p:ph idx="4294967295" type="title"/>
          </p:nvPr>
        </p:nvSpPr>
        <p:spPr>
          <a:xfrm>
            <a:off x="390525" y="228600"/>
            <a:ext cx="8372475" cy="61595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chemeClr val="lt2"/>
              </a:buClr>
              <a:buSzPts val="4000"/>
              <a:buFont typeface="Quattrocento Sans"/>
              <a:buNone/>
            </a:pPr>
            <a:r>
              <a:rPr b="1" i="0" lang="en-US" sz="4000" u="none" cap="none" strike="noStrike">
                <a:solidFill>
                  <a:schemeClr val="lt2"/>
                </a:solidFill>
                <a:latin typeface="Quattrocento Sans"/>
                <a:ea typeface="Quattrocento Sans"/>
                <a:cs typeface="Quattrocento Sans"/>
                <a:sym typeface="Quattrocento Sans"/>
              </a:rPr>
              <a:t>Алгоритмы деревьев решений</a:t>
            </a:r>
            <a:endParaRPr/>
          </a:p>
        </p:txBody>
      </p:sp>
      <p:sp>
        <p:nvSpPr>
          <p:cNvPr id="830" name="Google Shape;830;p77"/>
          <p:cNvSpPr txBox="1"/>
          <p:nvPr>
            <p:ph idx="4294967295" type="body"/>
          </p:nvPr>
        </p:nvSpPr>
        <p:spPr>
          <a:xfrm>
            <a:off x="390525" y="1208087"/>
            <a:ext cx="8372475" cy="379412"/>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rgbClr val="F4BE96"/>
              </a:buClr>
              <a:buSzPts val="1760"/>
              <a:buFont typeface="Quattrocento Sans"/>
              <a:buChar char="•"/>
            </a:pPr>
            <a:r>
              <a:rPr b="1" i="1" lang="en-US" sz="2200" u="none">
                <a:solidFill>
                  <a:srgbClr val="FFC000"/>
                </a:solidFill>
                <a:latin typeface="Quattrocento Sans"/>
                <a:ea typeface="Quattrocento Sans"/>
                <a:cs typeface="Quattrocento Sans"/>
                <a:sym typeface="Quattrocento Sans"/>
              </a:rPr>
              <a:t>Пример 3. Задача классификации (дерево)</a:t>
            </a:r>
            <a:endParaRPr/>
          </a:p>
        </p:txBody>
      </p:sp>
      <p:graphicFrame>
        <p:nvGraphicFramePr>
          <p:cNvPr id="831" name="Google Shape;831;p77"/>
          <p:cNvGraphicFramePr/>
          <p:nvPr/>
        </p:nvGraphicFramePr>
        <p:xfrm>
          <a:off x="2416175" y="4205287"/>
          <a:ext cx="3000000" cy="3000000"/>
        </p:xfrm>
        <a:graphic>
          <a:graphicData uri="http://schemas.openxmlformats.org/drawingml/2006/table">
            <a:tbl>
              <a:tblPr>
                <a:noFill/>
                <a:tableStyleId>{4A9718B0-E53D-4CFF-AC7E-A2A48AE619F5}</a:tableStyleId>
              </a:tblPr>
              <a:tblGrid>
                <a:gridCol w="665150"/>
                <a:gridCol w="892175"/>
                <a:gridCol w="730250"/>
                <a:gridCol w="892175"/>
                <a:gridCol w="935025"/>
              </a:tblGrid>
              <a:tr h="285750">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Рост</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Волосы</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Глаза</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Привлек?</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241300">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1</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Низкий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Блонд</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Карие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Нет</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42875">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2</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Высокий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Темные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Карие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Нет</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r h="241300">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3</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Высокий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Блонд</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Голубые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Да</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42875">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4</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Высокий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Темные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Голубые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Нет</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r h="241300">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5</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Низкий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Темные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Голубые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Нет</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41300">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6</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Высокий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Рыжие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Голубые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Да</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r h="242875">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7</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Высокий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Блонд</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Карие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Нет</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DF3DE"/>
                    </a:solidFill>
                  </a:tcPr>
                </a:tc>
              </a:tr>
              <a:tr h="241300">
                <a:tc>
                  <a:txBody>
                    <a:bodyPr/>
                    <a:lstStyle/>
                    <a:p>
                      <a:pPr indent="0" lvl="0" marL="0" marR="0" rtl="0" algn="ctr">
                        <a:lnSpc>
                          <a:spcPct val="107000"/>
                        </a:lnSpc>
                        <a:spcBef>
                          <a:spcPts val="0"/>
                        </a:spcBef>
                        <a:spcAft>
                          <a:spcPts val="0"/>
                        </a:spcAft>
                        <a:buClr>
                          <a:srgbClr val="0070C0"/>
                        </a:buClr>
                        <a:buSzPts val="1400"/>
                        <a:buFont typeface="Quattrocento Sans"/>
                        <a:buNone/>
                      </a:pPr>
                      <a:r>
                        <a:rPr b="1" i="0" lang="en-US" sz="1400" u="none">
                          <a:solidFill>
                            <a:srgbClr val="0070C0"/>
                          </a:solidFill>
                          <a:latin typeface="Quattrocento Sans"/>
                          <a:ea typeface="Quattrocento Sans"/>
                          <a:cs typeface="Quattrocento Sans"/>
                          <a:sym typeface="Quattrocento Sans"/>
                        </a:rPr>
                        <a:t>8</a:t>
                      </a:r>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Низкий</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Блонд</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Голубые</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c>
                  <a:txBody>
                    <a:bodyPr/>
                    <a:lstStyle/>
                    <a:p>
                      <a:pPr indent="0" lvl="0" marL="0" marR="0" rtl="0" algn="l">
                        <a:lnSpc>
                          <a:spcPct val="107000"/>
                        </a:lnSpc>
                        <a:spcBef>
                          <a:spcPts val="0"/>
                        </a:spcBef>
                        <a:spcAft>
                          <a:spcPts val="0"/>
                        </a:spcAft>
                        <a:buClr>
                          <a:srgbClr val="000000"/>
                        </a:buClr>
                        <a:buSzPts val="1400"/>
                        <a:buFont typeface="Quattrocento Sans"/>
                        <a:buNone/>
                      </a:pPr>
                      <a:r>
                        <a:rPr b="0" i="0" lang="en-US" sz="1400" u="none">
                          <a:solidFill>
                            <a:srgbClr val="000000"/>
                          </a:solidFill>
                          <a:latin typeface="Quattrocento Sans"/>
                          <a:ea typeface="Quattrocento Sans"/>
                          <a:cs typeface="Quattrocento Sans"/>
                          <a:sym typeface="Quattrocento Sans"/>
                        </a:rPr>
                        <a:t>Да</a:t>
                      </a:r>
                      <a:endParaRPr/>
                    </a:p>
                  </a:txBody>
                  <a:tcPr marT="6825" marB="6825" marR="6825" marL="68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EF9EF"/>
                    </a:solidFill>
                  </a:tcPr>
                </a:tc>
              </a:tr>
            </a:tbl>
          </a:graphicData>
        </a:graphic>
      </p:graphicFrame>
      <p:grpSp>
        <p:nvGrpSpPr>
          <p:cNvPr id="832" name="Google Shape;832;p77"/>
          <p:cNvGrpSpPr/>
          <p:nvPr/>
        </p:nvGrpSpPr>
        <p:grpSpPr>
          <a:xfrm>
            <a:off x="684212" y="1822450"/>
            <a:ext cx="7216775" cy="1930400"/>
            <a:chOff x="712788" y="2008188"/>
            <a:chExt cx="7216775" cy="1930400"/>
          </a:xfrm>
        </p:grpSpPr>
        <p:sp>
          <p:nvSpPr>
            <p:cNvPr id="833" name="Google Shape;833;p77"/>
            <p:cNvSpPr/>
            <p:nvPr/>
          </p:nvSpPr>
          <p:spPr>
            <a:xfrm>
              <a:off x="3848100" y="2008188"/>
              <a:ext cx="2039938" cy="885825"/>
            </a:xfrm>
            <a:prstGeom prst="flowChartDecision">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400"/>
                <a:buFont typeface="Quattrocento Sans"/>
                <a:buNone/>
              </a:pPr>
              <a:r>
                <a:rPr b="1" i="0" lang="en-US" sz="1400" u="none">
                  <a:solidFill>
                    <a:schemeClr val="dk2"/>
                  </a:solidFill>
                  <a:latin typeface="Quattrocento Sans"/>
                  <a:ea typeface="Quattrocento Sans"/>
                  <a:cs typeface="Quattrocento Sans"/>
                  <a:sym typeface="Quattrocento Sans"/>
                </a:rPr>
                <a:t>Волосы темные?</a:t>
              </a:r>
              <a:endParaRPr/>
            </a:p>
          </p:txBody>
        </p:sp>
        <p:sp>
          <p:nvSpPr>
            <p:cNvPr id="834" name="Google Shape;834;p77"/>
            <p:cNvSpPr txBox="1"/>
            <p:nvPr/>
          </p:nvSpPr>
          <p:spPr>
            <a:xfrm>
              <a:off x="3178175" y="2081213"/>
              <a:ext cx="590550"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Quattrocento Sans"/>
                <a:buNone/>
              </a:pPr>
              <a:r>
                <a:rPr b="1" i="0" lang="en-US" sz="1800" u="none">
                  <a:solidFill>
                    <a:schemeClr val="lt1"/>
                  </a:solidFill>
                  <a:latin typeface="Quattrocento Sans"/>
                  <a:ea typeface="Quattrocento Sans"/>
                  <a:cs typeface="Quattrocento Sans"/>
                  <a:sym typeface="Quattrocento Sans"/>
                </a:rPr>
                <a:t>Нет</a:t>
              </a:r>
              <a:endParaRPr/>
            </a:p>
          </p:txBody>
        </p:sp>
        <p:sp>
          <p:nvSpPr>
            <p:cNvPr id="835" name="Google Shape;835;p77"/>
            <p:cNvSpPr txBox="1"/>
            <p:nvPr/>
          </p:nvSpPr>
          <p:spPr>
            <a:xfrm>
              <a:off x="6080125" y="2008188"/>
              <a:ext cx="479425"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Quattrocento Sans"/>
                <a:buNone/>
              </a:pPr>
              <a:r>
                <a:rPr b="1" i="0" lang="en-US" sz="1800" u="none">
                  <a:solidFill>
                    <a:schemeClr val="lt1"/>
                  </a:solidFill>
                  <a:latin typeface="Quattrocento Sans"/>
                  <a:ea typeface="Quattrocento Sans"/>
                  <a:cs typeface="Quattrocento Sans"/>
                  <a:sym typeface="Quattrocento Sans"/>
                </a:rPr>
                <a:t>Да</a:t>
              </a:r>
              <a:endParaRPr/>
            </a:p>
          </p:txBody>
        </p:sp>
        <p:cxnSp>
          <p:nvCxnSpPr>
            <p:cNvPr id="836" name="Google Shape;836;p77"/>
            <p:cNvCxnSpPr/>
            <p:nvPr/>
          </p:nvCxnSpPr>
          <p:spPr>
            <a:xfrm flipH="1">
              <a:off x="3198813" y="2451100"/>
              <a:ext cx="649287" cy="487363"/>
            </a:xfrm>
            <a:prstGeom prst="bentConnector2">
              <a:avLst/>
            </a:prstGeom>
            <a:noFill/>
            <a:ln cap="flat" cmpd="sng" w="12700">
              <a:solidFill>
                <a:schemeClr val="lt1"/>
              </a:solidFill>
              <a:prstDash val="solid"/>
              <a:round/>
              <a:headEnd len="med" w="med" type="none"/>
              <a:tailEnd len="lg" w="lg" type="stealth"/>
            </a:ln>
          </p:spPr>
        </p:cxnSp>
        <p:cxnSp>
          <p:nvCxnSpPr>
            <p:cNvPr id="837" name="Google Shape;837;p77"/>
            <p:cNvCxnSpPr/>
            <p:nvPr/>
          </p:nvCxnSpPr>
          <p:spPr>
            <a:xfrm>
              <a:off x="5888038" y="2451100"/>
              <a:ext cx="1236662" cy="1108075"/>
            </a:xfrm>
            <a:prstGeom prst="bentConnector2">
              <a:avLst/>
            </a:prstGeom>
            <a:noFill/>
            <a:ln cap="flat" cmpd="sng" w="12700">
              <a:solidFill>
                <a:schemeClr val="lt1"/>
              </a:solidFill>
              <a:prstDash val="solid"/>
              <a:round/>
              <a:headEnd len="med" w="med" type="none"/>
              <a:tailEnd len="lg" w="lg" type="stealth"/>
            </a:ln>
          </p:spPr>
        </p:cxnSp>
        <p:sp>
          <p:nvSpPr>
            <p:cNvPr id="838" name="Google Shape;838;p77"/>
            <p:cNvSpPr/>
            <p:nvPr/>
          </p:nvSpPr>
          <p:spPr>
            <a:xfrm>
              <a:off x="2586038" y="2938463"/>
              <a:ext cx="1225550" cy="504825"/>
            </a:xfrm>
            <a:prstGeom prst="flowChartDecision">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400"/>
                <a:buFont typeface="Quattrocento Sans"/>
                <a:buNone/>
              </a:pPr>
              <a:r>
                <a:rPr b="1" i="0" lang="en-US" sz="1400" u="none">
                  <a:solidFill>
                    <a:schemeClr val="dk2"/>
                  </a:solidFill>
                  <a:latin typeface="Quattrocento Sans"/>
                  <a:ea typeface="Quattrocento Sans"/>
                  <a:cs typeface="Quattrocento Sans"/>
                  <a:sym typeface="Quattrocento Sans"/>
                </a:rPr>
                <a:t>Глаза?</a:t>
              </a:r>
              <a:endParaRPr/>
            </a:p>
          </p:txBody>
        </p:sp>
        <p:sp>
          <p:nvSpPr>
            <p:cNvPr id="839" name="Google Shape;839;p77"/>
            <p:cNvSpPr txBox="1"/>
            <p:nvPr/>
          </p:nvSpPr>
          <p:spPr>
            <a:xfrm>
              <a:off x="3781425" y="2816225"/>
              <a:ext cx="1216025"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Quattrocento Sans"/>
                <a:buNone/>
              </a:pPr>
              <a:r>
                <a:rPr b="1" i="0" lang="en-US" sz="1800" u="none">
                  <a:solidFill>
                    <a:schemeClr val="lt1"/>
                  </a:solidFill>
                  <a:latin typeface="Quattrocento Sans"/>
                  <a:ea typeface="Quattrocento Sans"/>
                  <a:cs typeface="Quattrocento Sans"/>
                  <a:sym typeface="Quattrocento Sans"/>
                </a:rPr>
                <a:t>Голубые</a:t>
              </a:r>
              <a:endParaRPr/>
            </a:p>
          </p:txBody>
        </p:sp>
        <p:sp>
          <p:nvSpPr>
            <p:cNvPr id="840" name="Google Shape;840;p77"/>
            <p:cNvSpPr txBox="1"/>
            <p:nvPr/>
          </p:nvSpPr>
          <p:spPr>
            <a:xfrm>
              <a:off x="1517650" y="2803525"/>
              <a:ext cx="869950"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Quattrocento Sans"/>
                <a:buNone/>
              </a:pPr>
              <a:r>
                <a:rPr b="1" i="0" lang="en-US" sz="1800" u="none">
                  <a:solidFill>
                    <a:schemeClr val="lt1"/>
                  </a:solidFill>
                  <a:latin typeface="Quattrocento Sans"/>
                  <a:ea typeface="Quattrocento Sans"/>
                  <a:cs typeface="Quattrocento Sans"/>
                  <a:sym typeface="Quattrocento Sans"/>
                </a:rPr>
                <a:t>Карие</a:t>
              </a:r>
              <a:endParaRPr/>
            </a:p>
          </p:txBody>
        </p:sp>
        <p:cxnSp>
          <p:nvCxnSpPr>
            <p:cNvPr id="841" name="Google Shape;841;p77"/>
            <p:cNvCxnSpPr/>
            <p:nvPr/>
          </p:nvCxnSpPr>
          <p:spPr>
            <a:xfrm flipH="1">
              <a:off x="1517650" y="3190875"/>
              <a:ext cx="1133475" cy="366713"/>
            </a:xfrm>
            <a:prstGeom prst="bentConnector2">
              <a:avLst/>
            </a:prstGeom>
            <a:noFill/>
            <a:ln cap="flat" cmpd="sng" w="12700">
              <a:solidFill>
                <a:schemeClr val="lt1"/>
              </a:solidFill>
              <a:prstDash val="solid"/>
              <a:round/>
              <a:headEnd len="med" w="med" type="none"/>
              <a:tailEnd len="lg" w="lg" type="stealth"/>
            </a:ln>
          </p:spPr>
        </p:cxnSp>
        <p:cxnSp>
          <p:nvCxnSpPr>
            <p:cNvPr id="842" name="Google Shape;842;p77"/>
            <p:cNvCxnSpPr/>
            <p:nvPr/>
          </p:nvCxnSpPr>
          <p:spPr>
            <a:xfrm>
              <a:off x="3749675" y="3194050"/>
              <a:ext cx="1208088" cy="365125"/>
            </a:xfrm>
            <a:prstGeom prst="bentConnector3">
              <a:avLst>
                <a:gd fmla="val 24076" name="adj1"/>
              </a:avLst>
            </a:prstGeom>
            <a:noFill/>
            <a:ln cap="flat" cmpd="sng" w="12700">
              <a:solidFill>
                <a:schemeClr val="lt1"/>
              </a:solidFill>
              <a:prstDash val="solid"/>
              <a:round/>
              <a:headEnd len="med" w="med" type="none"/>
              <a:tailEnd len="lg" w="lg" type="stealth"/>
            </a:ln>
          </p:spPr>
        </p:cxnSp>
        <p:sp>
          <p:nvSpPr>
            <p:cNvPr id="843" name="Google Shape;843;p77"/>
            <p:cNvSpPr/>
            <p:nvPr/>
          </p:nvSpPr>
          <p:spPr>
            <a:xfrm>
              <a:off x="6318250" y="3559175"/>
              <a:ext cx="1611313" cy="377825"/>
            </a:xfrm>
            <a:prstGeom prst="flowChartProcess">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400"/>
                <a:buFont typeface="Quattrocento Sans"/>
                <a:buNone/>
              </a:pPr>
              <a:r>
                <a:rPr b="1" i="0" lang="en-US" sz="1400" u="none">
                  <a:solidFill>
                    <a:schemeClr val="dk2"/>
                  </a:solidFill>
                  <a:latin typeface="Quattrocento Sans"/>
                  <a:ea typeface="Quattrocento Sans"/>
                  <a:cs typeface="Quattrocento Sans"/>
                  <a:sym typeface="Quattrocento Sans"/>
                </a:rPr>
                <a:t>Привл-ть ⇒ НЕТ</a:t>
              </a:r>
              <a:endParaRPr/>
            </a:p>
          </p:txBody>
        </p:sp>
        <p:sp>
          <p:nvSpPr>
            <p:cNvPr id="844" name="Google Shape;844;p77"/>
            <p:cNvSpPr/>
            <p:nvPr/>
          </p:nvSpPr>
          <p:spPr>
            <a:xfrm>
              <a:off x="712788" y="3557588"/>
              <a:ext cx="1611312" cy="377825"/>
            </a:xfrm>
            <a:prstGeom prst="flowChartProcess">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400"/>
                <a:buFont typeface="Quattrocento Sans"/>
                <a:buNone/>
              </a:pPr>
              <a:r>
                <a:rPr b="1" i="0" lang="en-US" sz="1400" u="none">
                  <a:solidFill>
                    <a:schemeClr val="dk2"/>
                  </a:solidFill>
                  <a:latin typeface="Quattrocento Sans"/>
                  <a:ea typeface="Quattrocento Sans"/>
                  <a:cs typeface="Quattrocento Sans"/>
                  <a:sym typeface="Quattrocento Sans"/>
                </a:rPr>
                <a:t>Привл-ть ⇒ НЕТ</a:t>
              </a:r>
              <a:endParaRPr/>
            </a:p>
          </p:txBody>
        </p:sp>
        <p:sp>
          <p:nvSpPr>
            <p:cNvPr id="845" name="Google Shape;845;p77"/>
            <p:cNvSpPr/>
            <p:nvPr/>
          </p:nvSpPr>
          <p:spPr>
            <a:xfrm>
              <a:off x="4137025" y="3560763"/>
              <a:ext cx="1609725" cy="377825"/>
            </a:xfrm>
            <a:prstGeom prst="flowChartProcess">
              <a:avLst/>
            </a:prstGeom>
            <a:solidFill>
              <a:srgbClr val="A2E83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400"/>
                <a:buFont typeface="Quattrocento Sans"/>
                <a:buNone/>
              </a:pPr>
              <a:r>
                <a:rPr b="1" i="0" lang="en-US" sz="1400" u="none">
                  <a:solidFill>
                    <a:schemeClr val="dk2"/>
                  </a:solidFill>
                  <a:latin typeface="Quattrocento Sans"/>
                  <a:ea typeface="Quattrocento Sans"/>
                  <a:cs typeface="Quattrocento Sans"/>
                  <a:sym typeface="Quattrocento Sans"/>
                </a:rPr>
                <a:t>Привл-ть ⇒ ДА</a:t>
              </a:r>
              <a:endParaRPr/>
            </a:p>
          </p:txBody>
        </p:sp>
      </p:grpSp>
      <p:sp>
        <p:nvSpPr>
          <p:cNvPr id="846" name="Google Shape;846;p77"/>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78"/>
          <p:cNvSpPr txBox="1"/>
          <p:nvPr>
            <p:ph idx="4294967295" type="title"/>
          </p:nvPr>
        </p:nvSpPr>
        <p:spPr>
          <a:xfrm>
            <a:off x="390525" y="228600"/>
            <a:ext cx="8372475" cy="61595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chemeClr val="lt2"/>
              </a:buClr>
              <a:buSzPts val="4000"/>
              <a:buFont typeface="Quattrocento Sans"/>
              <a:buNone/>
            </a:pPr>
            <a:r>
              <a:rPr b="1" i="0" lang="en-US" sz="4000" u="none" cap="none" strike="noStrike">
                <a:solidFill>
                  <a:schemeClr val="lt2"/>
                </a:solidFill>
                <a:latin typeface="Quattrocento Sans"/>
                <a:ea typeface="Quattrocento Sans"/>
                <a:cs typeface="Quattrocento Sans"/>
                <a:sym typeface="Quattrocento Sans"/>
              </a:rPr>
              <a:t>Алгоритмы деревьев решений</a:t>
            </a:r>
            <a:endParaRPr/>
          </a:p>
        </p:txBody>
      </p:sp>
      <p:sp>
        <p:nvSpPr>
          <p:cNvPr id="852" name="Google Shape;852;p78"/>
          <p:cNvSpPr txBox="1"/>
          <p:nvPr>
            <p:ph idx="4294967295" type="body"/>
          </p:nvPr>
        </p:nvSpPr>
        <p:spPr>
          <a:xfrm>
            <a:off x="390525" y="1208087"/>
            <a:ext cx="8372475" cy="379412"/>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rgbClr val="F4BE96"/>
              </a:buClr>
              <a:buSzPts val="1760"/>
              <a:buFont typeface="Quattrocento Sans"/>
              <a:buChar char="•"/>
            </a:pPr>
            <a:r>
              <a:rPr b="1" i="1" lang="en-US" sz="2200" u="none">
                <a:solidFill>
                  <a:srgbClr val="FFC000"/>
                </a:solidFill>
                <a:latin typeface="Quattrocento Sans"/>
                <a:ea typeface="Quattrocento Sans"/>
                <a:cs typeface="Quattrocento Sans"/>
                <a:sym typeface="Quattrocento Sans"/>
              </a:rPr>
              <a:t>Пример 3. Задача классификации (Дерево в R)</a:t>
            </a:r>
            <a:r>
              <a:rPr b="0" i="0" lang="en-US" sz="2200" u="none">
                <a:solidFill>
                  <a:schemeClr val="lt1"/>
                </a:solidFill>
                <a:latin typeface="Quattrocento Sans"/>
                <a:ea typeface="Quattrocento Sans"/>
                <a:cs typeface="Quattrocento Sans"/>
                <a:sym typeface="Quattrocento Sans"/>
              </a:rPr>
              <a:t>.</a:t>
            </a:r>
            <a:endParaRPr/>
          </a:p>
        </p:txBody>
      </p:sp>
      <p:sp>
        <p:nvSpPr>
          <p:cNvPr id="853" name="Google Shape;853;p78"/>
          <p:cNvSpPr txBox="1"/>
          <p:nvPr/>
        </p:nvSpPr>
        <p:spPr>
          <a:xfrm>
            <a:off x="285750" y="5341937"/>
            <a:ext cx="8248650" cy="614362"/>
          </a:xfrm>
          <a:prstGeom prst="rect">
            <a:avLst/>
          </a:prstGeom>
          <a:noFill/>
          <a:ln>
            <a:noFill/>
          </a:ln>
        </p:spPr>
        <p:txBody>
          <a:bodyPr anchorCtr="0" anchor="t" bIns="45700" lIns="91425" spcFirstLastPara="1" rIns="91425" wrap="square" tIns="45700">
            <a:spAutoFit/>
          </a:bodyPr>
          <a:lstStyle/>
          <a:p>
            <a:pPr indent="-334962" lvl="0" marL="334962" marR="0" rtl="0" algn="l">
              <a:lnSpc>
                <a:spcPct val="85000"/>
              </a:lnSpc>
              <a:spcBef>
                <a:spcPts val="0"/>
              </a:spcBef>
              <a:spcAft>
                <a:spcPts val="0"/>
              </a:spcAft>
              <a:buClr>
                <a:schemeClr val="lt1"/>
              </a:buClr>
              <a:buSzPts val="2000"/>
              <a:buFont typeface="Quattrocento Sans"/>
              <a:buChar char="•"/>
            </a:pPr>
            <a:r>
              <a:rPr b="0" i="0" lang="en-US" sz="2000" u="none">
                <a:solidFill>
                  <a:schemeClr val="lt1"/>
                </a:solidFill>
                <a:latin typeface="Quattrocento Sans"/>
                <a:ea typeface="Quattrocento Sans"/>
                <a:cs typeface="Quattrocento Sans"/>
                <a:sym typeface="Quattrocento Sans"/>
              </a:rPr>
              <a:t>Как видите, дерево, построенное в R соответствует нашим рукотворным результатам</a:t>
            </a:r>
            <a:endParaRPr/>
          </a:p>
        </p:txBody>
      </p:sp>
      <p:pic>
        <p:nvPicPr>
          <p:cNvPr id="854" name="Google Shape;854;p78"/>
          <p:cNvPicPr preferRelativeResize="0"/>
          <p:nvPr/>
        </p:nvPicPr>
        <p:blipFill rotWithShape="1">
          <a:blip r:embed="rId3">
            <a:alphaModFix/>
          </a:blip>
          <a:srcRect b="0" l="0" r="0" t="0"/>
          <a:stretch/>
        </p:blipFill>
        <p:spPr>
          <a:xfrm>
            <a:off x="1554162" y="1774825"/>
            <a:ext cx="5991225" cy="3360737"/>
          </a:xfrm>
          <a:prstGeom prst="rect">
            <a:avLst/>
          </a:prstGeom>
          <a:noFill/>
          <a:ln>
            <a:noFill/>
          </a:ln>
        </p:spPr>
      </p:pic>
      <p:sp>
        <p:nvSpPr>
          <p:cNvPr id="855" name="Google Shape;855;p78"/>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79"/>
          <p:cNvSpPr txBox="1"/>
          <p:nvPr>
            <p:ph type="title"/>
          </p:nvPr>
        </p:nvSpPr>
        <p:spPr>
          <a:xfrm>
            <a:off x="358775" y="2366962"/>
            <a:ext cx="8372475" cy="1662112"/>
          </a:xfrm>
          <a:prstGeom prst="rect">
            <a:avLst/>
          </a:prstGeom>
          <a:noFill/>
          <a:ln>
            <a:noFill/>
          </a:ln>
        </p:spPr>
        <p:txBody>
          <a:bodyPr anchorCtr="0" anchor="t" bIns="45700" lIns="91425" spcFirstLastPara="1" rIns="91425" wrap="square" tIns="45700">
            <a:spAutoFit/>
          </a:bodyPr>
          <a:lstStyle/>
          <a:p>
            <a:pPr indent="0" lvl="0" marL="0" rtl="0" algn="ctr">
              <a:lnSpc>
                <a:spcPct val="85000"/>
              </a:lnSpc>
              <a:spcBef>
                <a:spcPts val="0"/>
              </a:spcBef>
              <a:spcAft>
                <a:spcPts val="0"/>
              </a:spcAft>
              <a:buClr>
                <a:schemeClr val="lt2"/>
              </a:buClr>
              <a:buSzPts val="4000"/>
              <a:buFont typeface="Quattrocento Sans"/>
              <a:buNone/>
            </a:pPr>
            <a:r>
              <a:rPr b="1" i="0" lang="en-US" sz="4000" u="none">
                <a:solidFill>
                  <a:schemeClr val="lt2"/>
                </a:solidFill>
                <a:latin typeface="Quattrocento Sans"/>
                <a:ea typeface="Quattrocento Sans"/>
                <a:cs typeface="Quattrocento Sans"/>
                <a:sym typeface="Quattrocento Sans"/>
              </a:rPr>
              <a:t>Пример </a:t>
            </a:r>
            <a:br>
              <a:rPr b="1" i="0" lang="en-US" sz="4000" u="none">
                <a:solidFill>
                  <a:schemeClr val="lt2"/>
                </a:solidFill>
                <a:latin typeface="Quattrocento Sans"/>
                <a:ea typeface="Quattrocento Sans"/>
                <a:cs typeface="Quattrocento Sans"/>
                <a:sym typeface="Quattrocento Sans"/>
              </a:rPr>
            </a:br>
            <a:r>
              <a:rPr b="1" i="0" lang="en-US" sz="4000" u="none">
                <a:solidFill>
                  <a:schemeClr val="lt2"/>
                </a:solidFill>
                <a:latin typeface="Quattrocento Sans"/>
                <a:ea typeface="Quattrocento Sans"/>
                <a:cs typeface="Quattrocento Sans"/>
                <a:sym typeface="Quattrocento Sans"/>
              </a:rPr>
              <a:t>классификатора на R</a:t>
            </a:r>
            <a:br>
              <a:rPr b="1" i="0" lang="en-US" sz="4000" u="none">
                <a:solidFill>
                  <a:schemeClr val="lt2"/>
                </a:solidFill>
                <a:latin typeface="Quattrocento Sans"/>
                <a:ea typeface="Quattrocento Sans"/>
                <a:cs typeface="Quattrocento Sans"/>
                <a:sym typeface="Quattrocento Sans"/>
              </a:rPr>
            </a:br>
            <a:r>
              <a:rPr b="1" i="0" lang="en-US" sz="4000" u="none">
                <a:solidFill>
                  <a:schemeClr val="lt2"/>
                </a:solidFill>
                <a:latin typeface="Quattrocento Sans"/>
                <a:ea typeface="Quattrocento Sans"/>
                <a:cs typeface="Quattrocento Sans"/>
                <a:sym typeface="Quattrocento Sans"/>
              </a:rPr>
              <a:t>на основе деревьев решений</a:t>
            </a:r>
            <a:endParaRPr/>
          </a:p>
        </p:txBody>
      </p:sp>
    </p:spTree>
  </p:cSld>
  <p:clrMapOvr>
    <a:masterClrMapping/>
  </p:clrMapOvr>
  <p:transition spd="slow">
    <p:fade/>
  </p:transition>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grpSp>
        <p:nvGrpSpPr>
          <p:cNvPr id="866" name="Google Shape;866;p80"/>
          <p:cNvGrpSpPr/>
          <p:nvPr/>
        </p:nvGrpSpPr>
        <p:grpSpPr>
          <a:xfrm>
            <a:off x="354012" y="611187"/>
            <a:ext cx="8569325" cy="5934075"/>
            <a:chOff x="244" y="249"/>
            <a:chExt cx="5941" cy="4021"/>
          </a:xfrm>
        </p:grpSpPr>
        <p:sp>
          <p:nvSpPr>
            <p:cNvPr id="867" name="Google Shape;867;p80"/>
            <p:cNvSpPr/>
            <p:nvPr/>
          </p:nvSpPr>
          <p:spPr>
            <a:xfrm>
              <a:off x="561" y="249"/>
              <a:ext cx="5261" cy="596"/>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868" name="Google Shape;868;p80"/>
            <p:cNvSpPr/>
            <p:nvPr/>
          </p:nvSpPr>
          <p:spPr>
            <a:xfrm>
              <a:off x="244" y="1051"/>
              <a:ext cx="5941" cy="3219"/>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grpSp>
      <p:sp>
        <p:nvSpPr>
          <p:cNvPr id="869" name="Google Shape;869;p80"/>
          <p:cNvSpPr txBox="1"/>
          <p:nvPr>
            <p:ph idx="4294967295" type="title"/>
          </p:nvPr>
        </p:nvSpPr>
        <p:spPr>
          <a:xfrm>
            <a:off x="2479675" y="739775"/>
            <a:ext cx="4929187" cy="603250"/>
          </a:xfrm>
          <a:prstGeom prst="rect">
            <a:avLst/>
          </a:prstGeom>
          <a:noFill/>
          <a:ln>
            <a:noFill/>
          </a:ln>
        </p:spPr>
        <p:txBody>
          <a:bodyPr anchorCtr="0" anchor="ctr" bIns="45700" lIns="91425" spcFirstLastPara="1" rIns="91425" wrap="square" tIns="45700">
            <a:spAutoFit/>
          </a:bodyPr>
          <a:lstStyle/>
          <a:p>
            <a:pPr indent="0" lvl="0" marL="0" marR="0" rtl="0" algn="l">
              <a:lnSpc>
                <a:spcPct val="85000"/>
              </a:lnSpc>
              <a:spcBef>
                <a:spcPts val="0"/>
              </a:spcBef>
              <a:spcAft>
                <a:spcPts val="0"/>
              </a:spcAft>
              <a:buClr>
                <a:schemeClr val="lt2"/>
              </a:buClr>
              <a:buSzPts val="3900"/>
              <a:buFont typeface="Quattrocento Sans"/>
              <a:buNone/>
            </a:pPr>
            <a:r>
              <a:rPr b="0" i="0" lang="en-US" sz="3900" u="none" cap="none" strike="noStrike">
                <a:solidFill>
                  <a:schemeClr val="lt2"/>
                </a:solidFill>
                <a:latin typeface="Quattrocento Sans"/>
                <a:ea typeface="Quattrocento Sans"/>
                <a:cs typeface="Quattrocento Sans"/>
                <a:sym typeface="Quattrocento Sans"/>
              </a:rPr>
              <a:t>Классификация</a:t>
            </a:r>
            <a:endParaRPr/>
          </a:p>
        </p:txBody>
      </p:sp>
      <p:graphicFrame>
        <p:nvGraphicFramePr>
          <p:cNvPr id="870" name="Google Shape;870;p80"/>
          <p:cNvGraphicFramePr/>
          <p:nvPr/>
        </p:nvGraphicFramePr>
        <p:xfrm>
          <a:off x="354012" y="5526087"/>
          <a:ext cx="3000000" cy="3000000"/>
        </p:xfrm>
        <a:graphic>
          <a:graphicData uri="http://schemas.openxmlformats.org/drawingml/2006/table">
            <a:tbl>
              <a:tblPr>
                <a:noFill/>
                <a:tableStyleId>{4A9718B0-E53D-4CFF-AC7E-A2A48AE619F5}</a:tableStyleId>
              </a:tblPr>
              <a:tblGrid>
                <a:gridCol w="1920875"/>
                <a:gridCol w="1917700"/>
                <a:gridCol w="1920875"/>
              </a:tblGrid>
              <a:tr h="355600">
                <a:tc>
                  <a:txBody>
                    <a:bodyPr/>
                    <a:lstStyle/>
                    <a:p>
                      <a:pPr indent="0" lvl="0" marL="0" marR="0" rtl="0" algn="ctr">
                        <a:lnSpc>
                          <a:spcPct val="100000"/>
                        </a:lnSpc>
                        <a:spcBef>
                          <a:spcPts val="0"/>
                        </a:spcBef>
                        <a:spcAft>
                          <a:spcPts val="0"/>
                        </a:spcAft>
                        <a:buClr>
                          <a:srgbClr val="060000"/>
                        </a:buClr>
                        <a:buSzPts val="1800"/>
                        <a:buFont typeface="Arial"/>
                        <a:buNone/>
                      </a:pPr>
                      <a:r>
                        <a:rPr b="0" i="0" lang="en-US" sz="1800" u="none">
                          <a:solidFill>
                            <a:srgbClr val="060000"/>
                          </a:solidFill>
                          <a:latin typeface="Arial"/>
                          <a:ea typeface="Arial"/>
                          <a:cs typeface="Arial"/>
                          <a:sym typeface="Arial"/>
                        </a:rPr>
                        <a:t>iris setosa</a:t>
                      </a:r>
                      <a:endParaRPr/>
                    </a:p>
                  </a:txBody>
                  <a:tcPr marT="40650" marB="40650" marR="81350" marL="81350"/>
                </a:tc>
                <a:tc>
                  <a:txBody>
                    <a:bodyPr/>
                    <a:lstStyle/>
                    <a:p>
                      <a:pPr indent="0" lvl="0" marL="0" marR="0" rtl="0" algn="ctr">
                        <a:lnSpc>
                          <a:spcPct val="100000"/>
                        </a:lnSpc>
                        <a:spcBef>
                          <a:spcPts val="0"/>
                        </a:spcBef>
                        <a:spcAft>
                          <a:spcPts val="0"/>
                        </a:spcAft>
                        <a:buClr>
                          <a:srgbClr val="060000"/>
                        </a:buClr>
                        <a:buSzPts val="1800"/>
                        <a:buFont typeface="Arial"/>
                        <a:buNone/>
                      </a:pPr>
                      <a:r>
                        <a:rPr b="0" i="0" lang="en-US" sz="1800" u="none">
                          <a:solidFill>
                            <a:srgbClr val="060000"/>
                          </a:solidFill>
                          <a:latin typeface="Arial"/>
                          <a:ea typeface="Arial"/>
                          <a:cs typeface="Arial"/>
                          <a:sym typeface="Arial"/>
                        </a:rPr>
                        <a:t>iris versicolor</a:t>
                      </a:r>
                      <a:endParaRPr/>
                    </a:p>
                  </a:txBody>
                  <a:tcPr marT="40650" marB="40650" marR="81350" marL="81350"/>
                </a:tc>
                <a:tc>
                  <a:txBody>
                    <a:bodyPr/>
                    <a:lstStyle/>
                    <a:p>
                      <a:pPr indent="0" lvl="0" marL="0" marR="0" rtl="0" algn="ctr">
                        <a:lnSpc>
                          <a:spcPct val="100000"/>
                        </a:lnSpc>
                        <a:spcBef>
                          <a:spcPts val="0"/>
                        </a:spcBef>
                        <a:spcAft>
                          <a:spcPts val="0"/>
                        </a:spcAft>
                        <a:buClr>
                          <a:srgbClr val="060000"/>
                        </a:buClr>
                        <a:buSzPts val="1800"/>
                        <a:buFont typeface="Arial"/>
                        <a:buNone/>
                      </a:pPr>
                      <a:r>
                        <a:rPr b="0" i="0" lang="en-US" sz="1800" u="none">
                          <a:solidFill>
                            <a:srgbClr val="060000"/>
                          </a:solidFill>
                          <a:latin typeface="Arial"/>
                          <a:ea typeface="Arial"/>
                          <a:cs typeface="Arial"/>
                          <a:sym typeface="Arial"/>
                        </a:rPr>
                        <a:t>iris virginica</a:t>
                      </a:r>
                      <a:endParaRPr/>
                    </a:p>
                  </a:txBody>
                  <a:tcPr marT="40650" marB="40650" marR="81350" marL="81350"/>
                </a:tc>
              </a:tr>
            </a:tbl>
          </a:graphicData>
        </a:graphic>
      </p:graphicFrame>
      <p:pic>
        <p:nvPicPr>
          <p:cNvPr descr="iris" id="871" name="Google Shape;871;p80"/>
          <p:cNvPicPr preferRelativeResize="0"/>
          <p:nvPr/>
        </p:nvPicPr>
        <p:blipFill rotWithShape="1">
          <a:blip r:embed="rId3">
            <a:alphaModFix/>
          </a:blip>
          <a:srcRect b="0" l="0" r="0" t="0"/>
          <a:stretch/>
        </p:blipFill>
        <p:spPr>
          <a:xfrm>
            <a:off x="738187" y="3924300"/>
            <a:ext cx="1595437" cy="1419225"/>
          </a:xfrm>
          <a:prstGeom prst="rect">
            <a:avLst/>
          </a:prstGeom>
          <a:noFill/>
          <a:ln>
            <a:noFill/>
          </a:ln>
        </p:spPr>
      </p:pic>
      <p:pic>
        <p:nvPicPr>
          <p:cNvPr descr="File:Southern Blue Flag Iris (iris virginica) - Flickr - Andrea Westmoreland.jpg" id="872" name="Google Shape;872;p80"/>
          <p:cNvPicPr preferRelativeResize="0"/>
          <p:nvPr/>
        </p:nvPicPr>
        <p:blipFill rotWithShape="1">
          <a:blip r:embed="rId4">
            <a:alphaModFix/>
          </a:blip>
          <a:srcRect b="0" l="0" r="0" t="0"/>
          <a:stretch/>
        </p:blipFill>
        <p:spPr>
          <a:xfrm>
            <a:off x="4411662" y="3924300"/>
            <a:ext cx="1701800" cy="1444625"/>
          </a:xfrm>
          <a:prstGeom prst="rect">
            <a:avLst/>
          </a:prstGeom>
          <a:noFill/>
          <a:ln>
            <a:noFill/>
          </a:ln>
        </p:spPr>
      </p:pic>
      <p:pic>
        <p:nvPicPr>
          <p:cNvPr descr="800px-Iris_versicolor_4" id="873" name="Google Shape;873;p80"/>
          <p:cNvPicPr preferRelativeResize="0"/>
          <p:nvPr/>
        </p:nvPicPr>
        <p:blipFill rotWithShape="1">
          <a:blip r:embed="rId5">
            <a:alphaModFix/>
          </a:blip>
          <a:srcRect b="0" l="0" r="0" t="0"/>
          <a:stretch/>
        </p:blipFill>
        <p:spPr>
          <a:xfrm>
            <a:off x="2479675" y="3924300"/>
            <a:ext cx="1784350" cy="1419225"/>
          </a:xfrm>
          <a:prstGeom prst="rect">
            <a:avLst/>
          </a:prstGeom>
          <a:noFill/>
          <a:ln>
            <a:noFill/>
          </a:ln>
        </p:spPr>
      </p:pic>
      <p:sp>
        <p:nvSpPr>
          <p:cNvPr id="874" name="Google Shape;874;p80"/>
          <p:cNvSpPr txBox="1"/>
          <p:nvPr>
            <p:ph idx="4294967295" type="body"/>
          </p:nvPr>
        </p:nvSpPr>
        <p:spPr>
          <a:xfrm>
            <a:off x="611187" y="2046287"/>
            <a:ext cx="5502275" cy="1657350"/>
          </a:xfrm>
          <a:prstGeom prst="rect">
            <a:avLst/>
          </a:prstGeom>
          <a:noFill/>
          <a:ln>
            <a:noFill/>
          </a:ln>
        </p:spPr>
        <p:txBody>
          <a:bodyPr anchorCtr="0" anchor="t" bIns="45700" lIns="91425" spcFirstLastPara="1" rIns="91425" wrap="square" tIns="45700">
            <a:spAutoFit/>
          </a:bodyPr>
          <a:lstStyle/>
          <a:p>
            <a:pPr indent="-157162" lvl="0" marL="157162" marR="0" rtl="0" algn="l">
              <a:lnSpc>
                <a:spcPct val="85000"/>
              </a:lnSpc>
              <a:spcBef>
                <a:spcPts val="0"/>
              </a:spcBef>
              <a:spcAft>
                <a:spcPts val="0"/>
              </a:spcAft>
              <a:buClr>
                <a:srgbClr val="F4BE96"/>
              </a:buClr>
              <a:buSzPts val="1920"/>
              <a:buFont typeface="Quattrocento Sans"/>
              <a:buNone/>
            </a:pPr>
            <a:r>
              <a:rPr b="0" i="0" lang="en-US" sz="2400" u="none">
                <a:solidFill>
                  <a:srgbClr val="060000"/>
                </a:solidFill>
                <a:latin typeface="Quattrocento Sans"/>
                <a:ea typeface="Quattrocento Sans"/>
                <a:cs typeface="Quattrocento Sans"/>
                <a:sym typeface="Quattrocento Sans"/>
              </a:rPr>
              <a:t>   Исходные данные:</a:t>
            </a:r>
            <a:endParaRPr/>
          </a:p>
          <a:p>
            <a:pPr indent="-157162" lvl="0" marL="157162" marR="0" rtl="0" algn="l">
              <a:lnSpc>
                <a:spcPct val="85000"/>
              </a:lnSpc>
              <a:spcBef>
                <a:spcPts val="600"/>
              </a:spcBef>
              <a:spcAft>
                <a:spcPts val="0"/>
              </a:spcAft>
              <a:buClr>
                <a:srgbClr val="F4BE96"/>
              </a:buClr>
              <a:buSzPts val="1920"/>
              <a:buFont typeface="Quattrocento Sans"/>
              <a:buNone/>
            </a:pPr>
            <a:r>
              <a:t/>
            </a:r>
            <a:endParaRPr b="0" i="0" sz="2400" u="none">
              <a:solidFill>
                <a:srgbClr val="060000"/>
              </a:solidFill>
              <a:latin typeface="Quattrocento Sans"/>
              <a:ea typeface="Quattrocento Sans"/>
              <a:cs typeface="Quattrocento Sans"/>
              <a:sym typeface="Quattrocento Sans"/>
            </a:endParaRPr>
          </a:p>
          <a:p>
            <a:pPr indent="-157162" lvl="0" marL="157162" marR="0" rtl="0" algn="l">
              <a:lnSpc>
                <a:spcPct val="85000"/>
              </a:lnSpc>
              <a:spcBef>
                <a:spcPts val="450"/>
              </a:spcBef>
              <a:spcAft>
                <a:spcPts val="0"/>
              </a:spcAft>
              <a:buClr>
                <a:srgbClr val="F4BE96"/>
              </a:buClr>
              <a:buSzPts val="1440"/>
              <a:buFont typeface="Quattrocento Sans"/>
              <a:buNone/>
            </a:pPr>
            <a:r>
              <a:rPr b="0" i="0" lang="en-US" sz="1800" u="none">
                <a:solidFill>
                  <a:srgbClr val="060000"/>
                </a:solidFill>
                <a:latin typeface="Quattrocento Sans"/>
                <a:ea typeface="Quattrocento Sans"/>
                <a:cs typeface="Quattrocento Sans"/>
                <a:sym typeface="Quattrocento Sans"/>
              </a:rPr>
              <a:t>Ирисы Фишера, встроенные в  R данные iris. </a:t>
            </a:r>
            <a:endParaRPr/>
          </a:p>
          <a:p>
            <a:pPr indent="-157162" lvl="0" marL="157162" marR="0" rtl="0" algn="l">
              <a:lnSpc>
                <a:spcPct val="85000"/>
              </a:lnSpc>
              <a:spcBef>
                <a:spcPts val="450"/>
              </a:spcBef>
              <a:spcAft>
                <a:spcPts val="0"/>
              </a:spcAft>
              <a:buClr>
                <a:srgbClr val="F4BE96"/>
              </a:buClr>
              <a:buSzPts val="1440"/>
              <a:buFont typeface="Quattrocento Sans"/>
              <a:buNone/>
            </a:pPr>
            <a:r>
              <a:rPr b="0" i="0" lang="en-US" sz="1800" u="none">
                <a:solidFill>
                  <a:srgbClr val="060000"/>
                </a:solidFill>
                <a:latin typeface="Quattrocento Sans"/>
                <a:ea typeface="Quattrocento Sans"/>
                <a:cs typeface="Quattrocento Sans"/>
                <a:sym typeface="Quattrocento Sans"/>
              </a:rPr>
              <a:t>Эти данные состоят из 5 переменных (колонок), последняя колонка содержит </a:t>
            </a:r>
            <a:r>
              <a:rPr b="1" i="1" lang="en-US" sz="1800" u="none">
                <a:solidFill>
                  <a:srgbClr val="060000"/>
                </a:solidFill>
                <a:latin typeface="Quattrocento Sans"/>
                <a:ea typeface="Quattrocento Sans"/>
                <a:cs typeface="Quattrocento Sans"/>
                <a:sym typeface="Quattrocento Sans"/>
              </a:rPr>
              <a:t>название вида</a:t>
            </a:r>
            <a:r>
              <a:rPr b="0" i="0" lang="en-US" sz="1800" u="none">
                <a:solidFill>
                  <a:srgbClr val="060000"/>
                </a:solidFill>
                <a:latin typeface="Quattrocento Sans"/>
                <a:ea typeface="Quattrocento Sans"/>
                <a:cs typeface="Quattrocento Sans"/>
                <a:sym typeface="Quattrocento Sans"/>
              </a:rPr>
              <a:t>.</a:t>
            </a:r>
            <a:endParaRPr/>
          </a:p>
        </p:txBody>
      </p:sp>
      <p:sp>
        <p:nvSpPr>
          <p:cNvPr id="875" name="Google Shape;875;p80"/>
          <p:cNvSpPr txBox="1"/>
          <p:nvPr/>
        </p:nvSpPr>
        <p:spPr>
          <a:xfrm>
            <a:off x="6259512" y="5438775"/>
            <a:ext cx="2663825" cy="82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60000"/>
              </a:buClr>
              <a:buSzPts val="1600"/>
              <a:buFont typeface="Arial"/>
              <a:buNone/>
            </a:pPr>
            <a:r>
              <a:rPr b="1" i="0" lang="en-US" sz="1600" u="none">
                <a:solidFill>
                  <a:srgbClr val="060000"/>
                </a:solidFill>
                <a:latin typeface="Arial"/>
                <a:ea typeface="Arial"/>
                <a:cs typeface="Arial"/>
                <a:sym typeface="Arial"/>
              </a:rPr>
              <a:t>Sepal—чашелистик, Petal—лепесток, Species—вид.</a:t>
            </a:r>
            <a:endParaRPr/>
          </a:p>
        </p:txBody>
      </p:sp>
      <p:pic>
        <p:nvPicPr>
          <p:cNvPr id="876" name="Google Shape;876;p80"/>
          <p:cNvPicPr preferRelativeResize="0"/>
          <p:nvPr/>
        </p:nvPicPr>
        <p:blipFill rotWithShape="1">
          <a:blip r:embed="rId6">
            <a:alphaModFix/>
          </a:blip>
          <a:srcRect b="0" l="0" r="0" t="0"/>
          <a:stretch/>
        </p:blipFill>
        <p:spPr>
          <a:xfrm>
            <a:off x="6227762" y="3346450"/>
            <a:ext cx="2392362" cy="2022475"/>
          </a:xfrm>
          <a:prstGeom prst="rect">
            <a:avLst/>
          </a:prstGeom>
          <a:noFill/>
          <a:ln>
            <a:noFill/>
          </a:ln>
        </p:spPr>
      </p:pic>
      <p:sp>
        <p:nvSpPr>
          <p:cNvPr id="877" name="Google Shape;877;p80"/>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grpSp>
        <p:nvGrpSpPr>
          <p:cNvPr id="883" name="Google Shape;883;p81"/>
          <p:cNvGrpSpPr/>
          <p:nvPr/>
        </p:nvGrpSpPr>
        <p:grpSpPr>
          <a:xfrm>
            <a:off x="344487" y="612775"/>
            <a:ext cx="8391525" cy="5826125"/>
            <a:chOff x="244" y="249"/>
            <a:chExt cx="5941" cy="3991"/>
          </a:xfrm>
        </p:grpSpPr>
        <p:sp>
          <p:nvSpPr>
            <p:cNvPr id="884" name="Google Shape;884;p81"/>
            <p:cNvSpPr/>
            <p:nvPr/>
          </p:nvSpPr>
          <p:spPr>
            <a:xfrm>
              <a:off x="561" y="249"/>
              <a:ext cx="5261" cy="604"/>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885" name="Google Shape;885;p81"/>
            <p:cNvSpPr/>
            <p:nvPr/>
          </p:nvSpPr>
          <p:spPr>
            <a:xfrm>
              <a:off x="244" y="940"/>
              <a:ext cx="5941" cy="3300"/>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grpSp>
      <p:sp>
        <p:nvSpPr>
          <p:cNvPr id="886" name="Google Shape;886;p81"/>
          <p:cNvSpPr txBox="1"/>
          <p:nvPr>
            <p:ph idx="4294967295" type="title"/>
          </p:nvPr>
        </p:nvSpPr>
        <p:spPr>
          <a:xfrm>
            <a:off x="792162" y="739775"/>
            <a:ext cx="7239000" cy="603250"/>
          </a:xfrm>
          <a:prstGeom prst="rect">
            <a:avLst/>
          </a:prstGeom>
          <a:noFill/>
          <a:ln>
            <a:noFill/>
          </a:ln>
        </p:spPr>
        <p:txBody>
          <a:bodyPr anchorCtr="0" anchor="ctr" bIns="45700" lIns="91425" spcFirstLastPara="1" rIns="91425" wrap="square" tIns="45700">
            <a:spAutoFit/>
          </a:bodyPr>
          <a:lstStyle/>
          <a:p>
            <a:pPr indent="0" lvl="0" marL="0" marR="0" rtl="0" algn="l">
              <a:lnSpc>
                <a:spcPct val="85000"/>
              </a:lnSpc>
              <a:spcBef>
                <a:spcPts val="0"/>
              </a:spcBef>
              <a:spcAft>
                <a:spcPts val="0"/>
              </a:spcAft>
              <a:buClr>
                <a:schemeClr val="lt2"/>
              </a:buClr>
              <a:buSzPts val="3900"/>
              <a:buFont typeface="Quattrocento Sans"/>
              <a:buNone/>
            </a:pPr>
            <a:r>
              <a:rPr b="0" i="0" lang="en-US" sz="3900" u="none" cap="none" strike="noStrike">
                <a:solidFill>
                  <a:schemeClr val="lt2"/>
                </a:solidFill>
                <a:latin typeface="Quattrocento Sans"/>
                <a:ea typeface="Quattrocento Sans"/>
                <a:cs typeface="Quattrocento Sans"/>
                <a:sym typeface="Quattrocento Sans"/>
              </a:rPr>
              <a:t>Классификация: Decision Tree</a:t>
            </a:r>
            <a:endParaRPr/>
          </a:p>
        </p:txBody>
      </p:sp>
      <p:sp>
        <p:nvSpPr>
          <p:cNvPr id="887" name="Google Shape;887;p81"/>
          <p:cNvSpPr txBox="1"/>
          <p:nvPr>
            <p:ph idx="4294967295" type="body"/>
          </p:nvPr>
        </p:nvSpPr>
        <p:spPr>
          <a:xfrm>
            <a:off x="534987" y="1955800"/>
            <a:ext cx="7624762" cy="3370262"/>
          </a:xfrm>
          <a:prstGeom prst="rect">
            <a:avLst/>
          </a:prstGeom>
          <a:noFill/>
          <a:ln>
            <a:noFill/>
          </a:ln>
        </p:spPr>
        <p:txBody>
          <a:bodyPr anchorCtr="0" anchor="t" bIns="45700" lIns="91425" spcFirstLastPara="1" rIns="91425" wrap="square" tIns="45700">
            <a:spAutoFit/>
          </a:bodyPr>
          <a:lstStyle/>
          <a:p>
            <a:pPr indent="-157162" lvl="0" marL="157162" marR="0" rtl="0" algn="l">
              <a:lnSpc>
                <a:spcPct val="85000"/>
              </a:lnSpc>
              <a:spcBef>
                <a:spcPts val="0"/>
              </a:spcBef>
              <a:spcAft>
                <a:spcPts val="0"/>
              </a:spcAft>
              <a:buClr>
                <a:srgbClr val="F4BE96"/>
              </a:buClr>
              <a:buSzPts val="1920"/>
              <a:buFont typeface="Quattrocento Sans"/>
              <a:buNone/>
            </a:pPr>
            <a:r>
              <a:rPr b="0" i="1" lang="en-US" sz="2400" u="sng">
                <a:solidFill>
                  <a:srgbClr val="060000"/>
                </a:solidFill>
                <a:latin typeface="Quattrocento Sans"/>
                <a:ea typeface="Quattrocento Sans"/>
                <a:cs typeface="Quattrocento Sans"/>
                <a:sym typeface="Quattrocento Sans"/>
              </a:rPr>
              <a:t>Исходные данные</a:t>
            </a:r>
            <a:r>
              <a:rPr b="0" i="0" lang="en-US" sz="2800" u="none">
                <a:solidFill>
                  <a:srgbClr val="060000"/>
                </a:solidFill>
                <a:latin typeface="Quattrocento Sans"/>
                <a:ea typeface="Quattrocento Sans"/>
                <a:cs typeface="Quattrocento Sans"/>
                <a:sym typeface="Quattrocento Sans"/>
              </a:rPr>
              <a:t> - </a:t>
            </a:r>
            <a:r>
              <a:rPr b="0" i="0" lang="en-US" sz="2100" u="none">
                <a:solidFill>
                  <a:srgbClr val="060000"/>
                </a:solidFill>
                <a:latin typeface="Quattrocento Sans"/>
                <a:ea typeface="Quattrocento Sans"/>
                <a:cs typeface="Quattrocento Sans"/>
                <a:sym typeface="Quattrocento Sans"/>
              </a:rPr>
              <a:t>набор данных по типам ирисов: </a:t>
            </a:r>
            <a:endParaRPr/>
          </a:p>
          <a:p>
            <a:pPr indent="-306387" lvl="1" marL="473075" marR="0" rtl="0" algn="l">
              <a:lnSpc>
                <a:spcPct val="85000"/>
              </a:lnSpc>
              <a:spcBef>
                <a:spcPts val="475"/>
              </a:spcBef>
              <a:spcAft>
                <a:spcPts val="0"/>
              </a:spcAft>
              <a:buClr>
                <a:srgbClr val="FFFFFF"/>
              </a:buClr>
              <a:buSzPts val="1425"/>
              <a:buFont typeface="Quattrocento Sans"/>
              <a:buNone/>
            </a:pPr>
            <a:r>
              <a:rPr b="0" i="0" lang="en-US" sz="1900" u="none" cap="none" strike="noStrike">
                <a:solidFill>
                  <a:srgbClr val="060000"/>
                </a:solidFill>
                <a:latin typeface="Quattrocento Sans"/>
                <a:ea typeface="Quattrocento Sans"/>
                <a:cs typeface="Quattrocento Sans"/>
                <a:sym typeface="Quattrocento Sans"/>
              </a:rPr>
              <a:t>&gt;names(iris)</a:t>
            </a:r>
            <a:endParaRPr/>
          </a:p>
          <a:p>
            <a:pPr indent="-306387" lvl="1" marL="473075" marR="0" rtl="0" algn="l">
              <a:lnSpc>
                <a:spcPct val="85000"/>
              </a:lnSpc>
              <a:spcBef>
                <a:spcPts val="475"/>
              </a:spcBef>
              <a:spcAft>
                <a:spcPts val="0"/>
              </a:spcAft>
              <a:buClr>
                <a:srgbClr val="FFFFFF"/>
              </a:buClr>
              <a:buSzPts val="1425"/>
              <a:buFont typeface="Quattrocento Sans"/>
              <a:buNone/>
            </a:pPr>
            <a:r>
              <a:rPr b="0" i="0" lang="en-US" sz="1900" u="none" cap="none" strike="noStrike">
                <a:solidFill>
                  <a:srgbClr val="060000"/>
                </a:solidFill>
                <a:latin typeface="Quattrocento Sans"/>
                <a:ea typeface="Quattrocento Sans"/>
                <a:cs typeface="Quattrocento Sans"/>
                <a:sym typeface="Quattrocento Sans"/>
              </a:rPr>
              <a:t>[1] "Sepal.Length" "Sepal.Width" "Petal.Length“ "Petal.Width" "Species" </a:t>
            </a:r>
            <a:endParaRPr/>
          </a:p>
          <a:p>
            <a:pPr indent="-306387" lvl="1" marL="473075" marR="0" rtl="0" algn="l">
              <a:lnSpc>
                <a:spcPct val="85000"/>
              </a:lnSpc>
              <a:spcBef>
                <a:spcPts val="475"/>
              </a:spcBef>
              <a:spcAft>
                <a:spcPts val="0"/>
              </a:spcAft>
              <a:buClr>
                <a:srgbClr val="FFFFFF"/>
              </a:buClr>
              <a:buSzPts val="1425"/>
              <a:buFont typeface="Quattrocento Sans"/>
              <a:buNone/>
            </a:pPr>
            <a:r>
              <a:t/>
            </a:r>
            <a:endParaRPr b="0" i="0" sz="1900" u="none" cap="none" strike="noStrike">
              <a:solidFill>
                <a:srgbClr val="060000"/>
              </a:solidFill>
              <a:latin typeface="Quattrocento Sans"/>
              <a:ea typeface="Quattrocento Sans"/>
              <a:cs typeface="Quattrocento Sans"/>
              <a:sym typeface="Quattrocento Sans"/>
            </a:endParaRPr>
          </a:p>
          <a:p>
            <a:pPr indent="-306387" lvl="1" marL="473075" marR="0" rtl="0" algn="l">
              <a:lnSpc>
                <a:spcPct val="85000"/>
              </a:lnSpc>
              <a:spcBef>
                <a:spcPts val="475"/>
              </a:spcBef>
              <a:spcAft>
                <a:spcPts val="0"/>
              </a:spcAft>
              <a:buClr>
                <a:srgbClr val="FFFFFF"/>
              </a:buClr>
              <a:buSzPts val="1425"/>
              <a:buFont typeface="Quattrocento Sans"/>
              <a:buNone/>
            </a:pPr>
            <a:r>
              <a:rPr b="0" i="0" lang="en-US" sz="1900" u="none" cap="none" strike="noStrike">
                <a:solidFill>
                  <a:srgbClr val="060000"/>
                </a:solidFill>
                <a:latin typeface="Quattrocento Sans"/>
                <a:ea typeface="Quattrocento Sans"/>
                <a:cs typeface="Quattrocento Sans"/>
                <a:sym typeface="Quattrocento Sans"/>
              </a:rPr>
              <a:t>&gt; </a:t>
            </a:r>
            <a:r>
              <a:rPr b="0" i="0" lang="en-US" sz="1900" u="none" cap="none" strike="noStrike">
                <a:solidFill>
                  <a:srgbClr val="0070C0"/>
                </a:solidFill>
                <a:latin typeface="Quattrocento Sans"/>
                <a:ea typeface="Quattrocento Sans"/>
                <a:cs typeface="Quattrocento Sans"/>
                <a:sym typeface="Quattrocento Sans"/>
              </a:rPr>
              <a:t>attributes(iris$Species) </a:t>
            </a:r>
            <a:endParaRPr/>
          </a:p>
          <a:p>
            <a:pPr indent="-306387" lvl="1" marL="473075" marR="0" rtl="0" algn="l">
              <a:lnSpc>
                <a:spcPct val="85000"/>
              </a:lnSpc>
              <a:spcBef>
                <a:spcPts val="475"/>
              </a:spcBef>
              <a:spcAft>
                <a:spcPts val="0"/>
              </a:spcAft>
              <a:buClr>
                <a:srgbClr val="FFFFFF"/>
              </a:buClr>
              <a:buSzPts val="1425"/>
              <a:buFont typeface="Quattrocento Sans"/>
              <a:buNone/>
            </a:pPr>
            <a:r>
              <a:rPr b="0" i="0" lang="en-US" sz="1900" u="none" cap="none" strike="noStrike">
                <a:solidFill>
                  <a:srgbClr val="060000"/>
                </a:solidFill>
                <a:latin typeface="Quattrocento Sans"/>
                <a:ea typeface="Quattrocento Sans"/>
                <a:cs typeface="Quattrocento Sans"/>
                <a:sym typeface="Quattrocento Sans"/>
              </a:rPr>
              <a:t>$levels </a:t>
            </a:r>
            <a:endParaRPr/>
          </a:p>
          <a:p>
            <a:pPr indent="-306387" lvl="1" marL="473075" marR="0" rtl="0" algn="l">
              <a:lnSpc>
                <a:spcPct val="85000"/>
              </a:lnSpc>
              <a:spcBef>
                <a:spcPts val="475"/>
              </a:spcBef>
              <a:spcAft>
                <a:spcPts val="0"/>
              </a:spcAft>
              <a:buClr>
                <a:srgbClr val="FFFFFF"/>
              </a:buClr>
              <a:buSzPts val="1425"/>
              <a:buFont typeface="Quattrocento Sans"/>
              <a:buNone/>
            </a:pPr>
            <a:r>
              <a:rPr b="0" i="0" lang="en-US" sz="1900" u="none" cap="none" strike="noStrike">
                <a:solidFill>
                  <a:srgbClr val="060000"/>
                </a:solidFill>
                <a:latin typeface="Quattrocento Sans"/>
                <a:ea typeface="Quattrocento Sans"/>
                <a:cs typeface="Quattrocento Sans"/>
                <a:sym typeface="Quattrocento Sans"/>
              </a:rPr>
              <a:t>[1] "setosa" "versicolor" "virginica" </a:t>
            </a:r>
            <a:endParaRPr/>
          </a:p>
          <a:p>
            <a:pPr indent="-306387" lvl="1" marL="473075" marR="0" rtl="0" algn="l">
              <a:lnSpc>
                <a:spcPct val="85000"/>
              </a:lnSpc>
              <a:spcBef>
                <a:spcPts val="475"/>
              </a:spcBef>
              <a:spcAft>
                <a:spcPts val="0"/>
              </a:spcAft>
              <a:buClr>
                <a:srgbClr val="FFFFFF"/>
              </a:buClr>
              <a:buSzPts val="1425"/>
              <a:buFont typeface="Quattrocento Sans"/>
              <a:buNone/>
            </a:pPr>
            <a:r>
              <a:rPr b="0" i="0" lang="en-US" sz="1900" u="none" cap="none" strike="noStrike">
                <a:solidFill>
                  <a:srgbClr val="060000"/>
                </a:solidFill>
                <a:latin typeface="Quattrocento Sans"/>
                <a:ea typeface="Quattrocento Sans"/>
                <a:cs typeface="Quattrocento Sans"/>
                <a:sym typeface="Quattrocento Sans"/>
              </a:rPr>
              <a:t>$class </a:t>
            </a:r>
            <a:endParaRPr/>
          </a:p>
          <a:p>
            <a:pPr indent="-306387" lvl="1" marL="473075" marR="0" rtl="0" algn="l">
              <a:lnSpc>
                <a:spcPct val="85000"/>
              </a:lnSpc>
              <a:spcBef>
                <a:spcPts val="475"/>
              </a:spcBef>
              <a:spcAft>
                <a:spcPts val="0"/>
              </a:spcAft>
              <a:buClr>
                <a:srgbClr val="FFFFFF"/>
              </a:buClr>
              <a:buSzPts val="1425"/>
              <a:buFont typeface="Quattrocento Sans"/>
              <a:buNone/>
            </a:pPr>
            <a:r>
              <a:rPr b="0" i="0" lang="en-US" sz="1900" u="none" cap="none" strike="noStrike">
                <a:solidFill>
                  <a:srgbClr val="060000"/>
                </a:solidFill>
                <a:latin typeface="Quattrocento Sans"/>
                <a:ea typeface="Quattrocento Sans"/>
                <a:cs typeface="Quattrocento Sans"/>
                <a:sym typeface="Quattrocento Sans"/>
              </a:rPr>
              <a:t>[1] "factor"</a:t>
            </a:r>
            <a:endParaRPr/>
          </a:p>
        </p:txBody>
      </p:sp>
      <p:sp>
        <p:nvSpPr>
          <p:cNvPr id="888" name="Google Shape;888;p81"/>
          <p:cNvSpPr txBox="1"/>
          <p:nvPr/>
        </p:nvSpPr>
        <p:spPr>
          <a:xfrm>
            <a:off x="4716462" y="3295650"/>
            <a:ext cx="3890962" cy="2862262"/>
          </a:xfrm>
          <a:prstGeom prst="rect">
            <a:avLst/>
          </a:prstGeom>
          <a:noFill/>
          <a:ln>
            <a:noFill/>
          </a:ln>
        </p:spPr>
        <p:txBody>
          <a:bodyPr anchorCtr="0" anchor="t" bIns="45700" lIns="91425" spcFirstLastPara="1" rIns="91425" wrap="square" tIns="45700">
            <a:spAutoFit/>
          </a:bodyPr>
          <a:lstStyle/>
          <a:p>
            <a:pPr indent="-114300" lvl="0" marL="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Будем использовать стандартный набор данных в R </a:t>
            </a:r>
            <a:r>
              <a:rPr b="0" i="1" lang="en-US" sz="1800" u="none">
                <a:solidFill>
                  <a:schemeClr val="dk1"/>
                </a:solidFill>
                <a:latin typeface="Arial"/>
                <a:ea typeface="Arial"/>
                <a:cs typeface="Arial"/>
                <a:sym typeface="Arial"/>
              </a:rPr>
              <a:t>iris</a:t>
            </a:r>
            <a:r>
              <a:rPr b="0" i="0" lang="en-US" sz="1800" u="none">
                <a:solidFill>
                  <a:schemeClr val="dk1"/>
                </a:solidFill>
                <a:latin typeface="Arial"/>
                <a:ea typeface="Arial"/>
                <a:cs typeface="Arial"/>
                <a:sym typeface="Arial"/>
              </a:rPr>
              <a:t>. Информацию об именах признаков можно получить с помощью функции names(), а список возможных значений (названия классов) признака Species с помощью функции attributes() или просто с помощью записи </a:t>
            </a:r>
            <a:r>
              <a:rPr b="1" i="1" lang="en-US" sz="1800" u="none">
                <a:solidFill>
                  <a:srgbClr val="0070C0"/>
                </a:solidFill>
                <a:latin typeface="Arial"/>
                <a:ea typeface="Arial"/>
                <a:cs typeface="Arial"/>
                <a:sym typeface="Arial"/>
              </a:rPr>
              <a:t>iris$Species$levels</a:t>
            </a:r>
            <a:r>
              <a:rPr b="0" i="0" lang="en-US" sz="1800" u="none">
                <a:solidFill>
                  <a:schemeClr val="dk1"/>
                </a:solidFill>
                <a:latin typeface="Arial"/>
                <a:ea typeface="Arial"/>
                <a:cs typeface="Arial"/>
                <a:sym typeface="Arial"/>
              </a:rPr>
              <a:t>.</a:t>
            </a:r>
            <a:endParaRPr/>
          </a:p>
        </p:txBody>
      </p:sp>
      <p:sp>
        <p:nvSpPr>
          <p:cNvPr id="889" name="Google Shape;889;p81"/>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82"/>
          <p:cNvSpPr/>
          <p:nvPr/>
        </p:nvSpPr>
        <p:spPr>
          <a:xfrm>
            <a:off x="344487" y="1839912"/>
            <a:ext cx="8391525" cy="4406900"/>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896" name="Google Shape;896;p82"/>
          <p:cNvSpPr txBox="1"/>
          <p:nvPr>
            <p:ph idx="4294967295" type="body"/>
          </p:nvPr>
        </p:nvSpPr>
        <p:spPr>
          <a:xfrm>
            <a:off x="534987" y="1955800"/>
            <a:ext cx="8008937" cy="3503612"/>
          </a:xfrm>
          <a:prstGeom prst="rect">
            <a:avLst/>
          </a:prstGeom>
          <a:noFill/>
          <a:ln>
            <a:noFill/>
          </a:ln>
        </p:spPr>
        <p:txBody>
          <a:bodyPr anchorCtr="0" anchor="t" bIns="45700" lIns="91425" spcFirstLastPara="1" rIns="91425" wrap="square" tIns="45700">
            <a:spAutoFit/>
          </a:bodyPr>
          <a:lstStyle/>
          <a:p>
            <a:pPr indent="-157162" lvl="0" marL="157162" marR="0" rtl="0" algn="l">
              <a:lnSpc>
                <a:spcPct val="85000"/>
              </a:lnSpc>
              <a:spcBef>
                <a:spcPts val="0"/>
              </a:spcBef>
              <a:spcAft>
                <a:spcPts val="0"/>
              </a:spcAft>
              <a:buClr>
                <a:srgbClr val="F4BE96"/>
              </a:buClr>
              <a:buSzPts val="1920"/>
              <a:buFont typeface="Quattrocento Sans"/>
              <a:buNone/>
            </a:pPr>
            <a:r>
              <a:rPr b="0" i="1" lang="en-US" sz="2400" u="sng">
                <a:solidFill>
                  <a:srgbClr val="060000"/>
                </a:solidFill>
                <a:latin typeface="Quattrocento Sans"/>
                <a:ea typeface="Quattrocento Sans"/>
                <a:cs typeface="Quattrocento Sans"/>
                <a:sym typeface="Quattrocento Sans"/>
              </a:rPr>
              <a:t>Библиотека Boruta:</a:t>
            </a:r>
            <a:r>
              <a:rPr b="0" i="0" lang="en-US" sz="2800" u="none">
                <a:solidFill>
                  <a:srgbClr val="060000"/>
                </a:solidFill>
                <a:latin typeface="Quattrocento Sans"/>
                <a:ea typeface="Quattrocento Sans"/>
                <a:cs typeface="Quattrocento Sans"/>
                <a:sym typeface="Quattrocento Sans"/>
              </a:rPr>
              <a:t> </a:t>
            </a:r>
            <a:r>
              <a:rPr b="0" i="0" lang="en-US" sz="2100" u="none">
                <a:solidFill>
                  <a:srgbClr val="060000"/>
                </a:solidFill>
                <a:latin typeface="Quattrocento Sans"/>
                <a:ea typeface="Quattrocento Sans"/>
                <a:cs typeface="Quattrocento Sans"/>
                <a:sym typeface="Quattrocento Sans"/>
              </a:rPr>
              <a:t>вычисляет значащие факторы, влияющие на искомый набор классов </a:t>
            </a:r>
            <a:endParaRPr/>
          </a:p>
          <a:p>
            <a:pPr indent="-157162" lvl="0" marL="157162" marR="0" rtl="0" algn="l">
              <a:lnSpc>
                <a:spcPct val="85000"/>
              </a:lnSpc>
              <a:spcBef>
                <a:spcPts val="525"/>
              </a:spcBef>
              <a:spcAft>
                <a:spcPts val="0"/>
              </a:spcAft>
              <a:buClr>
                <a:srgbClr val="F4BE96"/>
              </a:buClr>
              <a:buSzPts val="1680"/>
              <a:buFont typeface="Quattrocento Sans"/>
              <a:buNone/>
            </a:pPr>
            <a:r>
              <a:t/>
            </a:r>
            <a:endParaRPr b="0" i="0" sz="2100" u="none">
              <a:solidFill>
                <a:schemeClr val="lt1"/>
              </a:solidFill>
              <a:latin typeface="Quattrocento Sans"/>
              <a:ea typeface="Quattrocento Sans"/>
              <a:cs typeface="Quattrocento Sans"/>
              <a:sym typeface="Quattrocento Sans"/>
            </a:endParaRPr>
          </a:p>
          <a:p>
            <a:pPr indent="-306387" lvl="1" marL="473075" marR="0" rtl="0" algn="l">
              <a:lnSpc>
                <a:spcPct val="85000"/>
              </a:lnSpc>
              <a:spcBef>
                <a:spcPts val="425"/>
              </a:spcBef>
              <a:spcAft>
                <a:spcPts val="0"/>
              </a:spcAft>
              <a:buClr>
                <a:srgbClr val="FFFFFF"/>
              </a:buClr>
              <a:buSzPts val="1275"/>
              <a:buFont typeface="Quattrocento Sans"/>
              <a:buNone/>
            </a:pPr>
            <a:r>
              <a:rPr b="0" i="0" lang="en-US" sz="1700" u="none" cap="none" strike="noStrike">
                <a:solidFill>
                  <a:schemeClr val="hlink"/>
                </a:solidFill>
                <a:latin typeface="Quattrocento Sans"/>
                <a:ea typeface="Quattrocento Sans"/>
                <a:cs typeface="Quattrocento Sans"/>
                <a:sym typeface="Quattrocento Sans"/>
              </a:rPr>
              <a:t>&gt;</a:t>
            </a:r>
            <a:r>
              <a:rPr b="0" i="0" lang="en-US" sz="1700" u="none" cap="none" strike="noStrike">
                <a:solidFill>
                  <a:srgbClr val="0000FF"/>
                </a:solidFill>
                <a:latin typeface="Droid Sans Mono"/>
                <a:ea typeface="Droid Sans Mono"/>
                <a:cs typeface="Droid Sans Mono"/>
                <a:sym typeface="Droid Sans Mono"/>
              </a:rPr>
              <a:t>v&lt;-Boruta(iris,iris$Species, pValue=0.01,mcAdj = TRUE, maxRuns = 100,doTrace = 0,holdHistory = TRUE,getImp = getImpRfZ) </a:t>
            </a:r>
            <a:endParaRPr/>
          </a:p>
          <a:p>
            <a:pPr indent="-306387" lvl="1" marL="473075" marR="0" rtl="0" algn="l">
              <a:lnSpc>
                <a:spcPct val="85000"/>
              </a:lnSpc>
              <a:spcBef>
                <a:spcPts val="425"/>
              </a:spcBef>
              <a:spcAft>
                <a:spcPts val="0"/>
              </a:spcAft>
              <a:buClr>
                <a:srgbClr val="FFFFFF"/>
              </a:buClr>
              <a:buSzPts val="1275"/>
              <a:buFont typeface="Quattrocento Sans"/>
              <a:buNone/>
            </a:pPr>
            <a:r>
              <a:rPr b="0" i="0" lang="en-US" sz="1700" u="none" cap="none" strike="noStrike">
                <a:solidFill>
                  <a:schemeClr val="hlink"/>
                </a:solidFill>
                <a:latin typeface="Quattrocento Sans"/>
                <a:ea typeface="Quattrocento Sans"/>
                <a:cs typeface="Quattrocento Sans"/>
                <a:sym typeface="Quattrocento Sans"/>
              </a:rPr>
              <a:t>&gt; </a:t>
            </a:r>
            <a:r>
              <a:rPr b="0" i="0" lang="en-US" sz="1700" u="none" cap="none" strike="noStrike">
                <a:solidFill>
                  <a:srgbClr val="0000FF"/>
                </a:solidFill>
                <a:latin typeface="Droid Sans Mono"/>
                <a:ea typeface="Droid Sans Mono"/>
                <a:cs typeface="Droid Sans Mono"/>
                <a:sym typeface="Droid Sans Mono"/>
              </a:rPr>
              <a:t>v </a:t>
            </a:r>
            <a:endParaRPr/>
          </a:p>
          <a:p>
            <a:pPr indent="-306387" lvl="1" marL="473075" marR="0" rtl="0" algn="l">
              <a:lnSpc>
                <a:spcPct val="85000"/>
              </a:lnSpc>
              <a:spcBef>
                <a:spcPts val="425"/>
              </a:spcBef>
              <a:spcAft>
                <a:spcPts val="0"/>
              </a:spcAft>
              <a:buClr>
                <a:srgbClr val="FFFFFF"/>
              </a:buClr>
              <a:buSzPts val="1275"/>
              <a:buFont typeface="Quattrocento Sans"/>
              <a:buNone/>
            </a:pPr>
            <a:r>
              <a:rPr b="0" i="0" lang="en-US" sz="1700" u="none" cap="none" strike="noStrike">
                <a:solidFill>
                  <a:schemeClr val="hlink"/>
                </a:solidFill>
                <a:latin typeface="Quattrocento Sans"/>
                <a:ea typeface="Quattrocento Sans"/>
                <a:cs typeface="Quattrocento Sans"/>
                <a:sym typeface="Quattrocento Sans"/>
              </a:rPr>
              <a:t>&gt; </a:t>
            </a:r>
            <a:r>
              <a:rPr b="0" i="0" lang="en-US" sz="1700" u="none" cap="none" strike="noStrike">
                <a:solidFill>
                  <a:srgbClr val="000000"/>
                </a:solidFill>
                <a:latin typeface="Droid Sans Mono"/>
                <a:ea typeface="Droid Sans Mono"/>
                <a:cs typeface="Droid Sans Mono"/>
                <a:sym typeface="Droid Sans Mono"/>
              </a:rPr>
              <a:t>Boruta performed 9 iterations in 0.3223288 secs. 5 attributes confirmed important: Petal.Length, Petal.Width, Sepal.Length, Sepal.Width, Species; No attributes deemed unimportant.</a:t>
            </a:r>
            <a:endParaRPr b="0" i="0" sz="1700" u="none" cap="none" strike="noStrike">
              <a:solidFill>
                <a:schemeClr val="lt1"/>
              </a:solidFill>
              <a:latin typeface="Quattrocento Sans"/>
              <a:ea typeface="Quattrocento Sans"/>
              <a:cs typeface="Quattrocento Sans"/>
              <a:sym typeface="Quattrocento Sans"/>
            </a:endParaRPr>
          </a:p>
          <a:p>
            <a:pPr indent="-248603" lvl="0" marL="334963" marR="0" rtl="0" algn="l">
              <a:lnSpc>
                <a:spcPct val="85000"/>
              </a:lnSpc>
              <a:spcBef>
                <a:spcPts val="425"/>
              </a:spcBef>
              <a:spcAft>
                <a:spcPts val="0"/>
              </a:spcAft>
              <a:buClr>
                <a:srgbClr val="F4BE96"/>
              </a:buClr>
              <a:buSzPts val="1360"/>
              <a:buFont typeface="Quattrocento Sans"/>
              <a:buNone/>
            </a:pPr>
            <a:r>
              <a:t/>
            </a:r>
            <a:endParaRPr b="0" i="0" sz="1700" u="none" cap="none" strike="noStrike">
              <a:solidFill>
                <a:schemeClr val="lt1"/>
              </a:solidFill>
              <a:latin typeface="Quattrocento Sans"/>
              <a:ea typeface="Quattrocento Sans"/>
              <a:cs typeface="Quattrocento Sans"/>
              <a:sym typeface="Quattrocento Sans"/>
            </a:endParaRPr>
          </a:p>
        </p:txBody>
      </p:sp>
      <p:sp>
        <p:nvSpPr>
          <p:cNvPr id="897" name="Google Shape;897;p82"/>
          <p:cNvSpPr txBox="1"/>
          <p:nvPr/>
        </p:nvSpPr>
        <p:spPr>
          <a:xfrm>
            <a:off x="631825" y="5605462"/>
            <a:ext cx="7656512" cy="338137"/>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Arial"/>
              <a:buNone/>
            </a:pPr>
            <a:r>
              <a:rPr b="1" i="1" lang="en-US" sz="1600" u="none">
                <a:solidFill>
                  <a:schemeClr val="lt1"/>
                </a:solidFill>
                <a:latin typeface="Arial"/>
                <a:ea typeface="Arial"/>
                <a:cs typeface="Arial"/>
                <a:sym typeface="Arial"/>
              </a:rPr>
              <a:t>Использует алгоритм Random Forest </a:t>
            </a:r>
            <a:endParaRPr/>
          </a:p>
        </p:txBody>
      </p:sp>
      <p:sp>
        <p:nvSpPr>
          <p:cNvPr id="898" name="Google Shape;898;p82"/>
          <p:cNvSpPr/>
          <p:nvPr/>
        </p:nvSpPr>
        <p:spPr>
          <a:xfrm>
            <a:off x="792162" y="612775"/>
            <a:ext cx="7431087" cy="879475"/>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899" name="Google Shape;899;p82"/>
          <p:cNvSpPr txBox="1"/>
          <p:nvPr/>
        </p:nvSpPr>
        <p:spPr>
          <a:xfrm>
            <a:off x="792162" y="739775"/>
            <a:ext cx="7239000" cy="603250"/>
          </a:xfrm>
          <a:prstGeom prst="rect">
            <a:avLst/>
          </a:prstGeom>
          <a:noFill/>
          <a:ln>
            <a:noFill/>
          </a:ln>
        </p:spPr>
        <p:txBody>
          <a:bodyPr anchorCtr="0" anchor="ctr" bIns="45700" lIns="91425" spcFirstLastPara="1" rIns="91425" wrap="square" tIns="45700">
            <a:spAutoFit/>
          </a:bodyPr>
          <a:lstStyle/>
          <a:p>
            <a:pPr indent="0" lvl="0" marL="0" marR="0" rtl="0" algn="l">
              <a:lnSpc>
                <a:spcPct val="85000"/>
              </a:lnSpc>
              <a:spcBef>
                <a:spcPts val="0"/>
              </a:spcBef>
              <a:spcAft>
                <a:spcPts val="0"/>
              </a:spcAft>
              <a:buClr>
                <a:schemeClr val="lt2"/>
              </a:buClr>
              <a:buSzPts val="3900"/>
              <a:buFont typeface="Quattrocento Sans"/>
              <a:buNone/>
            </a:pPr>
            <a:r>
              <a:rPr b="0" i="0" lang="en-US" sz="3900" u="none">
                <a:solidFill>
                  <a:schemeClr val="lt2"/>
                </a:solidFill>
                <a:latin typeface="Quattrocento Sans"/>
                <a:ea typeface="Quattrocento Sans"/>
                <a:cs typeface="Quattrocento Sans"/>
                <a:sym typeface="Quattrocento Sans"/>
              </a:rPr>
              <a:t>Классификация: Decision Tree</a:t>
            </a:r>
            <a:endParaRPr/>
          </a:p>
        </p:txBody>
      </p:sp>
      <p:sp>
        <p:nvSpPr>
          <p:cNvPr id="900" name="Google Shape;900;p82"/>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83"/>
          <p:cNvSpPr/>
          <p:nvPr/>
        </p:nvSpPr>
        <p:spPr>
          <a:xfrm>
            <a:off x="792162" y="611187"/>
            <a:ext cx="7431087" cy="1089025"/>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907" name="Google Shape;907;p83"/>
          <p:cNvSpPr/>
          <p:nvPr/>
        </p:nvSpPr>
        <p:spPr>
          <a:xfrm>
            <a:off x="188912" y="1839912"/>
            <a:ext cx="8794750" cy="4673600"/>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908" name="Google Shape;908;p83"/>
          <p:cNvSpPr txBox="1"/>
          <p:nvPr>
            <p:ph idx="4294967295" type="title"/>
          </p:nvPr>
        </p:nvSpPr>
        <p:spPr>
          <a:xfrm>
            <a:off x="920750" y="850900"/>
            <a:ext cx="7766050" cy="604837"/>
          </a:xfrm>
          <a:prstGeom prst="rect">
            <a:avLst/>
          </a:prstGeom>
          <a:noFill/>
          <a:ln>
            <a:noFill/>
          </a:ln>
        </p:spPr>
        <p:txBody>
          <a:bodyPr anchorCtr="0" anchor="ctr" bIns="45700" lIns="91425" spcFirstLastPara="1" rIns="91425" wrap="square" tIns="45700">
            <a:spAutoFit/>
          </a:bodyPr>
          <a:lstStyle/>
          <a:p>
            <a:pPr indent="0" lvl="0" marL="0" marR="0" rtl="0" algn="l">
              <a:lnSpc>
                <a:spcPct val="85000"/>
              </a:lnSpc>
              <a:spcBef>
                <a:spcPts val="0"/>
              </a:spcBef>
              <a:spcAft>
                <a:spcPts val="0"/>
              </a:spcAft>
              <a:buClr>
                <a:schemeClr val="lt2"/>
              </a:buClr>
              <a:buSzPts val="3900"/>
              <a:buFont typeface="Quattrocento Sans"/>
              <a:buNone/>
            </a:pPr>
            <a:r>
              <a:rPr b="0" i="0" lang="en-US" sz="3900" u="none" cap="none" strike="noStrike">
                <a:solidFill>
                  <a:schemeClr val="lt2"/>
                </a:solidFill>
                <a:latin typeface="Quattrocento Sans"/>
                <a:ea typeface="Quattrocento Sans"/>
                <a:cs typeface="Quattrocento Sans"/>
                <a:sym typeface="Quattrocento Sans"/>
              </a:rPr>
              <a:t>Классификация Decision Tree</a:t>
            </a:r>
            <a:endParaRPr/>
          </a:p>
        </p:txBody>
      </p:sp>
      <p:sp>
        <p:nvSpPr>
          <p:cNvPr id="909" name="Google Shape;909;p83"/>
          <p:cNvSpPr txBox="1"/>
          <p:nvPr>
            <p:ph idx="4294967295" type="body"/>
          </p:nvPr>
        </p:nvSpPr>
        <p:spPr>
          <a:xfrm>
            <a:off x="446087" y="2347912"/>
            <a:ext cx="4357687" cy="3181350"/>
          </a:xfrm>
          <a:prstGeom prst="rect">
            <a:avLst/>
          </a:prstGeom>
          <a:noFill/>
          <a:ln>
            <a:noFill/>
          </a:ln>
        </p:spPr>
        <p:txBody>
          <a:bodyPr anchorCtr="0" anchor="t" bIns="45700" lIns="91425" spcFirstLastPara="1" rIns="91425" wrap="square" tIns="45700">
            <a:spAutoFit/>
          </a:bodyPr>
          <a:lstStyle/>
          <a:p>
            <a:pPr indent="-157162" lvl="0" marL="157162" marR="0" rtl="0" algn="l">
              <a:lnSpc>
                <a:spcPct val="85000"/>
              </a:lnSpc>
              <a:spcBef>
                <a:spcPts val="0"/>
              </a:spcBef>
              <a:spcAft>
                <a:spcPts val="0"/>
              </a:spcAft>
              <a:buClr>
                <a:srgbClr val="F4BE96"/>
              </a:buClr>
              <a:buSzPts val="1920"/>
              <a:buFont typeface="Quattrocento Sans"/>
              <a:buNone/>
            </a:pPr>
            <a:r>
              <a:rPr b="0" i="1" lang="en-US" sz="2400" u="sng">
                <a:solidFill>
                  <a:srgbClr val="060000"/>
                </a:solidFill>
                <a:latin typeface="Quattrocento Sans"/>
                <a:ea typeface="Quattrocento Sans"/>
                <a:cs typeface="Quattrocento Sans"/>
                <a:sym typeface="Quattrocento Sans"/>
              </a:rPr>
              <a:t>Подготовка данных</a:t>
            </a:r>
            <a:endParaRPr/>
          </a:p>
          <a:p>
            <a:pPr indent="-157162" lvl="0" marL="157162" marR="0" rtl="0" algn="l">
              <a:lnSpc>
                <a:spcPct val="85000"/>
              </a:lnSpc>
              <a:spcBef>
                <a:spcPts val="600"/>
              </a:spcBef>
              <a:spcAft>
                <a:spcPts val="0"/>
              </a:spcAft>
              <a:buClr>
                <a:srgbClr val="F4BE96"/>
              </a:buClr>
              <a:buSzPts val="1920"/>
              <a:buFont typeface="Quattrocento Sans"/>
              <a:buNone/>
            </a:pPr>
            <a:r>
              <a:t/>
            </a:r>
            <a:endParaRPr b="0" i="1" sz="2400" u="sng">
              <a:solidFill>
                <a:srgbClr val="060000"/>
              </a:solidFill>
              <a:latin typeface="Quattrocento Sans"/>
              <a:ea typeface="Quattrocento Sans"/>
              <a:cs typeface="Quattrocento Sans"/>
              <a:sym typeface="Quattrocento Sans"/>
            </a:endParaRPr>
          </a:p>
          <a:p>
            <a:pPr indent="-306387" lvl="1" marL="473075" marR="0" rtl="0" algn="l">
              <a:lnSpc>
                <a:spcPct val="85000"/>
              </a:lnSpc>
              <a:spcBef>
                <a:spcPts val="425"/>
              </a:spcBef>
              <a:spcAft>
                <a:spcPts val="0"/>
              </a:spcAft>
              <a:buClr>
                <a:srgbClr val="FFFFFF"/>
              </a:buClr>
              <a:buSzPts val="1275"/>
              <a:buFont typeface="Quattrocento Sans"/>
              <a:buNone/>
            </a:pPr>
            <a:r>
              <a:rPr b="1" i="0" lang="en-US" sz="1700" u="none" cap="none" strike="noStrike">
                <a:solidFill>
                  <a:srgbClr val="0070C0"/>
                </a:solidFill>
                <a:latin typeface="Quattrocento Sans"/>
                <a:ea typeface="Quattrocento Sans"/>
                <a:cs typeface="Quattrocento Sans"/>
                <a:sym typeface="Quattrocento Sans"/>
              </a:rPr>
              <a:t>&gt; set.seed(1234)</a:t>
            </a:r>
            <a:endParaRPr/>
          </a:p>
          <a:p>
            <a:pPr indent="-306387" lvl="1" marL="473075" marR="0" rtl="0" algn="l">
              <a:lnSpc>
                <a:spcPct val="85000"/>
              </a:lnSpc>
              <a:spcBef>
                <a:spcPts val="425"/>
              </a:spcBef>
              <a:spcAft>
                <a:spcPts val="0"/>
              </a:spcAft>
              <a:buClr>
                <a:srgbClr val="FFFFFF"/>
              </a:buClr>
              <a:buSzPts val="1275"/>
              <a:buFont typeface="Quattrocento Sans"/>
              <a:buNone/>
            </a:pPr>
            <a:r>
              <a:rPr b="1" i="0" lang="en-US" sz="1700" u="none" cap="none" strike="noStrike">
                <a:solidFill>
                  <a:srgbClr val="0070C0"/>
                </a:solidFill>
                <a:latin typeface="Quattrocento Sans"/>
                <a:ea typeface="Quattrocento Sans"/>
                <a:cs typeface="Quattrocento Sans"/>
                <a:sym typeface="Quattrocento Sans"/>
              </a:rPr>
              <a:t>&gt; ind &lt;- sample(2, nrow(iris), replace=TRUE, prob=c(0.7, 0.3))</a:t>
            </a:r>
            <a:endParaRPr/>
          </a:p>
          <a:p>
            <a:pPr indent="-306387" lvl="1" marL="473075" marR="0" rtl="0" algn="l">
              <a:lnSpc>
                <a:spcPct val="85000"/>
              </a:lnSpc>
              <a:spcBef>
                <a:spcPts val="425"/>
              </a:spcBef>
              <a:spcAft>
                <a:spcPts val="0"/>
              </a:spcAft>
              <a:buClr>
                <a:srgbClr val="FFFFFF"/>
              </a:buClr>
              <a:buSzPts val="1275"/>
              <a:buFont typeface="Quattrocento Sans"/>
              <a:buNone/>
            </a:pPr>
            <a:r>
              <a:rPr b="1" i="0" lang="en-US" sz="1700" u="none" cap="none" strike="noStrike">
                <a:solidFill>
                  <a:srgbClr val="0070C0"/>
                </a:solidFill>
                <a:latin typeface="Quattrocento Sans"/>
                <a:ea typeface="Quattrocento Sans"/>
                <a:cs typeface="Quattrocento Sans"/>
                <a:sym typeface="Quattrocento Sans"/>
              </a:rPr>
              <a:t>&gt; trainData &lt;- iris[ind==1,]</a:t>
            </a:r>
            <a:endParaRPr/>
          </a:p>
          <a:p>
            <a:pPr indent="-306387" lvl="1" marL="473075" marR="0" rtl="0" algn="l">
              <a:lnSpc>
                <a:spcPct val="85000"/>
              </a:lnSpc>
              <a:spcBef>
                <a:spcPts val="425"/>
              </a:spcBef>
              <a:spcAft>
                <a:spcPts val="0"/>
              </a:spcAft>
              <a:buClr>
                <a:srgbClr val="FFFFFF"/>
              </a:buClr>
              <a:buSzPts val="1275"/>
              <a:buFont typeface="Quattrocento Sans"/>
              <a:buNone/>
            </a:pPr>
            <a:r>
              <a:rPr b="1" i="0" lang="en-US" sz="1700" u="none" cap="none" strike="noStrike">
                <a:solidFill>
                  <a:srgbClr val="0070C0"/>
                </a:solidFill>
                <a:latin typeface="Quattrocento Sans"/>
                <a:ea typeface="Quattrocento Sans"/>
                <a:cs typeface="Quattrocento Sans"/>
                <a:sym typeface="Quattrocento Sans"/>
              </a:rPr>
              <a:t>&gt; testData &lt;- iris[ind==2,]</a:t>
            </a:r>
            <a:endParaRPr/>
          </a:p>
          <a:p>
            <a:pPr indent="-306387" lvl="1" marL="473075" marR="0" rtl="0" algn="l">
              <a:lnSpc>
                <a:spcPct val="85000"/>
              </a:lnSpc>
              <a:spcBef>
                <a:spcPts val="425"/>
              </a:spcBef>
              <a:spcAft>
                <a:spcPts val="0"/>
              </a:spcAft>
              <a:buClr>
                <a:srgbClr val="FFFFFF"/>
              </a:buClr>
              <a:buSzPts val="1275"/>
              <a:buFont typeface="Quattrocento Sans"/>
              <a:buNone/>
            </a:pPr>
            <a:r>
              <a:rPr b="1" i="0" lang="en-US" sz="1700" u="none" cap="none" strike="noStrike">
                <a:solidFill>
                  <a:srgbClr val="0070C0"/>
                </a:solidFill>
                <a:latin typeface="Quattrocento Sans"/>
                <a:ea typeface="Quattrocento Sans"/>
                <a:cs typeface="Quattrocento Sans"/>
                <a:sym typeface="Quattrocento Sans"/>
              </a:rPr>
              <a:t>&gt; nrow(trainData)             </a:t>
            </a:r>
            <a:r>
              <a:rPr b="1" i="0" lang="en-US" sz="1700" u="none" cap="none" strike="noStrike">
                <a:solidFill>
                  <a:srgbClr val="000000"/>
                </a:solidFill>
                <a:latin typeface="Quattrocento Sans"/>
                <a:ea typeface="Quattrocento Sans"/>
                <a:cs typeface="Quattrocento Sans"/>
                <a:sym typeface="Quattrocento Sans"/>
              </a:rPr>
              <a:t>[1]       112</a:t>
            </a:r>
            <a:r>
              <a:rPr b="1" i="0" lang="en-US" sz="1700" u="none" cap="none" strike="noStrike">
                <a:solidFill>
                  <a:srgbClr val="0070C0"/>
                </a:solidFill>
                <a:latin typeface="Quattrocento Sans"/>
                <a:ea typeface="Quattrocento Sans"/>
                <a:cs typeface="Quattrocento Sans"/>
                <a:sym typeface="Quattrocento Sans"/>
              </a:rPr>
              <a:t> </a:t>
            </a:r>
            <a:endParaRPr/>
          </a:p>
          <a:p>
            <a:pPr indent="-306387" lvl="1" marL="473075" marR="0" rtl="0" algn="l">
              <a:lnSpc>
                <a:spcPct val="85000"/>
              </a:lnSpc>
              <a:spcBef>
                <a:spcPts val="425"/>
              </a:spcBef>
              <a:spcAft>
                <a:spcPts val="0"/>
              </a:spcAft>
              <a:buClr>
                <a:srgbClr val="FFFFFF"/>
              </a:buClr>
              <a:buSzPts val="1275"/>
              <a:buFont typeface="Quattrocento Sans"/>
              <a:buNone/>
            </a:pPr>
            <a:r>
              <a:rPr b="1" i="0" lang="en-US" sz="1700" u="none" cap="none" strike="noStrike">
                <a:solidFill>
                  <a:srgbClr val="0070C0"/>
                </a:solidFill>
                <a:latin typeface="Quattrocento Sans"/>
                <a:ea typeface="Quattrocento Sans"/>
                <a:cs typeface="Quattrocento Sans"/>
                <a:sym typeface="Quattrocento Sans"/>
              </a:rPr>
              <a:t>&gt; nrow(testData)              </a:t>
            </a:r>
            <a:r>
              <a:rPr b="1" i="0" lang="en-US" sz="1700" u="none" cap="none" strike="noStrike">
                <a:solidFill>
                  <a:srgbClr val="000000"/>
                </a:solidFill>
                <a:latin typeface="Quattrocento Sans"/>
                <a:ea typeface="Quattrocento Sans"/>
                <a:cs typeface="Quattrocento Sans"/>
                <a:sym typeface="Quattrocento Sans"/>
              </a:rPr>
              <a:t>[1]        38 </a:t>
            </a:r>
            <a:endParaRPr/>
          </a:p>
          <a:p>
            <a:pPr indent="-306387" lvl="1" marL="473075" marR="0" rtl="0" algn="l">
              <a:lnSpc>
                <a:spcPct val="85000"/>
              </a:lnSpc>
              <a:spcBef>
                <a:spcPts val="425"/>
              </a:spcBef>
              <a:spcAft>
                <a:spcPts val="0"/>
              </a:spcAft>
              <a:buClr>
                <a:srgbClr val="FFFFFF"/>
              </a:buClr>
              <a:buSzPts val="1275"/>
              <a:buFont typeface="Quattrocento Sans"/>
              <a:buNone/>
            </a:pPr>
            <a:r>
              <a:rPr b="1" i="0" lang="en-US" sz="1700" u="none" cap="none" strike="noStrike">
                <a:solidFill>
                  <a:srgbClr val="0070C0"/>
                </a:solidFill>
                <a:latin typeface="Quattrocento Sans"/>
                <a:ea typeface="Quattrocento Sans"/>
                <a:cs typeface="Quattrocento Sans"/>
                <a:sym typeface="Quattrocento Sans"/>
              </a:rPr>
              <a:t>&gt; nrow(iris)                       </a:t>
            </a:r>
            <a:r>
              <a:rPr b="1" i="0" lang="en-US" sz="1700" u="none" cap="none" strike="noStrike">
                <a:solidFill>
                  <a:srgbClr val="000000"/>
                </a:solidFill>
                <a:latin typeface="Quattrocento Sans"/>
                <a:ea typeface="Quattrocento Sans"/>
                <a:cs typeface="Quattrocento Sans"/>
                <a:sym typeface="Quattrocento Sans"/>
              </a:rPr>
              <a:t>[1]        150</a:t>
            </a:r>
            <a:endParaRPr/>
          </a:p>
        </p:txBody>
      </p:sp>
      <p:sp>
        <p:nvSpPr>
          <p:cNvPr id="910" name="Google Shape;910;p83"/>
          <p:cNvSpPr txBox="1"/>
          <p:nvPr/>
        </p:nvSpPr>
        <p:spPr>
          <a:xfrm>
            <a:off x="4600575" y="2082800"/>
            <a:ext cx="4187825" cy="39703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60000"/>
              </a:buClr>
              <a:buSzPts val="1800"/>
              <a:buFont typeface="Arial"/>
              <a:buNone/>
            </a:pPr>
            <a:r>
              <a:rPr b="1" i="1" lang="en-US" sz="1800" u="none">
                <a:solidFill>
                  <a:srgbClr val="060000"/>
                </a:solidFill>
                <a:latin typeface="Arial"/>
                <a:ea typeface="Arial"/>
                <a:cs typeface="Arial"/>
                <a:sym typeface="Arial"/>
              </a:rPr>
              <a:t>Для того, чтобы каждый раз при использовании ГПСЧ в R получать идентичные последовательности чисел, используется функция </a:t>
            </a:r>
            <a:r>
              <a:rPr b="1" i="1" lang="en-US" sz="1800" u="none">
                <a:solidFill>
                  <a:srgbClr val="060000"/>
                </a:solidFill>
                <a:latin typeface="Courier New"/>
                <a:ea typeface="Courier New"/>
                <a:cs typeface="Courier New"/>
                <a:sym typeface="Courier New"/>
              </a:rPr>
              <a:t>set.seed()</a:t>
            </a:r>
            <a:r>
              <a:rPr b="1" i="1" lang="en-US" sz="1800" u="none">
                <a:solidFill>
                  <a:srgbClr val="060000"/>
                </a:solidFill>
                <a:latin typeface="Arial"/>
                <a:ea typeface="Arial"/>
                <a:cs typeface="Arial"/>
                <a:sym typeface="Arial"/>
              </a:rPr>
              <a:t> (от </a:t>
            </a:r>
            <a:r>
              <a:rPr b="1" i="1" lang="en-US" sz="1800" u="none">
                <a:solidFill>
                  <a:srgbClr val="060000"/>
                </a:solidFill>
                <a:latin typeface="Courier New"/>
                <a:ea typeface="Courier New"/>
                <a:cs typeface="Courier New"/>
                <a:sym typeface="Courier New"/>
              </a:rPr>
              <a:t>set</a:t>
            </a:r>
            <a:r>
              <a:rPr b="1" i="1" lang="en-US" sz="1800" u="none">
                <a:solidFill>
                  <a:srgbClr val="060000"/>
                </a:solidFill>
                <a:latin typeface="Arial"/>
                <a:ea typeface="Arial"/>
                <a:cs typeface="Arial"/>
                <a:sym typeface="Arial"/>
              </a:rPr>
              <a:t> - задать, установить, и </a:t>
            </a:r>
            <a:r>
              <a:rPr b="1" i="1" lang="en-US" sz="1800" u="none">
                <a:solidFill>
                  <a:srgbClr val="060000"/>
                </a:solidFill>
                <a:latin typeface="Courier New"/>
                <a:ea typeface="Courier New"/>
                <a:cs typeface="Courier New"/>
                <a:sym typeface="Courier New"/>
              </a:rPr>
              <a:t>seed</a:t>
            </a:r>
            <a:r>
              <a:rPr b="1" i="1" lang="en-US" sz="1800" u="none">
                <a:solidFill>
                  <a:srgbClr val="060000"/>
                </a:solidFill>
                <a:latin typeface="Arial"/>
                <a:ea typeface="Arial"/>
                <a:cs typeface="Arial"/>
                <a:sym typeface="Arial"/>
              </a:rPr>
              <a:t> - начальное число). Эта функция фиксирует число, служащее начальной точкой для запуска алгоритма генерации (псевдо-)случайных чисел. В качестве аргумента функции указывают любое целое число (не важно, какое именно). </a:t>
            </a:r>
            <a:endParaRPr/>
          </a:p>
        </p:txBody>
      </p:sp>
      <p:sp>
        <p:nvSpPr>
          <p:cNvPr id="911" name="Google Shape;911;p83"/>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84"/>
          <p:cNvSpPr/>
          <p:nvPr/>
        </p:nvSpPr>
        <p:spPr>
          <a:xfrm>
            <a:off x="792162" y="611187"/>
            <a:ext cx="7431087" cy="1089025"/>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918" name="Google Shape;918;p84"/>
          <p:cNvSpPr/>
          <p:nvPr/>
        </p:nvSpPr>
        <p:spPr>
          <a:xfrm>
            <a:off x="188912" y="1839912"/>
            <a:ext cx="8794750" cy="4673600"/>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919" name="Google Shape;919;p84"/>
          <p:cNvSpPr txBox="1"/>
          <p:nvPr>
            <p:ph idx="4294967295" type="title"/>
          </p:nvPr>
        </p:nvSpPr>
        <p:spPr>
          <a:xfrm>
            <a:off x="920750" y="850900"/>
            <a:ext cx="7766050" cy="604837"/>
          </a:xfrm>
          <a:prstGeom prst="rect">
            <a:avLst/>
          </a:prstGeom>
          <a:noFill/>
          <a:ln>
            <a:noFill/>
          </a:ln>
        </p:spPr>
        <p:txBody>
          <a:bodyPr anchorCtr="0" anchor="ctr" bIns="45700" lIns="91425" spcFirstLastPara="1" rIns="91425" wrap="square" tIns="45700">
            <a:spAutoFit/>
          </a:bodyPr>
          <a:lstStyle/>
          <a:p>
            <a:pPr indent="0" lvl="0" marL="0" marR="0" rtl="0" algn="l">
              <a:lnSpc>
                <a:spcPct val="85000"/>
              </a:lnSpc>
              <a:spcBef>
                <a:spcPts val="0"/>
              </a:spcBef>
              <a:spcAft>
                <a:spcPts val="0"/>
              </a:spcAft>
              <a:buClr>
                <a:schemeClr val="lt2"/>
              </a:buClr>
              <a:buSzPts val="3900"/>
              <a:buFont typeface="Quattrocento Sans"/>
              <a:buNone/>
            </a:pPr>
            <a:r>
              <a:rPr b="0" i="0" lang="en-US" sz="3900" u="none" cap="none" strike="noStrike">
                <a:solidFill>
                  <a:schemeClr val="lt2"/>
                </a:solidFill>
                <a:latin typeface="Quattrocento Sans"/>
                <a:ea typeface="Quattrocento Sans"/>
                <a:cs typeface="Quattrocento Sans"/>
                <a:sym typeface="Quattrocento Sans"/>
              </a:rPr>
              <a:t>Классификация Decision Tree</a:t>
            </a:r>
            <a:endParaRPr/>
          </a:p>
        </p:txBody>
      </p:sp>
      <p:sp>
        <p:nvSpPr>
          <p:cNvPr id="920" name="Google Shape;920;p84"/>
          <p:cNvSpPr txBox="1"/>
          <p:nvPr/>
        </p:nvSpPr>
        <p:spPr>
          <a:xfrm>
            <a:off x="4803775" y="2192337"/>
            <a:ext cx="3938587" cy="39703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60000"/>
              </a:buClr>
              <a:buSzPts val="1800"/>
              <a:buFont typeface="Arial"/>
              <a:buNone/>
            </a:pPr>
            <a:r>
              <a:rPr b="1" i="0" lang="en-US" sz="1800" u="none">
                <a:solidFill>
                  <a:srgbClr val="060000"/>
                </a:solidFill>
                <a:latin typeface="Arial"/>
                <a:ea typeface="Arial"/>
                <a:cs typeface="Arial"/>
                <a:sym typeface="Arial"/>
              </a:rPr>
              <a:t>На данном шаге мы разбиваем исходные данные на две выборки обучающую и тестовую. Для этого сначала используем функцию sample(), которая вернет нам вектор значений 1 или 2, размером, равным количеству строк в исходной выборке ( за это отвечает функция nrow() ), вероятность выпадения 1 равна 70%, а 2 – 30%. Далее, используя логическое индексирование. разобьем исходные данные.</a:t>
            </a:r>
            <a:endParaRPr/>
          </a:p>
        </p:txBody>
      </p:sp>
      <p:sp>
        <p:nvSpPr>
          <p:cNvPr id="921" name="Google Shape;921;p84"/>
          <p:cNvSpPr txBox="1"/>
          <p:nvPr/>
        </p:nvSpPr>
        <p:spPr>
          <a:xfrm>
            <a:off x="446087" y="2347912"/>
            <a:ext cx="4357687" cy="3181350"/>
          </a:xfrm>
          <a:prstGeom prst="rect">
            <a:avLst/>
          </a:prstGeom>
          <a:noFill/>
          <a:ln>
            <a:noFill/>
          </a:ln>
        </p:spPr>
        <p:txBody>
          <a:bodyPr anchorCtr="0" anchor="t" bIns="45700" lIns="91425" spcFirstLastPara="1" rIns="91425" wrap="square" tIns="45700">
            <a:spAutoFit/>
          </a:bodyPr>
          <a:lstStyle/>
          <a:p>
            <a:pPr indent="-157162" lvl="0" marL="157162" marR="0" rtl="0" algn="l">
              <a:lnSpc>
                <a:spcPct val="85000"/>
              </a:lnSpc>
              <a:spcBef>
                <a:spcPts val="0"/>
              </a:spcBef>
              <a:spcAft>
                <a:spcPts val="0"/>
              </a:spcAft>
              <a:buClr>
                <a:srgbClr val="060000"/>
              </a:buClr>
              <a:buSzPts val="2400"/>
              <a:buFont typeface="Quattrocento Sans"/>
              <a:buNone/>
            </a:pPr>
            <a:r>
              <a:rPr b="0" i="1" lang="en-US" sz="2400" u="sng">
                <a:solidFill>
                  <a:srgbClr val="060000"/>
                </a:solidFill>
                <a:latin typeface="Quattrocento Sans"/>
                <a:ea typeface="Quattrocento Sans"/>
                <a:cs typeface="Quattrocento Sans"/>
                <a:sym typeface="Quattrocento Sans"/>
              </a:rPr>
              <a:t>Подготовка данных</a:t>
            </a:r>
            <a:endParaRPr/>
          </a:p>
          <a:p>
            <a:pPr indent="-157162" lvl="0" marL="157162" marR="0" rtl="0" algn="l">
              <a:lnSpc>
                <a:spcPct val="85000"/>
              </a:lnSpc>
              <a:spcBef>
                <a:spcPts val="600"/>
              </a:spcBef>
              <a:spcAft>
                <a:spcPts val="0"/>
              </a:spcAft>
              <a:buClr>
                <a:schemeClr val="lt1"/>
              </a:buClr>
              <a:buSzPts val="2400"/>
              <a:buFont typeface="Quattrocento Sans"/>
              <a:buNone/>
            </a:pPr>
            <a:r>
              <a:t/>
            </a:r>
            <a:endParaRPr b="0" i="1" sz="2400" u="sng">
              <a:solidFill>
                <a:srgbClr val="060000"/>
              </a:solidFill>
              <a:latin typeface="Quattrocento Sans"/>
              <a:ea typeface="Quattrocento Sans"/>
              <a:cs typeface="Quattrocento Sans"/>
              <a:sym typeface="Quattrocento Sans"/>
            </a:endParaRPr>
          </a:p>
          <a:p>
            <a:pPr indent="-306387" lvl="1" marL="473075" marR="0" rtl="0" algn="l">
              <a:lnSpc>
                <a:spcPct val="85000"/>
              </a:lnSpc>
              <a:spcBef>
                <a:spcPts val="425"/>
              </a:spcBef>
              <a:spcAft>
                <a:spcPts val="0"/>
              </a:spcAft>
              <a:buClr>
                <a:srgbClr val="0070C0"/>
              </a:buClr>
              <a:buSzPts val="1700"/>
              <a:buFont typeface="Quattrocento Sans"/>
              <a:buNone/>
            </a:pPr>
            <a:r>
              <a:rPr b="1" i="0" lang="en-US" sz="1700" u="none" cap="none" strike="noStrike">
                <a:solidFill>
                  <a:srgbClr val="0070C0"/>
                </a:solidFill>
                <a:latin typeface="Quattrocento Sans"/>
                <a:ea typeface="Quattrocento Sans"/>
                <a:cs typeface="Quattrocento Sans"/>
                <a:sym typeface="Quattrocento Sans"/>
              </a:rPr>
              <a:t>&gt; set.seed(1234)</a:t>
            </a:r>
            <a:endParaRPr/>
          </a:p>
          <a:p>
            <a:pPr indent="-306387" lvl="1" marL="473075" marR="0" rtl="0" algn="l">
              <a:lnSpc>
                <a:spcPct val="85000"/>
              </a:lnSpc>
              <a:spcBef>
                <a:spcPts val="425"/>
              </a:spcBef>
              <a:spcAft>
                <a:spcPts val="0"/>
              </a:spcAft>
              <a:buClr>
                <a:srgbClr val="0070C0"/>
              </a:buClr>
              <a:buSzPts val="1700"/>
              <a:buFont typeface="Quattrocento Sans"/>
              <a:buNone/>
            </a:pPr>
            <a:r>
              <a:rPr b="1" i="0" lang="en-US" sz="1700" u="none" cap="none" strike="noStrike">
                <a:solidFill>
                  <a:srgbClr val="0070C0"/>
                </a:solidFill>
                <a:latin typeface="Quattrocento Sans"/>
                <a:ea typeface="Quattrocento Sans"/>
                <a:cs typeface="Quattrocento Sans"/>
                <a:sym typeface="Quattrocento Sans"/>
              </a:rPr>
              <a:t>&gt; ind &lt;- sample(2, nrow(iris), replace=TRUE, prob=c(0.7, 0.3))</a:t>
            </a:r>
            <a:endParaRPr/>
          </a:p>
          <a:p>
            <a:pPr indent="-306387" lvl="1" marL="473075" marR="0" rtl="0" algn="l">
              <a:lnSpc>
                <a:spcPct val="85000"/>
              </a:lnSpc>
              <a:spcBef>
                <a:spcPts val="425"/>
              </a:spcBef>
              <a:spcAft>
                <a:spcPts val="0"/>
              </a:spcAft>
              <a:buClr>
                <a:srgbClr val="0070C0"/>
              </a:buClr>
              <a:buSzPts val="1700"/>
              <a:buFont typeface="Quattrocento Sans"/>
              <a:buNone/>
            </a:pPr>
            <a:r>
              <a:rPr b="1" i="0" lang="en-US" sz="1700" u="none" cap="none" strike="noStrike">
                <a:solidFill>
                  <a:srgbClr val="0070C0"/>
                </a:solidFill>
                <a:latin typeface="Quattrocento Sans"/>
                <a:ea typeface="Quattrocento Sans"/>
                <a:cs typeface="Quattrocento Sans"/>
                <a:sym typeface="Quattrocento Sans"/>
              </a:rPr>
              <a:t>&gt; trainData &lt;- iris[ind==1,]</a:t>
            </a:r>
            <a:endParaRPr/>
          </a:p>
          <a:p>
            <a:pPr indent="-306387" lvl="1" marL="473075" marR="0" rtl="0" algn="l">
              <a:lnSpc>
                <a:spcPct val="85000"/>
              </a:lnSpc>
              <a:spcBef>
                <a:spcPts val="425"/>
              </a:spcBef>
              <a:spcAft>
                <a:spcPts val="0"/>
              </a:spcAft>
              <a:buClr>
                <a:srgbClr val="0070C0"/>
              </a:buClr>
              <a:buSzPts val="1700"/>
              <a:buFont typeface="Quattrocento Sans"/>
              <a:buNone/>
            </a:pPr>
            <a:r>
              <a:rPr b="1" i="0" lang="en-US" sz="1700" u="none" cap="none" strike="noStrike">
                <a:solidFill>
                  <a:srgbClr val="0070C0"/>
                </a:solidFill>
                <a:latin typeface="Quattrocento Sans"/>
                <a:ea typeface="Quattrocento Sans"/>
                <a:cs typeface="Quattrocento Sans"/>
                <a:sym typeface="Quattrocento Sans"/>
              </a:rPr>
              <a:t>&gt; testData &lt;- iris[ind==2,]</a:t>
            </a:r>
            <a:endParaRPr/>
          </a:p>
          <a:p>
            <a:pPr indent="-306387" lvl="1" marL="473075" marR="0" rtl="0" algn="l">
              <a:lnSpc>
                <a:spcPct val="85000"/>
              </a:lnSpc>
              <a:spcBef>
                <a:spcPts val="425"/>
              </a:spcBef>
              <a:spcAft>
                <a:spcPts val="0"/>
              </a:spcAft>
              <a:buClr>
                <a:srgbClr val="0070C0"/>
              </a:buClr>
              <a:buSzPts val="1700"/>
              <a:buFont typeface="Quattrocento Sans"/>
              <a:buNone/>
            </a:pPr>
            <a:r>
              <a:rPr b="1" i="0" lang="en-US" sz="1700" u="none" cap="none" strike="noStrike">
                <a:solidFill>
                  <a:srgbClr val="0070C0"/>
                </a:solidFill>
                <a:latin typeface="Quattrocento Sans"/>
                <a:ea typeface="Quattrocento Sans"/>
                <a:cs typeface="Quattrocento Sans"/>
                <a:sym typeface="Quattrocento Sans"/>
              </a:rPr>
              <a:t>&gt; nrow(trainData)             </a:t>
            </a:r>
            <a:r>
              <a:rPr b="1" i="0" lang="en-US" sz="1700" u="none" cap="none" strike="noStrike">
                <a:solidFill>
                  <a:srgbClr val="000000"/>
                </a:solidFill>
                <a:latin typeface="Quattrocento Sans"/>
                <a:ea typeface="Quattrocento Sans"/>
                <a:cs typeface="Quattrocento Sans"/>
                <a:sym typeface="Quattrocento Sans"/>
              </a:rPr>
              <a:t>[1]       112</a:t>
            </a:r>
            <a:r>
              <a:rPr b="1" i="0" lang="en-US" sz="1700" u="none" cap="none" strike="noStrike">
                <a:solidFill>
                  <a:srgbClr val="0070C0"/>
                </a:solidFill>
                <a:latin typeface="Quattrocento Sans"/>
                <a:ea typeface="Quattrocento Sans"/>
                <a:cs typeface="Quattrocento Sans"/>
                <a:sym typeface="Quattrocento Sans"/>
              </a:rPr>
              <a:t> </a:t>
            </a:r>
            <a:endParaRPr/>
          </a:p>
          <a:p>
            <a:pPr indent="-306387" lvl="1" marL="473075" marR="0" rtl="0" algn="l">
              <a:lnSpc>
                <a:spcPct val="85000"/>
              </a:lnSpc>
              <a:spcBef>
                <a:spcPts val="425"/>
              </a:spcBef>
              <a:spcAft>
                <a:spcPts val="0"/>
              </a:spcAft>
              <a:buClr>
                <a:srgbClr val="0070C0"/>
              </a:buClr>
              <a:buSzPts val="1700"/>
              <a:buFont typeface="Quattrocento Sans"/>
              <a:buNone/>
            </a:pPr>
            <a:r>
              <a:rPr b="1" i="0" lang="en-US" sz="1700" u="none" cap="none" strike="noStrike">
                <a:solidFill>
                  <a:srgbClr val="0070C0"/>
                </a:solidFill>
                <a:latin typeface="Quattrocento Sans"/>
                <a:ea typeface="Quattrocento Sans"/>
                <a:cs typeface="Quattrocento Sans"/>
                <a:sym typeface="Quattrocento Sans"/>
              </a:rPr>
              <a:t>&gt; nrow(testData)              </a:t>
            </a:r>
            <a:r>
              <a:rPr b="1" i="0" lang="en-US" sz="1700" u="none" cap="none" strike="noStrike">
                <a:solidFill>
                  <a:srgbClr val="000000"/>
                </a:solidFill>
                <a:latin typeface="Quattrocento Sans"/>
                <a:ea typeface="Quattrocento Sans"/>
                <a:cs typeface="Quattrocento Sans"/>
                <a:sym typeface="Quattrocento Sans"/>
              </a:rPr>
              <a:t>[1]        38 </a:t>
            </a:r>
            <a:endParaRPr/>
          </a:p>
          <a:p>
            <a:pPr indent="-306387" lvl="1" marL="473075" marR="0" rtl="0" algn="l">
              <a:lnSpc>
                <a:spcPct val="85000"/>
              </a:lnSpc>
              <a:spcBef>
                <a:spcPts val="425"/>
              </a:spcBef>
              <a:spcAft>
                <a:spcPts val="0"/>
              </a:spcAft>
              <a:buClr>
                <a:srgbClr val="0070C0"/>
              </a:buClr>
              <a:buSzPts val="1700"/>
              <a:buFont typeface="Quattrocento Sans"/>
              <a:buNone/>
            </a:pPr>
            <a:r>
              <a:rPr b="1" i="0" lang="en-US" sz="1700" u="none" cap="none" strike="noStrike">
                <a:solidFill>
                  <a:srgbClr val="0070C0"/>
                </a:solidFill>
                <a:latin typeface="Quattrocento Sans"/>
                <a:ea typeface="Quattrocento Sans"/>
                <a:cs typeface="Quattrocento Sans"/>
                <a:sym typeface="Quattrocento Sans"/>
              </a:rPr>
              <a:t>&gt; nrow(iris)                       </a:t>
            </a:r>
            <a:r>
              <a:rPr b="1" i="0" lang="en-US" sz="1700" u="none" cap="none" strike="noStrike">
                <a:solidFill>
                  <a:srgbClr val="000000"/>
                </a:solidFill>
                <a:latin typeface="Quattrocento Sans"/>
                <a:ea typeface="Quattrocento Sans"/>
                <a:cs typeface="Quattrocento Sans"/>
                <a:sym typeface="Quattrocento Sans"/>
              </a:rPr>
              <a:t>[1]        150</a:t>
            </a:r>
            <a:endParaRPr/>
          </a:p>
        </p:txBody>
      </p:sp>
      <p:sp>
        <p:nvSpPr>
          <p:cNvPr id="922" name="Google Shape;922;p84"/>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85"/>
          <p:cNvSpPr/>
          <p:nvPr/>
        </p:nvSpPr>
        <p:spPr>
          <a:xfrm>
            <a:off x="895350" y="373062"/>
            <a:ext cx="7431087" cy="800100"/>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929" name="Google Shape;929;p85"/>
          <p:cNvSpPr/>
          <p:nvPr/>
        </p:nvSpPr>
        <p:spPr>
          <a:xfrm>
            <a:off x="231775" y="1328737"/>
            <a:ext cx="8737600" cy="5376862"/>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930" name="Google Shape;930;p85"/>
          <p:cNvSpPr txBox="1"/>
          <p:nvPr>
            <p:ph idx="4294967295" type="title"/>
          </p:nvPr>
        </p:nvSpPr>
        <p:spPr>
          <a:xfrm>
            <a:off x="1025525" y="528637"/>
            <a:ext cx="7170737" cy="604837"/>
          </a:xfrm>
          <a:prstGeom prst="rect">
            <a:avLst/>
          </a:prstGeom>
          <a:noFill/>
          <a:ln>
            <a:noFill/>
          </a:ln>
        </p:spPr>
        <p:txBody>
          <a:bodyPr anchorCtr="0" anchor="ctr" bIns="45700" lIns="91425" spcFirstLastPara="1" rIns="91425" wrap="square" tIns="45700">
            <a:spAutoFit/>
          </a:bodyPr>
          <a:lstStyle/>
          <a:p>
            <a:pPr indent="0" lvl="0" marL="0" marR="0" rtl="0" algn="l">
              <a:lnSpc>
                <a:spcPct val="85000"/>
              </a:lnSpc>
              <a:spcBef>
                <a:spcPts val="0"/>
              </a:spcBef>
              <a:spcAft>
                <a:spcPts val="0"/>
              </a:spcAft>
              <a:buClr>
                <a:schemeClr val="lt2"/>
              </a:buClr>
              <a:buSzPts val="3900"/>
              <a:buFont typeface="Quattrocento Sans"/>
              <a:buNone/>
            </a:pPr>
            <a:r>
              <a:rPr b="0" i="0" lang="en-US" sz="3900" u="none" cap="none" strike="noStrike">
                <a:solidFill>
                  <a:schemeClr val="lt2"/>
                </a:solidFill>
                <a:latin typeface="Quattrocento Sans"/>
                <a:ea typeface="Quattrocento Sans"/>
                <a:cs typeface="Quattrocento Sans"/>
                <a:sym typeface="Quattrocento Sans"/>
              </a:rPr>
              <a:t>Классификация Decision Tree</a:t>
            </a:r>
            <a:endParaRPr/>
          </a:p>
        </p:txBody>
      </p:sp>
      <p:sp>
        <p:nvSpPr>
          <p:cNvPr id="931" name="Google Shape;931;p85"/>
          <p:cNvSpPr txBox="1"/>
          <p:nvPr>
            <p:ph idx="4294967295" type="body"/>
          </p:nvPr>
        </p:nvSpPr>
        <p:spPr>
          <a:xfrm>
            <a:off x="487362" y="1450975"/>
            <a:ext cx="8151812" cy="1924050"/>
          </a:xfrm>
          <a:prstGeom prst="rect">
            <a:avLst/>
          </a:prstGeom>
          <a:noFill/>
          <a:ln>
            <a:noFill/>
          </a:ln>
        </p:spPr>
        <p:txBody>
          <a:bodyPr anchorCtr="0" anchor="t" bIns="45700" lIns="91425" spcFirstLastPara="1" rIns="91425" wrap="square" tIns="45700">
            <a:spAutoFit/>
          </a:bodyPr>
          <a:lstStyle/>
          <a:p>
            <a:pPr indent="-157162" lvl="0" marL="157162" marR="0" rtl="0" algn="l">
              <a:lnSpc>
                <a:spcPct val="85000"/>
              </a:lnSpc>
              <a:spcBef>
                <a:spcPts val="0"/>
              </a:spcBef>
              <a:spcAft>
                <a:spcPts val="0"/>
              </a:spcAft>
              <a:buClr>
                <a:srgbClr val="F4BE96"/>
              </a:buClr>
              <a:buSzPts val="1920"/>
              <a:buFont typeface="Quattrocento Sans"/>
              <a:buNone/>
            </a:pPr>
            <a:r>
              <a:rPr b="0" i="0" lang="en-US" sz="2400" u="none">
                <a:solidFill>
                  <a:schemeClr val="lt1"/>
                </a:solidFill>
                <a:latin typeface="Quattrocento Sans"/>
                <a:ea typeface="Quattrocento Sans"/>
                <a:cs typeface="Quattrocento Sans"/>
                <a:sym typeface="Quattrocento Sans"/>
              </a:rPr>
              <a:t>        </a:t>
            </a:r>
            <a:r>
              <a:rPr b="1" i="1" lang="en-US" sz="2400" u="sng">
                <a:solidFill>
                  <a:srgbClr val="060000"/>
                </a:solidFill>
                <a:latin typeface="Quattrocento Sans"/>
                <a:ea typeface="Quattrocento Sans"/>
                <a:cs typeface="Quattrocento Sans"/>
                <a:sym typeface="Quattrocento Sans"/>
              </a:rPr>
              <a:t>Построение модели</a:t>
            </a:r>
            <a:endParaRPr/>
          </a:p>
          <a:p>
            <a:pPr indent="-306387" lvl="1" marL="473075" marR="0" rtl="0" algn="l">
              <a:lnSpc>
                <a:spcPct val="90000"/>
              </a:lnSpc>
              <a:spcBef>
                <a:spcPts val="425"/>
              </a:spcBef>
              <a:spcAft>
                <a:spcPts val="0"/>
              </a:spcAft>
              <a:buClr>
                <a:srgbClr val="FFFFFF"/>
              </a:buClr>
              <a:buSzPts val="1275"/>
              <a:buFont typeface="Quattrocento Sans"/>
              <a:buNone/>
            </a:pPr>
            <a:r>
              <a:rPr b="1" i="0" lang="en-US" sz="1700" u="none" cap="none" strike="noStrike">
                <a:solidFill>
                  <a:srgbClr val="0070C0"/>
                </a:solidFill>
                <a:latin typeface="Quattrocento Sans"/>
                <a:ea typeface="Quattrocento Sans"/>
                <a:cs typeface="Quattrocento Sans"/>
                <a:sym typeface="Quattrocento Sans"/>
              </a:rPr>
              <a:t>&gt; install.packages("party")</a:t>
            </a:r>
            <a:endParaRPr/>
          </a:p>
          <a:p>
            <a:pPr indent="-306387" lvl="1" marL="473075" marR="0" rtl="0" algn="l">
              <a:lnSpc>
                <a:spcPct val="90000"/>
              </a:lnSpc>
              <a:spcBef>
                <a:spcPts val="425"/>
              </a:spcBef>
              <a:spcAft>
                <a:spcPts val="0"/>
              </a:spcAft>
              <a:buClr>
                <a:srgbClr val="FFFFFF"/>
              </a:buClr>
              <a:buSzPts val="1275"/>
              <a:buFont typeface="Quattrocento Sans"/>
              <a:buNone/>
            </a:pPr>
            <a:r>
              <a:rPr b="1" i="0" lang="en-US" sz="1700" u="none" cap="none" strike="noStrike">
                <a:solidFill>
                  <a:srgbClr val="0070C0"/>
                </a:solidFill>
                <a:latin typeface="Quattrocento Sans"/>
                <a:ea typeface="Quattrocento Sans"/>
                <a:cs typeface="Quattrocento Sans"/>
                <a:sym typeface="Quattrocento Sans"/>
              </a:rPr>
              <a:t>&gt; library(party)</a:t>
            </a:r>
            <a:endParaRPr/>
          </a:p>
          <a:p>
            <a:pPr indent="-306387" lvl="1" marL="473075" marR="0" rtl="0" algn="l">
              <a:lnSpc>
                <a:spcPct val="90000"/>
              </a:lnSpc>
              <a:spcBef>
                <a:spcPts val="425"/>
              </a:spcBef>
              <a:spcAft>
                <a:spcPts val="0"/>
              </a:spcAft>
              <a:buClr>
                <a:srgbClr val="FFFFFF"/>
              </a:buClr>
              <a:buSzPts val="1275"/>
              <a:buFont typeface="Quattrocento Sans"/>
              <a:buNone/>
            </a:pPr>
            <a:r>
              <a:rPr b="1" i="0" lang="en-US" sz="1700" u="none" cap="none" strike="noStrike">
                <a:solidFill>
                  <a:srgbClr val="0070C0"/>
                </a:solidFill>
                <a:latin typeface="Quattrocento Sans"/>
                <a:ea typeface="Quattrocento Sans"/>
                <a:cs typeface="Quattrocento Sans"/>
                <a:sym typeface="Quattrocento Sans"/>
              </a:rPr>
              <a:t>&gt; myFormula &lt;- Species ~ Sepal.Length + Sepal.Width + Petal.Length + Petal.Width</a:t>
            </a:r>
            <a:endParaRPr/>
          </a:p>
          <a:p>
            <a:pPr indent="-306387" lvl="1" marL="473075" marR="0" rtl="0" algn="l">
              <a:lnSpc>
                <a:spcPct val="90000"/>
              </a:lnSpc>
              <a:spcBef>
                <a:spcPts val="425"/>
              </a:spcBef>
              <a:spcAft>
                <a:spcPts val="0"/>
              </a:spcAft>
              <a:buClr>
                <a:srgbClr val="FFFFFF"/>
              </a:buClr>
              <a:buSzPts val="1275"/>
              <a:buFont typeface="Quattrocento Sans"/>
              <a:buNone/>
            </a:pPr>
            <a:r>
              <a:rPr b="1" i="0" lang="en-US" sz="1700" u="none" cap="none" strike="noStrike">
                <a:solidFill>
                  <a:srgbClr val="0070C0"/>
                </a:solidFill>
                <a:latin typeface="Quattrocento Sans"/>
                <a:ea typeface="Quattrocento Sans"/>
                <a:cs typeface="Quattrocento Sans"/>
                <a:sym typeface="Quattrocento Sans"/>
              </a:rPr>
              <a:t>&gt; iris_ctree &lt;- ctree(myFormula, data=trainData)</a:t>
            </a:r>
            <a:endParaRPr/>
          </a:p>
        </p:txBody>
      </p:sp>
      <p:sp>
        <p:nvSpPr>
          <p:cNvPr id="932" name="Google Shape;932;p85"/>
          <p:cNvSpPr txBox="1"/>
          <p:nvPr/>
        </p:nvSpPr>
        <p:spPr>
          <a:xfrm>
            <a:off x="309562" y="3375025"/>
            <a:ext cx="8659812" cy="3138487"/>
          </a:xfrm>
          <a:prstGeom prst="rect">
            <a:avLst/>
          </a:prstGeom>
          <a:noFill/>
          <a:ln>
            <a:noFill/>
          </a:ln>
        </p:spPr>
        <p:txBody>
          <a:bodyPr anchorCtr="0" anchor="t" bIns="45700" lIns="91425" spcFirstLastPara="1" rIns="91425" wrap="square" tIns="45700">
            <a:spAutoFit/>
          </a:bodyPr>
          <a:lstStyle/>
          <a:p>
            <a:pPr indent="449262" lvl="0" marL="0" marR="0" rtl="0" algn="l">
              <a:lnSpc>
                <a:spcPct val="100000"/>
              </a:lnSpc>
              <a:spcBef>
                <a:spcPts val="0"/>
              </a:spcBef>
              <a:spcAft>
                <a:spcPts val="0"/>
              </a:spcAft>
              <a:buClr>
                <a:srgbClr val="060000"/>
              </a:buClr>
              <a:buSzPts val="1800"/>
              <a:buFont typeface="Arial"/>
              <a:buNone/>
            </a:pPr>
            <a:r>
              <a:rPr b="1" i="0" lang="en-US" sz="1800" u="none">
                <a:solidFill>
                  <a:srgbClr val="060000"/>
                </a:solidFill>
                <a:latin typeface="Arial"/>
                <a:ea typeface="Arial"/>
                <a:cs typeface="Arial"/>
                <a:sym typeface="Arial"/>
              </a:rPr>
              <a:t>Для построения модели сначала задаем параметр (целевой признак), который мы хотим предсказать и от каких признаков он зависит. </a:t>
            </a:r>
            <a:endParaRPr/>
          </a:p>
          <a:p>
            <a:pPr indent="449262" lvl="0" marL="0" marR="0" rtl="0" algn="l">
              <a:lnSpc>
                <a:spcPct val="100000"/>
              </a:lnSpc>
              <a:spcBef>
                <a:spcPts val="0"/>
              </a:spcBef>
              <a:spcAft>
                <a:spcPts val="0"/>
              </a:spcAft>
              <a:buClr>
                <a:srgbClr val="060000"/>
              </a:buClr>
              <a:buSzPts val="1800"/>
              <a:buFont typeface="Arial"/>
              <a:buNone/>
            </a:pPr>
            <a:r>
              <a:rPr b="1" i="0" lang="en-US" sz="1800" u="none">
                <a:solidFill>
                  <a:srgbClr val="060000"/>
                </a:solidFill>
                <a:latin typeface="Arial"/>
                <a:ea typeface="Arial"/>
                <a:cs typeface="Arial"/>
                <a:sym typeface="Arial"/>
              </a:rPr>
              <a:t>Для этого используется оператор ~ ( тильда ). Если мы хотим добавлять признаки по одному, то используется +, если хотим показать зависимость от всех признаков сразу, то используем оператор ~. , если же нужно исключить некоторые признаки, то используем -. Например, </a:t>
            </a:r>
            <a:r>
              <a:rPr b="1" i="1" lang="en-US" sz="1800" u="none">
                <a:solidFill>
                  <a:srgbClr val="0070C0"/>
                </a:solidFill>
                <a:latin typeface="Arial"/>
                <a:ea typeface="Arial"/>
                <a:cs typeface="Arial"/>
                <a:sym typeface="Arial"/>
              </a:rPr>
              <a:t>Species ~. – Sepal.Length  </a:t>
            </a:r>
            <a:r>
              <a:rPr b="1" i="0" lang="en-US" sz="1800" u="none">
                <a:solidFill>
                  <a:srgbClr val="060000"/>
                </a:solidFill>
                <a:latin typeface="Arial"/>
                <a:ea typeface="Arial"/>
                <a:cs typeface="Arial"/>
                <a:sym typeface="Arial"/>
              </a:rPr>
              <a:t>означает, что следует предсказывать целевой признак Species по всем признакам кроме Sepal.Length.</a:t>
            </a:r>
            <a:endParaRPr/>
          </a:p>
          <a:p>
            <a:pPr indent="449262" lvl="0" marL="0" marR="0" rtl="0" algn="l">
              <a:lnSpc>
                <a:spcPct val="100000"/>
              </a:lnSpc>
              <a:spcBef>
                <a:spcPts val="0"/>
              </a:spcBef>
              <a:spcAft>
                <a:spcPts val="0"/>
              </a:spcAft>
              <a:buClr>
                <a:srgbClr val="060000"/>
              </a:buClr>
              <a:buSzPts val="1800"/>
              <a:buFont typeface="Arial"/>
              <a:buNone/>
            </a:pPr>
            <a:r>
              <a:rPr b="1" i="0" lang="en-US" sz="1800" u="none">
                <a:solidFill>
                  <a:srgbClr val="060000"/>
                </a:solidFill>
                <a:latin typeface="Arial"/>
                <a:ea typeface="Arial"/>
                <a:cs typeface="Arial"/>
                <a:sym typeface="Arial"/>
              </a:rPr>
              <a:t>Следующим шагом строим модель, используя функцию </a:t>
            </a:r>
            <a:r>
              <a:rPr b="1" i="1" lang="en-US" sz="1800" u="none">
                <a:solidFill>
                  <a:srgbClr val="060000"/>
                </a:solidFill>
                <a:latin typeface="Arial"/>
                <a:ea typeface="Arial"/>
                <a:cs typeface="Arial"/>
                <a:sym typeface="Arial"/>
              </a:rPr>
              <a:t>ctree()</a:t>
            </a:r>
            <a:r>
              <a:rPr b="1" i="0" lang="en-US" sz="1800" u="none">
                <a:solidFill>
                  <a:srgbClr val="060000"/>
                </a:solidFill>
                <a:latin typeface="Arial"/>
                <a:ea typeface="Arial"/>
                <a:cs typeface="Arial"/>
                <a:sym typeface="Arial"/>
              </a:rPr>
              <a:t>, передав ей в качестве параметра нашу формулу и выборку для обучения модели  (в нашем случае  это trainData ).</a:t>
            </a:r>
            <a:endParaRPr/>
          </a:p>
        </p:txBody>
      </p:sp>
      <p:sp>
        <p:nvSpPr>
          <p:cNvPr id="933" name="Google Shape;933;p85"/>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86"/>
          <p:cNvSpPr/>
          <p:nvPr/>
        </p:nvSpPr>
        <p:spPr>
          <a:xfrm>
            <a:off x="792162" y="611187"/>
            <a:ext cx="7431087" cy="990600"/>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940" name="Google Shape;940;p86"/>
          <p:cNvSpPr/>
          <p:nvPr/>
        </p:nvSpPr>
        <p:spPr>
          <a:xfrm>
            <a:off x="344487" y="1719262"/>
            <a:ext cx="8391525" cy="4846637"/>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941" name="Google Shape;941;p86"/>
          <p:cNvSpPr txBox="1"/>
          <p:nvPr>
            <p:ph idx="4294967295" type="title"/>
          </p:nvPr>
        </p:nvSpPr>
        <p:spPr>
          <a:xfrm>
            <a:off x="969962" y="862012"/>
            <a:ext cx="7089775" cy="604837"/>
          </a:xfrm>
          <a:prstGeom prst="rect">
            <a:avLst/>
          </a:prstGeom>
          <a:noFill/>
          <a:ln>
            <a:noFill/>
          </a:ln>
        </p:spPr>
        <p:txBody>
          <a:bodyPr anchorCtr="0" anchor="ctr" bIns="45700" lIns="91425" spcFirstLastPara="1" rIns="91425" wrap="square" tIns="45700">
            <a:spAutoFit/>
          </a:bodyPr>
          <a:lstStyle/>
          <a:p>
            <a:pPr indent="0" lvl="0" marL="0" marR="0" rtl="0" algn="l">
              <a:lnSpc>
                <a:spcPct val="85000"/>
              </a:lnSpc>
              <a:spcBef>
                <a:spcPts val="0"/>
              </a:spcBef>
              <a:spcAft>
                <a:spcPts val="0"/>
              </a:spcAft>
              <a:buClr>
                <a:schemeClr val="lt2"/>
              </a:buClr>
              <a:buSzPts val="3900"/>
              <a:buFont typeface="Quattrocento Sans"/>
              <a:buNone/>
            </a:pPr>
            <a:r>
              <a:rPr b="0" i="0" lang="en-US" sz="3900" u="none" cap="none" strike="noStrike">
                <a:solidFill>
                  <a:schemeClr val="lt2"/>
                </a:solidFill>
                <a:latin typeface="Quattrocento Sans"/>
                <a:ea typeface="Quattrocento Sans"/>
                <a:cs typeface="Quattrocento Sans"/>
                <a:sym typeface="Quattrocento Sans"/>
              </a:rPr>
              <a:t>Классификация Decision Tree</a:t>
            </a:r>
            <a:endParaRPr/>
          </a:p>
        </p:txBody>
      </p:sp>
      <p:sp>
        <p:nvSpPr>
          <p:cNvPr id="942" name="Google Shape;942;p86"/>
          <p:cNvSpPr txBox="1"/>
          <p:nvPr>
            <p:ph idx="4294967295" type="body"/>
          </p:nvPr>
        </p:nvSpPr>
        <p:spPr>
          <a:xfrm>
            <a:off x="600075" y="1892300"/>
            <a:ext cx="5573712" cy="1924050"/>
          </a:xfrm>
          <a:prstGeom prst="rect">
            <a:avLst/>
          </a:prstGeom>
          <a:noFill/>
          <a:ln>
            <a:noFill/>
          </a:ln>
        </p:spPr>
        <p:txBody>
          <a:bodyPr anchorCtr="0" anchor="t" bIns="45700" lIns="91425" spcFirstLastPara="1" rIns="91425" wrap="square" tIns="45700">
            <a:spAutoFit/>
          </a:bodyPr>
          <a:lstStyle/>
          <a:p>
            <a:pPr indent="-157162" lvl="0" marL="157162" marR="0" rtl="0" algn="l">
              <a:lnSpc>
                <a:spcPct val="85000"/>
              </a:lnSpc>
              <a:spcBef>
                <a:spcPts val="0"/>
              </a:spcBef>
              <a:spcAft>
                <a:spcPts val="0"/>
              </a:spcAft>
              <a:buClr>
                <a:srgbClr val="F4BE96"/>
              </a:buClr>
              <a:buSzPts val="1920"/>
              <a:buFont typeface="Quattrocento Sans"/>
              <a:buNone/>
            </a:pPr>
            <a:r>
              <a:rPr b="0" i="1" lang="en-US" sz="2400" u="sng">
                <a:solidFill>
                  <a:srgbClr val="060000"/>
                </a:solidFill>
                <a:latin typeface="Quattrocento Sans"/>
                <a:ea typeface="Quattrocento Sans"/>
                <a:cs typeface="Quattrocento Sans"/>
                <a:sym typeface="Quattrocento Sans"/>
              </a:rPr>
              <a:t>Применение модели</a:t>
            </a:r>
            <a:endParaRPr/>
          </a:p>
          <a:p>
            <a:pPr indent="-306387" lvl="1" marL="473075" marR="0" rtl="0" algn="l">
              <a:lnSpc>
                <a:spcPct val="85000"/>
              </a:lnSpc>
              <a:spcBef>
                <a:spcPts val="425"/>
              </a:spcBef>
              <a:spcAft>
                <a:spcPts val="0"/>
              </a:spcAft>
              <a:buClr>
                <a:srgbClr val="FFFFFF"/>
              </a:buClr>
              <a:buSzPts val="1275"/>
              <a:buFont typeface="Quattrocento Sans"/>
              <a:buNone/>
            </a:pPr>
            <a:r>
              <a:rPr b="1" i="0" lang="en-US" sz="1700" u="none" cap="none" strike="noStrike">
                <a:solidFill>
                  <a:srgbClr val="0070C0"/>
                </a:solidFill>
                <a:latin typeface="Quattrocento Sans"/>
                <a:ea typeface="Quattrocento Sans"/>
                <a:cs typeface="Quattrocento Sans"/>
                <a:sym typeface="Quattrocento Sans"/>
              </a:rPr>
              <a:t>&gt; table(predict(iris_ctree), trainData$Species)</a:t>
            </a:r>
            <a:endParaRPr/>
          </a:p>
          <a:p>
            <a:pPr indent="-306387" lvl="1" marL="473075" marR="0" rtl="0" algn="l">
              <a:lnSpc>
                <a:spcPct val="85000"/>
              </a:lnSpc>
              <a:spcBef>
                <a:spcPts val="425"/>
              </a:spcBef>
              <a:spcAft>
                <a:spcPts val="0"/>
              </a:spcAft>
              <a:buClr>
                <a:srgbClr val="FFFFFF"/>
              </a:buClr>
              <a:buSzPts val="1275"/>
              <a:buFont typeface="Quattrocento Sans"/>
              <a:buNone/>
            </a:pPr>
            <a:r>
              <a:rPr b="1" i="0" lang="en-US" sz="1700" u="none" cap="none" strike="noStrike">
                <a:solidFill>
                  <a:schemeClr val="hlink"/>
                </a:solidFill>
                <a:latin typeface="Droid Sans Mono"/>
                <a:ea typeface="Droid Sans Mono"/>
                <a:cs typeface="Droid Sans Mono"/>
                <a:sym typeface="Droid Sans Mono"/>
              </a:rPr>
              <a:t>         </a:t>
            </a:r>
            <a:r>
              <a:rPr b="1" i="0" lang="en-US" sz="1700" u="none" cap="none" strike="noStrike">
                <a:solidFill>
                  <a:srgbClr val="060000"/>
                </a:solidFill>
                <a:latin typeface="Droid Sans Mono"/>
                <a:ea typeface="Droid Sans Mono"/>
                <a:cs typeface="Droid Sans Mono"/>
                <a:sym typeface="Droid Sans Mono"/>
              </a:rPr>
              <a:t>setosa versicolor virginica </a:t>
            </a:r>
            <a:endParaRPr/>
          </a:p>
          <a:p>
            <a:pPr indent="-306387" lvl="1" marL="473075" marR="0" rtl="0" algn="l">
              <a:lnSpc>
                <a:spcPct val="85000"/>
              </a:lnSpc>
              <a:spcBef>
                <a:spcPts val="425"/>
              </a:spcBef>
              <a:spcAft>
                <a:spcPts val="0"/>
              </a:spcAft>
              <a:buClr>
                <a:srgbClr val="FFFFFF"/>
              </a:buClr>
              <a:buSzPts val="1275"/>
              <a:buFont typeface="Quattrocento Sans"/>
              <a:buNone/>
            </a:pPr>
            <a:r>
              <a:rPr b="1" i="0" lang="en-US" sz="1700" u="none" cap="none" strike="noStrike">
                <a:solidFill>
                  <a:srgbClr val="060000"/>
                </a:solidFill>
                <a:latin typeface="Droid Sans Mono"/>
                <a:ea typeface="Droid Sans Mono"/>
                <a:cs typeface="Droid Sans Mono"/>
                <a:sym typeface="Droid Sans Mono"/>
              </a:rPr>
              <a:t>setosa     40       0          0 </a:t>
            </a:r>
            <a:endParaRPr/>
          </a:p>
          <a:p>
            <a:pPr indent="-306387" lvl="1" marL="473075" marR="0" rtl="0" algn="l">
              <a:lnSpc>
                <a:spcPct val="85000"/>
              </a:lnSpc>
              <a:spcBef>
                <a:spcPts val="425"/>
              </a:spcBef>
              <a:spcAft>
                <a:spcPts val="0"/>
              </a:spcAft>
              <a:buClr>
                <a:srgbClr val="FFFFFF"/>
              </a:buClr>
              <a:buSzPts val="1275"/>
              <a:buFont typeface="Quattrocento Sans"/>
              <a:buNone/>
            </a:pPr>
            <a:r>
              <a:rPr b="1" i="0" lang="en-US" sz="1700" u="none" cap="none" strike="noStrike">
                <a:solidFill>
                  <a:srgbClr val="060000"/>
                </a:solidFill>
                <a:latin typeface="Droid Sans Mono"/>
                <a:ea typeface="Droid Sans Mono"/>
                <a:cs typeface="Droid Sans Mono"/>
                <a:sym typeface="Droid Sans Mono"/>
              </a:rPr>
              <a:t>versicolor 0        37         3 </a:t>
            </a:r>
            <a:endParaRPr/>
          </a:p>
          <a:p>
            <a:pPr indent="-306387" lvl="1" marL="473075" marR="0" rtl="0" algn="l">
              <a:lnSpc>
                <a:spcPct val="85000"/>
              </a:lnSpc>
              <a:spcBef>
                <a:spcPts val="425"/>
              </a:spcBef>
              <a:spcAft>
                <a:spcPts val="0"/>
              </a:spcAft>
              <a:buClr>
                <a:srgbClr val="FFFFFF"/>
              </a:buClr>
              <a:buSzPts val="1275"/>
              <a:buFont typeface="Quattrocento Sans"/>
              <a:buNone/>
            </a:pPr>
            <a:r>
              <a:rPr b="1" i="0" lang="en-US" sz="1700" u="none" cap="none" strike="noStrike">
                <a:solidFill>
                  <a:srgbClr val="060000"/>
                </a:solidFill>
                <a:latin typeface="Droid Sans Mono"/>
                <a:ea typeface="Droid Sans Mono"/>
                <a:cs typeface="Droid Sans Mono"/>
                <a:sym typeface="Droid Sans Mono"/>
              </a:rPr>
              <a:t>virginica  0        1          31</a:t>
            </a:r>
            <a:endParaRPr/>
          </a:p>
        </p:txBody>
      </p:sp>
      <p:sp>
        <p:nvSpPr>
          <p:cNvPr id="943" name="Google Shape;943;p86"/>
          <p:cNvSpPr txBox="1"/>
          <p:nvPr/>
        </p:nvSpPr>
        <p:spPr>
          <a:xfrm>
            <a:off x="600075" y="3816350"/>
            <a:ext cx="8135937" cy="22463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60000"/>
              </a:buClr>
              <a:buSzPts val="2000"/>
              <a:buFont typeface="Arial"/>
              <a:buNone/>
            </a:pPr>
            <a:r>
              <a:rPr b="0" i="0" lang="en-US" sz="2000" u="none">
                <a:solidFill>
                  <a:srgbClr val="060000"/>
                </a:solidFill>
                <a:latin typeface="Arial"/>
                <a:ea typeface="Arial"/>
                <a:cs typeface="Arial"/>
                <a:sym typeface="Arial"/>
              </a:rPr>
              <a:t>Для применения модели используется функция predict(). По умолчанию функция predict() применяется к данным, которые использовались для построения/обучения модели. Далее строится так называемая </a:t>
            </a:r>
            <a:r>
              <a:rPr b="0" i="1" lang="en-US" sz="2000" u="none">
                <a:solidFill>
                  <a:srgbClr val="060000"/>
                </a:solidFill>
                <a:latin typeface="Arial"/>
                <a:ea typeface="Arial"/>
                <a:cs typeface="Arial"/>
                <a:sym typeface="Arial"/>
              </a:rPr>
              <a:t>Confusion Matrix</a:t>
            </a:r>
            <a:r>
              <a:rPr b="0" i="0" lang="en-US" sz="2000" u="none">
                <a:solidFill>
                  <a:srgbClr val="060000"/>
                </a:solidFill>
                <a:latin typeface="Arial"/>
                <a:ea typeface="Arial"/>
                <a:cs typeface="Arial"/>
                <a:sym typeface="Arial"/>
              </a:rPr>
              <a:t> (матрица ошибок или путаницы, если переводить дословно). </a:t>
            </a:r>
            <a:endParaRPr/>
          </a:p>
          <a:p>
            <a:pPr indent="0" lvl="0" marL="0" marR="0" rtl="0" algn="l">
              <a:lnSpc>
                <a:spcPct val="100000"/>
              </a:lnSpc>
              <a:spcBef>
                <a:spcPts val="0"/>
              </a:spcBef>
              <a:spcAft>
                <a:spcPts val="0"/>
              </a:spcAft>
              <a:buClr>
                <a:srgbClr val="060000"/>
              </a:buClr>
              <a:buSzPts val="2000"/>
              <a:buFont typeface="Arial"/>
              <a:buNone/>
            </a:pPr>
            <a:r>
              <a:rPr b="0" i="0" lang="en-US" sz="2000" u="none">
                <a:solidFill>
                  <a:srgbClr val="060000"/>
                </a:solidFill>
                <a:latin typeface="Arial"/>
                <a:ea typeface="Arial"/>
                <a:cs typeface="Arial"/>
                <a:sym typeface="Arial"/>
              </a:rPr>
              <a:t>Читать данную таблицу следует так, например, при предсказанном значении versicolor, 3 объекта попали в класс virginica.</a:t>
            </a:r>
            <a:endParaRPr/>
          </a:p>
        </p:txBody>
      </p:sp>
      <p:sp>
        <p:nvSpPr>
          <p:cNvPr id="944" name="Google Shape;944;p86"/>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87"/>
          <p:cNvSpPr/>
          <p:nvPr/>
        </p:nvSpPr>
        <p:spPr>
          <a:xfrm>
            <a:off x="792162" y="611187"/>
            <a:ext cx="7431087" cy="1089025"/>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951" name="Google Shape;951;p87"/>
          <p:cNvSpPr/>
          <p:nvPr/>
        </p:nvSpPr>
        <p:spPr>
          <a:xfrm>
            <a:off x="344487" y="1839912"/>
            <a:ext cx="8494712" cy="4633912"/>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952" name="Google Shape;952;p87"/>
          <p:cNvSpPr txBox="1"/>
          <p:nvPr/>
        </p:nvSpPr>
        <p:spPr>
          <a:xfrm>
            <a:off x="969962" y="862012"/>
            <a:ext cx="7089775" cy="604837"/>
          </a:xfrm>
          <a:prstGeom prst="rect">
            <a:avLst/>
          </a:prstGeom>
          <a:noFill/>
          <a:ln>
            <a:noFill/>
          </a:ln>
        </p:spPr>
        <p:txBody>
          <a:bodyPr anchorCtr="0" anchor="ctr" bIns="45700" lIns="91425" spcFirstLastPara="1" rIns="91425" wrap="square" tIns="45700">
            <a:spAutoFit/>
          </a:bodyPr>
          <a:lstStyle/>
          <a:p>
            <a:pPr indent="0" lvl="0" marL="0" marR="0" rtl="0" algn="l">
              <a:lnSpc>
                <a:spcPct val="85000"/>
              </a:lnSpc>
              <a:spcBef>
                <a:spcPts val="0"/>
              </a:spcBef>
              <a:spcAft>
                <a:spcPts val="0"/>
              </a:spcAft>
              <a:buClr>
                <a:schemeClr val="lt2"/>
              </a:buClr>
              <a:buSzPts val="3900"/>
              <a:buFont typeface="Quattrocento Sans"/>
              <a:buNone/>
            </a:pPr>
            <a:r>
              <a:rPr b="0" i="0" lang="en-US" sz="3900" u="none">
                <a:solidFill>
                  <a:schemeClr val="lt2"/>
                </a:solidFill>
                <a:latin typeface="Quattrocento Sans"/>
                <a:ea typeface="Quattrocento Sans"/>
                <a:cs typeface="Quattrocento Sans"/>
                <a:sym typeface="Quattrocento Sans"/>
              </a:rPr>
              <a:t>Классификация Decision Tree</a:t>
            </a:r>
            <a:endParaRPr/>
          </a:p>
        </p:txBody>
      </p:sp>
      <p:pic>
        <p:nvPicPr>
          <p:cNvPr id="953" name="Google Shape;953;p87"/>
          <p:cNvPicPr preferRelativeResize="0"/>
          <p:nvPr/>
        </p:nvPicPr>
        <p:blipFill rotWithShape="1">
          <a:blip r:embed="rId3">
            <a:alphaModFix/>
          </a:blip>
          <a:srcRect b="0" l="0" r="0" t="0"/>
          <a:stretch/>
        </p:blipFill>
        <p:spPr>
          <a:xfrm>
            <a:off x="1125537" y="2071687"/>
            <a:ext cx="7559675" cy="4016375"/>
          </a:xfrm>
          <a:prstGeom prst="rect">
            <a:avLst/>
          </a:prstGeom>
          <a:noFill/>
          <a:ln>
            <a:noFill/>
          </a:ln>
        </p:spPr>
      </p:pic>
      <p:sp>
        <p:nvSpPr>
          <p:cNvPr id="954" name="Google Shape;954;p87"/>
          <p:cNvSpPr txBox="1"/>
          <p:nvPr>
            <p:ph idx="4294967295" type="body"/>
          </p:nvPr>
        </p:nvSpPr>
        <p:spPr>
          <a:xfrm>
            <a:off x="407987" y="2276475"/>
            <a:ext cx="2306637" cy="1019175"/>
          </a:xfrm>
          <a:prstGeom prst="rect">
            <a:avLst/>
          </a:prstGeom>
          <a:noFill/>
          <a:ln>
            <a:noFill/>
          </a:ln>
        </p:spPr>
        <p:txBody>
          <a:bodyPr anchorCtr="0" anchor="t" bIns="45700" lIns="91425" spcFirstLastPara="1" rIns="91425" wrap="square" tIns="45700">
            <a:spAutoFit/>
          </a:bodyPr>
          <a:lstStyle/>
          <a:p>
            <a:pPr indent="-157162" lvl="0" marL="157162" marR="0" rtl="0" algn="l">
              <a:lnSpc>
                <a:spcPct val="85000"/>
              </a:lnSpc>
              <a:spcBef>
                <a:spcPts val="0"/>
              </a:spcBef>
              <a:spcAft>
                <a:spcPts val="0"/>
              </a:spcAft>
              <a:buClr>
                <a:srgbClr val="F4BE96"/>
              </a:buClr>
              <a:buSzPts val="1920"/>
              <a:buFont typeface="Quattrocento Sans"/>
              <a:buNone/>
            </a:pPr>
            <a:r>
              <a:rPr b="0" i="1" lang="en-US" sz="2400" u="sng">
                <a:solidFill>
                  <a:srgbClr val="060000"/>
                </a:solidFill>
                <a:latin typeface="Quattrocento Sans"/>
                <a:ea typeface="Quattrocento Sans"/>
                <a:cs typeface="Quattrocento Sans"/>
                <a:sym typeface="Quattrocento Sans"/>
              </a:rPr>
              <a:t>Визуализация</a:t>
            </a:r>
            <a:endParaRPr/>
          </a:p>
          <a:p>
            <a:pPr indent="-306387" lvl="1" marL="473075" marR="0" rtl="0" algn="l">
              <a:lnSpc>
                <a:spcPct val="85000"/>
              </a:lnSpc>
              <a:spcBef>
                <a:spcPts val="425"/>
              </a:spcBef>
              <a:spcAft>
                <a:spcPts val="0"/>
              </a:spcAft>
              <a:buClr>
                <a:srgbClr val="FFFFFF"/>
              </a:buClr>
              <a:buSzPts val="1275"/>
              <a:buFont typeface="Quattrocento Sans"/>
              <a:buNone/>
            </a:pPr>
            <a:r>
              <a:rPr b="0" i="0" lang="en-US" sz="1700" u="none" cap="none" strike="noStrike">
                <a:solidFill>
                  <a:srgbClr val="060000"/>
                </a:solidFill>
                <a:latin typeface="Quattrocento Sans"/>
                <a:ea typeface="Quattrocento Sans"/>
                <a:cs typeface="Quattrocento Sans"/>
                <a:sym typeface="Quattrocento Sans"/>
              </a:rPr>
              <a:t>&gt;dev.off()</a:t>
            </a:r>
            <a:endParaRPr/>
          </a:p>
          <a:p>
            <a:pPr indent="-306387" lvl="1" marL="473075" marR="0" rtl="0" algn="l">
              <a:lnSpc>
                <a:spcPct val="85000"/>
              </a:lnSpc>
              <a:spcBef>
                <a:spcPts val="425"/>
              </a:spcBef>
              <a:spcAft>
                <a:spcPts val="0"/>
              </a:spcAft>
              <a:buClr>
                <a:srgbClr val="FFFFFF"/>
              </a:buClr>
              <a:buSzPts val="1275"/>
              <a:buFont typeface="Quattrocento Sans"/>
              <a:buNone/>
            </a:pPr>
            <a:r>
              <a:rPr b="0" i="0" lang="en-US" sz="1700" u="none" cap="none" strike="noStrike">
                <a:solidFill>
                  <a:srgbClr val="060000"/>
                </a:solidFill>
                <a:latin typeface="Quattrocento Sans"/>
                <a:ea typeface="Quattrocento Sans"/>
                <a:cs typeface="Quattrocento Sans"/>
                <a:sym typeface="Quattrocento Sans"/>
              </a:rPr>
              <a:t>&gt; plot(iris_ctree)</a:t>
            </a:r>
            <a:endParaRPr/>
          </a:p>
        </p:txBody>
      </p:sp>
      <p:sp>
        <p:nvSpPr>
          <p:cNvPr id="955" name="Google Shape;955;p87"/>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88"/>
          <p:cNvSpPr/>
          <p:nvPr/>
        </p:nvSpPr>
        <p:spPr>
          <a:xfrm>
            <a:off x="792162" y="611187"/>
            <a:ext cx="7431087" cy="1089025"/>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962" name="Google Shape;962;p88"/>
          <p:cNvSpPr/>
          <p:nvPr/>
        </p:nvSpPr>
        <p:spPr>
          <a:xfrm>
            <a:off x="344487" y="1839912"/>
            <a:ext cx="8494712" cy="4633912"/>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963" name="Google Shape;963;p88"/>
          <p:cNvSpPr txBox="1"/>
          <p:nvPr/>
        </p:nvSpPr>
        <p:spPr>
          <a:xfrm>
            <a:off x="969962" y="862012"/>
            <a:ext cx="7089775" cy="604837"/>
          </a:xfrm>
          <a:prstGeom prst="rect">
            <a:avLst/>
          </a:prstGeom>
          <a:noFill/>
          <a:ln>
            <a:noFill/>
          </a:ln>
        </p:spPr>
        <p:txBody>
          <a:bodyPr anchorCtr="0" anchor="ctr" bIns="45700" lIns="91425" spcFirstLastPara="1" rIns="91425" wrap="square" tIns="45700">
            <a:spAutoFit/>
          </a:bodyPr>
          <a:lstStyle/>
          <a:p>
            <a:pPr indent="0" lvl="0" marL="0" marR="0" rtl="0" algn="l">
              <a:lnSpc>
                <a:spcPct val="85000"/>
              </a:lnSpc>
              <a:spcBef>
                <a:spcPts val="0"/>
              </a:spcBef>
              <a:spcAft>
                <a:spcPts val="0"/>
              </a:spcAft>
              <a:buClr>
                <a:schemeClr val="lt2"/>
              </a:buClr>
              <a:buSzPts val="3900"/>
              <a:buFont typeface="Quattrocento Sans"/>
              <a:buNone/>
            </a:pPr>
            <a:r>
              <a:rPr b="0" i="0" lang="en-US" sz="3900" u="none">
                <a:solidFill>
                  <a:schemeClr val="lt2"/>
                </a:solidFill>
                <a:latin typeface="Quattrocento Sans"/>
                <a:ea typeface="Quattrocento Sans"/>
                <a:cs typeface="Quattrocento Sans"/>
                <a:sym typeface="Quattrocento Sans"/>
              </a:rPr>
              <a:t>Классификация Decision Tree</a:t>
            </a:r>
            <a:endParaRPr/>
          </a:p>
        </p:txBody>
      </p:sp>
      <p:sp>
        <p:nvSpPr>
          <p:cNvPr id="964" name="Google Shape;964;p88"/>
          <p:cNvSpPr txBox="1"/>
          <p:nvPr>
            <p:ph idx="4294967295" type="body"/>
          </p:nvPr>
        </p:nvSpPr>
        <p:spPr>
          <a:xfrm>
            <a:off x="665162" y="1984375"/>
            <a:ext cx="2306637" cy="417512"/>
          </a:xfrm>
          <a:prstGeom prst="rect">
            <a:avLst/>
          </a:prstGeom>
          <a:noFill/>
          <a:ln>
            <a:noFill/>
          </a:ln>
        </p:spPr>
        <p:txBody>
          <a:bodyPr anchorCtr="0" anchor="t" bIns="45700" lIns="91425" spcFirstLastPara="1" rIns="91425" wrap="square" tIns="45700">
            <a:spAutoFit/>
          </a:bodyPr>
          <a:lstStyle/>
          <a:p>
            <a:pPr indent="-157162" lvl="0" marL="157162" marR="0" rtl="0" algn="l">
              <a:lnSpc>
                <a:spcPct val="85000"/>
              </a:lnSpc>
              <a:spcBef>
                <a:spcPts val="0"/>
              </a:spcBef>
              <a:spcAft>
                <a:spcPts val="0"/>
              </a:spcAft>
              <a:buClr>
                <a:srgbClr val="F4BE96"/>
              </a:buClr>
              <a:buSzPts val="1920"/>
              <a:buFont typeface="Quattrocento Sans"/>
              <a:buNone/>
            </a:pPr>
            <a:r>
              <a:rPr b="0" i="1" lang="en-US" sz="2400" u="sng">
                <a:solidFill>
                  <a:srgbClr val="060000"/>
                </a:solidFill>
                <a:latin typeface="Quattrocento Sans"/>
                <a:ea typeface="Quattrocento Sans"/>
                <a:cs typeface="Quattrocento Sans"/>
                <a:sym typeface="Quattrocento Sans"/>
              </a:rPr>
              <a:t>Трактовка</a:t>
            </a:r>
            <a:endParaRPr/>
          </a:p>
        </p:txBody>
      </p:sp>
      <p:sp>
        <p:nvSpPr>
          <p:cNvPr id="965" name="Google Shape;965;p88"/>
          <p:cNvSpPr txBox="1"/>
          <p:nvPr/>
        </p:nvSpPr>
        <p:spPr>
          <a:xfrm>
            <a:off x="3292475" y="1984375"/>
            <a:ext cx="4689475" cy="550862"/>
          </a:xfrm>
          <a:prstGeom prst="rect">
            <a:avLst/>
          </a:prstGeom>
          <a:solidFill>
            <a:srgbClr val="F5F5F5"/>
          </a:solidFill>
          <a:ln>
            <a:noFill/>
          </a:ln>
        </p:spPr>
        <p:txBody>
          <a:bodyPr anchorCtr="0" anchor="ctr" bIns="88850" lIns="0" spcFirstLastPara="1" rIns="0" wrap="square" tIns="0">
            <a:spAutoFit/>
          </a:bodyPr>
          <a:lstStyle/>
          <a:p>
            <a:pPr indent="0" lvl="0" marL="0" marR="0" rtl="0" algn="l">
              <a:lnSpc>
                <a:spcPct val="100000"/>
              </a:lnSpc>
              <a:spcBef>
                <a:spcPts val="0"/>
              </a:spcBef>
              <a:spcAft>
                <a:spcPts val="0"/>
              </a:spcAft>
              <a:buClr>
                <a:srgbClr val="000000"/>
              </a:buClr>
              <a:buSzPts val="1000"/>
              <a:buFont typeface="Courier New"/>
              <a:buNone/>
            </a:pPr>
            <a:r>
              <a:rPr b="0" i="0" lang="en-US" sz="1000" u="none">
                <a:solidFill>
                  <a:srgbClr val="000000"/>
                </a:solidFill>
                <a:latin typeface="Courier New"/>
                <a:ea typeface="Courier New"/>
                <a:cs typeface="Courier New"/>
                <a:sym typeface="Courier New"/>
              </a:rPr>
              <a:t>tree1</a:t>
            </a:r>
            <a:r>
              <a:rPr b="0" i="0" lang="en-US" sz="1000" u="none">
                <a:solidFill>
                  <a:srgbClr val="687687"/>
                </a:solidFill>
                <a:latin typeface="Courier New"/>
                <a:ea typeface="Courier New"/>
                <a:cs typeface="Courier New"/>
                <a:sym typeface="Courier New"/>
              </a:rPr>
              <a:t>&lt;-</a:t>
            </a:r>
            <a:r>
              <a:rPr b="0" i="0" lang="en-US" sz="1000" u="none">
                <a:solidFill>
                  <a:srgbClr val="000000"/>
                </a:solidFill>
                <a:latin typeface="Courier New"/>
                <a:ea typeface="Courier New"/>
                <a:cs typeface="Courier New"/>
                <a:sym typeface="Courier New"/>
              </a:rPr>
              <a:t>ctree</a:t>
            </a:r>
            <a:r>
              <a:rPr b="0" i="0" lang="en-US" sz="1000" u="none">
                <a:solidFill>
                  <a:srgbClr val="687687"/>
                </a:solidFill>
                <a:latin typeface="Courier New"/>
                <a:ea typeface="Courier New"/>
                <a:cs typeface="Courier New"/>
                <a:sym typeface="Courier New"/>
              </a:rPr>
              <a:t>(</a:t>
            </a:r>
            <a:r>
              <a:rPr b="0" i="0" lang="en-US" sz="1000" u="none">
                <a:solidFill>
                  <a:srgbClr val="000000"/>
                </a:solidFill>
                <a:latin typeface="Courier New"/>
                <a:ea typeface="Courier New"/>
                <a:cs typeface="Courier New"/>
                <a:sym typeface="Courier New"/>
              </a:rPr>
              <a:t>class</a:t>
            </a:r>
            <a:r>
              <a:rPr b="0" i="0" lang="en-US" sz="1000" u="none">
                <a:solidFill>
                  <a:srgbClr val="687687"/>
                </a:solidFill>
                <a:latin typeface="Courier New"/>
                <a:ea typeface="Courier New"/>
                <a:cs typeface="Courier New"/>
                <a:sym typeface="Courier New"/>
              </a:rPr>
              <a:t>~</a:t>
            </a:r>
            <a:r>
              <a:rPr b="0" i="0" lang="en-US" sz="1000" u="none">
                <a:solidFill>
                  <a:srgbClr val="000000"/>
                </a:solidFill>
                <a:latin typeface="Courier New"/>
                <a:ea typeface="Courier New"/>
                <a:cs typeface="Courier New"/>
                <a:sym typeface="Courier New"/>
              </a:rPr>
              <a:t>sepal.length</a:t>
            </a:r>
            <a:r>
              <a:rPr b="0" i="0" lang="en-US" sz="1000" u="none">
                <a:solidFill>
                  <a:srgbClr val="333333"/>
                </a:solidFill>
                <a:latin typeface="Courier New"/>
                <a:ea typeface="Courier New"/>
                <a:cs typeface="Courier New"/>
                <a:sym typeface="Courier New"/>
              </a:rPr>
              <a:t>, </a:t>
            </a:r>
            <a:r>
              <a:rPr b="0" i="0" lang="en-US" sz="1000" u="none">
                <a:solidFill>
                  <a:srgbClr val="000000"/>
                </a:solidFill>
                <a:latin typeface="Courier New"/>
                <a:ea typeface="Courier New"/>
                <a:cs typeface="Courier New"/>
                <a:sym typeface="Courier New"/>
              </a:rPr>
              <a:t>data</a:t>
            </a:r>
            <a:r>
              <a:rPr b="0" i="0" lang="en-US" sz="1000" u="none">
                <a:solidFill>
                  <a:srgbClr val="687687"/>
                </a:solidFill>
                <a:latin typeface="Courier New"/>
                <a:ea typeface="Courier New"/>
                <a:cs typeface="Courier New"/>
                <a:sym typeface="Courier New"/>
              </a:rPr>
              <a:t>=</a:t>
            </a:r>
            <a:r>
              <a:rPr b="0" i="0" lang="en-US" sz="1000" u="none">
                <a:solidFill>
                  <a:srgbClr val="000000"/>
                </a:solidFill>
                <a:latin typeface="Courier New"/>
                <a:ea typeface="Courier New"/>
                <a:cs typeface="Courier New"/>
                <a:sym typeface="Courier New"/>
              </a:rPr>
              <a:t>iris</a:t>
            </a:r>
            <a:r>
              <a:rPr b="0" i="0" lang="en-US" sz="1000" u="none">
                <a:solidFill>
                  <a:srgbClr val="687687"/>
                </a:solidFill>
                <a:latin typeface="Courier New"/>
                <a:ea typeface="Courier New"/>
                <a:cs typeface="Courier New"/>
                <a:sym typeface="Courier New"/>
              </a:rPr>
              <a:t>)</a:t>
            </a:r>
            <a:r>
              <a:rPr b="0" i="0" lang="en-US" sz="1000" u="none">
                <a:solidFill>
                  <a:srgbClr val="333333"/>
                </a:solidFill>
                <a:latin typeface="Courier New"/>
                <a:ea typeface="Courier New"/>
                <a:cs typeface="Courier New"/>
                <a:sym typeface="Courier New"/>
              </a:rPr>
              <a:t> </a:t>
            </a:r>
            <a:r>
              <a:rPr b="0" i="0" lang="en-US" sz="1000" u="none">
                <a:solidFill>
                  <a:srgbClr val="4C886B"/>
                </a:solidFill>
                <a:latin typeface="Courier New"/>
                <a:ea typeface="Courier New"/>
                <a:cs typeface="Courier New"/>
                <a:sym typeface="Courier New"/>
              </a:rPr>
              <a:t>#set the model for the tree, predicting class by sepal length , data set being used is iris </a:t>
            </a:r>
            <a:r>
              <a:rPr b="0" i="0" lang="en-US" sz="1000" u="none">
                <a:solidFill>
                  <a:srgbClr val="000000"/>
                </a:solidFill>
                <a:latin typeface="Courier New"/>
                <a:ea typeface="Courier New"/>
                <a:cs typeface="Courier New"/>
                <a:sym typeface="Courier New"/>
              </a:rPr>
              <a:t>plot</a:t>
            </a:r>
            <a:r>
              <a:rPr b="0" i="0" lang="en-US" sz="1000" u="none">
                <a:solidFill>
                  <a:srgbClr val="687687"/>
                </a:solidFill>
                <a:latin typeface="Courier New"/>
                <a:ea typeface="Courier New"/>
                <a:cs typeface="Courier New"/>
                <a:sym typeface="Courier New"/>
              </a:rPr>
              <a:t>(</a:t>
            </a:r>
            <a:r>
              <a:rPr b="0" i="0" lang="en-US" sz="1000" u="none">
                <a:solidFill>
                  <a:srgbClr val="000000"/>
                </a:solidFill>
                <a:latin typeface="Courier New"/>
                <a:ea typeface="Courier New"/>
                <a:cs typeface="Courier New"/>
                <a:sym typeface="Courier New"/>
              </a:rPr>
              <a:t>tree1</a:t>
            </a:r>
            <a:r>
              <a:rPr b="0" i="0" lang="en-US" sz="1000" u="none">
                <a:solidFill>
                  <a:srgbClr val="687687"/>
                </a:solidFill>
                <a:latin typeface="Courier New"/>
                <a:ea typeface="Courier New"/>
                <a:cs typeface="Courier New"/>
                <a:sym typeface="Courier New"/>
              </a:rPr>
              <a:t>)</a:t>
            </a:r>
            <a:r>
              <a:rPr b="0" i="0" lang="en-US" sz="1000" u="none">
                <a:solidFill>
                  <a:srgbClr val="333333"/>
                </a:solidFill>
                <a:latin typeface="Courier New"/>
                <a:ea typeface="Courier New"/>
                <a:cs typeface="Courier New"/>
                <a:sym typeface="Courier New"/>
              </a:rPr>
              <a:t> </a:t>
            </a:r>
            <a:r>
              <a:rPr b="0" i="0" lang="en-US" sz="1000" u="none">
                <a:solidFill>
                  <a:srgbClr val="4C886B"/>
                </a:solidFill>
                <a:latin typeface="Courier New"/>
                <a:ea typeface="Courier New"/>
                <a:cs typeface="Courier New"/>
                <a:sym typeface="Courier New"/>
              </a:rPr>
              <a:t>#view the decision tree</a:t>
            </a:r>
            <a:r>
              <a:rPr b="1" i="0" lang="en-US" sz="800" u="none">
                <a:solidFill>
                  <a:schemeClr val="lt1"/>
                </a:solidFill>
                <a:latin typeface="Quattrocento Sans"/>
                <a:ea typeface="Quattrocento Sans"/>
                <a:cs typeface="Quattrocento Sans"/>
                <a:sym typeface="Quattrocento Sans"/>
              </a:rPr>
              <a:t> </a:t>
            </a:r>
            <a:endParaRPr/>
          </a:p>
        </p:txBody>
      </p:sp>
      <p:pic>
        <p:nvPicPr>
          <p:cNvPr descr="https://ademos.people.uic.edu/Chapter24_files/figure-html/unnamed-chunk-4-1.png" id="966" name="Google Shape;966;p88"/>
          <p:cNvPicPr preferRelativeResize="0"/>
          <p:nvPr/>
        </p:nvPicPr>
        <p:blipFill rotWithShape="1">
          <a:blip r:embed="rId3">
            <a:alphaModFix/>
          </a:blip>
          <a:srcRect b="0" l="0" r="0" t="0"/>
          <a:stretch/>
        </p:blipFill>
        <p:spPr>
          <a:xfrm>
            <a:off x="4865687" y="2535237"/>
            <a:ext cx="3914775" cy="2797175"/>
          </a:xfrm>
          <a:prstGeom prst="rect">
            <a:avLst/>
          </a:prstGeom>
          <a:noFill/>
          <a:ln>
            <a:noFill/>
          </a:ln>
        </p:spPr>
      </p:pic>
      <p:sp>
        <p:nvSpPr>
          <p:cNvPr id="967" name="Google Shape;967;p88"/>
          <p:cNvSpPr txBox="1"/>
          <p:nvPr/>
        </p:nvSpPr>
        <p:spPr>
          <a:xfrm>
            <a:off x="469900" y="2535237"/>
            <a:ext cx="4495800" cy="31400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55555"/>
              </a:buClr>
              <a:buSzPts val="1800"/>
              <a:buFont typeface="Helvetica Neue"/>
              <a:buNone/>
            </a:pPr>
            <a:r>
              <a:rPr b="0" i="0" lang="en-US" sz="1800" u="none">
                <a:solidFill>
                  <a:srgbClr val="555555"/>
                </a:solidFill>
                <a:latin typeface="Helvetica Neue"/>
                <a:ea typeface="Helvetica Neue"/>
                <a:cs typeface="Helvetica Neue"/>
                <a:sym typeface="Helvetica Neue"/>
              </a:rPr>
              <a:t>Глядя на первый узел решения, мы знаем, что переменная, по которой определяется решение, - sepal.length. От этого узла отходят два листа: первый, если длина чашелистика меньше или равна 5,4, то он опускается в группу цветков ириса.</a:t>
            </a:r>
            <a:endParaRPr/>
          </a:p>
          <a:p>
            <a:pPr indent="0" lvl="0" marL="0" marR="0" rtl="0" algn="l">
              <a:lnSpc>
                <a:spcPct val="100000"/>
              </a:lnSpc>
              <a:spcBef>
                <a:spcPts val="0"/>
              </a:spcBef>
              <a:spcAft>
                <a:spcPts val="0"/>
              </a:spcAft>
              <a:buClr>
                <a:srgbClr val="555555"/>
              </a:buClr>
              <a:buSzPts val="1800"/>
              <a:buFont typeface="Helvetica Neue"/>
              <a:buNone/>
            </a:pPr>
            <a:r>
              <a:rPr b="0" i="0" lang="en-US" sz="1800" u="none">
                <a:solidFill>
                  <a:srgbClr val="555555"/>
                </a:solidFill>
                <a:latin typeface="Helvetica Neue"/>
                <a:ea typeface="Helvetica Neue"/>
                <a:cs typeface="Helvetica Neue"/>
                <a:sym typeface="Helvetica Neue"/>
              </a:rPr>
              <a:t>Эта первая группа, обозначенная первым графиком слева, говорит нам о 52 цветках, длина чашелистиков которых меньше или равна 5,4. </a:t>
            </a:r>
            <a:endParaRPr/>
          </a:p>
        </p:txBody>
      </p:sp>
      <p:sp>
        <p:nvSpPr>
          <p:cNvPr id="968" name="Google Shape;968;p88"/>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89"/>
          <p:cNvSpPr/>
          <p:nvPr/>
        </p:nvSpPr>
        <p:spPr>
          <a:xfrm>
            <a:off x="792162" y="611187"/>
            <a:ext cx="7431087" cy="1089025"/>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975" name="Google Shape;975;p89"/>
          <p:cNvSpPr/>
          <p:nvPr/>
        </p:nvSpPr>
        <p:spPr>
          <a:xfrm>
            <a:off x="344487" y="1839912"/>
            <a:ext cx="8494712" cy="4633912"/>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976" name="Google Shape;976;p89"/>
          <p:cNvSpPr txBox="1"/>
          <p:nvPr/>
        </p:nvSpPr>
        <p:spPr>
          <a:xfrm>
            <a:off x="969962" y="862012"/>
            <a:ext cx="7089775" cy="604837"/>
          </a:xfrm>
          <a:prstGeom prst="rect">
            <a:avLst/>
          </a:prstGeom>
          <a:noFill/>
          <a:ln>
            <a:noFill/>
          </a:ln>
        </p:spPr>
        <p:txBody>
          <a:bodyPr anchorCtr="0" anchor="ctr" bIns="45700" lIns="91425" spcFirstLastPara="1" rIns="91425" wrap="square" tIns="45700">
            <a:spAutoFit/>
          </a:bodyPr>
          <a:lstStyle/>
          <a:p>
            <a:pPr indent="0" lvl="0" marL="0" marR="0" rtl="0" algn="l">
              <a:lnSpc>
                <a:spcPct val="85000"/>
              </a:lnSpc>
              <a:spcBef>
                <a:spcPts val="0"/>
              </a:spcBef>
              <a:spcAft>
                <a:spcPts val="0"/>
              </a:spcAft>
              <a:buClr>
                <a:schemeClr val="lt2"/>
              </a:buClr>
              <a:buSzPts val="3900"/>
              <a:buFont typeface="Quattrocento Sans"/>
              <a:buNone/>
            </a:pPr>
            <a:r>
              <a:rPr b="0" i="0" lang="en-US" sz="3900" u="none">
                <a:solidFill>
                  <a:schemeClr val="lt2"/>
                </a:solidFill>
                <a:latin typeface="Quattrocento Sans"/>
                <a:ea typeface="Quattrocento Sans"/>
                <a:cs typeface="Quattrocento Sans"/>
                <a:sym typeface="Quattrocento Sans"/>
              </a:rPr>
              <a:t>Классификация Decision Tree</a:t>
            </a:r>
            <a:endParaRPr/>
          </a:p>
        </p:txBody>
      </p:sp>
      <p:sp>
        <p:nvSpPr>
          <p:cNvPr id="977" name="Google Shape;977;p89"/>
          <p:cNvSpPr txBox="1"/>
          <p:nvPr>
            <p:ph idx="4294967295" type="body"/>
          </p:nvPr>
        </p:nvSpPr>
        <p:spPr>
          <a:xfrm>
            <a:off x="665162" y="1984375"/>
            <a:ext cx="2306637" cy="417512"/>
          </a:xfrm>
          <a:prstGeom prst="rect">
            <a:avLst/>
          </a:prstGeom>
          <a:noFill/>
          <a:ln>
            <a:noFill/>
          </a:ln>
        </p:spPr>
        <p:txBody>
          <a:bodyPr anchorCtr="0" anchor="t" bIns="45700" lIns="91425" spcFirstLastPara="1" rIns="91425" wrap="square" tIns="45700">
            <a:spAutoFit/>
          </a:bodyPr>
          <a:lstStyle/>
          <a:p>
            <a:pPr indent="-157162" lvl="0" marL="157162" marR="0" rtl="0" algn="l">
              <a:lnSpc>
                <a:spcPct val="85000"/>
              </a:lnSpc>
              <a:spcBef>
                <a:spcPts val="0"/>
              </a:spcBef>
              <a:spcAft>
                <a:spcPts val="0"/>
              </a:spcAft>
              <a:buClr>
                <a:srgbClr val="F4BE96"/>
              </a:buClr>
              <a:buSzPts val="1920"/>
              <a:buFont typeface="Quattrocento Sans"/>
              <a:buNone/>
            </a:pPr>
            <a:r>
              <a:rPr b="0" i="1" lang="en-US" sz="2400" u="sng">
                <a:solidFill>
                  <a:srgbClr val="060000"/>
                </a:solidFill>
                <a:latin typeface="Quattrocento Sans"/>
                <a:ea typeface="Quattrocento Sans"/>
                <a:cs typeface="Quattrocento Sans"/>
                <a:sym typeface="Quattrocento Sans"/>
              </a:rPr>
              <a:t>Трактовка</a:t>
            </a:r>
            <a:endParaRPr/>
          </a:p>
        </p:txBody>
      </p:sp>
      <p:sp>
        <p:nvSpPr>
          <p:cNvPr id="978" name="Google Shape;978;p89"/>
          <p:cNvSpPr txBox="1"/>
          <p:nvPr/>
        </p:nvSpPr>
        <p:spPr>
          <a:xfrm>
            <a:off x="3292475" y="1984375"/>
            <a:ext cx="4689475" cy="550862"/>
          </a:xfrm>
          <a:prstGeom prst="rect">
            <a:avLst/>
          </a:prstGeom>
          <a:solidFill>
            <a:srgbClr val="F5F5F5"/>
          </a:solidFill>
          <a:ln>
            <a:noFill/>
          </a:ln>
        </p:spPr>
        <p:txBody>
          <a:bodyPr anchorCtr="0" anchor="ctr" bIns="88850" lIns="0" spcFirstLastPara="1" rIns="0" wrap="square" tIns="0">
            <a:spAutoFit/>
          </a:bodyPr>
          <a:lstStyle/>
          <a:p>
            <a:pPr indent="0" lvl="0" marL="0" marR="0" rtl="0" algn="l">
              <a:lnSpc>
                <a:spcPct val="100000"/>
              </a:lnSpc>
              <a:spcBef>
                <a:spcPts val="0"/>
              </a:spcBef>
              <a:spcAft>
                <a:spcPts val="0"/>
              </a:spcAft>
              <a:buClr>
                <a:srgbClr val="000000"/>
              </a:buClr>
              <a:buSzPts val="1000"/>
              <a:buFont typeface="Courier New"/>
              <a:buNone/>
            </a:pPr>
            <a:r>
              <a:rPr b="0" i="0" lang="en-US" sz="1000" u="none">
                <a:solidFill>
                  <a:srgbClr val="000000"/>
                </a:solidFill>
                <a:latin typeface="Courier New"/>
                <a:ea typeface="Courier New"/>
                <a:cs typeface="Courier New"/>
                <a:sym typeface="Courier New"/>
              </a:rPr>
              <a:t>tree1</a:t>
            </a:r>
            <a:r>
              <a:rPr b="0" i="0" lang="en-US" sz="1000" u="none">
                <a:solidFill>
                  <a:srgbClr val="687687"/>
                </a:solidFill>
                <a:latin typeface="Courier New"/>
                <a:ea typeface="Courier New"/>
                <a:cs typeface="Courier New"/>
                <a:sym typeface="Courier New"/>
              </a:rPr>
              <a:t>&lt;-</a:t>
            </a:r>
            <a:r>
              <a:rPr b="0" i="0" lang="en-US" sz="1000" u="none">
                <a:solidFill>
                  <a:srgbClr val="000000"/>
                </a:solidFill>
                <a:latin typeface="Courier New"/>
                <a:ea typeface="Courier New"/>
                <a:cs typeface="Courier New"/>
                <a:sym typeface="Courier New"/>
              </a:rPr>
              <a:t>ctree</a:t>
            </a:r>
            <a:r>
              <a:rPr b="0" i="0" lang="en-US" sz="1000" u="none">
                <a:solidFill>
                  <a:srgbClr val="687687"/>
                </a:solidFill>
                <a:latin typeface="Courier New"/>
                <a:ea typeface="Courier New"/>
                <a:cs typeface="Courier New"/>
                <a:sym typeface="Courier New"/>
              </a:rPr>
              <a:t>(</a:t>
            </a:r>
            <a:r>
              <a:rPr b="0" i="0" lang="en-US" sz="1000" u="none">
                <a:solidFill>
                  <a:srgbClr val="000000"/>
                </a:solidFill>
                <a:latin typeface="Courier New"/>
                <a:ea typeface="Courier New"/>
                <a:cs typeface="Courier New"/>
                <a:sym typeface="Courier New"/>
              </a:rPr>
              <a:t>class</a:t>
            </a:r>
            <a:r>
              <a:rPr b="0" i="0" lang="en-US" sz="1000" u="none">
                <a:solidFill>
                  <a:srgbClr val="687687"/>
                </a:solidFill>
                <a:latin typeface="Courier New"/>
                <a:ea typeface="Courier New"/>
                <a:cs typeface="Courier New"/>
                <a:sym typeface="Courier New"/>
              </a:rPr>
              <a:t>~</a:t>
            </a:r>
            <a:r>
              <a:rPr b="0" i="0" lang="en-US" sz="1000" u="none">
                <a:solidFill>
                  <a:srgbClr val="000000"/>
                </a:solidFill>
                <a:latin typeface="Courier New"/>
                <a:ea typeface="Courier New"/>
                <a:cs typeface="Courier New"/>
                <a:sym typeface="Courier New"/>
              </a:rPr>
              <a:t>sepal.length</a:t>
            </a:r>
            <a:r>
              <a:rPr b="0" i="0" lang="en-US" sz="1000" u="none">
                <a:solidFill>
                  <a:srgbClr val="333333"/>
                </a:solidFill>
                <a:latin typeface="Courier New"/>
                <a:ea typeface="Courier New"/>
                <a:cs typeface="Courier New"/>
                <a:sym typeface="Courier New"/>
              </a:rPr>
              <a:t>, </a:t>
            </a:r>
            <a:r>
              <a:rPr b="0" i="0" lang="en-US" sz="1000" u="none">
                <a:solidFill>
                  <a:srgbClr val="000000"/>
                </a:solidFill>
                <a:latin typeface="Courier New"/>
                <a:ea typeface="Courier New"/>
                <a:cs typeface="Courier New"/>
                <a:sym typeface="Courier New"/>
              </a:rPr>
              <a:t>data</a:t>
            </a:r>
            <a:r>
              <a:rPr b="0" i="0" lang="en-US" sz="1000" u="none">
                <a:solidFill>
                  <a:srgbClr val="687687"/>
                </a:solidFill>
                <a:latin typeface="Courier New"/>
                <a:ea typeface="Courier New"/>
                <a:cs typeface="Courier New"/>
                <a:sym typeface="Courier New"/>
              </a:rPr>
              <a:t>=</a:t>
            </a:r>
            <a:r>
              <a:rPr b="0" i="0" lang="en-US" sz="1000" u="none">
                <a:solidFill>
                  <a:srgbClr val="000000"/>
                </a:solidFill>
                <a:latin typeface="Courier New"/>
                <a:ea typeface="Courier New"/>
                <a:cs typeface="Courier New"/>
                <a:sym typeface="Courier New"/>
              </a:rPr>
              <a:t>iris</a:t>
            </a:r>
            <a:r>
              <a:rPr b="0" i="0" lang="en-US" sz="1000" u="none">
                <a:solidFill>
                  <a:srgbClr val="687687"/>
                </a:solidFill>
                <a:latin typeface="Courier New"/>
                <a:ea typeface="Courier New"/>
                <a:cs typeface="Courier New"/>
                <a:sym typeface="Courier New"/>
              </a:rPr>
              <a:t>)</a:t>
            </a:r>
            <a:r>
              <a:rPr b="0" i="0" lang="en-US" sz="1000" u="none">
                <a:solidFill>
                  <a:srgbClr val="333333"/>
                </a:solidFill>
                <a:latin typeface="Courier New"/>
                <a:ea typeface="Courier New"/>
                <a:cs typeface="Courier New"/>
                <a:sym typeface="Courier New"/>
              </a:rPr>
              <a:t> </a:t>
            </a:r>
            <a:r>
              <a:rPr b="0" i="0" lang="en-US" sz="1000" u="none">
                <a:solidFill>
                  <a:srgbClr val="4C886B"/>
                </a:solidFill>
                <a:latin typeface="Courier New"/>
                <a:ea typeface="Courier New"/>
                <a:cs typeface="Courier New"/>
                <a:sym typeface="Courier New"/>
              </a:rPr>
              <a:t>#set the model for the tree, predicting class by sepal length , data set being used is iris </a:t>
            </a:r>
            <a:r>
              <a:rPr b="0" i="0" lang="en-US" sz="1000" u="none">
                <a:solidFill>
                  <a:srgbClr val="000000"/>
                </a:solidFill>
                <a:latin typeface="Courier New"/>
                <a:ea typeface="Courier New"/>
                <a:cs typeface="Courier New"/>
                <a:sym typeface="Courier New"/>
              </a:rPr>
              <a:t>plot</a:t>
            </a:r>
            <a:r>
              <a:rPr b="0" i="0" lang="en-US" sz="1000" u="none">
                <a:solidFill>
                  <a:srgbClr val="687687"/>
                </a:solidFill>
                <a:latin typeface="Courier New"/>
                <a:ea typeface="Courier New"/>
                <a:cs typeface="Courier New"/>
                <a:sym typeface="Courier New"/>
              </a:rPr>
              <a:t>(</a:t>
            </a:r>
            <a:r>
              <a:rPr b="0" i="0" lang="en-US" sz="1000" u="none">
                <a:solidFill>
                  <a:srgbClr val="000000"/>
                </a:solidFill>
                <a:latin typeface="Courier New"/>
                <a:ea typeface="Courier New"/>
                <a:cs typeface="Courier New"/>
                <a:sym typeface="Courier New"/>
              </a:rPr>
              <a:t>tree1</a:t>
            </a:r>
            <a:r>
              <a:rPr b="0" i="0" lang="en-US" sz="1000" u="none">
                <a:solidFill>
                  <a:srgbClr val="687687"/>
                </a:solidFill>
                <a:latin typeface="Courier New"/>
                <a:ea typeface="Courier New"/>
                <a:cs typeface="Courier New"/>
                <a:sym typeface="Courier New"/>
              </a:rPr>
              <a:t>)</a:t>
            </a:r>
            <a:r>
              <a:rPr b="0" i="0" lang="en-US" sz="1000" u="none">
                <a:solidFill>
                  <a:srgbClr val="333333"/>
                </a:solidFill>
                <a:latin typeface="Courier New"/>
                <a:ea typeface="Courier New"/>
                <a:cs typeface="Courier New"/>
                <a:sym typeface="Courier New"/>
              </a:rPr>
              <a:t> </a:t>
            </a:r>
            <a:r>
              <a:rPr b="0" i="0" lang="en-US" sz="1000" u="none">
                <a:solidFill>
                  <a:srgbClr val="4C886B"/>
                </a:solidFill>
                <a:latin typeface="Courier New"/>
                <a:ea typeface="Courier New"/>
                <a:cs typeface="Courier New"/>
                <a:sym typeface="Courier New"/>
              </a:rPr>
              <a:t>#view the decision tree</a:t>
            </a:r>
            <a:r>
              <a:rPr b="1" i="0" lang="en-US" sz="800" u="none">
                <a:solidFill>
                  <a:schemeClr val="lt1"/>
                </a:solidFill>
                <a:latin typeface="Quattrocento Sans"/>
                <a:ea typeface="Quattrocento Sans"/>
                <a:cs typeface="Quattrocento Sans"/>
                <a:sym typeface="Quattrocento Sans"/>
              </a:rPr>
              <a:t> </a:t>
            </a:r>
            <a:endParaRPr/>
          </a:p>
        </p:txBody>
      </p:sp>
      <p:pic>
        <p:nvPicPr>
          <p:cNvPr descr="https://ademos.people.uic.edu/Chapter24_files/figure-html/unnamed-chunk-4-1.png" id="979" name="Google Shape;979;p89"/>
          <p:cNvPicPr preferRelativeResize="0"/>
          <p:nvPr/>
        </p:nvPicPr>
        <p:blipFill rotWithShape="1">
          <a:blip r:embed="rId3">
            <a:alphaModFix/>
          </a:blip>
          <a:srcRect b="0" l="0" r="0" t="0"/>
          <a:stretch/>
        </p:blipFill>
        <p:spPr>
          <a:xfrm>
            <a:off x="4865687" y="2535237"/>
            <a:ext cx="3914775" cy="2797175"/>
          </a:xfrm>
          <a:prstGeom prst="rect">
            <a:avLst/>
          </a:prstGeom>
          <a:noFill/>
          <a:ln>
            <a:noFill/>
          </a:ln>
        </p:spPr>
      </p:pic>
      <p:sp>
        <p:nvSpPr>
          <p:cNvPr id="980" name="Google Shape;980;p89"/>
          <p:cNvSpPr txBox="1"/>
          <p:nvPr/>
        </p:nvSpPr>
        <p:spPr>
          <a:xfrm>
            <a:off x="482600" y="2522537"/>
            <a:ext cx="4572000" cy="35401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55555"/>
              </a:buClr>
              <a:buSzPts val="1600"/>
              <a:buFont typeface="Helvetica Neue"/>
              <a:buNone/>
            </a:pPr>
            <a:r>
              <a:rPr b="0" i="0" lang="en-US" sz="1600" u="none">
                <a:solidFill>
                  <a:srgbClr val="555555"/>
                </a:solidFill>
                <a:latin typeface="Helvetica Neue"/>
                <a:ea typeface="Helvetica Neue"/>
                <a:cs typeface="Helvetica Neue"/>
                <a:sym typeface="Helvetica Neue"/>
              </a:rPr>
              <a:t>Из этих 52 цветов примерно 80% относятся к первому классу ириса - setosa. около 15% попадают во второй класс - versicolor, а остальные 5%- в третий класс. Ось Y представляет собой долю от общего числа цветков в этой группе, которые соответствуют каждому из классов цветков ириса (setosa,versicolor, virginica).</a:t>
            </a:r>
            <a:endParaRPr/>
          </a:p>
          <a:p>
            <a:pPr indent="0" lvl="0" marL="0" marR="0" rtl="0" algn="l">
              <a:lnSpc>
                <a:spcPct val="100000"/>
              </a:lnSpc>
              <a:spcBef>
                <a:spcPts val="0"/>
              </a:spcBef>
              <a:spcAft>
                <a:spcPts val="0"/>
              </a:spcAft>
              <a:buClr>
                <a:srgbClr val="555555"/>
              </a:buClr>
              <a:buSzPts val="1600"/>
              <a:buFont typeface="Helvetica Neue"/>
              <a:buNone/>
            </a:pPr>
            <a:r>
              <a:rPr b="0" i="0" lang="en-US" sz="1600" u="none">
                <a:solidFill>
                  <a:srgbClr val="555555"/>
                </a:solidFill>
                <a:latin typeface="Helvetica Neue"/>
                <a:ea typeface="Helvetica Neue"/>
                <a:cs typeface="Helvetica Neue"/>
                <a:sym typeface="Helvetica Neue"/>
              </a:rPr>
              <a:t>Далее мы переходим ко второму узлу.  Снова переменная, по которой определяется решение, - это sepal.length. Два листа здесь меньше или равны 6,1 или больше 6,1. Если у цветка длина чашелистика меньше или равна 6,1, он попадает во вторую группу. </a:t>
            </a:r>
            <a:endParaRPr/>
          </a:p>
        </p:txBody>
      </p:sp>
      <p:sp>
        <p:nvSpPr>
          <p:cNvPr id="981" name="Google Shape;981;p89"/>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90"/>
          <p:cNvSpPr/>
          <p:nvPr/>
        </p:nvSpPr>
        <p:spPr>
          <a:xfrm>
            <a:off x="792162" y="611187"/>
            <a:ext cx="7431087" cy="1089025"/>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988" name="Google Shape;988;p90"/>
          <p:cNvSpPr/>
          <p:nvPr/>
        </p:nvSpPr>
        <p:spPr>
          <a:xfrm>
            <a:off x="344487" y="1839912"/>
            <a:ext cx="8494712" cy="4633912"/>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989" name="Google Shape;989;p90"/>
          <p:cNvSpPr txBox="1"/>
          <p:nvPr/>
        </p:nvSpPr>
        <p:spPr>
          <a:xfrm>
            <a:off x="969962" y="862012"/>
            <a:ext cx="7089775" cy="604837"/>
          </a:xfrm>
          <a:prstGeom prst="rect">
            <a:avLst/>
          </a:prstGeom>
          <a:noFill/>
          <a:ln>
            <a:noFill/>
          </a:ln>
        </p:spPr>
        <p:txBody>
          <a:bodyPr anchorCtr="0" anchor="ctr" bIns="45700" lIns="91425" spcFirstLastPara="1" rIns="91425" wrap="square" tIns="45700">
            <a:spAutoFit/>
          </a:bodyPr>
          <a:lstStyle/>
          <a:p>
            <a:pPr indent="0" lvl="0" marL="0" marR="0" rtl="0" algn="l">
              <a:lnSpc>
                <a:spcPct val="85000"/>
              </a:lnSpc>
              <a:spcBef>
                <a:spcPts val="0"/>
              </a:spcBef>
              <a:spcAft>
                <a:spcPts val="0"/>
              </a:spcAft>
              <a:buClr>
                <a:schemeClr val="lt2"/>
              </a:buClr>
              <a:buSzPts val="3900"/>
              <a:buFont typeface="Quattrocento Sans"/>
              <a:buNone/>
            </a:pPr>
            <a:r>
              <a:rPr b="0" i="0" lang="en-US" sz="3900" u="none">
                <a:solidFill>
                  <a:schemeClr val="lt2"/>
                </a:solidFill>
                <a:latin typeface="Quattrocento Sans"/>
                <a:ea typeface="Quattrocento Sans"/>
                <a:cs typeface="Quattrocento Sans"/>
                <a:sym typeface="Quattrocento Sans"/>
              </a:rPr>
              <a:t>Классификация Decision Tree</a:t>
            </a:r>
            <a:endParaRPr/>
          </a:p>
        </p:txBody>
      </p:sp>
      <p:sp>
        <p:nvSpPr>
          <p:cNvPr id="990" name="Google Shape;990;p90"/>
          <p:cNvSpPr txBox="1"/>
          <p:nvPr>
            <p:ph idx="4294967295" type="body"/>
          </p:nvPr>
        </p:nvSpPr>
        <p:spPr>
          <a:xfrm>
            <a:off x="665162" y="1984375"/>
            <a:ext cx="2306637" cy="417512"/>
          </a:xfrm>
          <a:prstGeom prst="rect">
            <a:avLst/>
          </a:prstGeom>
          <a:noFill/>
          <a:ln>
            <a:noFill/>
          </a:ln>
        </p:spPr>
        <p:txBody>
          <a:bodyPr anchorCtr="0" anchor="t" bIns="45700" lIns="91425" spcFirstLastPara="1" rIns="91425" wrap="square" tIns="45700">
            <a:spAutoFit/>
          </a:bodyPr>
          <a:lstStyle/>
          <a:p>
            <a:pPr indent="-157162" lvl="0" marL="157162" marR="0" rtl="0" algn="l">
              <a:lnSpc>
                <a:spcPct val="85000"/>
              </a:lnSpc>
              <a:spcBef>
                <a:spcPts val="0"/>
              </a:spcBef>
              <a:spcAft>
                <a:spcPts val="0"/>
              </a:spcAft>
              <a:buClr>
                <a:srgbClr val="F4BE96"/>
              </a:buClr>
              <a:buSzPts val="1920"/>
              <a:buFont typeface="Quattrocento Sans"/>
              <a:buNone/>
            </a:pPr>
            <a:r>
              <a:rPr b="0" i="1" lang="en-US" sz="2400" u="sng">
                <a:solidFill>
                  <a:srgbClr val="060000"/>
                </a:solidFill>
                <a:latin typeface="Quattrocento Sans"/>
                <a:ea typeface="Quattrocento Sans"/>
                <a:cs typeface="Quattrocento Sans"/>
                <a:sym typeface="Quattrocento Sans"/>
              </a:rPr>
              <a:t>Трактовка</a:t>
            </a:r>
            <a:endParaRPr/>
          </a:p>
        </p:txBody>
      </p:sp>
      <p:sp>
        <p:nvSpPr>
          <p:cNvPr id="991" name="Google Shape;991;p90"/>
          <p:cNvSpPr txBox="1"/>
          <p:nvPr/>
        </p:nvSpPr>
        <p:spPr>
          <a:xfrm>
            <a:off x="3292475" y="1984375"/>
            <a:ext cx="4689475" cy="550862"/>
          </a:xfrm>
          <a:prstGeom prst="rect">
            <a:avLst/>
          </a:prstGeom>
          <a:solidFill>
            <a:srgbClr val="F5F5F5"/>
          </a:solidFill>
          <a:ln>
            <a:noFill/>
          </a:ln>
        </p:spPr>
        <p:txBody>
          <a:bodyPr anchorCtr="0" anchor="ctr" bIns="88850" lIns="0" spcFirstLastPara="1" rIns="0" wrap="square" tIns="0">
            <a:spAutoFit/>
          </a:bodyPr>
          <a:lstStyle/>
          <a:p>
            <a:pPr indent="0" lvl="0" marL="0" marR="0" rtl="0" algn="l">
              <a:lnSpc>
                <a:spcPct val="100000"/>
              </a:lnSpc>
              <a:spcBef>
                <a:spcPts val="0"/>
              </a:spcBef>
              <a:spcAft>
                <a:spcPts val="0"/>
              </a:spcAft>
              <a:buClr>
                <a:srgbClr val="000000"/>
              </a:buClr>
              <a:buSzPts val="1000"/>
              <a:buFont typeface="Courier New"/>
              <a:buNone/>
            </a:pPr>
            <a:r>
              <a:rPr b="0" i="0" lang="en-US" sz="1000" u="none">
                <a:solidFill>
                  <a:srgbClr val="000000"/>
                </a:solidFill>
                <a:latin typeface="Courier New"/>
                <a:ea typeface="Courier New"/>
                <a:cs typeface="Courier New"/>
                <a:sym typeface="Courier New"/>
              </a:rPr>
              <a:t>tree1</a:t>
            </a:r>
            <a:r>
              <a:rPr b="0" i="0" lang="en-US" sz="1000" u="none">
                <a:solidFill>
                  <a:srgbClr val="687687"/>
                </a:solidFill>
                <a:latin typeface="Courier New"/>
                <a:ea typeface="Courier New"/>
                <a:cs typeface="Courier New"/>
                <a:sym typeface="Courier New"/>
              </a:rPr>
              <a:t>&lt;-</a:t>
            </a:r>
            <a:r>
              <a:rPr b="0" i="0" lang="en-US" sz="1000" u="none">
                <a:solidFill>
                  <a:srgbClr val="000000"/>
                </a:solidFill>
                <a:latin typeface="Courier New"/>
                <a:ea typeface="Courier New"/>
                <a:cs typeface="Courier New"/>
                <a:sym typeface="Courier New"/>
              </a:rPr>
              <a:t>ctree</a:t>
            </a:r>
            <a:r>
              <a:rPr b="0" i="0" lang="en-US" sz="1000" u="none">
                <a:solidFill>
                  <a:srgbClr val="687687"/>
                </a:solidFill>
                <a:latin typeface="Courier New"/>
                <a:ea typeface="Courier New"/>
                <a:cs typeface="Courier New"/>
                <a:sym typeface="Courier New"/>
              </a:rPr>
              <a:t>(</a:t>
            </a:r>
            <a:r>
              <a:rPr b="0" i="0" lang="en-US" sz="1000" u="none">
                <a:solidFill>
                  <a:srgbClr val="000000"/>
                </a:solidFill>
                <a:latin typeface="Courier New"/>
                <a:ea typeface="Courier New"/>
                <a:cs typeface="Courier New"/>
                <a:sym typeface="Courier New"/>
              </a:rPr>
              <a:t>class</a:t>
            </a:r>
            <a:r>
              <a:rPr b="0" i="0" lang="en-US" sz="1000" u="none">
                <a:solidFill>
                  <a:srgbClr val="687687"/>
                </a:solidFill>
                <a:latin typeface="Courier New"/>
                <a:ea typeface="Courier New"/>
                <a:cs typeface="Courier New"/>
                <a:sym typeface="Courier New"/>
              </a:rPr>
              <a:t>~</a:t>
            </a:r>
            <a:r>
              <a:rPr b="0" i="0" lang="en-US" sz="1000" u="none">
                <a:solidFill>
                  <a:srgbClr val="000000"/>
                </a:solidFill>
                <a:latin typeface="Courier New"/>
                <a:ea typeface="Courier New"/>
                <a:cs typeface="Courier New"/>
                <a:sym typeface="Courier New"/>
              </a:rPr>
              <a:t>sepal.length</a:t>
            </a:r>
            <a:r>
              <a:rPr b="0" i="0" lang="en-US" sz="1000" u="none">
                <a:solidFill>
                  <a:srgbClr val="333333"/>
                </a:solidFill>
                <a:latin typeface="Courier New"/>
                <a:ea typeface="Courier New"/>
                <a:cs typeface="Courier New"/>
                <a:sym typeface="Courier New"/>
              </a:rPr>
              <a:t>, </a:t>
            </a:r>
            <a:r>
              <a:rPr b="0" i="0" lang="en-US" sz="1000" u="none">
                <a:solidFill>
                  <a:srgbClr val="000000"/>
                </a:solidFill>
                <a:latin typeface="Courier New"/>
                <a:ea typeface="Courier New"/>
                <a:cs typeface="Courier New"/>
                <a:sym typeface="Courier New"/>
              </a:rPr>
              <a:t>data</a:t>
            </a:r>
            <a:r>
              <a:rPr b="0" i="0" lang="en-US" sz="1000" u="none">
                <a:solidFill>
                  <a:srgbClr val="687687"/>
                </a:solidFill>
                <a:latin typeface="Courier New"/>
                <a:ea typeface="Courier New"/>
                <a:cs typeface="Courier New"/>
                <a:sym typeface="Courier New"/>
              </a:rPr>
              <a:t>=</a:t>
            </a:r>
            <a:r>
              <a:rPr b="0" i="0" lang="en-US" sz="1000" u="none">
                <a:solidFill>
                  <a:srgbClr val="000000"/>
                </a:solidFill>
                <a:latin typeface="Courier New"/>
                <a:ea typeface="Courier New"/>
                <a:cs typeface="Courier New"/>
                <a:sym typeface="Courier New"/>
              </a:rPr>
              <a:t>iris</a:t>
            </a:r>
            <a:r>
              <a:rPr b="0" i="0" lang="en-US" sz="1000" u="none">
                <a:solidFill>
                  <a:srgbClr val="687687"/>
                </a:solidFill>
                <a:latin typeface="Courier New"/>
                <a:ea typeface="Courier New"/>
                <a:cs typeface="Courier New"/>
                <a:sym typeface="Courier New"/>
              </a:rPr>
              <a:t>)</a:t>
            </a:r>
            <a:r>
              <a:rPr b="0" i="0" lang="en-US" sz="1000" u="none">
                <a:solidFill>
                  <a:srgbClr val="333333"/>
                </a:solidFill>
                <a:latin typeface="Courier New"/>
                <a:ea typeface="Courier New"/>
                <a:cs typeface="Courier New"/>
                <a:sym typeface="Courier New"/>
              </a:rPr>
              <a:t> </a:t>
            </a:r>
            <a:r>
              <a:rPr b="0" i="0" lang="en-US" sz="1000" u="none">
                <a:solidFill>
                  <a:srgbClr val="4C886B"/>
                </a:solidFill>
                <a:latin typeface="Courier New"/>
                <a:ea typeface="Courier New"/>
                <a:cs typeface="Courier New"/>
                <a:sym typeface="Courier New"/>
              </a:rPr>
              <a:t>#set the model for the tree, predicting class by sepal length , data set being used is iris </a:t>
            </a:r>
            <a:r>
              <a:rPr b="0" i="0" lang="en-US" sz="1000" u="none">
                <a:solidFill>
                  <a:srgbClr val="000000"/>
                </a:solidFill>
                <a:latin typeface="Courier New"/>
                <a:ea typeface="Courier New"/>
                <a:cs typeface="Courier New"/>
                <a:sym typeface="Courier New"/>
              </a:rPr>
              <a:t>plot</a:t>
            </a:r>
            <a:r>
              <a:rPr b="0" i="0" lang="en-US" sz="1000" u="none">
                <a:solidFill>
                  <a:srgbClr val="687687"/>
                </a:solidFill>
                <a:latin typeface="Courier New"/>
                <a:ea typeface="Courier New"/>
                <a:cs typeface="Courier New"/>
                <a:sym typeface="Courier New"/>
              </a:rPr>
              <a:t>(</a:t>
            </a:r>
            <a:r>
              <a:rPr b="0" i="0" lang="en-US" sz="1000" u="none">
                <a:solidFill>
                  <a:srgbClr val="000000"/>
                </a:solidFill>
                <a:latin typeface="Courier New"/>
                <a:ea typeface="Courier New"/>
                <a:cs typeface="Courier New"/>
                <a:sym typeface="Courier New"/>
              </a:rPr>
              <a:t>tree1</a:t>
            </a:r>
            <a:r>
              <a:rPr b="0" i="0" lang="en-US" sz="1000" u="none">
                <a:solidFill>
                  <a:srgbClr val="687687"/>
                </a:solidFill>
                <a:latin typeface="Courier New"/>
                <a:ea typeface="Courier New"/>
                <a:cs typeface="Courier New"/>
                <a:sym typeface="Courier New"/>
              </a:rPr>
              <a:t>)</a:t>
            </a:r>
            <a:r>
              <a:rPr b="0" i="0" lang="en-US" sz="1000" u="none">
                <a:solidFill>
                  <a:srgbClr val="333333"/>
                </a:solidFill>
                <a:latin typeface="Courier New"/>
                <a:ea typeface="Courier New"/>
                <a:cs typeface="Courier New"/>
                <a:sym typeface="Courier New"/>
              </a:rPr>
              <a:t> </a:t>
            </a:r>
            <a:r>
              <a:rPr b="0" i="0" lang="en-US" sz="1000" u="none">
                <a:solidFill>
                  <a:srgbClr val="4C886B"/>
                </a:solidFill>
                <a:latin typeface="Courier New"/>
                <a:ea typeface="Courier New"/>
                <a:cs typeface="Courier New"/>
                <a:sym typeface="Courier New"/>
              </a:rPr>
              <a:t>#view the decision tree</a:t>
            </a:r>
            <a:r>
              <a:rPr b="1" i="0" lang="en-US" sz="800" u="none">
                <a:solidFill>
                  <a:schemeClr val="lt1"/>
                </a:solidFill>
                <a:latin typeface="Quattrocento Sans"/>
                <a:ea typeface="Quattrocento Sans"/>
                <a:cs typeface="Quattrocento Sans"/>
                <a:sym typeface="Quattrocento Sans"/>
              </a:rPr>
              <a:t> </a:t>
            </a:r>
            <a:endParaRPr/>
          </a:p>
        </p:txBody>
      </p:sp>
      <p:pic>
        <p:nvPicPr>
          <p:cNvPr descr="https://ademos.people.uic.edu/Chapter24_files/figure-html/unnamed-chunk-4-1.png" id="992" name="Google Shape;992;p90"/>
          <p:cNvPicPr preferRelativeResize="0"/>
          <p:nvPr/>
        </p:nvPicPr>
        <p:blipFill rotWithShape="1">
          <a:blip r:embed="rId3">
            <a:alphaModFix/>
          </a:blip>
          <a:srcRect b="0" l="0" r="0" t="0"/>
          <a:stretch/>
        </p:blipFill>
        <p:spPr>
          <a:xfrm>
            <a:off x="4865687" y="2535237"/>
            <a:ext cx="3914775" cy="2797175"/>
          </a:xfrm>
          <a:prstGeom prst="rect">
            <a:avLst/>
          </a:prstGeom>
          <a:noFill/>
          <a:ln>
            <a:noFill/>
          </a:ln>
        </p:spPr>
      </p:pic>
      <p:sp>
        <p:nvSpPr>
          <p:cNvPr id="993" name="Google Shape;993;p90"/>
          <p:cNvSpPr txBox="1"/>
          <p:nvPr/>
        </p:nvSpPr>
        <p:spPr>
          <a:xfrm>
            <a:off x="482600" y="2522537"/>
            <a:ext cx="4572000" cy="3292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55555"/>
              </a:buClr>
              <a:buSzPts val="1600"/>
              <a:buFont typeface="Helvetica Neue"/>
              <a:buNone/>
            </a:pPr>
            <a:r>
              <a:rPr b="0" i="0" lang="en-US" sz="1600" u="none">
                <a:solidFill>
                  <a:srgbClr val="555555"/>
                </a:solidFill>
                <a:latin typeface="Helvetica Neue"/>
                <a:ea typeface="Helvetica Neue"/>
                <a:cs typeface="Helvetica Neue"/>
                <a:sym typeface="Helvetica Neue"/>
              </a:rPr>
              <a:t> Глядя на второй график, мы видим, что большинство из 43 цветов в этой группе относятся к классу ирисов versicolor.</a:t>
            </a:r>
            <a:endParaRPr/>
          </a:p>
          <a:p>
            <a:pPr indent="0" lvl="0" marL="0" marR="0" rtl="0" algn="l">
              <a:lnSpc>
                <a:spcPct val="100000"/>
              </a:lnSpc>
              <a:spcBef>
                <a:spcPts val="0"/>
              </a:spcBef>
              <a:spcAft>
                <a:spcPts val="0"/>
              </a:spcAft>
              <a:buClr>
                <a:srgbClr val="555555"/>
              </a:buClr>
              <a:buSzPts val="1600"/>
              <a:buFont typeface="Helvetica Neue"/>
              <a:buNone/>
            </a:pPr>
            <a:r>
              <a:rPr b="0" i="0" lang="en-US" sz="1600" u="none">
                <a:solidFill>
                  <a:srgbClr val="555555"/>
                </a:solidFill>
                <a:latin typeface="Helvetica Neue"/>
                <a:ea typeface="Helvetica Neue"/>
                <a:cs typeface="Helvetica Neue"/>
                <a:sym typeface="Helvetica Neue"/>
              </a:rPr>
              <a:t>Далее мы переходим к третьему узлу. Здесь, если длина чашелистиков меньше или равна 7, цветок попадает в третью группу, а если больше 7, цветок попадает в четвертую группу. Глядя на третий график, видим в третьей группе 43 цветка, и большинство из этих цветов относятся к классу virginica, однако вы можете видеть, что в этой группе все еще имеется большое количество цветков versicolor.</a:t>
            </a:r>
            <a:endParaRPr/>
          </a:p>
        </p:txBody>
      </p:sp>
      <p:sp>
        <p:nvSpPr>
          <p:cNvPr id="994" name="Google Shape;994;p90"/>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91"/>
          <p:cNvSpPr/>
          <p:nvPr/>
        </p:nvSpPr>
        <p:spPr>
          <a:xfrm>
            <a:off x="792162" y="611187"/>
            <a:ext cx="7431087" cy="1089025"/>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1001" name="Google Shape;1001;p91"/>
          <p:cNvSpPr/>
          <p:nvPr/>
        </p:nvSpPr>
        <p:spPr>
          <a:xfrm>
            <a:off x="344487" y="1839912"/>
            <a:ext cx="8494712" cy="4633912"/>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1002" name="Google Shape;1002;p91"/>
          <p:cNvSpPr txBox="1"/>
          <p:nvPr/>
        </p:nvSpPr>
        <p:spPr>
          <a:xfrm>
            <a:off x="969962" y="862012"/>
            <a:ext cx="7089775" cy="604837"/>
          </a:xfrm>
          <a:prstGeom prst="rect">
            <a:avLst/>
          </a:prstGeom>
          <a:noFill/>
          <a:ln>
            <a:noFill/>
          </a:ln>
        </p:spPr>
        <p:txBody>
          <a:bodyPr anchorCtr="0" anchor="ctr" bIns="45700" lIns="91425" spcFirstLastPara="1" rIns="91425" wrap="square" tIns="45700">
            <a:spAutoFit/>
          </a:bodyPr>
          <a:lstStyle/>
          <a:p>
            <a:pPr indent="0" lvl="0" marL="0" marR="0" rtl="0" algn="l">
              <a:lnSpc>
                <a:spcPct val="85000"/>
              </a:lnSpc>
              <a:spcBef>
                <a:spcPts val="0"/>
              </a:spcBef>
              <a:spcAft>
                <a:spcPts val="0"/>
              </a:spcAft>
              <a:buClr>
                <a:schemeClr val="lt2"/>
              </a:buClr>
              <a:buSzPts val="3900"/>
              <a:buFont typeface="Quattrocento Sans"/>
              <a:buNone/>
            </a:pPr>
            <a:r>
              <a:rPr b="0" i="0" lang="en-US" sz="3900" u="none">
                <a:solidFill>
                  <a:schemeClr val="lt2"/>
                </a:solidFill>
                <a:latin typeface="Quattrocento Sans"/>
                <a:ea typeface="Quattrocento Sans"/>
                <a:cs typeface="Quattrocento Sans"/>
                <a:sym typeface="Quattrocento Sans"/>
              </a:rPr>
              <a:t>Классификация Decision Tree</a:t>
            </a:r>
            <a:endParaRPr/>
          </a:p>
        </p:txBody>
      </p:sp>
      <p:sp>
        <p:nvSpPr>
          <p:cNvPr id="1003" name="Google Shape;1003;p91"/>
          <p:cNvSpPr txBox="1"/>
          <p:nvPr>
            <p:ph idx="4294967295" type="body"/>
          </p:nvPr>
        </p:nvSpPr>
        <p:spPr>
          <a:xfrm>
            <a:off x="665162" y="1984375"/>
            <a:ext cx="2306637" cy="417512"/>
          </a:xfrm>
          <a:prstGeom prst="rect">
            <a:avLst/>
          </a:prstGeom>
          <a:noFill/>
          <a:ln>
            <a:noFill/>
          </a:ln>
        </p:spPr>
        <p:txBody>
          <a:bodyPr anchorCtr="0" anchor="t" bIns="45700" lIns="91425" spcFirstLastPara="1" rIns="91425" wrap="square" tIns="45700">
            <a:spAutoFit/>
          </a:bodyPr>
          <a:lstStyle/>
          <a:p>
            <a:pPr indent="-157162" lvl="0" marL="157162" marR="0" rtl="0" algn="l">
              <a:lnSpc>
                <a:spcPct val="85000"/>
              </a:lnSpc>
              <a:spcBef>
                <a:spcPts val="0"/>
              </a:spcBef>
              <a:spcAft>
                <a:spcPts val="0"/>
              </a:spcAft>
              <a:buClr>
                <a:srgbClr val="F4BE96"/>
              </a:buClr>
              <a:buSzPts val="1920"/>
              <a:buFont typeface="Quattrocento Sans"/>
              <a:buNone/>
            </a:pPr>
            <a:r>
              <a:rPr b="0" i="1" lang="en-US" sz="2400" u="sng">
                <a:solidFill>
                  <a:srgbClr val="060000"/>
                </a:solidFill>
                <a:latin typeface="Quattrocento Sans"/>
                <a:ea typeface="Quattrocento Sans"/>
                <a:cs typeface="Quattrocento Sans"/>
                <a:sym typeface="Quattrocento Sans"/>
              </a:rPr>
              <a:t>Трактовка</a:t>
            </a:r>
            <a:endParaRPr/>
          </a:p>
        </p:txBody>
      </p:sp>
      <p:sp>
        <p:nvSpPr>
          <p:cNvPr id="1004" name="Google Shape;1004;p91"/>
          <p:cNvSpPr txBox="1"/>
          <p:nvPr/>
        </p:nvSpPr>
        <p:spPr>
          <a:xfrm>
            <a:off x="3292475" y="1984375"/>
            <a:ext cx="4689475" cy="550862"/>
          </a:xfrm>
          <a:prstGeom prst="rect">
            <a:avLst/>
          </a:prstGeom>
          <a:solidFill>
            <a:srgbClr val="F5F5F5"/>
          </a:solidFill>
          <a:ln>
            <a:noFill/>
          </a:ln>
        </p:spPr>
        <p:txBody>
          <a:bodyPr anchorCtr="0" anchor="ctr" bIns="88850" lIns="0" spcFirstLastPara="1" rIns="0" wrap="square" tIns="0">
            <a:spAutoFit/>
          </a:bodyPr>
          <a:lstStyle/>
          <a:p>
            <a:pPr indent="0" lvl="0" marL="0" marR="0" rtl="0" algn="l">
              <a:lnSpc>
                <a:spcPct val="100000"/>
              </a:lnSpc>
              <a:spcBef>
                <a:spcPts val="0"/>
              </a:spcBef>
              <a:spcAft>
                <a:spcPts val="0"/>
              </a:spcAft>
              <a:buClr>
                <a:srgbClr val="000000"/>
              </a:buClr>
              <a:buSzPts val="1000"/>
              <a:buFont typeface="Courier New"/>
              <a:buNone/>
            </a:pPr>
            <a:r>
              <a:rPr b="0" i="0" lang="en-US" sz="1000" u="none">
                <a:solidFill>
                  <a:srgbClr val="000000"/>
                </a:solidFill>
                <a:latin typeface="Courier New"/>
                <a:ea typeface="Courier New"/>
                <a:cs typeface="Courier New"/>
                <a:sym typeface="Courier New"/>
              </a:rPr>
              <a:t>tree1</a:t>
            </a:r>
            <a:r>
              <a:rPr b="0" i="0" lang="en-US" sz="1000" u="none">
                <a:solidFill>
                  <a:srgbClr val="687687"/>
                </a:solidFill>
                <a:latin typeface="Courier New"/>
                <a:ea typeface="Courier New"/>
                <a:cs typeface="Courier New"/>
                <a:sym typeface="Courier New"/>
              </a:rPr>
              <a:t>&lt;-</a:t>
            </a:r>
            <a:r>
              <a:rPr b="0" i="0" lang="en-US" sz="1000" u="none">
                <a:solidFill>
                  <a:srgbClr val="000000"/>
                </a:solidFill>
                <a:latin typeface="Courier New"/>
                <a:ea typeface="Courier New"/>
                <a:cs typeface="Courier New"/>
                <a:sym typeface="Courier New"/>
              </a:rPr>
              <a:t>ctree</a:t>
            </a:r>
            <a:r>
              <a:rPr b="0" i="0" lang="en-US" sz="1000" u="none">
                <a:solidFill>
                  <a:srgbClr val="687687"/>
                </a:solidFill>
                <a:latin typeface="Courier New"/>
                <a:ea typeface="Courier New"/>
                <a:cs typeface="Courier New"/>
                <a:sym typeface="Courier New"/>
              </a:rPr>
              <a:t>(</a:t>
            </a:r>
            <a:r>
              <a:rPr b="0" i="0" lang="en-US" sz="1000" u="none">
                <a:solidFill>
                  <a:srgbClr val="000000"/>
                </a:solidFill>
                <a:latin typeface="Courier New"/>
                <a:ea typeface="Courier New"/>
                <a:cs typeface="Courier New"/>
                <a:sym typeface="Courier New"/>
              </a:rPr>
              <a:t>class</a:t>
            </a:r>
            <a:r>
              <a:rPr b="0" i="0" lang="en-US" sz="1000" u="none">
                <a:solidFill>
                  <a:srgbClr val="687687"/>
                </a:solidFill>
                <a:latin typeface="Courier New"/>
                <a:ea typeface="Courier New"/>
                <a:cs typeface="Courier New"/>
                <a:sym typeface="Courier New"/>
              </a:rPr>
              <a:t>~</a:t>
            </a:r>
            <a:r>
              <a:rPr b="0" i="0" lang="en-US" sz="1000" u="none">
                <a:solidFill>
                  <a:srgbClr val="000000"/>
                </a:solidFill>
                <a:latin typeface="Courier New"/>
                <a:ea typeface="Courier New"/>
                <a:cs typeface="Courier New"/>
                <a:sym typeface="Courier New"/>
              </a:rPr>
              <a:t>sepal.length</a:t>
            </a:r>
            <a:r>
              <a:rPr b="0" i="0" lang="en-US" sz="1000" u="none">
                <a:solidFill>
                  <a:srgbClr val="333333"/>
                </a:solidFill>
                <a:latin typeface="Courier New"/>
                <a:ea typeface="Courier New"/>
                <a:cs typeface="Courier New"/>
                <a:sym typeface="Courier New"/>
              </a:rPr>
              <a:t>, </a:t>
            </a:r>
            <a:r>
              <a:rPr b="0" i="0" lang="en-US" sz="1000" u="none">
                <a:solidFill>
                  <a:srgbClr val="000000"/>
                </a:solidFill>
                <a:latin typeface="Courier New"/>
                <a:ea typeface="Courier New"/>
                <a:cs typeface="Courier New"/>
                <a:sym typeface="Courier New"/>
              </a:rPr>
              <a:t>data</a:t>
            </a:r>
            <a:r>
              <a:rPr b="0" i="0" lang="en-US" sz="1000" u="none">
                <a:solidFill>
                  <a:srgbClr val="687687"/>
                </a:solidFill>
                <a:latin typeface="Courier New"/>
                <a:ea typeface="Courier New"/>
                <a:cs typeface="Courier New"/>
                <a:sym typeface="Courier New"/>
              </a:rPr>
              <a:t>=</a:t>
            </a:r>
            <a:r>
              <a:rPr b="0" i="0" lang="en-US" sz="1000" u="none">
                <a:solidFill>
                  <a:srgbClr val="000000"/>
                </a:solidFill>
                <a:latin typeface="Courier New"/>
                <a:ea typeface="Courier New"/>
                <a:cs typeface="Courier New"/>
                <a:sym typeface="Courier New"/>
              </a:rPr>
              <a:t>iris</a:t>
            </a:r>
            <a:r>
              <a:rPr b="0" i="0" lang="en-US" sz="1000" u="none">
                <a:solidFill>
                  <a:srgbClr val="687687"/>
                </a:solidFill>
                <a:latin typeface="Courier New"/>
                <a:ea typeface="Courier New"/>
                <a:cs typeface="Courier New"/>
                <a:sym typeface="Courier New"/>
              </a:rPr>
              <a:t>)</a:t>
            </a:r>
            <a:r>
              <a:rPr b="0" i="0" lang="en-US" sz="1000" u="none">
                <a:solidFill>
                  <a:srgbClr val="333333"/>
                </a:solidFill>
                <a:latin typeface="Courier New"/>
                <a:ea typeface="Courier New"/>
                <a:cs typeface="Courier New"/>
                <a:sym typeface="Courier New"/>
              </a:rPr>
              <a:t> </a:t>
            </a:r>
            <a:r>
              <a:rPr b="0" i="0" lang="en-US" sz="1000" u="none">
                <a:solidFill>
                  <a:srgbClr val="4C886B"/>
                </a:solidFill>
                <a:latin typeface="Courier New"/>
                <a:ea typeface="Courier New"/>
                <a:cs typeface="Courier New"/>
                <a:sym typeface="Courier New"/>
              </a:rPr>
              <a:t>#set the model for the tree, predicting class by sepal length , data set being used is iris </a:t>
            </a:r>
            <a:r>
              <a:rPr b="0" i="0" lang="en-US" sz="1000" u="none">
                <a:solidFill>
                  <a:srgbClr val="000000"/>
                </a:solidFill>
                <a:latin typeface="Courier New"/>
                <a:ea typeface="Courier New"/>
                <a:cs typeface="Courier New"/>
                <a:sym typeface="Courier New"/>
              </a:rPr>
              <a:t>plot</a:t>
            </a:r>
            <a:r>
              <a:rPr b="0" i="0" lang="en-US" sz="1000" u="none">
                <a:solidFill>
                  <a:srgbClr val="687687"/>
                </a:solidFill>
                <a:latin typeface="Courier New"/>
                <a:ea typeface="Courier New"/>
                <a:cs typeface="Courier New"/>
                <a:sym typeface="Courier New"/>
              </a:rPr>
              <a:t>(</a:t>
            </a:r>
            <a:r>
              <a:rPr b="0" i="0" lang="en-US" sz="1000" u="none">
                <a:solidFill>
                  <a:srgbClr val="000000"/>
                </a:solidFill>
                <a:latin typeface="Courier New"/>
                <a:ea typeface="Courier New"/>
                <a:cs typeface="Courier New"/>
                <a:sym typeface="Courier New"/>
              </a:rPr>
              <a:t>tree1</a:t>
            </a:r>
            <a:r>
              <a:rPr b="0" i="0" lang="en-US" sz="1000" u="none">
                <a:solidFill>
                  <a:srgbClr val="687687"/>
                </a:solidFill>
                <a:latin typeface="Courier New"/>
                <a:ea typeface="Courier New"/>
                <a:cs typeface="Courier New"/>
                <a:sym typeface="Courier New"/>
              </a:rPr>
              <a:t>)</a:t>
            </a:r>
            <a:r>
              <a:rPr b="0" i="0" lang="en-US" sz="1000" u="none">
                <a:solidFill>
                  <a:srgbClr val="333333"/>
                </a:solidFill>
                <a:latin typeface="Courier New"/>
                <a:ea typeface="Courier New"/>
                <a:cs typeface="Courier New"/>
                <a:sym typeface="Courier New"/>
              </a:rPr>
              <a:t> </a:t>
            </a:r>
            <a:r>
              <a:rPr b="0" i="0" lang="en-US" sz="1000" u="none">
                <a:solidFill>
                  <a:srgbClr val="4C886B"/>
                </a:solidFill>
                <a:latin typeface="Courier New"/>
                <a:ea typeface="Courier New"/>
                <a:cs typeface="Courier New"/>
                <a:sym typeface="Courier New"/>
              </a:rPr>
              <a:t>#view the decision tree</a:t>
            </a:r>
            <a:r>
              <a:rPr b="1" i="0" lang="en-US" sz="800" u="none">
                <a:solidFill>
                  <a:schemeClr val="lt1"/>
                </a:solidFill>
                <a:latin typeface="Quattrocento Sans"/>
                <a:ea typeface="Quattrocento Sans"/>
                <a:cs typeface="Quattrocento Sans"/>
                <a:sym typeface="Quattrocento Sans"/>
              </a:rPr>
              <a:t> </a:t>
            </a:r>
            <a:endParaRPr/>
          </a:p>
        </p:txBody>
      </p:sp>
      <p:pic>
        <p:nvPicPr>
          <p:cNvPr descr="https://ademos.people.uic.edu/Chapter24_files/figure-html/unnamed-chunk-4-1.png" id="1005" name="Google Shape;1005;p91"/>
          <p:cNvPicPr preferRelativeResize="0"/>
          <p:nvPr/>
        </p:nvPicPr>
        <p:blipFill rotWithShape="1">
          <a:blip r:embed="rId3">
            <a:alphaModFix/>
          </a:blip>
          <a:srcRect b="0" l="0" r="0" t="0"/>
          <a:stretch/>
        </p:blipFill>
        <p:spPr>
          <a:xfrm>
            <a:off x="4865687" y="2535237"/>
            <a:ext cx="3914775" cy="2797175"/>
          </a:xfrm>
          <a:prstGeom prst="rect">
            <a:avLst/>
          </a:prstGeom>
          <a:noFill/>
          <a:ln>
            <a:noFill/>
          </a:ln>
        </p:spPr>
      </p:pic>
      <p:sp>
        <p:nvSpPr>
          <p:cNvPr id="1006" name="Google Shape;1006;p91"/>
          <p:cNvSpPr txBox="1"/>
          <p:nvPr/>
        </p:nvSpPr>
        <p:spPr>
          <a:xfrm>
            <a:off x="482600" y="2522537"/>
            <a:ext cx="4572000" cy="31384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55555"/>
              </a:buClr>
              <a:buSzPts val="1800"/>
              <a:buFont typeface="Helvetica Neue"/>
              <a:buNone/>
            </a:pPr>
            <a:r>
              <a:rPr b="0" i="0" lang="en-US" sz="1800" u="none">
                <a:solidFill>
                  <a:srgbClr val="555555"/>
                </a:solidFill>
                <a:latin typeface="Helvetica Neue"/>
                <a:ea typeface="Helvetica Neue"/>
                <a:cs typeface="Helvetica Neue"/>
                <a:sym typeface="Helvetica Neue"/>
              </a:rPr>
              <a:t>В четвертой и последней группе остались 12 цветов. Все эти цветы относятся к третьему классу ирисов: Virginica.</a:t>
            </a:r>
            <a:endParaRPr/>
          </a:p>
          <a:p>
            <a:pPr indent="0" lvl="0" marL="0" marR="0" rtl="0" algn="l">
              <a:lnSpc>
                <a:spcPct val="100000"/>
              </a:lnSpc>
              <a:spcBef>
                <a:spcPts val="0"/>
              </a:spcBef>
              <a:spcAft>
                <a:spcPts val="0"/>
              </a:spcAft>
              <a:buClr>
                <a:srgbClr val="555555"/>
              </a:buClr>
              <a:buSzPts val="1800"/>
              <a:buFont typeface="Helvetica Neue"/>
              <a:buNone/>
            </a:pPr>
            <a:r>
              <a:rPr b="0" i="0" lang="en-US" sz="1800" u="none">
                <a:solidFill>
                  <a:srgbClr val="555555"/>
                </a:solidFill>
                <a:latin typeface="Helvetica Neue"/>
                <a:ea typeface="Helvetica Neue"/>
                <a:cs typeface="Helvetica Neue"/>
                <a:sym typeface="Helvetica Neue"/>
              </a:rPr>
              <a:t>В целом, дерево решений говорит нам, что цветки ириса Setosa обычно имеют более короткие чашелистики, цветки разноцветного ириса имеют чашелистики средней длины, а цветки ириса Virginica имеют самую большую длину чашелистиков.</a:t>
            </a:r>
            <a:endParaRPr/>
          </a:p>
        </p:txBody>
      </p:sp>
      <p:sp>
        <p:nvSpPr>
          <p:cNvPr id="1007" name="Google Shape;1007;p91"/>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92"/>
          <p:cNvSpPr/>
          <p:nvPr/>
        </p:nvSpPr>
        <p:spPr>
          <a:xfrm>
            <a:off x="792162" y="611187"/>
            <a:ext cx="7431087" cy="1089025"/>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1014" name="Google Shape;1014;p92"/>
          <p:cNvSpPr/>
          <p:nvPr/>
        </p:nvSpPr>
        <p:spPr>
          <a:xfrm>
            <a:off x="344487" y="1839912"/>
            <a:ext cx="8494712" cy="4633912"/>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1015" name="Google Shape;1015;p92"/>
          <p:cNvSpPr txBox="1"/>
          <p:nvPr/>
        </p:nvSpPr>
        <p:spPr>
          <a:xfrm>
            <a:off x="969962" y="862012"/>
            <a:ext cx="7089775" cy="604837"/>
          </a:xfrm>
          <a:prstGeom prst="rect">
            <a:avLst/>
          </a:prstGeom>
          <a:noFill/>
          <a:ln>
            <a:noFill/>
          </a:ln>
        </p:spPr>
        <p:txBody>
          <a:bodyPr anchorCtr="0" anchor="ctr" bIns="45700" lIns="91425" spcFirstLastPara="1" rIns="91425" wrap="square" tIns="45700">
            <a:spAutoFit/>
          </a:bodyPr>
          <a:lstStyle/>
          <a:p>
            <a:pPr indent="0" lvl="0" marL="0" marR="0" rtl="0" algn="l">
              <a:lnSpc>
                <a:spcPct val="85000"/>
              </a:lnSpc>
              <a:spcBef>
                <a:spcPts val="0"/>
              </a:spcBef>
              <a:spcAft>
                <a:spcPts val="0"/>
              </a:spcAft>
              <a:buClr>
                <a:schemeClr val="lt2"/>
              </a:buClr>
              <a:buSzPts val="3900"/>
              <a:buFont typeface="Quattrocento Sans"/>
              <a:buNone/>
            </a:pPr>
            <a:r>
              <a:rPr b="0" i="0" lang="en-US" sz="3900" u="none">
                <a:solidFill>
                  <a:schemeClr val="lt2"/>
                </a:solidFill>
                <a:latin typeface="Quattrocento Sans"/>
                <a:ea typeface="Quattrocento Sans"/>
                <a:cs typeface="Quattrocento Sans"/>
                <a:sym typeface="Quattrocento Sans"/>
              </a:rPr>
              <a:t>Классификация Decision Tree</a:t>
            </a:r>
            <a:endParaRPr/>
          </a:p>
        </p:txBody>
      </p:sp>
      <p:sp>
        <p:nvSpPr>
          <p:cNvPr id="1016" name="Google Shape;1016;p92"/>
          <p:cNvSpPr txBox="1"/>
          <p:nvPr>
            <p:ph idx="4294967295" type="body"/>
          </p:nvPr>
        </p:nvSpPr>
        <p:spPr>
          <a:xfrm>
            <a:off x="792162" y="2001837"/>
            <a:ext cx="1581150" cy="927100"/>
          </a:xfrm>
          <a:prstGeom prst="rect">
            <a:avLst/>
          </a:prstGeom>
          <a:noFill/>
          <a:ln cap="flat" cmpd="sng" w="9525">
            <a:solidFill>
              <a:srgbClr val="000000"/>
            </a:solidFill>
            <a:prstDash val="solid"/>
            <a:miter lim="524288"/>
            <a:headEnd len="sm" w="sm" type="none"/>
            <a:tailEnd len="sm" w="sm" type="none"/>
          </a:ln>
        </p:spPr>
        <p:txBody>
          <a:bodyPr anchorCtr="0" anchor="t" bIns="45700" lIns="91425" spcFirstLastPara="1" rIns="91425" wrap="square" tIns="45700">
            <a:spAutoFit/>
          </a:bodyPr>
          <a:lstStyle/>
          <a:p>
            <a:pPr indent="-306387" lvl="1" marL="473075" marR="0" rtl="0" algn="l">
              <a:lnSpc>
                <a:spcPct val="85000"/>
              </a:lnSpc>
              <a:spcBef>
                <a:spcPts val="0"/>
              </a:spcBef>
              <a:spcAft>
                <a:spcPts val="0"/>
              </a:spcAft>
              <a:buClr>
                <a:srgbClr val="FFFFFF"/>
              </a:buClr>
              <a:buSzPts val="1275"/>
              <a:buFont typeface="Quattrocento Sans"/>
              <a:buNone/>
            </a:pPr>
            <a:r>
              <a:t/>
            </a:r>
            <a:endParaRPr b="0" i="0" sz="1700" u="none" cap="none" strike="noStrike">
              <a:solidFill>
                <a:srgbClr val="060000"/>
              </a:solidFill>
              <a:latin typeface="Quattrocento Sans"/>
              <a:ea typeface="Quattrocento Sans"/>
              <a:cs typeface="Quattrocento Sans"/>
              <a:sym typeface="Quattrocento Sans"/>
            </a:endParaRPr>
          </a:p>
          <a:p>
            <a:pPr indent="-306387" lvl="1" marL="473075" marR="0" rtl="0" algn="l">
              <a:lnSpc>
                <a:spcPct val="85000"/>
              </a:lnSpc>
              <a:spcBef>
                <a:spcPts val="425"/>
              </a:spcBef>
              <a:spcAft>
                <a:spcPts val="0"/>
              </a:spcAft>
              <a:buClr>
                <a:srgbClr val="FFFFFF"/>
              </a:buClr>
              <a:buSzPts val="1275"/>
              <a:buFont typeface="Quattrocento Sans"/>
              <a:buNone/>
            </a:pPr>
            <a:r>
              <a:rPr b="1" i="0" lang="en-US" sz="1700" u="none" cap="none" strike="noStrike">
                <a:solidFill>
                  <a:srgbClr val="060000"/>
                </a:solidFill>
                <a:latin typeface="Quattrocento Sans"/>
                <a:ea typeface="Quattrocento Sans"/>
                <a:cs typeface="Quattrocento Sans"/>
                <a:sym typeface="Quattrocento Sans"/>
              </a:rPr>
              <a:t>&gt;dev.off()</a:t>
            </a:r>
            <a:endParaRPr/>
          </a:p>
          <a:p>
            <a:pPr indent="-248603" lvl="0" marL="334963" marR="0" rtl="0" algn="l">
              <a:lnSpc>
                <a:spcPct val="85000"/>
              </a:lnSpc>
              <a:spcBef>
                <a:spcPts val="425"/>
              </a:spcBef>
              <a:spcAft>
                <a:spcPts val="0"/>
              </a:spcAft>
              <a:buClr>
                <a:srgbClr val="F4BE96"/>
              </a:buClr>
              <a:buSzPts val="1360"/>
              <a:buFont typeface="Quattrocento Sans"/>
              <a:buNone/>
            </a:pPr>
            <a:r>
              <a:t/>
            </a:r>
            <a:endParaRPr b="1" i="0" sz="1700" u="none" cap="none" strike="noStrike">
              <a:solidFill>
                <a:srgbClr val="060000"/>
              </a:solidFill>
              <a:latin typeface="Quattrocento Sans"/>
              <a:ea typeface="Quattrocento Sans"/>
              <a:cs typeface="Quattrocento Sans"/>
              <a:sym typeface="Quattrocento Sans"/>
            </a:endParaRPr>
          </a:p>
        </p:txBody>
      </p:sp>
      <p:sp>
        <p:nvSpPr>
          <p:cNvPr id="1017" name="Google Shape;1017;p92"/>
          <p:cNvSpPr txBox="1"/>
          <p:nvPr/>
        </p:nvSpPr>
        <p:spPr>
          <a:xfrm>
            <a:off x="2738437" y="2005012"/>
            <a:ext cx="6196012" cy="9239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Quattrocento Sans"/>
              <a:buNone/>
            </a:pPr>
            <a:r>
              <a:rPr b="1" i="0" lang="en-US" sz="1800" u="none">
                <a:solidFill>
                  <a:schemeClr val="dk1"/>
                </a:solidFill>
                <a:latin typeface="Quattrocento Sans"/>
                <a:ea typeface="Quattrocento Sans"/>
                <a:cs typeface="Quattrocento Sans"/>
                <a:sym typeface="Quattrocento Sans"/>
              </a:rPr>
              <a:t>Сброс настроек графического устройства </a:t>
            </a:r>
            <a:endParaRPr/>
          </a:p>
          <a:p>
            <a:pPr indent="0" lvl="0" marL="0" marR="0" rtl="0" algn="l">
              <a:lnSpc>
                <a:spcPct val="100000"/>
              </a:lnSpc>
              <a:spcBef>
                <a:spcPts val="0"/>
              </a:spcBef>
              <a:spcAft>
                <a:spcPts val="0"/>
              </a:spcAft>
              <a:buClr>
                <a:schemeClr val="dk1"/>
              </a:buClr>
              <a:buSzPts val="1800"/>
              <a:buFont typeface="Quattrocento Sans"/>
              <a:buNone/>
            </a:pPr>
            <a:r>
              <a:rPr b="1" i="0" lang="en-US" sz="1800" u="none">
                <a:solidFill>
                  <a:schemeClr val="dk1"/>
                </a:solidFill>
                <a:latin typeface="Quattrocento Sans"/>
                <a:ea typeface="Quattrocento Sans"/>
                <a:cs typeface="Quattrocento Sans"/>
                <a:sym typeface="Quattrocento Sans"/>
              </a:rPr>
              <a:t>приведет к удалению всех оставшихся параметров или настроек из предыдущих графиков. </a:t>
            </a:r>
            <a:endParaRPr/>
          </a:p>
        </p:txBody>
      </p:sp>
      <p:sp>
        <p:nvSpPr>
          <p:cNvPr id="1018" name="Google Shape;1018;p92"/>
          <p:cNvSpPr/>
          <p:nvPr/>
        </p:nvSpPr>
        <p:spPr>
          <a:xfrm>
            <a:off x="2198687" y="2282825"/>
            <a:ext cx="539750" cy="365125"/>
          </a:xfrm>
          <a:prstGeom prst="rightArrow">
            <a:avLst>
              <a:gd fmla="val 14294" name="adj1"/>
              <a:gd fmla="val 50000" name="adj2"/>
            </a:avLst>
          </a:prstGeom>
          <a:solidFill>
            <a:srgbClr val="F9771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1019" name="Google Shape;1019;p92"/>
          <p:cNvSpPr txBox="1"/>
          <p:nvPr/>
        </p:nvSpPr>
        <p:spPr>
          <a:xfrm>
            <a:off x="366712" y="3068637"/>
            <a:ext cx="8520112" cy="2862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Quattrocento Sans"/>
              <a:buNone/>
            </a:pPr>
            <a:r>
              <a:rPr b="1" i="0" lang="en-US" sz="1800" u="none">
                <a:solidFill>
                  <a:schemeClr val="dk1"/>
                </a:solidFill>
                <a:latin typeface="Quattrocento Sans"/>
                <a:ea typeface="Quattrocento Sans"/>
                <a:cs typeface="Quattrocento Sans"/>
                <a:sym typeface="Quattrocento Sans"/>
              </a:rPr>
              <a:t>Предыдущие настройки  могут привести к  нежелательному поведению или ошибкам в текущем построении графика.  </a:t>
            </a:r>
            <a:endParaRPr/>
          </a:p>
          <a:p>
            <a:pPr indent="0" lvl="0" marL="0" marR="0" rtl="0" algn="l">
              <a:lnSpc>
                <a:spcPct val="100000"/>
              </a:lnSpc>
              <a:spcBef>
                <a:spcPts val="0"/>
              </a:spcBef>
              <a:spcAft>
                <a:spcPts val="0"/>
              </a:spcAft>
              <a:buClr>
                <a:schemeClr val="dk1"/>
              </a:buClr>
              <a:buSzPts val="1800"/>
              <a:buFont typeface="Quattrocento Sans"/>
              <a:buNone/>
            </a:pPr>
            <a:r>
              <a:rPr b="1" i="0" lang="en-US" sz="1800" u="none">
                <a:solidFill>
                  <a:schemeClr val="dk1"/>
                </a:solidFill>
                <a:latin typeface="Quattrocento Sans"/>
                <a:ea typeface="Quattrocento Sans"/>
                <a:cs typeface="Quattrocento Sans"/>
                <a:sym typeface="Quattrocento Sans"/>
              </a:rPr>
              <a:t>Чтобы исправить это поведение, иногда лучше всего сбросить графическое устройство, а затем снова попробовать рисовать график.</a:t>
            </a:r>
            <a:endParaRPr/>
          </a:p>
          <a:p>
            <a:pPr indent="0" lvl="0" marL="0" marR="0" rtl="0" algn="l">
              <a:lnSpc>
                <a:spcPct val="100000"/>
              </a:lnSpc>
              <a:spcBef>
                <a:spcPts val="0"/>
              </a:spcBef>
              <a:spcAft>
                <a:spcPts val="0"/>
              </a:spcAft>
              <a:buClr>
                <a:schemeClr val="dk1"/>
              </a:buClr>
              <a:buSzPts val="1800"/>
              <a:buFont typeface="Quattrocento Sans"/>
              <a:buNone/>
            </a:pPr>
            <a:r>
              <a:rPr b="1" i="0" lang="en-US" sz="1800" u="none">
                <a:solidFill>
                  <a:schemeClr val="dk1"/>
                </a:solidFill>
                <a:latin typeface="Quattrocento Sans"/>
                <a:ea typeface="Quattrocento Sans"/>
                <a:cs typeface="Quattrocento Sans"/>
                <a:sym typeface="Quattrocento Sans"/>
              </a:rPr>
              <a:t> Последующие графики будут использовать настройки графики по умолчанию. Чтобы сбросить настройки графического устройства, вызовите из консоли следующий код: </a:t>
            </a:r>
            <a:r>
              <a:rPr b="1" i="1" lang="en-US" sz="1800" u="none">
                <a:solidFill>
                  <a:srgbClr val="0070C0"/>
                </a:solidFill>
                <a:latin typeface="Quattrocento Sans"/>
                <a:ea typeface="Quattrocento Sans"/>
                <a:cs typeface="Quattrocento Sans"/>
                <a:sym typeface="Quattrocento Sans"/>
              </a:rPr>
              <a:t>&gt; dev.off()</a:t>
            </a:r>
            <a:endParaRPr/>
          </a:p>
          <a:p>
            <a:pPr indent="0" lvl="0" marL="0" marR="0" rtl="0" algn="l">
              <a:lnSpc>
                <a:spcPct val="100000"/>
              </a:lnSpc>
              <a:spcBef>
                <a:spcPts val="0"/>
              </a:spcBef>
              <a:spcAft>
                <a:spcPts val="0"/>
              </a:spcAft>
              <a:buClr>
                <a:schemeClr val="lt1"/>
              </a:buClr>
              <a:buSzPts val="1800"/>
              <a:buFont typeface="Quattrocento Sans"/>
              <a:buNone/>
            </a:pPr>
            <a:r>
              <a:t/>
            </a:r>
            <a:endParaRPr b="1" i="0" sz="1800" u="none">
              <a:solidFill>
                <a:schemeClr val="dk1"/>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chemeClr val="dk1"/>
              </a:buClr>
              <a:buSzPts val="1800"/>
              <a:buFont typeface="Quattrocento Sans"/>
              <a:buNone/>
            </a:pPr>
            <a:r>
              <a:rPr b="1" i="0" lang="en-US" sz="1800" u="none">
                <a:solidFill>
                  <a:schemeClr val="dk1"/>
                </a:solidFill>
                <a:latin typeface="Quattrocento Sans"/>
                <a:ea typeface="Quattrocento Sans"/>
                <a:cs typeface="Quattrocento Sans"/>
                <a:sym typeface="Quattrocento Sans"/>
              </a:rPr>
              <a:t>Если открыто несколько графических устройств, эту команду надо повторять до тех пор, пока на выходе не появится нулевое устройство:</a:t>
            </a:r>
            <a:endParaRPr/>
          </a:p>
        </p:txBody>
      </p:sp>
      <p:pic>
        <p:nvPicPr>
          <p:cNvPr id="1020" name="Google Shape;1020;p92"/>
          <p:cNvPicPr preferRelativeResize="0"/>
          <p:nvPr/>
        </p:nvPicPr>
        <p:blipFill rotWithShape="1">
          <a:blip r:embed="rId3">
            <a:alphaModFix/>
          </a:blip>
          <a:srcRect b="0" l="0" r="0" t="0"/>
          <a:stretch/>
        </p:blipFill>
        <p:spPr>
          <a:xfrm>
            <a:off x="3803650" y="5857875"/>
            <a:ext cx="1406525" cy="590550"/>
          </a:xfrm>
          <a:prstGeom prst="rect">
            <a:avLst/>
          </a:prstGeom>
          <a:noFill/>
          <a:ln>
            <a:noFill/>
          </a:ln>
        </p:spPr>
      </p:pic>
      <p:sp>
        <p:nvSpPr>
          <p:cNvPr id="1021" name="Google Shape;1021;p92"/>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93"/>
          <p:cNvSpPr/>
          <p:nvPr/>
        </p:nvSpPr>
        <p:spPr>
          <a:xfrm>
            <a:off x="344487" y="1839912"/>
            <a:ext cx="8391525" cy="4637087"/>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1028" name="Google Shape;1028;p93"/>
          <p:cNvSpPr txBox="1"/>
          <p:nvPr>
            <p:ph idx="4294967295" type="body"/>
          </p:nvPr>
        </p:nvSpPr>
        <p:spPr>
          <a:xfrm>
            <a:off x="600075" y="2084387"/>
            <a:ext cx="3848100" cy="950912"/>
          </a:xfrm>
          <a:prstGeom prst="rect">
            <a:avLst/>
          </a:prstGeom>
          <a:noFill/>
          <a:ln>
            <a:noFill/>
          </a:ln>
        </p:spPr>
        <p:txBody>
          <a:bodyPr anchorCtr="0" anchor="t" bIns="45700" lIns="91425" spcFirstLastPara="1" rIns="91425" wrap="square" tIns="45700">
            <a:spAutoFit/>
          </a:bodyPr>
          <a:lstStyle/>
          <a:p>
            <a:pPr indent="-157162" lvl="0" marL="157162" marR="0" rtl="0" algn="l">
              <a:lnSpc>
                <a:spcPct val="85000"/>
              </a:lnSpc>
              <a:spcBef>
                <a:spcPts val="0"/>
              </a:spcBef>
              <a:spcAft>
                <a:spcPts val="0"/>
              </a:spcAft>
              <a:buClr>
                <a:srgbClr val="F4BE96"/>
              </a:buClr>
              <a:buSzPts val="1920"/>
              <a:buFont typeface="Quattrocento Sans"/>
              <a:buNone/>
            </a:pPr>
            <a:r>
              <a:rPr b="0" i="1" lang="en-US" sz="2400" u="sng">
                <a:solidFill>
                  <a:srgbClr val="060000"/>
                </a:solidFill>
                <a:latin typeface="Quattrocento Sans"/>
                <a:ea typeface="Quattrocento Sans"/>
                <a:cs typeface="Quattrocento Sans"/>
                <a:sym typeface="Quattrocento Sans"/>
              </a:rPr>
              <a:t>Визуализация</a:t>
            </a:r>
            <a:endParaRPr/>
          </a:p>
          <a:p>
            <a:pPr indent="-157162" lvl="0" marL="157162" marR="0" rtl="0" algn="l">
              <a:lnSpc>
                <a:spcPct val="85000"/>
              </a:lnSpc>
              <a:spcBef>
                <a:spcPts val="425"/>
              </a:spcBef>
              <a:spcAft>
                <a:spcPts val="0"/>
              </a:spcAft>
              <a:buClr>
                <a:srgbClr val="F4BE96"/>
              </a:buClr>
              <a:buSzPts val="1360"/>
              <a:buFont typeface="Quattrocento Sans"/>
              <a:buNone/>
            </a:pPr>
            <a:r>
              <a:rPr b="1" i="0" lang="en-US" sz="1700" u="none">
                <a:solidFill>
                  <a:srgbClr val="0070C0"/>
                </a:solidFill>
                <a:latin typeface="Quattrocento Sans"/>
                <a:ea typeface="Quattrocento Sans"/>
                <a:cs typeface="Quattrocento Sans"/>
                <a:sym typeface="Quattrocento Sans"/>
              </a:rPr>
              <a:t>&gt;plot(iris_ctree, type="simple")</a:t>
            </a:r>
            <a:endParaRPr/>
          </a:p>
        </p:txBody>
      </p:sp>
      <p:sp>
        <p:nvSpPr>
          <p:cNvPr id="1029" name="Google Shape;1029;p93"/>
          <p:cNvSpPr/>
          <p:nvPr/>
        </p:nvSpPr>
        <p:spPr>
          <a:xfrm>
            <a:off x="792162" y="612775"/>
            <a:ext cx="7431087" cy="879475"/>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1030" name="Google Shape;1030;p93"/>
          <p:cNvSpPr txBox="1"/>
          <p:nvPr/>
        </p:nvSpPr>
        <p:spPr>
          <a:xfrm>
            <a:off x="792162" y="739775"/>
            <a:ext cx="7239000" cy="603250"/>
          </a:xfrm>
          <a:prstGeom prst="rect">
            <a:avLst/>
          </a:prstGeom>
          <a:noFill/>
          <a:ln>
            <a:noFill/>
          </a:ln>
        </p:spPr>
        <p:txBody>
          <a:bodyPr anchorCtr="0" anchor="ctr" bIns="45700" lIns="91425" spcFirstLastPara="1" rIns="91425" wrap="square" tIns="45700">
            <a:spAutoFit/>
          </a:bodyPr>
          <a:lstStyle/>
          <a:p>
            <a:pPr indent="0" lvl="0" marL="0" marR="0" rtl="0" algn="l">
              <a:lnSpc>
                <a:spcPct val="85000"/>
              </a:lnSpc>
              <a:spcBef>
                <a:spcPts val="0"/>
              </a:spcBef>
              <a:spcAft>
                <a:spcPts val="0"/>
              </a:spcAft>
              <a:buClr>
                <a:schemeClr val="lt2"/>
              </a:buClr>
              <a:buSzPts val="3900"/>
              <a:buFont typeface="Quattrocento Sans"/>
              <a:buNone/>
            </a:pPr>
            <a:r>
              <a:rPr b="0" i="0" lang="en-US" sz="3900" u="none">
                <a:solidFill>
                  <a:schemeClr val="lt2"/>
                </a:solidFill>
                <a:latin typeface="Quattrocento Sans"/>
                <a:ea typeface="Quattrocento Sans"/>
                <a:cs typeface="Quattrocento Sans"/>
                <a:sym typeface="Quattrocento Sans"/>
              </a:rPr>
              <a:t>Классификация: Decision Tree</a:t>
            </a:r>
            <a:endParaRPr/>
          </a:p>
        </p:txBody>
      </p:sp>
      <p:pic>
        <p:nvPicPr>
          <p:cNvPr id="1031" name="Google Shape;1031;p93"/>
          <p:cNvPicPr preferRelativeResize="0"/>
          <p:nvPr/>
        </p:nvPicPr>
        <p:blipFill rotWithShape="1">
          <a:blip r:embed="rId3">
            <a:alphaModFix/>
          </a:blip>
          <a:srcRect b="0" l="0" r="0" t="0"/>
          <a:stretch/>
        </p:blipFill>
        <p:spPr>
          <a:xfrm>
            <a:off x="542925" y="2847975"/>
            <a:ext cx="8091487" cy="3200400"/>
          </a:xfrm>
          <a:prstGeom prst="rect">
            <a:avLst/>
          </a:prstGeom>
          <a:noFill/>
          <a:ln>
            <a:noFill/>
          </a:ln>
        </p:spPr>
      </p:pic>
      <p:sp>
        <p:nvSpPr>
          <p:cNvPr id="1032" name="Google Shape;1032;p93"/>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94"/>
          <p:cNvSpPr/>
          <p:nvPr/>
        </p:nvSpPr>
        <p:spPr>
          <a:xfrm>
            <a:off x="344487" y="1839912"/>
            <a:ext cx="8391525" cy="4835525"/>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1039" name="Google Shape;1039;p94"/>
          <p:cNvSpPr txBox="1"/>
          <p:nvPr/>
        </p:nvSpPr>
        <p:spPr>
          <a:xfrm>
            <a:off x="727075" y="5445125"/>
            <a:ext cx="7496175" cy="6397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60000"/>
              </a:buClr>
              <a:buSzPts val="1700"/>
              <a:buFont typeface="Arial"/>
              <a:buNone/>
            </a:pPr>
            <a:r>
              <a:rPr b="0" i="0" lang="en-US" sz="1700" u="none">
                <a:solidFill>
                  <a:srgbClr val="060000"/>
                </a:solidFill>
                <a:latin typeface="Arial"/>
                <a:ea typeface="Arial"/>
                <a:cs typeface="Arial"/>
                <a:sym typeface="Arial"/>
              </a:rPr>
              <a:t>Чтобы применить </a:t>
            </a:r>
            <a:r>
              <a:rPr b="0" i="1" lang="en-US" sz="1700" u="none">
                <a:solidFill>
                  <a:srgbClr val="060000"/>
                </a:solidFill>
                <a:latin typeface="Arial"/>
                <a:ea typeface="Arial"/>
                <a:cs typeface="Arial"/>
                <a:sym typeface="Arial"/>
              </a:rPr>
              <a:t>обученную модель</a:t>
            </a:r>
            <a:r>
              <a:rPr b="0" i="0" lang="en-US" sz="1700" u="none">
                <a:solidFill>
                  <a:srgbClr val="060000"/>
                </a:solidFill>
                <a:latin typeface="Arial"/>
                <a:ea typeface="Arial"/>
                <a:cs typeface="Arial"/>
                <a:sym typeface="Arial"/>
              </a:rPr>
              <a:t> к произвольной выборке, необходимо использовать функцию predict с параметром newdata.</a:t>
            </a:r>
            <a:endParaRPr/>
          </a:p>
        </p:txBody>
      </p:sp>
      <p:sp>
        <p:nvSpPr>
          <p:cNvPr id="1040" name="Google Shape;1040;p94"/>
          <p:cNvSpPr txBox="1"/>
          <p:nvPr>
            <p:ph idx="4294967295" type="body"/>
          </p:nvPr>
        </p:nvSpPr>
        <p:spPr>
          <a:xfrm>
            <a:off x="446087" y="3770312"/>
            <a:ext cx="4356100" cy="1195387"/>
          </a:xfrm>
          <a:prstGeom prst="rect">
            <a:avLst/>
          </a:prstGeom>
          <a:noFill/>
          <a:ln>
            <a:noFill/>
          </a:ln>
        </p:spPr>
        <p:txBody>
          <a:bodyPr anchorCtr="0" anchor="t" bIns="45700" lIns="91425" spcFirstLastPara="1" rIns="91425" wrap="square" tIns="45700">
            <a:spAutoFit/>
          </a:bodyPr>
          <a:lstStyle/>
          <a:p>
            <a:pPr indent="-157162" lvl="0" marL="157162" marR="0" rtl="0" algn="l">
              <a:lnSpc>
                <a:spcPct val="85000"/>
              </a:lnSpc>
              <a:spcBef>
                <a:spcPts val="0"/>
              </a:spcBef>
              <a:spcAft>
                <a:spcPts val="0"/>
              </a:spcAft>
              <a:buClr>
                <a:srgbClr val="F4BE96"/>
              </a:buClr>
              <a:buSzPts val="1760"/>
              <a:buFont typeface="Quattrocento Sans"/>
              <a:buNone/>
            </a:pPr>
            <a:r>
              <a:rPr b="0" i="0" lang="en-US" sz="2200" u="none">
                <a:solidFill>
                  <a:srgbClr val="000000"/>
                </a:solidFill>
                <a:latin typeface="Droid Sans Mono"/>
                <a:ea typeface="Droid Sans Mono"/>
                <a:cs typeface="Droid Sans Mono"/>
                <a:sym typeface="Droid Sans Mono"/>
              </a:rPr>
              <a:t>     </a:t>
            </a:r>
            <a:r>
              <a:rPr b="1" i="0" lang="en-US" sz="1600" u="none">
                <a:solidFill>
                  <a:srgbClr val="000000"/>
                </a:solidFill>
                <a:latin typeface="Droid Sans Mono"/>
                <a:ea typeface="Droid Sans Mono"/>
                <a:cs typeface="Droid Sans Mono"/>
                <a:sym typeface="Droid Sans Mono"/>
              </a:rPr>
              <a:t>setosa versicolor virginica </a:t>
            </a:r>
            <a:endParaRPr/>
          </a:p>
          <a:p>
            <a:pPr indent="-157162" lvl="0" marL="157162" marR="0" rtl="0" algn="l">
              <a:lnSpc>
                <a:spcPct val="85000"/>
              </a:lnSpc>
              <a:spcBef>
                <a:spcPts val="400"/>
              </a:spcBef>
              <a:spcAft>
                <a:spcPts val="0"/>
              </a:spcAft>
              <a:buClr>
                <a:srgbClr val="F4BE96"/>
              </a:buClr>
              <a:buSzPts val="1280"/>
              <a:buFont typeface="Quattrocento Sans"/>
              <a:buNone/>
            </a:pPr>
            <a:r>
              <a:rPr b="1" i="0" lang="en-US" sz="1600" u="none">
                <a:solidFill>
                  <a:srgbClr val="000000"/>
                </a:solidFill>
                <a:latin typeface="Droid Sans Mono"/>
                <a:ea typeface="Droid Sans Mono"/>
                <a:cs typeface="Droid Sans Mono"/>
                <a:sym typeface="Droid Sans Mono"/>
              </a:rPr>
              <a:t>setosa     10       0          0 </a:t>
            </a:r>
            <a:endParaRPr/>
          </a:p>
          <a:p>
            <a:pPr indent="-157162" lvl="0" marL="157162" marR="0" rtl="0" algn="l">
              <a:lnSpc>
                <a:spcPct val="85000"/>
              </a:lnSpc>
              <a:spcBef>
                <a:spcPts val="400"/>
              </a:spcBef>
              <a:spcAft>
                <a:spcPts val="0"/>
              </a:spcAft>
              <a:buClr>
                <a:srgbClr val="F4BE96"/>
              </a:buClr>
              <a:buSzPts val="1280"/>
              <a:buFont typeface="Quattrocento Sans"/>
              <a:buNone/>
            </a:pPr>
            <a:r>
              <a:rPr b="1" i="0" lang="en-US" sz="1600" u="none">
                <a:solidFill>
                  <a:srgbClr val="000000"/>
                </a:solidFill>
                <a:latin typeface="Droid Sans Mono"/>
                <a:ea typeface="Droid Sans Mono"/>
                <a:cs typeface="Droid Sans Mono"/>
                <a:sym typeface="Droid Sans Mono"/>
              </a:rPr>
              <a:t>versicolor 0        12         2 </a:t>
            </a:r>
            <a:endParaRPr/>
          </a:p>
          <a:p>
            <a:pPr indent="-157162" lvl="0" marL="157162" marR="0" rtl="0" algn="l">
              <a:lnSpc>
                <a:spcPct val="85000"/>
              </a:lnSpc>
              <a:spcBef>
                <a:spcPts val="400"/>
              </a:spcBef>
              <a:spcAft>
                <a:spcPts val="0"/>
              </a:spcAft>
              <a:buClr>
                <a:srgbClr val="F4BE96"/>
              </a:buClr>
              <a:buSzPts val="1280"/>
              <a:buFont typeface="Quattrocento Sans"/>
              <a:buNone/>
            </a:pPr>
            <a:r>
              <a:rPr b="1" i="0" lang="en-US" sz="1600" u="none">
                <a:solidFill>
                  <a:srgbClr val="000000"/>
                </a:solidFill>
                <a:latin typeface="Droid Sans Mono"/>
                <a:ea typeface="Droid Sans Mono"/>
                <a:cs typeface="Droid Sans Mono"/>
                <a:sym typeface="Droid Sans Mono"/>
              </a:rPr>
              <a:t>virginica  0        0          14</a:t>
            </a:r>
            <a:endParaRPr/>
          </a:p>
        </p:txBody>
      </p:sp>
      <p:sp>
        <p:nvSpPr>
          <p:cNvPr id="1041" name="Google Shape;1041;p94"/>
          <p:cNvSpPr/>
          <p:nvPr/>
        </p:nvSpPr>
        <p:spPr>
          <a:xfrm>
            <a:off x="792162" y="612775"/>
            <a:ext cx="7431087" cy="879475"/>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1042" name="Google Shape;1042;p94"/>
          <p:cNvSpPr txBox="1"/>
          <p:nvPr/>
        </p:nvSpPr>
        <p:spPr>
          <a:xfrm>
            <a:off x="792162" y="739775"/>
            <a:ext cx="7239000" cy="603250"/>
          </a:xfrm>
          <a:prstGeom prst="rect">
            <a:avLst/>
          </a:prstGeom>
          <a:noFill/>
          <a:ln>
            <a:noFill/>
          </a:ln>
        </p:spPr>
        <p:txBody>
          <a:bodyPr anchorCtr="0" anchor="ctr" bIns="45700" lIns="91425" spcFirstLastPara="1" rIns="91425" wrap="square" tIns="45700">
            <a:spAutoFit/>
          </a:bodyPr>
          <a:lstStyle/>
          <a:p>
            <a:pPr indent="0" lvl="0" marL="0" marR="0" rtl="0" algn="l">
              <a:lnSpc>
                <a:spcPct val="85000"/>
              </a:lnSpc>
              <a:spcBef>
                <a:spcPts val="0"/>
              </a:spcBef>
              <a:spcAft>
                <a:spcPts val="0"/>
              </a:spcAft>
              <a:buClr>
                <a:schemeClr val="lt2"/>
              </a:buClr>
              <a:buSzPts val="3900"/>
              <a:buFont typeface="Quattrocento Sans"/>
              <a:buNone/>
            </a:pPr>
            <a:r>
              <a:rPr b="0" i="0" lang="en-US" sz="3900" u="none">
                <a:solidFill>
                  <a:schemeClr val="lt2"/>
                </a:solidFill>
                <a:latin typeface="Quattrocento Sans"/>
                <a:ea typeface="Quattrocento Sans"/>
                <a:cs typeface="Quattrocento Sans"/>
                <a:sym typeface="Quattrocento Sans"/>
              </a:rPr>
              <a:t>Классификация: Decision Tree</a:t>
            </a:r>
            <a:endParaRPr/>
          </a:p>
        </p:txBody>
      </p:sp>
      <p:pic>
        <p:nvPicPr>
          <p:cNvPr id="1043" name="Google Shape;1043;p94"/>
          <p:cNvPicPr preferRelativeResize="0"/>
          <p:nvPr/>
        </p:nvPicPr>
        <p:blipFill rotWithShape="1">
          <a:blip r:embed="rId3">
            <a:alphaModFix/>
          </a:blip>
          <a:srcRect b="0" l="0" r="0" t="0"/>
          <a:stretch/>
        </p:blipFill>
        <p:spPr>
          <a:xfrm>
            <a:off x="5113337" y="3689350"/>
            <a:ext cx="3252787" cy="1409700"/>
          </a:xfrm>
          <a:prstGeom prst="rect">
            <a:avLst/>
          </a:prstGeom>
          <a:noFill/>
          <a:ln>
            <a:noFill/>
          </a:ln>
        </p:spPr>
      </p:pic>
      <p:sp>
        <p:nvSpPr>
          <p:cNvPr id="1044" name="Google Shape;1044;p94"/>
          <p:cNvSpPr txBox="1"/>
          <p:nvPr/>
        </p:nvSpPr>
        <p:spPr>
          <a:xfrm>
            <a:off x="387350" y="2684462"/>
            <a:ext cx="7978775" cy="769937"/>
          </a:xfrm>
          <a:prstGeom prst="rect">
            <a:avLst/>
          </a:prstGeom>
          <a:noFill/>
          <a:ln>
            <a:noFill/>
          </a:ln>
        </p:spPr>
        <p:txBody>
          <a:bodyPr anchorCtr="0" anchor="t" bIns="45700" lIns="91425" spcFirstLastPara="1" rIns="91425" wrap="square" tIns="45700">
            <a:spAutoFit/>
          </a:bodyPr>
          <a:lstStyle/>
          <a:p>
            <a:pPr indent="-306387" lvl="1" marL="473075" marR="0" rtl="0" algn="l">
              <a:lnSpc>
                <a:spcPct val="100000"/>
              </a:lnSpc>
              <a:spcBef>
                <a:spcPts val="0"/>
              </a:spcBef>
              <a:spcAft>
                <a:spcPts val="0"/>
              </a:spcAft>
              <a:buClr>
                <a:srgbClr val="0070C0"/>
              </a:buClr>
              <a:buSzPts val="2200"/>
              <a:buFont typeface="Quattrocento Sans"/>
              <a:buNone/>
            </a:pPr>
            <a:r>
              <a:rPr b="1" i="0" lang="en-US" sz="2200" u="none" cap="none" strike="noStrike">
                <a:solidFill>
                  <a:srgbClr val="0070C0"/>
                </a:solidFill>
                <a:latin typeface="Quattrocento Sans"/>
                <a:ea typeface="Quattrocento Sans"/>
                <a:cs typeface="Quattrocento Sans"/>
                <a:sym typeface="Quattrocento Sans"/>
              </a:rPr>
              <a:t>&gt;test_predicted &lt;- predict(iris_ctree, newdata=testData)</a:t>
            </a:r>
            <a:endParaRPr/>
          </a:p>
          <a:p>
            <a:pPr indent="-306387" lvl="1" marL="473075" marR="0" rtl="0" algn="l">
              <a:lnSpc>
                <a:spcPct val="100000"/>
              </a:lnSpc>
              <a:spcBef>
                <a:spcPts val="0"/>
              </a:spcBef>
              <a:spcAft>
                <a:spcPts val="0"/>
              </a:spcAft>
              <a:buClr>
                <a:srgbClr val="0070C0"/>
              </a:buClr>
              <a:buSzPts val="2200"/>
              <a:buFont typeface="Quattrocento Sans"/>
              <a:buNone/>
            </a:pPr>
            <a:r>
              <a:rPr b="1" i="0" lang="en-US" sz="2200" u="none" cap="none" strike="noStrike">
                <a:solidFill>
                  <a:srgbClr val="0070C0"/>
                </a:solidFill>
                <a:latin typeface="Quattrocento Sans"/>
                <a:ea typeface="Quattrocento Sans"/>
                <a:cs typeface="Quattrocento Sans"/>
                <a:sym typeface="Quattrocento Sans"/>
              </a:rPr>
              <a:t>&gt;table(test_predicted, testData$Species)</a:t>
            </a:r>
            <a:endParaRPr/>
          </a:p>
        </p:txBody>
      </p:sp>
      <p:sp>
        <p:nvSpPr>
          <p:cNvPr id="1045" name="Google Shape;1045;p94"/>
          <p:cNvSpPr txBox="1"/>
          <p:nvPr/>
        </p:nvSpPr>
        <p:spPr>
          <a:xfrm>
            <a:off x="2811462" y="1989137"/>
            <a:ext cx="3327400" cy="461962"/>
          </a:xfrm>
          <a:prstGeom prst="rect">
            <a:avLst/>
          </a:prstGeom>
          <a:noFill/>
          <a:ln>
            <a:noFill/>
          </a:ln>
        </p:spPr>
        <p:txBody>
          <a:bodyPr anchorCtr="0" anchor="t" bIns="45700" lIns="91425" spcFirstLastPara="1" rIns="91425" wrap="square" tIns="45700">
            <a:spAutoFit/>
          </a:bodyPr>
          <a:lstStyle/>
          <a:p>
            <a:pPr indent="-157162" lvl="0" marL="157162" marR="0" rtl="0" algn="l">
              <a:lnSpc>
                <a:spcPct val="100000"/>
              </a:lnSpc>
              <a:spcBef>
                <a:spcPts val="0"/>
              </a:spcBef>
              <a:spcAft>
                <a:spcPts val="0"/>
              </a:spcAft>
              <a:buClr>
                <a:srgbClr val="060000"/>
              </a:buClr>
              <a:buSzPts val="2400"/>
              <a:buFont typeface="Quattrocento Sans"/>
              <a:buNone/>
            </a:pPr>
            <a:r>
              <a:rPr b="1" i="1" lang="en-US" sz="2400" u="sng">
                <a:solidFill>
                  <a:srgbClr val="060000"/>
                </a:solidFill>
                <a:latin typeface="Quattrocento Sans"/>
                <a:ea typeface="Quattrocento Sans"/>
                <a:cs typeface="Quattrocento Sans"/>
                <a:sym typeface="Quattrocento Sans"/>
              </a:rPr>
              <a:t>Применение модели</a:t>
            </a:r>
            <a:endParaRPr/>
          </a:p>
        </p:txBody>
      </p:sp>
    </p:spTree>
  </p:cSld>
  <p:clrMapOvr>
    <a:masterClrMapping/>
  </p:clrMapOvr>
  <p:transition spd="slow">
    <p:fade/>
  </p:transition>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95"/>
          <p:cNvSpPr/>
          <p:nvPr/>
        </p:nvSpPr>
        <p:spPr>
          <a:xfrm>
            <a:off x="792162" y="611187"/>
            <a:ext cx="7431087" cy="977900"/>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1052" name="Google Shape;1052;p95"/>
          <p:cNvSpPr/>
          <p:nvPr/>
        </p:nvSpPr>
        <p:spPr>
          <a:xfrm>
            <a:off x="344487" y="1839912"/>
            <a:ext cx="8391525" cy="4652962"/>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1053" name="Google Shape;1053;p95"/>
          <p:cNvSpPr txBox="1"/>
          <p:nvPr>
            <p:ph type="title"/>
          </p:nvPr>
        </p:nvSpPr>
        <p:spPr>
          <a:xfrm>
            <a:off x="1304925" y="744537"/>
            <a:ext cx="6470650" cy="593725"/>
          </a:xfrm>
          <a:prstGeom prst="rect">
            <a:avLst/>
          </a:prstGeom>
          <a:noFill/>
          <a:ln>
            <a:noFill/>
          </a:ln>
        </p:spPr>
        <p:txBody>
          <a:bodyPr anchorCtr="0" anchor="ctr" bIns="40675" lIns="81350" spcFirstLastPara="1" rIns="81350" wrap="square" tIns="40675">
            <a:spAutoFit/>
          </a:bodyPr>
          <a:lstStyle/>
          <a:p>
            <a:pPr indent="0" lvl="0" marL="0" rtl="0" algn="l">
              <a:lnSpc>
                <a:spcPct val="85000"/>
              </a:lnSpc>
              <a:spcBef>
                <a:spcPts val="0"/>
              </a:spcBef>
              <a:spcAft>
                <a:spcPts val="0"/>
              </a:spcAft>
              <a:buClr>
                <a:schemeClr val="lt2"/>
              </a:buClr>
              <a:buSzPts val="3900"/>
              <a:buFont typeface="Quattrocento Sans"/>
              <a:buNone/>
            </a:pPr>
            <a:r>
              <a:rPr b="0" i="0" lang="en-US" sz="3900" u="none">
                <a:solidFill>
                  <a:schemeClr val="lt2"/>
                </a:solidFill>
                <a:latin typeface="Quattrocento Sans"/>
                <a:ea typeface="Quattrocento Sans"/>
                <a:cs typeface="Quattrocento Sans"/>
                <a:sym typeface="Quattrocento Sans"/>
              </a:rPr>
              <a:t>Алгоритм Random Forest</a:t>
            </a:r>
            <a:endParaRPr/>
          </a:p>
        </p:txBody>
      </p:sp>
      <p:sp>
        <p:nvSpPr>
          <p:cNvPr id="1054" name="Google Shape;1054;p95"/>
          <p:cNvSpPr txBox="1"/>
          <p:nvPr>
            <p:ph idx="1" type="body"/>
          </p:nvPr>
        </p:nvSpPr>
        <p:spPr>
          <a:xfrm>
            <a:off x="665162" y="2089150"/>
            <a:ext cx="7750175" cy="3908425"/>
          </a:xfrm>
          <a:prstGeom prst="rect">
            <a:avLst/>
          </a:prstGeom>
          <a:noFill/>
          <a:ln>
            <a:noFill/>
          </a:ln>
        </p:spPr>
        <p:txBody>
          <a:bodyPr anchorCtr="0" anchor="t" bIns="40675" lIns="81350" spcFirstLastPara="1" rIns="81350" wrap="square" tIns="40675">
            <a:spAutoFit/>
          </a:bodyPr>
          <a:lstStyle/>
          <a:p>
            <a:pPr indent="-334962" lvl="0" marL="334962" rtl="0" algn="l">
              <a:lnSpc>
                <a:spcPct val="90000"/>
              </a:lnSpc>
              <a:spcBef>
                <a:spcPts val="0"/>
              </a:spcBef>
              <a:spcAft>
                <a:spcPts val="0"/>
              </a:spcAft>
              <a:buSzPts val="1760"/>
              <a:buChar char="•"/>
            </a:pPr>
            <a:r>
              <a:rPr b="0" i="0" lang="en-US" sz="2200" u="none">
                <a:solidFill>
                  <a:srgbClr val="060000"/>
                </a:solidFill>
                <a:latin typeface="Quattrocento Sans"/>
                <a:ea typeface="Quattrocento Sans"/>
                <a:cs typeface="Quattrocento Sans"/>
                <a:sym typeface="Quattrocento Sans"/>
              </a:rPr>
              <a:t>Random Forest - один из наиболее популярных алгоритмов машинного обучения или data mining. </a:t>
            </a:r>
            <a:endParaRPr/>
          </a:p>
          <a:p>
            <a:pPr indent="-334962" lvl="0" marL="334962" rtl="0" algn="l">
              <a:lnSpc>
                <a:spcPct val="90000"/>
              </a:lnSpc>
              <a:spcBef>
                <a:spcPts val="550"/>
              </a:spcBef>
              <a:spcAft>
                <a:spcPts val="0"/>
              </a:spcAft>
              <a:buSzPts val="1760"/>
              <a:buChar char="•"/>
            </a:pPr>
            <a:r>
              <a:rPr b="0" i="0" lang="en-US" sz="2200" u="none">
                <a:solidFill>
                  <a:srgbClr val="060000"/>
                </a:solidFill>
                <a:latin typeface="Quattrocento Sans"/>
                <a:ea typeface="Quattrocento Sans"/>
                <a:cs typeface="Quattrocento Sans"/>
                <a:sym typeface="Quattrocento Sans"/>
              </a:rPr>
              <a:t>Во-первых он невероятно универсален, с его помощью можно решать как задачи регрессии так и классификации. Проводить поиск аномалий и отбор предикторов. </a:t>
            </a:r>
            <a:endParaRPr/>
          </a:p>
          <a:p>
            <a:pPr indent="-334962" lvl="0" marL="334962" rtl="0" algn="l">
              <a:lnSpc>
                <a:spcPct val="90000"/>
              </a:lnSpc>
              <a:spcBef>
                <a:spcPts val="550"/>
              </a:spcBef>
              <a:spcAft>
                <a:spcPts val="0"/>
              </a:spcAft>
              <a:buSzPts val="1760"/>
              <a:buChar char="•"/>
            </a:pPr>
            <a:r>
              <a:rPr b="0" i="0" lang="en-US" sz="2200" u="none">
                <a:solidFill>
                  <a:srgbClr val="060000"/>
                </a:solidFill>
                <a:latin typeface="Quattrocento Sans"/>
                <a:ea typeface="Quattrocento Sans"/>
                <a:cs typeface="Quattrocento Sans"/>
                <a:sym typeface="Quattrocento Sans"/>
              </a:rPr>
              <a:t>Во-вторых это тот алгоритм, который действительно сложно применить неправильно. Просто потому, что в отличии от других алгоритмов у него мало настраиваемых параметров. И еще он удивительно прост по своей сути. И в то же время он отличается высокой точностью. </a:t>
            </a:r>
            <a:endParaRPr/>
          </a:p>
        </p:txBody>
      </p:sp>
      <p:sp>
        <p:nvSpPr>
          <p:cNvPr id="1055" name="Google Shape;1055;p95"/>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96"/>
          <p:cNvSpPr/>
          <p:nvPr/>
        </p:nvSpPr>
        <p:spPr>
          <a:xfrm>
            <a:off x="792162" y="611187"/>
            <a:ext cx="7431087" cy="896937"/>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1062" name="Google Shape;1062;p96"/>
          <p:cNvSpPr/>
          <p:nvPr/>
        </p:nvSpPr>
        <p:spPr>
          <a:xfrm>
            <a:off x="344487" y="1839912"/>
            <a:ext cx="8391525" cy="4746625"/>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1063" name="Google Shape;1063;p96"/>
          <p:cNvSpPr txBox="1"/>
          <p:nvPr>
            <p:ph idx="1" type="body"/>
          </p:nvPr>
        </p:nvSpPr>
        <p:spPr>
          <a:xfrm>
            <a:off x="600075" y="2147887"/>
            <a:ext cx="8023225" cy="2051050"/>
          </a:xfrm>
          <a:prstGeom prst="rect">
            <a:avLst/>
          </a:prstGeom>
          <a:noFill/>
          <a:ln>
            <a:noFill/>
          </a:ln>
        </p:spPr>
        <p:txBody>
          <a:bodyPr anchorCtr="0" anchor="t" bIns="40675" lIns="81350" spcFirstLastPara="1" rIns="81350" wrap="square" tIns="40675">
            <a:spAutoFit/>
          </a:bodyPr>
          <a:lstStyle/>
          <a:p>
            <a:pPr indent="-334962" lvl="0" marL="334962" rtl="0" algn="l">
              <a:lnSpc>
                <a:spcPct val="80000"/>
              </a:lnSpc>
              <a:spcBef>
                <a:spcPts val="0"/>
              </a:spcBef>
              <a:spcAft>
                <a:spcPts val="0"/>
              </a:spcAft>
              <a:buSzPts val="1600"/>
              <a:buChar char="•"/>
            </a:pPr>
            <a:r>
              <a:rPr b="0" i="0" lang="en-US" sz="2000" u="none">
                <a:solidFill>
                  <a:srgbClr val="060000"/>
                </a:solidFill>
                <a:latin typeface="Quattrocento Sans"/>
                <a:ea typeface="Quattrocento Sans"/>
                <a:cs typeface="Quattrocento Sans"/>
                <a:sym typeface="Quattrocento Sans"/>
              </a:rPr>
              <a:t>Главная идея алгоритма -  обучение ансамбля в действии. Алгоритм Random Forest потому и называется "Случайный Лес", что для полученных данных он создает множество деревьев приятия решений и потом усредняет результат их предсказаний. Важным моментом тут является элемент случайности в создании каждого дерева - если мы создадим много одинаковых деревьев с разной точностью, то результат их усреднения будет обладать точностью одного дерева. </a:t>
            </a:r>
            <a:endParaRPr/>
          </a:p>
        </p:txBody>
      </p:sp>
      <p:pic>
        <p:nvPicPr>
          <p:cNvPr id="1064" name="Google Shape;1064;p96"/>
          <p:cNvPicPr preferRelativeResize="0"/>
          <p:nvPr/>
        </p:nvPicPr>
        <p:blipFill rotWithShape="1">
          <a:blip r:embed="rId3">
            <a:alphaModFix/>
          </a:blip>
          <a:srcRect b="0" l="0" r="0" t="0"/>
          <a:stretch/>
        </p:blipFill>
        <p:spPr>
          <a:xfrm>
            <a:off x="2820987" y="4349750"/>
            <a:ext cx="3106737" cy="2087562"/>
          </a:xfrm>
          <a:prstGeom prst="rect">
            <a:avLst/>
          </a:prstGeom>
          <a:noFill/>
          <a:ln>
            <a:noFill/>
          </a:ln>
        </p:spPr>
      </p:pic>
      <p:sp>
        <p:nvSpPr>
          <p:cNvPr id="1065" name="Google Shape;1065;p96"/>
          <p:cNvSpPr txBox="1"/>
          <p:nvPr>
            <p:ph type="title"/>
          </p:nvPr>
        </p:nvSpPr>
        <p:spPr>
          <a:xfrm>
            <a:off x="1304925" y="744537"/>
            <a:ext cx="6470650" cy="593725"/>
          </a:xfrm>
          <a:prstGeom prst="rect">
            <a:avLst/>
          </a:prstGeom>
          <a:noFill/>
          <a:ln>
            <a:noFill/>
          </a:ln>
        </p:spPr>
        <p:txBody>
          <a:bodyPr anchorCtr="0" anchor="ctr" bIns="40675" lIns="81350" spcFirstLastPara="1" rIns="81350" wrap="square" tIns="40675">
            <a:spAutoFit/>
          </a:bodyPr>
          <a:lstStyle/>
          <a:p>
            <a:pPr indent="0" lvl="0" marL="0" rtl="0" algn="l">
              <a:lnSpc>
                <a:spcPct val="85000"/>
              </a:lnSpc>
              <a:spcBef>
                <a:spcPts val="0"/>
              </a:spcBef>
              <a:spcAft>
                <a:spcPts val="0"/>
              </a:spcAft>
              <a:buClr>
                <a:schemeClr val="lt2"/>
              </a:buClr>
              <a:buSzPts val="3900"/>
              <a:buFont typeface="Quattrocento Sans"/>
              <a:buNone/>
            </a:pPr>
            <a:r>
              <a:rPr b="0" i="0" lang="en-US" sz="3900" u="none">
                <a:solidFill>
                  <a:schemeClr val="lt2"/>
                </a:solidFill>
                <a:latin typeface="Quattrocento Sans"/>
                <a:ea typeface="Quattrocento Sans"/>
                <a:cs typeface="Quattrocento Sans"/>
                <a:sym typeface="Quattrocento Sans"/>
              </a:rPr>
              <a:t>Алгоритм Random Forest</a:t>
            </a:r>
            <a:endParaRPr/>
          </a:p>
        </p:txBody>
      </p:sp>
    </p:spTree>
  </p:cSld>
  <p:clrMapOvr>
    <a:masterClrMapping/>
  </p:clrMapOvr>
  <p:transition spd="slow">
    <p:fade/>
  </p:transition>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97"/>
          <p:cNvSpPr/>
          <p:nvPr/>
        </p:nvSpPr>
        <p:spPr>
          <a:xfrm>
            <a:off x="792162" y="611187"/>
            <a:ext cx="7431087" cy="935037"/>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1072" name="Google Shape;1072;p97"/>
          <p:cNvSpPr/>
          <p:nvPr/>
        </p:nvSpPr>
        <p:spPr>
          <a:xfrm>
            <a:off x="344487" y="1839912"/>
            <a:ext cx="8391525" cy="4775200"/>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1073" name="Google Shape;1073;p97"/>
          <p:cNvSpPr txBox="1"/>
          <p:nvPr>
            <p:ph idx="4294967295" type="title"/>
          </p:nvPr>
        </p:nvSpPr>
        <p:spPr>
          <a:xfrm>
            <a:off x="1239837" y="874712"/>
            <a:ext cx="7048500" cy="557212"/>
          </a:xfrm>
          <a:prstGeom prst="rect">
            <a:avLst/>
          </a:prstGeom>
          <a:noFill/>
          <a:ln>
            <a:noFill/>
          </a:ln>
        </p:spPr>
        <p:txBody>
          <a:bodyPr anchorCtr="0" anchor="ctr" bIns="45700" lIns="91425" spcFirstLastPara="1" rIns="91425" wrap="square" tIns="45700">
            <a:spAutoFit/>
          </a:bodyPr>
          <a:lstStyle/>
          <a:p>
            <a:pPr indent="0" lvl="0" marL="0" marR="0" rtl="0" algn="l">
              <a:lnSpc>
                <a:spcPct val="85000"/>
              </a:lnSpc>
              <a:spcBef>
                <a:spcPts val="0"/>
              </a:spcBef>
              <a:spcAft>
                <a:spcPts val="0"/>
              </a:spcAft>
              <a:buClr>
                <a:schemeClr val="lt2"/>
              </a:buClr>
              <a:buSzPts val="3500"/>
              <a:buFont typeface="Quattrocento Sans"/>
              <a:buNone/>
            </a:pPr>
            <a:r>
              <a:rPr b="0" i="0" lang="en-US" sz="3500" u="none" cap="none" strike="noStrike">
                <a:solidFill>
                  <a:schemeClr val="lt2"/>
                </a:solidFill>
                <a:latin typeface="Quattrocento Sans"/>
                <a:ea typeface="Quattrocento Sans"/>
                <a:cs typeface="Quattrocento Sans"/>
                <a:sym typeface="Quattrocento Sans"/>
              </a:rPr>
              <a:t>Классификация Random Forest</a:t>
            </a:r>
            <a:endParaRPr/>
          </a:p>
        </p:txBody>
      </p:sp>
      <p:sp>
        <p:nvSpPr>
          <p:cNvPr id="1074" name="Google Shape;1074;p97"/>
          <p:cNvSpPr txBox="1"/>
          <p:nvPr>
            <p:ph idx="4294967295" type="body"/>
          </p:nvPr>
        </p:nvSpPr>
        <p:spPr>
          <a:xfrm>
            <a:off x="600075" y="1955800"/>
            <a:ext cx="7639050" cy="3203575"/>
          </a:xfrm>
          <a:prstGeom prst="rect">
            <a:avLst/>
          </a:prstGeom>
          <a:noFill/>
          <a:ln>
            <a:noFill/>
          </a:ln>
        </p:spPr>
        <p:txBody>
          <a:bodyPr anchorCtr="0" anchor="t" bIns="45700" lIns="91425" spcFirstLastPara="1" rIns="91425" wrap="square" tIns="45700">
            <a:spAutoFit/>
          </a:bodyPr>
          <a:lstStyle/>
          <a:p>
            <a:pPr indent="-157162" lvl="0" marL="157162" marR="0" rtl="0" algn="l">
              <a:lnSpc>
                <a:spcPct val="85000"/>
              </a:lnSpc>
              <a:spcBef>
                <a:spcPts val="0"/>
              </a:spcBef>
              <a:spcAft>
                <a:spcPts val="0"/>
              </a:spcAft>
              <a:buClr>
                <a:srgbClr val="F4BE96"/>
              </a:buClr>
              <a:buSzPts val="1920"/>
              <a:buFont typeface="Quattrocento Sans"/>
              <a:buNone/>
            </a:pPr>
            <a:r>
              <a:rPr b="0" i="1" lang="en-US" sz="2400" u="sng">
                <a:solidFill>
                  <a:srgbClr val="060000"/>
                </a:solidFill>
                <a:latin typeface="Quattrocento Sans"/>
                <a:ea typeface="Quattrocento Sans"/>
                <a:cs typeface="Quattrocento Sans"/>
                <a:sym typeface="Quattrocento Sans"/>
              </a:rPr>
              <a:t>Построение модели</a:t>
            </a:r>
            <a:endParaRPr/>
          </a:p>
          <a:p>
            <a:pPr indent="-306387" lvl="1" marL="473075" marR="0" rtl="0" algn="l">
              <a:lnSpc>
                <a:spcPct val="85000"/>
              </a:lnSpc>
              <a:spcBef>
                <a:spcPts val="475"/>
              </a:spcBef>
              <a:spcAft>
                <a:spcPts val="0"/>
              </a:spcAft>
              <a:buClr>
                <a:srgbClr val="FFFFFF"/>
              </a:buClr>
              <a:buSzPts val="1425"/>
              <a:buFont typeface="Quattrocento Sans"/>
              <a:buNone/>
            </a:pPr>
            <a:r>
              <a:rPr b="1" i="0" lang="en-US" sz="1900" u="none" cap="none" strike="noStrike">
                <a:solidFill>
                  <a:srgbClr val="0070C0"/>
                </a:solidFill>
                <a:latin typeface="Quattrocento Sans"/>
                <a:ea typeface="Quattrocento Sans"/>
                <a:cs typeface="Quattrocento Sans"/>
                <a:sym typeface="Quattrocento Sans"/>
              </a:rPr>
              <a:t>&gt; install.packages("randomForest")</a:t>
            </a:r>
            <a:endParaRPr/>
          </a:p>
          <a:p>
            <a:pPr indent="-306387" lvl="1" marL="473075" marR="0" rtl="0" algn="l">
              <a:lnSpc>
                <a:spcPct val="85000"/>
              </a:lnSpc>
              <a:spcBef>
                <a:spcPts val="475"/>
              </a:spcBef>
              <a:spcAft>
                <a:spcPts val="0"/>
              </a:spcAft>
              <a:buClr>
                <a:srgbClr val="FFFFFF"/>
              </a:buClr>
              <a:buSzPts val="1425"/>
              <a:buFont typeface="Quattrocento Sans"/>
              <a:buNone/>
            </a:pPr>
            <a:r>
              <a:rPr b="1" i="0" lang="en-US" sz="1900" u="none" cap="none" strike="noStrike">
                <a:solidFill>
                  <a:srgbClr val="0070C0"/>
                </a:solidFill>
                <a:latin typeface="Quattrocento Sans"/>
                <a:ea typeface="Quattrocento Sans"/>
                <a:cs typeface="Quattrocento Sans"/>
                <a:sym typeface="Quattrocento Sans"/>
              </a:rPr>
              <a:t>&gt; library("randomForest")</a:t>
            </a:r>
            <a:endParaRPr/>
          </a:p>
          <a:p>
            <a:pPr indent="-306387" lvl="1" marL="473075" marR="0" rtl="0" algn="l">
              <a:lnSpc>
                <a:spcPct val="85000"/>
              </a:lnSpc>
              <a:spcBef>
                <a:spcPts val="475"/>
              </a:spcBef>
              <a:spcAft>
                <a:spcPts val="0"/>
              </a:spcAft>
              <a:buClr>
                <a:srgbClr val="FFFFFF"/>
              </a:buClr>
              <a:buSzPts val="1425"/>
              <a:buFont typeface="Quattrocento Sans"/>
              <a:buNone/>
            </a:pPr>
            <a:r>
              <a:rPr b="1" i="0" lang="en-US" sz="1900" u="none" cap="none" strike="noStrike">
                <a:solidFill>
                  <a:srgbClr val="0070C0"/>
                </a:solidFill>
                <a:latin typeface="Quattrocento Sans"/>
                <a:ea typeface="Quattrocento Sans"/>
                <a:cs typeface="Quattrocento Sans"/>
                <a:sym typeface="Quattrocento Sans"/>
              </a:rPr>
              <a:t>&gt; rf &lt;- randomForest(Species ~ .,</a:t>
            </a:r>
            <a:br>
              <a:rPr b="1" i="0" lang="en-US" sz="1900" u="none" cap="none" strike="noStrike">
                <a:solidFill>
                  <a:srgbClr val="0070C0"/>
                </a:solidFill>
                <a:latin typeface="Quattrocento Sans"/>
                <a:ea typeface="Quattrocento Sans"/>
                <a:cs typeface="Quattrocento Sans"/>
                <a:sym typeface="Quattrocento Sans"/>
              </a:rPr>
            </a:br>
            <a:r>
              <a:rPr b="1" i="0" lang="en-US" sz="1900" u="none" cap="none" strike="noStrike">
                <a:solidFill>
                  <a:srgbClr val="0070C0"/>
                </a:solidFill>
                <a:latin typeface="Quattrocento Sans"/>
                <a:ea typeface="Quattrocento Sans"/>
                <a:cs typeface="Quattrocento Sans"/>
                <a:sym typeface="Quattrocento Sans"/>
              </a:rPr>
              <a:t>+ data=trainData, ntree=100, proximity=TRUE)</a:t>
            </a:r>
            <a:endParaRPr/>
          </a:p>
          <a:p>
            <a:pPr indent="-306387" lvl="1" marL="473075" marR="0" rtl="0" algn="l">
              <a:lnSpc>
                <a:spcPct val="85000"/>
              </a:lnSpc>
              <a:spcBef>
                <a:spcPts val="475"/>
              </a:spcBef>
              <a:spcAft>
                <a:spcPts val="0"/>
              </a:spcAft>
              <a:buClr>
                <a:srgbClr val="FFFFFF"/>
              </a:buClr>
              <a:buSzPts val="1425"/>
              <a:buFont typeface="Quattrocento Sans"/>
              <a:buNone/>
            </a:pPr>
            <a:r>
              <a:rPr b="1" i="0" lang="en-US" sz="1900" u="none" cap="none" strike="noStrike">
                <a:solidFill>
                  <a:srgbClr val="0070C0"/>
                </a:solidFill>
                <a:latin typeface="Quattrocento Sans"/>
                <a:ea typeface="Quattrocento Sans"/>
                <a:cs typeface="Quattrocento Sans"/>
                <a:sym typeface="Quattrocento Sans"/>
              </a:rPr>
              <a:t>&gt; table(predict(rf), trainData$Species)</a:t>
            </a:r>
            <a:endParaRPr/>
          </a:p>
          <a:p>
            <a:pPr indent="-306387" lvl="1" marL="473075" marR="0" rtl="0" algn="l">
              <a:lnSpc>
                <a:spcPct val="85000"/>
              </a:lnSpc>
              <a:spcBef>
                <a:spcPts val="425"/>
              </a:spcBef>
              <a:spcAft>
                <a:spcPts val="0"/>
              </a:spcAft>
              <a:buClr>
                <a:srgbClr val="FFFFFF"/>
              </a:buClr>
              <a:buSzPts val="1275"/>
              <a:buFont typeface="Quattrocento Sans"/>
              <a:buNone/>
            </a:pPr>
            <a:r>
              <a:rPr b="0" i="0" lang="en-US" sz="1700" u="none" cap="none" strike="noStrike">
                <a:solidFill>
                  <a:srgbClr val="060000"/>
                </a:solidFill>
                <a:latin typeface="Droid Sans Mono"/>
                <a:ea typeface="Droid Sans Mono"/>
                <a:cs typeface="Droid Sans Mono"/>
                <a:sym typeface="Droid Sans Mono"/>
              </a:rPr>
              <a:t>         setosa versicolor virginica </a:t>
            </a:r>
            <a:endParaRPr/>
          </a:p>
          <a:p>
            <a:pPr indent="-306387" lvl="1" marL="473075" marR="0" rtl="0" algn="l">
              <a:lnSpc>
                <a:spcPct val="85000"/>
              </a:lnSpc>
              <a:spcBef>
                <a:spcPts val="425"/>
              </a:spcBef>
              <a:spcAft>
                <a:spcPts val="0"/>
              </a:spcAft>
              <a:buClr>
                <a:srgbClr val="FFFFFF"/>
              </a:buClr>
              <a:buSzPts val="1275"/>
              <a:buFont typeface="Quattrocento Sans"/>
              <a:buNone/>
            </a:pPr>
            <a:r>
              <a:rPr b="0" i="0" lang="en-US" sz="1700" u="none" cap="none" strike="noStrike">
                <a:solidFill>
                  <a:srgbClr val="060000"/>
                </a:solidFill>
                <a:latin typeface="Droid Sans Mono"/>
                <a:ea typeface="Droid Sans Mono"/>
                <a:cs typeface="Droid Sans Mono"/>
                <a:sym typeface="Droid Sans Mono"/>
              </a:rPr>
              <a:t>setosa     40       0          0 </a:t>
            </a:r>
            <a:endParaRPr/>
          </a:p>
          <a:p>
            <a:pPr indent="-306387" lvl="1" marL="473075" marR="0" rtl="0" algn="l">
              <a:lnSpc>
                <a:spcPct val="85000"/>
              </a:lnSpc>
              <a:spcBef>
                <a:spcPts val="425"/>
              </a:spcBef>
              <a:spcAft>
                <a:spcPts val="0"/>
              </a:spcAft>
              <a:buClr>
                <a:srgbClr val="FFFFFF"/>
              </a:buClr>
              <a:buSzPts val="1275"/>
              <a:buFont typeface="Quattrocento Sans"/>
              <a:buNone/>
            </a:pPr>
            <a:r>
              <a:rPr b="0" i="0" lang="en-US" sz="1700" u="none" cap="none" strike="noStrike">
                <a:solidFill>
                  <a:srgbClr val="060000"/>
                </a:solidFill>
                <a:latin typeface="Droid Sans Mono"/>
                <a:ea typeface="Droid Sans Mono"/>
                <a:cs typeface="Droid Sans Mono"/>
                <a:sym typeface="Droid Sans Mono"/>
              </a:rPr>
              <a:t>versicolor 0        35</a:t>
            </a:r>
            <a:r>
              <a:rPr b="0" i="0" lang="en-US" sz="1200" u="none" cap="none" strike="noStrike">
                <a:solidFill>
                  <a:srgbClr val="060000"/>
                </a:solidFill>
                <a:latin typeface="Droid Sans Mono"/>
                <a:ea typeface="Droid Sans Mono"/>
                <a:cs typeface="Droid Sans Mono"/>
                <a:sym typeface="Droid Sans Mono"/>
              </a:rPr>
              <a:t>/37</a:t>
            </a:r>
            <a:r>
              <a:rPr b="0" i="0" lang="en-US" sz="1700" u="none" cap="none" strike="noStrike">
                <a:solidFill>
                  <a:srgbClr val="060000"/>
                </a:solidFill>
                <a:latin typeface="Droid Sans Mono"/>
                <a:ea typeface="Droid Sans Mono"/>
                <a:cs typeface="Droid Sans Mono"/>
                <a:sym typeface="Droid Sans Mono"/>
              </a:rPr>
              <a:t>         3</a:t>
            </a:r>
            <a:r>
              <a:rPr b="0" i="0" lang="en-US" sz="1200" u="none" cap="none" strike="noStrike">
                <a:solidFill>
                  <a:srgbClr val="060000"/>
                </a:solidFill>
                <a:latin typeface="Droid Sans Mono"/>
                <a:ea typeface="Droid Sans Mono"/>
                <a:cs typeface="Droid Sans Mono"/>
                <a:sym typeface="Droid Sans Mono"/>
              </a:rPr>
              <a:t>/3</a:t>
            </a:r>
            <a:r>
              <a:rPr b="0" i="0" lang="en-US" sz="1700" u="none" cap="none" strike="noStrike">
                <a:solidFill>
                  <a:srgbClr val="060000"/>
                </a:solidFill>
                <a:latin typeface="Droid Sans Mono"/>
                <a:ea typeface="Droid Sans Mono"/>
                <a:cs typeface="Droid Sans Mono"/>
                <a:sym typeface="Droid Sans Mono"/>
              </a:rPr>
              <a:t> </a:t>
            </a:r>
            <a:endParaRPr/>
          </a:p>
          <a:p>
            <a:pPr indent="-306387" lvl="1" marL="473075" marR="0" rtl="0" algn="l">
              <a:lnSpc>
                <a:spcPct val="85000"/>
              </a:lnSpc>
              <a:spcBef>
                <a:spcPts val="425"/>
              </a:spcBef>
              <a:spcAft>
                <a:spcPts val="0"/>
              </a:spcAft>
              <a:buClr>
                <a:srgbClr val="FFFFFF"/>
              </a:buClr>
              <a:buSzPts val="1275"/>
              <a:buFont typeface="Quattrocento Sans"/>
              <a:buNone/>
            </a:pPr>
            <a:r>
              <a:rPr b="0" i="0" lang="en-US" sz="1700" u="none" cap="none" strike="noStrike">
                <a:solidFill>
                  <a:srgbClr val="060000"/>
                </a:solidFill>
                <a:latin typeface="Droid Sans Mono"/>
                <a:ea typeface="Droid Sans Mono"/>
                <a:cs typeface="Droid Sans Mono"/>
                <a:sym typeface="Droid Sans Mono"/>
              </a:rPr>
              <a:t>virginica  0        2</a:t>
            </a:r>
            <a:r>
              <a:rPr b="0" i="0" lang="en-US" sz="1200" u="none" cap="none" strike="noStrike">
                <a:solidFill>
                  <a:srgbClr val="060000"/>
                </a:solidFill>
                <a:latin typeface="Droid Sans Mono"/>
                <a:ea typeface="Droid Sans Mono"/>
                <a:cs typeface="Droid Sans Mono"/>
                <a:sym typeface="Droid Sans Mono"/>
              </a:rPr>
              <a:t>/1</a:t>
            </a:r>
            <a:r>
              <a:rPr b="0" i="0" lang="en-US" sz="1700" u="none" cap="none" strike="noStrike">
                <a:solidFill>
                  <a:srgbClr val="060000"/>
                </a:solidFill>
                <a:latin typeface="Droid Sans Mono"/>
                <a:ea typeface="Droid Sans Mono"/>
                <a:cs typeface="Droid Sans Mono"/>
                <a:sym typeface="Droid Sans Mono"/>
              </a:rPr>
              <a:t>          32</a:t>
            </a:r>
            <a:r>
              <a:rPr b="0" i="0" lang="en-US" sz="1200" u="none" cap="none" strike="noStrike">
                <a:solidFill>
                  <a:srgbClr val="060000"/>
                </a:solidFill>
                <a:latin typeface="Droid Sans Mono"/>
                <a:ea typeface="Droid Sans Mono"/>
                <a:cs typeface="Droid Sans Mono"/>
                <a:sym typeface="Droid Sans Mono"/>
              </a:rPr>
              <a:t>/31</a:t>
            </a:r>
            <a:endParaRPr/>
          </a:p>
        </p:txBody>
      </p:sp>
      <p:sp>
        <p:nvSpPr>
          <p:cNvPr id="1075" name="Google Shape;1075;p97"/>
          <p:cNvSpPr txBox="1"/>
          <p:nvPr/>
        </p:nvSpPr>
        <p:spPr>
          <a:xfrm>
            <a:off x="598487" y="5121275"/>
            <a:ext cx="7624762" cy="1323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60000"/>
              </a:buClr>
              <a:buSzPts val="2000"/>
              <a:buFont typeface="Arial"/>
              <a:buNone/>
            </a:pPr>
            <a:r>
              <a:rPr b="0" i="0" lang="en-US" sz="2000" u="none">
                <a:solidFill>
                  <a:srgbClr val="060000"/>
                </a:solidFill>
                <a:latin typeface="Arial"/>
                <a:ea typeface="Arial"/>
                <a:cs typeface="Arial"/>
                <a:sym typeface="Arial"/>
              </a:rPr>
              <a:t>Работа с алгоритмом randomForest абсолютно аналогична применению алгоритма Decision Tree. Для работы с алгоритмом необходимо подключить пакет rendomForest и использовать одноименную функцию.</a:t>
            </a:r>
            <a:endParaRPr/>
          </a:p>
        </p:txBody>
      </p:sp>
      <p:sp>
        <p:nvSpPr>
          <p:cNvPr id="1076" name="Google Shape;1076;p97"/>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98"/>
          <p:cNvSpPr/>
          <p:nvPr/>
        </p:nvSpPr>
        <p:spPr>
          <a:xfrm>
            <a:off x="792162" y="611187"/>
            <a:ext cx="7431087" cy="958850"/>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1083" name="Google Shape;1083;p98"/>
          <p:cNvSpPr/>
          <p:nvPr/>
        </p:nvSpPr>
        <p:spPr>
          <a:xfrm>
            <a:off x="344487" y="1839912"/>
            <a:ext cx="8391525" cy="4621212"/>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1084" name="Google Shape;1084;p98"/>
          <p:cNvSpPr txBox="1"/>
          <p:nvPr>
            <p:ph idx="4294967295" type="title"/>
          </p:nvPr>
        </p:nvSpPr>
        <p:spPr>
          <a:xfrm>
            <a:off x="1103312" y="898525"/>
            <a:ext cx="6808787" cy="557212"/>
          </a:xfrm>
          <a:prstGeom prst="rect">
            <a:avLst/>
          </a:prstGeom>
          <a:noFill/>
          <a:ln>
            <a:noFill/>
          </a:ln>
        </p:spPr>
        <p:txBody>
          <a:bodyPr anchorCtr="0" anchor="ctr" bIns="45700" lIns="91425" spcFirstLastPara="1" rIns="91425" wrap="square" tIns="45700">
            <a:spAutoFit/>
          </a:bodyPr>
          <a:lstStyle/>
          <a:p>
            <a:pPr indent="0" lvl="0" marL="0" marR="0" rtl="0" algn="l">
              <a:lnSpc>
                <a:spcPct val="85000"/>
              </a:lnSpc>
              <a:spcBef>
                <a:spcPts val="0"/>
              </a:spcBef>
              <a:spcAft>
                <a:spcPts val="0"/>
              </a:spcAft>
              <a:buClr>
                <a:schemeClr val="lt2"/>
              </a:buClr>
              <a:buSzPts val="3500"/>
              <a:buFont typeface="Quattrocento Sans"/>
              <a:buNone/>
            </a:pPr>
            <a:r>
              <a:rPr b="0" i="0" lang="en-US" sz="3500" u="none" cap="none" strike="noStrike">
                <a:solidFill>
                  <a:schemeClr val="lt2"/>
                </a:solidFill>
                <a:latin typeface="Quattrocento Sans"/>
                <a:ea typeface="Quattrocento Sans"/>
                <a:cs typeface="Quattrocento Sans"/>
                <a:sym typeface="Quattrocento Sans"/>
              </a:rPr>
              <a:t>Классификация Random Forest</a:t>
            </a:r>
            <a:endParaRPr/>
          </a:p>
        </p:txBody>
      </p:sp>
      <p:sp>
        <p:nvSpPr>
          <p:cNvPr id="1085" name="Google Shape;1085;p98"/>
          <p:cNvSpPr txBox="1"/>
          <p:nvPr>
            <p:ph idx="4294967295" type="body"/>
          </p:nvPr>
        </p:nvSpPr>
        <p:spPr>
          <a:xfrm>
            <a:off x="727075" y="2020887"/>
            <a:ext cx="7831137" cy="4132262"/>
          </a:xfrm>
          <a:prstGeom prst="rect">
            <a:avLst/>
          </a:prstGeom>
          <a:noFill/>
          <a:ln>
            <a:noFill/>
          </a:ln>
        </p:spPr>
        <p:txBody>
          <a:bodyPr anchorCtr="0" anchor="t" bIns="45700" lIns="91425" spcFirstLastPara="1" rIns="91425" wrap="square" tIns="45700">
            <a:spAutoFit/>
          </a:bodyPr>
          <a:lstStyle/>
          <a:p>
            <a:pPr indent="-157162" lvl="0" marL="157162" marR="0" rtl="0" algn="l">
              <a:lnSpc>
                <a:spcPct val="85000"/>
              </a:lnSpc>
              <a:spcBef>
                <a:spcPts val="0"/>
              </a:spcBef>
              <a:spcAft>
                <a:spcPts val="0"/>
              </a:spcAft>
              <a:buClr>
                <a:srgbClr val="F4BE96"/>
              </a:buClr>
              <a:buSzPts val="1920"/>
              <a:buFont typeface="Quattrocento Sans"/>
              <a:buNone/>
            </a:pPr>
            <a:r>
              <a:rPr b="0" i="1" lang="en-US" sz="2400" u="sng">
                <a:solidFill>
                  <a:srgbClr val="060000"/>
                </a:solidFill>
                <a:latin typeface="Quattrocento Sans"/>
                <a:ea typeface="Quattrocento Sans"/>
                <a:cs typeface="Quattrocento Sans"/>
                <a:sym typeface="Quattrocento Sans"/>
              </a:rPr>
              <a:t>Информация о модели</a:t>
            </a:r>
            <a:endParaRPr/>
          </a:p>
          <a:p>
            <a:pPr indent="-306387" lvl="1" marL="473075" marR="0" rtl="0" algn="l">
              <a:lnSpc>
                <a:spcPct val="85000"/>
              </a:lnSpc>
              <a:spcBef>
                <a:spcPts val="600"/>
              </a:spcBef>
              <a:spcAft>
                <a:spcPts val="0"/>
              </a:spcAft>
              <a:buClr>
                <a:srgbClr val="FFFFFF"/>
              </a:buClr>
              <a:buSzPts val="1800"/>
              <a:buFont typeface="Quattrocento Sans"/>
              <a:buNone/>
            </a:pPr>
            <a:r>
              <a:rPr b="0" i="0" lang="en-US" sz="2400" u="none" cap="none" strike="noStrike">
                <a:solidFill>
                  <a:srgbClr val="0070C0"/>
                </a:solidFill>
                <a:latin typeface="Quattrocento Sans"/>
                <a:ea typeface="Quattrocento Sans"/>
                <a:cs typeface="Quattrocento Sans"/>
                <a:sym typeface="Quattrocento Sans"/>
              </a:rPr>
              <a:t>&gt;print(rf)</a:t>
            </a:r>
            <a:endParaRPr/>
          </a:p>
          <a:p>
            <a:pPr indent="-306387" lvl="1" marL="473075" marR="0" rtl="0" algn="l">
              <a:lnSpc>
                <a:spcPct val="85000"/>
              </a:lnSpc>
              <a:spcBef>
                <a:spcPts val="500"/>
              </a:spcBef>
              <a:spcAft>
                <a:spcPts val="0"/>
              </a:spcAft>
              <a:buClr>
                <a:srgbClr val="FFFFFF"/>
              </a:buClr>
              <a:buSzPts val="1500"/>
              <a:buFont typeface="Quattrocento Sans"/>
              <a:buNone/>
            </a:pPr>
            <a:r>
              <a:rPr b="0" i="0" lang="en-US" sz="2000" u="none" cap="none" strike="noStrike">
                <a:solidFill>
                  <a:srgbClr val="000000"/>
                </a:solidFill>
                <a:latin typeface="Droid Sans Mono"/>
                <a:ea typeface="Droid Sans Mono"/>
                <a:cs typeface="Droid Sans Mono"/>
                <a:sym typeface="Droid Sans Mono"/>
              </a:rPr>
              <a:t>Call: randomForest(formula = Species ~ ., data = trainData, ntree = 100, proximity = TRUE) </a:t>
            </a:r>
            <a:endParaRPr/>
          </a:p>
          <a:p>
            <a:pPr indent="-306387" lvl="1" marL="473075" marR="0" rtl="0" algn="l">
              <a:lnSpc>
                <a:spcPct val="85000"/>
              </a:lnSpc>
              <a:spcBef>
                <a:spcPts val="500"/>
              </a:spcBef>
              <a:spcAft>
                <a:spcPts val="0"/>
              </a:spcAft>
              <a:buClr>
                <a:srgbClr val="FFFFFF"/>
              </a:buClr>
              <a:buSzPts val="1500"/>
              <a:buFont typeface="Quattrocento Sans"/>
              <a:buNone/>
            </a:pPr>
            <a:r>
              <a:rPr b="0" i="0" lang="en-US" sz="2000" u="none" cap="none" strike="noStrike">
                <a:solidFill>
                  <a:srgbClr val="000000"/>
                </a:solidFill>
                <a:latin typeface="Droid Sans Mono"/>
                <a:ea typeface="Droid Sans Mono"/>
                <a:cs typeface="Droid Sans Mono"/>
                <a:sym typeface="Droid Sans Mono"/>
              </a:rPr>
              <a:t>Type of random forest:classification</a:t>
            </a:r>
            <a:endParaRPr/>
          </a:p>
          <a:p>
            <a:pPr indent="-306387" lvl="1" marL="473075" marR="0" rtl="0" algn="l">
              <a:lnSpc>
                <a:spcPct val="85000"/>
              </a:lnSpc>
              <a:spcBef>
                <a:spcPts val="500"/>
              </a:spcBef>
              <a:spcAft>
                <a:spcPts val="0"/>
              </a:spcAft>
              <a:buClr>
                <a:srgbClr val="FFFFFF"/>
              </a:buClr>
              <a:buSzPts val="1500"/>
              <a:buFont typeface="Quattrocento Sans"/>
              <a:buNone/>
            </a:pPr>
            <a:r>
              <a:rPr b="0" i="0" lang="en-US" sz="2000" u="none" cap="none" strike="noStrike">
                <a:solidFill>
                  <a:srgbClr val="000000"/>
                </a:solidFill>
                <a:latin typeface="Droid Sans Mono"/>
                <a:ea typeface="Droid Sans Mono"/>
                <a:cs typeface="Droid Sans Mono"/>
                <a:sym typeface="Droid Sans Mono"/>
              </a:rPr>
              <a:t>Number of trees: 100 </a:t>
            </a:r>
            <a:endParaRPr/>
          </a:p>
          <a:p>
            <a:pPr indent="-306387" lvl="1" marL="473075" marR="0" rtl="0" algn="l">
              <a:lnSpc>
                <a:spcPct val="85000"/>
              </a:lnSpc>
              <a:spcBef>
                <a:spcPts val="500"/>
              </a:spcBef>
              <a:spcAft>
                <a:spcPts val="0"/>
              </a:spcAft>
              <a:buClr>
                <a:srgbClr val="FFFFFF"/>
              </a:buClr>
              <a:buSzPts val="1500"/>
              <a:buFont typeface="Quattrocento Sans"/>
              <a:buNone/>
            </a:pPr>
            <a:r>
              <a:rPr b="0" i="0" lang="en-US" sz="2000" u="none" cap="none" strike="noStrike">
                <a:solidFill>
                  <a:srgbClr val="000000"/>
                </a:solidFill>
                <a:latin typeface="Droid Sans Mono"/>
                <a:ea typeface="Droid Sans Mono"/>
                <a:cs typeface="Droid Sans Mono"/>
                <a:sym typeface="Droid Sans Mono"/>
              </a:rPr>
              <a:t>No. of variables tried at each split: 2 </a:t>
            </a:r>
            <a:endParaRPr/>
          </a:p>
          <a:p>
            <a:pPr indent="-306387" lvl="1" marL="473075" marR="0" rtl="0" algn="l">
              <a:lnSpc>
                <a:spcPct val="85000"/>
              </a:lnSpc>
              <a:spcBef>
                <a:spcPts val="500"/>
              </a:spcBef>
              <a:spcAft>
                <a:spcPts val="0"/>
              </a:spcAft>
              <a:buClr>
                <a:srgbClr val="FFFFFF"/>
              </a:buClr>
              <a:buSzPts val="1500"/>
              <a:buFont typeface="Quattrocento Sans"/>
              <a:buNone/>
            </a:pPr>
            <a:r>
              <a:rPr b="0" i="0" lang="en-US" sz="2000" u="none" cap="none" strike="noStrike">
                <a:solidFill>
                  <a:srgbClr val="000000"/>
                </a:solidFill>
                <a:latin typeface="Droid Sans Mono"/>
                <a:ea typeface="Droid Sans Mono"/>
                <a:cs typeface="Droid Sans Mono"/>
                <a:sym typeface="Droid Sans Mono"/>
              </a:rPr>
              <a:t>OOB estimate of error rate: 4.46%</a:t>
            </a:r>
            <a:endParaRPr/>
          </a:p>
          <a:p>
            <a:pPr indent="-306387" lvl="1" marL="473075" marR="0" rtl="0" algn="l">
              <a:lnSpc>
                <a:spcPct val="85000"/>
              </a:lnSpc>
              <a:spcBef>
                <a:spcPts val="500"/>
              </a:spcBef>
              <a:spcAft>
                <a:spcPts val="0"/>
              </a:spcAft>
              <a:buClr>
                <a:srgbClr val="FFFFFF"/>
              </a:buClr>
              <a:buSzPts val="1500"/>
              <a:buFont typeface="Quattrocento Sans"/>
              <a:buNone/>
            </a:pPr>
            <a:r>
              <a:rPr b="0" i="0" lang="en-US" sz="2000" u="none" cap="none" strike="noStrike">
                <a:solidFill>
                  <a:srgbClr val="000000"/>
                </a:solidFill>
                <a:latin typeface="Droid Sans Mono"/>
                <a:ea typeface="Droid Sans Mono"/>
                <a:cs typeface="Droid Sans Mono"/>
                <a:sym typeface="Droid Sans Mono"/>
              </a:rPr>
              <a:t>Confusion matrix: </a:t>
            </a:r>
            <a:endParaRPr/>
          </a:p>
          <a:p>
            <a:pPr indent="-306387" lvl="1" marL="473075" marR="0" rtl="0" algn="l">
              <a:lnSpc>
                <a:spcPct val="85000"/>
              </a:lnSpc>
              <a:spcBef>
                <a:spcPts val="500"/>
              </a:spcBef>
              <a:spcAft>
                <a:spcPts val="0"/>
              </a:spcAft>
              <a:buClr>
                <a:srgbClr val="FFFFFF"/>
              </a:buClr>
              <a:buSzPts val="1500"/>
              <a:buFont typeface="Quattrocento Sans"/>
              <a:buNone/>
            </a:pPr>
            <a:r>
              <a:rPr b="0" i="0" lang="en-US" sz="2000" u="none" cap="none" strike="noStrike">
                <a:solidFill>
                  <a:srgbClr val="000000"/>
                </a:solidFill>
                <a:latin typeface="Droid Sans Mono"/>
                <a:ea typeface="Droid Sans Mono"/>
                <a:cs typeface="Droid Sans Mono"/>
                <a:sym typeface="Droid Sans Mono"/>
              </a:rPr>
              <a:t>setosa     40 0  0  0.00000000 </a:t>
            </a:r>
            <a:endParaRPr/>
          </a:p>
          <a:p>
            <a:pPr indent="-306387" lvl="1" marL="473075" marR="0" rtl="0" algn="l">
              <a:lnSpc>
                <a:spcPct val="85000"/>
              </a:lnSpc>
              <a:spcBef>
                <a:spcPts val="500"/>
              </a:spcBef>
              <a:spcAft>
                <a:spcPts val="0"/>
              </a:spcAft>
              <a:buClr>
                <a:srgbClr val="FFFFFF"/>
              </a:buClr>
              <a:buSzPts val="1500"/>
              <a:buFont typeface="Quattrocento Sans"/>
              <a:buNone/>
            </a:pPr>
            <a:r>
              <a:rPr b="0" i="0" lang="en-US" sz="2000" u="none" cap="none" strike="noStrike">
                <a:solidFill>
                  <a:srgbClr val="000000"/>
                </a:solidFill>
                <a:latin typeface="Droid Sans Mono"/>
                <a:ea typeface="Droid Sans Mono"/>
                <a:cs typeface="Droid Sans Mono"/>
                <a:sym typeface="Droid Sans Mono"/>
              </a:rPr>
              <a:t>versicolor 0  35 3  0.07894737</a:t>
            </a:r>
            <a:endParaRPr/>
          </a:p>
          <a:p>
            <a:pPr indent="-306387" lvl="1" marL="473075" marR="0" rtl="0" algn="l">
              <a:lnSpc>
                <a:spcPct val="85000"/>
              </a:lnSpc>
              <a:spcBef>
                <a:spcPts val="500"/>
              </a:spcBef>
              <a:spcAft>
                <a:spcPts val="0"/>
              </a:spcAft>
              <a:buClr>
                <a:srgbClr val="FFFFFF"/>
              </a:buClr>
              <a:buSzPts val="1500"/>
              <a:buFont typeface="Quattrocento Sans"/>
              <a:buNone/>
            </a:pPr>
            <a:r>
              <a:rPr b="0" i="0" lang="en-US" sz="2000" u="none" cap="none" strike="noStrike">
                <a:solidFill>
                  <a:srgbClr val="000000"/>
                </a:solidFill>
                <a:latin typeface="Droid Sans Mono"/>
                <a:ea typeface="Droid Sans Mono"/>
                <a:cs typeface="Droid Sans Mono"/>
                <a:sym typeface="Droid Sans Mono"/>
              </a:rPr>
              <a:t>virginica  0  2  32 0.05882353</a:t>
            </a:r>
            <a:endParaRPr/>
          </a:p>
        </p:txBody>
      </p:sp>
    </p:spTree>
  </p:cSld>
  <p:clrMapOvr>
    <a:masterClrMapping/>
  </p:clrMapOvr>
  <p:transition spd="slow">
    <p:fade/>
  </p:transition>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99"/>
          <p:cNvSpPr/>
          <p:nvPr/>
        </p:nvSpPr>
        <p:spPr>
          <a:xfrm>
            <a:off x="792162" y="611187"/>
            <a:ext cx="7431087" cy="942975"/>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1092" name="Google Shape;1092;p99"/>
          <p:cNvSpPr/>
          <p:nvPr/>
        </p:nvSpPr>
        <p:spPr>
          <a:xfrm>
            <a:off x="344487" y="1839912"/>
            <a:ext cx="8391525" cy="4406900"/>
          </a:xfrm>
          <a:prstGeom prst="roundRect">
            <a:avLst>
              <a:gd fmla="val 16667" name="adj"/>
            </a:avLst>
          </a:prstGeom>
          <a:solidFill>
            <a:srgbClr val="FFFFFF"/>
          </a:solidFill>
          <a:ln>
            <a:noFill/>
          </a:ln>
        </p:spPr>
        <p:txBody>
          <a:bodyPr anchorCtr="0" anchor="ctr" bIns="44225" lIns="88450" spcFirstLastPara="1" rIns="88450" wrap="square" tIns="44225">
            <a:noAutofit/>
          </a:bodyPr>
          <a:lstStyle/>
          <a:p>
            <a:pPr indent="0" lvl="0" marL="0" marR="0" rtl="0" algn="l">
              <a:lnSpc>
                <a:spcPct val="100000"/>
              </a:lnSpc>
              <a:spcBef>
                <a:spcPts val="0"/>
              </a:spcBef>
              <a:spcAft>
                <a:spcPts val="0"/>
              </a:spcAft>
              <a:buNone/>
            </a:pPr>
            <a:r>
              <a:t/>
            </a:r>
            <a:endParaRPr b="1" i="0" sz="1800" u="none">
              <a:solidFill>
                <a:schemeClr val="lt1"/>
              </a:solidFill>
              <a:latin typeface="Quattrocento Sans"/>
              <a:ea typeface="Quattrocento Sans"/>
              <a:cs typeface="Quattrocento Sans"/>
              <a:sym typeface="Quattrocento Sans"/>
            </a:endParaRPr>
          </a:p>
        </p:txBody>
      </p:sp>
      <p:sp>
        <p:nvSpPr>
          <p:cNvPr id="1093" name="Google Shape;1093;p99"/>
          <p:cNvSpPr txBox="1"/>
          <p:nvPr>
            <p:ph idx="4294967295" type="title"/>
          </p:nvPr>
        </p:nvSpPr>
        <p:spPr>
          <a:xfrm>
            <a:off x="1084262" y="876300"/>
            <a:ext cx="6975475" cy="557212"/>
          </a:xfrm>
          <a:prstGeom prst="rect">
            <a:avLst/>
          </a:prstGeom>
          <a:noFill/>
          <a:ln>
            <a:noFill/>
          </a:ln>
        </p:spPr>
        <p:txBody>
          <a:bodyPr anchorCtr="0" anchor="ctr" bIns="45700" lIns="91425" spcFirstLastPara="1" rIns="91425" wrap="square" tIns="45700">
            <a:spAutoFit/>
          </a:bodyPr>
          <a:lstStyle/>
          <a:p>
            <a:pPr indent="0" lvl="0" marL="0" marR="0" rtl="0" algn="l">
              <a:lnSpc>
                <a:spcPct val="85000"/>
              </a:lnSpc>
              <a:spcBef>
                <a:spcPts val="0"/>
              </a:spcBef>
              <a:spcAft>
                <a:spcPts val="0"/>
              </a:spcAft>
              <a:buClr>
                <a:schemeClr val="lt2"/>
              </a:buClr>
              <a:buSzPts val="3500"/>
              <a:buFont typeface="Quattrocento Sans"/>
              <a:buNone/>
            </a:pPr>
            <a:r>
              <a:rPr b="0" i="0" lang="en-US" sz="3500" u="none" cap="none" strike="noStrike">
                <a:solidFill>
                  <a:schemeClr val="lt2"/>
                </a:solidFill>
                <a:latin typeface="Quattrocento Sans"/>
                <a:ea typeface="Quattrocento Sans"/>
                <a:cs typeface="Quattrocento Sans"/>
                <a:sym typeface="Quattrocento Sans"/>
              </a:rPr>
              <a:t>Классификация Random Forest</a:t>
            </a:r>
            <a:endParaRPr/>
          </a:p>
        </p:txBody>
      </p:sp>
      <p:sp>
        <p:nvSpPr>
          <p:cNvPr id="1094" name="Google Shape;1094;p99"/>
          <p:cNvSpPr txBox="1"/>
          <p:nvPr>
            <p:ph idx="4294967295" type="body"/>
          </p:nvPr>
        </p:nvSpPr>
        <p:spPr>
          <a:xfrm>
            <a:off x="855662" y="2339975"/>
            <a:ext cx="6954837" cy="2201862"/>
          </a:xfrm>
          <a:prstGeom prst="rect">
            <a:avLst/>
          </a:prstGeom>
          <a:noFill/>
          <a:ln>
            <a:noFill/>
          </a:ln>
        </p:spPr>
        <p:txBody>
          <a:bodyPr anchorCtr="0" anchor="t" bIns="45700" lIns="91425" spcFirstLastPara="1" rIns="91425" wrap="square" tIns="45700">
            <a:spAutoFit/>
          </a:bodyPr>
          <a:lstStyle/>
          <a:p>
            <a:pPr indent="-157162" lvl="0" marL="157162" marR="0" rtl="0" algn="l">
              <a:lnSpc>
                <a:spcPct val="85000"/>
              </a:lnSpc>
              <a:spcBef>
                <a:spcPts val="0"/>
              </a:spcBef>
              <a:spcAft>
                <a:spcPts val="0"/>
              </a:spcAft>
              <a:buClr>
                <a:srgbClr val="F4BE96"/>
              </a:buClr>
              <a:buSzPts val="1920"/>
              <a:buFont typeface="Quattrocento Sans"/>
              <a:buNone/>
            </a:pPr>
            <a:r>
              <a:rPr b="0" i="1" lang="en-US" sz="2400" u="sng">
                <a:solidFill>
                  <a:srgbClr val="060000"/>
                </a:solidFill>
                <a:latin typeface="Quattrocento Sans"/>
                <a:ea typeface="Quattrocento Sans"/>
                <a:cs typeface="Quattrocento Sans"/>
                <a:sym typeface="Quattrocento Sans"/>
              </a:rPr>
              <a:t>Альтернативная реализация</a:t>
            </a:r>
            <a:endParaRPr/>
          </a:p>
          <a:p>
            <a:pPr indent="-157162" lvl="0" marL="157162" marR="0" rtl="0" algn="l">
              <a:lnSpc>
                <a:spcPct val="85000"/>
              </a:lnSpc>
              <a:spcBef>
                <a:spcPts val="600"/>
              </a:spcBef>
              <a:spcAft>
                <a:spcPts val="0"/>
              </a:spcAft>
              <a:buClr>
                <a:srgbClr val="F4BE96"/>
              </a:buClr>
              <a:buSzPts val="1920"/>
              <a:buFont typeface="Quattrocento Sans"/>
              <a:buNone/>
            </a:pPr>
            <a:r>
              <a:t/>
            </a:r>
            <a:endParaRPr b="0" i="1" sz="2400" u="sng">
              <a:solidFill>
                <a:srgbClr val="060000"/>
              </a:solidFill>
              <a:latin typeface="Quattrocento Sans"/>
              <a:ea typeface="Quattrocento Sans"/>
              <a:cs typeface="Quattrocento Sans"/>
              <a:sym typeface="Quattrocento Sans"/>
            </a:endParaRPr>
          </a:p>
          <a:p>
            <a:pPr indent="-306387" lvl="1" marL="473075" marR="0" rtl="0" algn="l">
              <a:lnSpc>
                <a:spcPct val="85000"/>
              </a:lnSpc>
              <a:spcBef>
                <a:spcPts val="525"/>
              </a:spcBef>
              <a:spcAft>
                <a:spcPts val="0"/>
              </a:spcAft>
              <a:buClr>
                <a:srgbClr val="FFFFFF"/>
              </a:buClr>
              <a:buSzPts val="1575"/>
              <a:buFont typeface="Quattrocento Sans"/>
              <a:buNone/>
            </a:pPr>
            <a:r>
              <a:rPr b="0" i="0" lang="en-US" sz="2100" u="none" cap="none" strike="noStrike">
                <a:solidFill>
                  <a:srgbClr val="0070C0"/>
                </a:solidFill>
                <a:latin typeface="Quattrocento Sans"/>
                <a:ea typeface="Quattrocento Sans"/>
                <a:cs typeface="Quattrocento Sans"/>
                <a:sym typeface="Quattrocento Sans"/>
              </a:rPr>
              <a:t>&gt;library(party)</a:t>
            </a:r>
            <a:endParaRPr/>
          </a:p>
          <a:p>
            <a:pPr indent="-306387" lvl="1" marL="473075" marR="0" rtl="0" algn="l">
              <a:lnSpc>
                <a:spcPct val="85000"/>
              </a:lnSpc>
              <a:spcBef>
                <a:spcPts val="525"/>
              </a:spcBef>
              <a:spcAft>
                <a:spcPts val="0"/>
              </a:spcAft>
              <a:buClr>
                <a:srgbClr val="FFFFFF"/>
              </a:buClr>
              <a:buSzPts val="1575"/>
              <a:buFont typeface="Quattrocento Sans"/>
              <a:buNone/>
            </a:pPr>
            <a:r>
              <a:rPr b="0" i="0" lang="en-US" sz="2100" u="none" cap="none" strike="noStrike">
                <a:solidFill>
                  <a:srgbClr val="0070C0"/>
                </a:solidFill>
                <a:latin typeface="Quattrocento Sans"/>
                <a:ea typeface="Quattrocento Sans"/>
                <a:cs typeface="Quattrocento Sans"/>
                <a:sym typeface="Quattrocento Sans"/>
              </a:rPr>
              <a:t>&gt;cf &lt;- cforest(Species ~ ., data=trainData,</a:t>
            </a:r>
            <a:br>
              <a:rPr b="0" i="0" lang="en-US" sz="2100" u="none" cap="none" strike="noStrike">
                <a:solidFill>
                  <a:srgbClr val="0070C0"/>
                </a:solidFill>
                <a:latin typeface="Quattrocento Sans"/>
                <a:ea typeface="Quattrocento Sans"/>
                <a:cs typeface="Quattrocento Sans"/>
                <a:sym typeface="Quattrocento Sans"/>
              </a:rPr>
            </a:br>
            <a:r>
              <a:rPr b="0" i="0" lang="en-US" sz="2100" u="none" cap="none" strike="noStrike">
                <a:solidFill>
                  <a:srgbClr val="0070C0"/>
                </a:solidFill>
                <a:latin typeface="Quattrocento Sans"/>
                <a:ea typeface="Quattrocento Sans"/>
                <a:cs typeface="Quattrocento Sans"/>
                <a:sym typeface="Quattrocento Sans"/>
              </a:rPr>
              <a:t>+ control=cforest_unbiased(mtry=2,ntree=100))</a:t>
            </a:r>
            <a:endParaRPr/>
          </a:p>
          <a:p>
            <a:pPr indent="-306387" lvl="1" marL="473075" marR="0" rtl="0" algn="l">
              <a:lnSpc>
                <a:spcPct val="85000"/>
              </a:lnSpc>
              <a:spcBef>
                <a:spcPts val="525"/>
              </a:spcBef>
              <a:spcAft>
                <a:spcPts val="0"/>
              </a:spcAft>
              <a:buClr>
                <a:srgbClr val="FFFFFF"/>
              </a:buClr>
              <a:buSzPts val="1575"/>
              <a:buFont typeface="Quattrocento Sans"/>
              <a:buNone/>
            </a:pPr>
            <a:r>
              <a:rPr b="0" i="0" lang="en-US" sz="2100" u="none" cap="none" strike="noStrike">
                <a:solidFill>
                  <a:srgbClr val="0070C0"/>
                </a:solidFill>
                <a:latin typeface="Quattrocento Sans"/>
                <a:ea typeface="Quattrocento Sans"/>
                <a:cs typeface="Quattrocento Sans"/>
                <a:sym typeface="Quattrocento Sans"/>
              </a:rPr>
              <a:t>&gt; table(predict(cf), trainData$Species)</a:t>
            </a:r>
            <a:endParaRPr/>
          </a:p>
        </p:txBody>
      </p:sp>
      <p:sp>
        <p:nvSpPr>
          <p:cNvPr id="1095" name="Google Shape;1095;p99"/>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sp>
        <p:nvSpPr>
          <p:cNvPr id="1100" name="Google Shape;1100;p100"/>
          <p:cNvSpPr txBox="1"/>
          <p:nvPr>
            <p:ph type="title"/>
          </p:nvPr>
        </p:nvSpPr>
        <p:spPr>
          <a:xfrm>
            <a:off x="390525" y="228600"/>
            <a:ext cx="8372475" cy="1033462"/>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3600"/>
              <a:buFont typeface="Quattrocento Sans"/>
              <a:buNone/>
            </a:pPr>
            <a:r>
              <a:rPr b="1" i="0" lang="en-US" sz="3600" u="none">
                <a:solidFill>
                  <a:schemeClr val="lt2"/>
                </a:solidFill>
                <a:latin typeface="Quattrocento Sans"/>
                <a:ea typeface="Quattrocento Sans"/>
                <a:cs typeface="Quattrocento Sans"/>
                <a:sym typeface="Quattrocento Sans"/>
              </a:rPr>
              <a:t>Преимущества использования деревьев решений</a:t>
            </a:r>
            <a:endParaRPr/>
          </a:p>
        </p:txBody>
      </p:sp>
      <p:sp>
        <p:nvSpPr>
          <p:cNvPr id="1101" name="Google Shape;1101;p100"/>
          <p:cNvSpPr txBox="1"/>
          <p:nvPr>
            <p:ph idx="1" type="body"/>
          </p:nvPr>
        </p:nvSpPr>
        <p:spPr>
          <a:xfrm>
            <a:off x="390525" y="1509712"/>
            <a:ext cx="8631237" cy="5199062"/>
          </a:xfrm>
          <a:prstGeom prst="rect">
            <a:avLst/>
          </a:prstGeom>
          <a:noFill/>
          <a:ln>
            <a:noFill/>
          </a:ln>
        </p:spPr>
        <p:txBody>
          <a:bodyPr anchorCtr="0" anchor="t" bIns="45700" lIns="91425" spcFirstLastPara="1" rIns="91425" wrap="square" tIns="45700">
            <a:spAutoFit/>
          </a:bodyPr>
          <a:lstStyle/>
          <a:p>
            <a:pPr indent="-334962" lvl="0" marL="334962" rtl="0" algn="l">
              <a:lnSpc>
                <a:spcPct val="85000"/>
              </a:lnSpc>
              <a:spcBef>
                <a:spcPts val="0"/>
              </a:spcBef>
              <a:spcAft>
                <a:spcPts val="0"/>
              </a:spcAft>
              <a:buSzPts val="1920"/>
              <a:buChar char="•"/>
            </a:pPr>
            <a:r>
              <a:rPr b="1" i="0" lang="en-US" sz="2400" u="none">
                <a:solidFill>
                  <a:schemeClr val="lt1"/>
                </a:solidFill>
                <a:latin typeface="Quattrocento Sans"/>
                <a:ea typeface="Quattrocento Sans"/>
                <a:cs typeface="Quattrocento Sans"/>
                <a:sym typeface="Quattrocento Sans"/>
              </a:rPr>
              <a:t>Основными достоинствами метода "деревья решений являются":</a:t>
            </a:r>
            <a:endParaRPr/>
          </a:p>
          <a:p>
            <a:pPr indent="-282575" lvl="1" marL="619125" rtl="0" algn="l">
              <a:lnSpc>
                <a:spcPct val="85000"/>
              </a:lnSpc>
              <a:spcBef>
                <a:spcPts val="500"/>
              </a:spcBef>
              <a:spcAft>
                <a:spcPts val="0"/>
              </a:spcAft>
              <a:buSzPts val="1500"/>
              <a:buChar char="•"/>
            </a:pPr>
            <a:r>
              <a:rPr b="1" i="0" lang="en-US" sz="2000" u="none">
                <a:solidFill>
                  <a:schemeClr val="lt1"/>
                </a:solidFill>
                <a:latin typeface="Quattrocento Sans"/>
                <a:ea typeface="Quattrocento Sans"/>
                <a:cs typeface="Quattrocento Sans"/>
                <a:sym typeface="Quattrocento Sans"/>
              </a:rPr>
              <a:t>быстрый процесс обучения;</a:t>
            </a:r>
            <a:endParaRPr/>
          </a:p>
          <a:p>
            <a:pPr indent="-282575" lvl="1" marL="619125" rtl="0" algn="l">
              <a:lnSpc>
                <a:spcPct val="85000"/>
              </a:lnSpc>
              <a:spcBef>
                <a:spcPts val="500"/>
              </a:spcBef>
              <a:spcAft>
                <a:spcPts val="0"/>
              </a:spcAft>
              <a:buSzPts val="1500"/>
              <a:buChar char="•"/>
            </a:pPr>
            <a:r>
              <a:rPr b="1" i="0" lang="en-US" sz="2000" u="none">
                <a:solidFill>
                  <a:schemeClr val="lt1"/>
                </a:solidFill>
                <a:latin typeface="Quattrocento Sans"/>
                <a:ea typeface="Quattrocento Sans"/>
                <a:cs typeface="Quattrocento Sans"/>
                <a:sym typeface="Quattrocento Sans"/>
              </a:rPr>
              <a:t>генерация правил в областях, где эксперту трудно формализовать свои знания;</a:t>
            </a:r>
            <a:endParaRPr/>
          </a:p>
          <a:p>
            <a:pPr indent="-282575" lvl="1" marL="619125" rtl="0" algn="l">
              <a:lnSpc>
                <a:spcPct val="85000"/>
              </a:lnSpc>
              <a:spcBef>
                <a:spcPts val="500"/>
              </a:spcBef>
              <a:spcAft>
                <a:spcPts val="0"/>
              </a:spcAft>
              <a:buSzPts val="1500"/>
              <a:buChar char="•"/>
            </a:pPr>
            <a:r>
              <a:rPr b="1" i="0" lang="en-US" sz="2000" u="none">
                <a:solidFill>
                  <a:schemeClr val="lt1"/>
                </a:solidFill>
                <a:latin typeface="Quattrocento Sans"/>
                <a:ea typeface="Quattrocento Sans"/>
                <a:cs typeface="Quattrocento Sans"/>
                <a:sym typeface="Quattrocento Sans"/>
              </a:rPr>
              <a:t>извлечение правил на естественном языке;</a:t>
            </a:r>
            <a:endParaRPr/>
          </a:p>
          <a:p>
            <a:pPr indent="-282575" lvl="1" marL="619125" rtl="0" algn="l">
              <a:lnSpc>
                <a:spcPct val="85000"/>
              </a:lnSpc>
              <a:spcBef>
                <a:spcPts val="500"/>
              </a:spcBef>
              <a:spcAft>
                <a:spcPts val="0"/>
              </a:spcAft>
              <a:buSzPts val="1500"/>
              <a:buChar char="•"/>
            </a:pPr>
            <a:r>
              <a:rPr b="1" i="0" lang="en-US" sz="2000" u="none">
                <a:solidFill>
                  <a:schemeClr val="lt1"/>
                </a:solidFill>
                <a:latin typeface="Quattrocento Sans"/>
                <a:ea typeface="Quattrocento Sans"/>
                <a:cs typeface="Quattrocento Sans"/>
                <a:sym typeface="Quattrocento Sans"/>
              </a:rPr>
              <a:t>понятная на интуитивном уровне классификационная модель;</a:t>
            </a:r>
            <a:endParaRPr/>
          </a:p>
          <a:p>
            <a:pPr indent="-282575" lvl="1" marL="619125" rtl="0" algn="l">
              <a:lnSpc>
                <a:spcPct val="85000"/>
              </a:lnSpc>
              <a:spcBef>
                <a:spcPts val="500"/>
              </a:spcBef>
              <a:spcAft>
                <a:spcPts val="0"/>
              </a:spcAft>
              <a:buSzPts val="1500"/>
              <a:buChar char="•"/>
            </a:pPr>
            <a:r>
              <a:rPr b="1" i="0" lang="en-US" sz="2000" u="none">
                <a:solidFill>
                  <a:schemeClr val="lt1"/>
                </a:solidFill>
                <a:latin typeface="Quattrocento Sans"/>
                <a:ea typeface="Quattrocento Sans"/>
                <a:cs typeface="Quattrocento Sans"/>
                <a:sym typeface="Quattrocento Sans"/>
              </a:rPr>
              <a:t>высокая точность прогноза, сопоставимая с другими методами (статистика, нейронные сети);</a:t>
            </a:r>
            <a:endParaRPr/>
          </a:p>
          <a:p>
            <a:pPr indent="-282575" lvl="1" marL="619125" rtl="0" algn="l">
              <a:lnSpc>
                <a:spcPct val="85000"/>
              </a:lnSpc>
              <a:spcBef>
                <a:spcPts val="500"/>
              </a:spcBef>
              <a:spcAft>
                <a:spcPts val="0"/>
              </a:spcAft>
              <a:buSzPts val="1500"/>
              <a:buChar char="•"/>
            </a:pPr>
            <a:r>
              <a:rPr b="1" i="0" lang="en-US" sz="2000" u="none">
                <a:solidFill>
                  <a:schemeClr val="lt1"/>
                </a:solidFill>
                <a:latin typeface="Quattrocento Sans"/>
                <a:ea typeface="Quattrocento Sans"/>
                <a:cs typeface="Quattrocento Sans"/>
                <a:sym typeface="Quattrocento Sans"/>
              </a:rPr>
              <a:t>построение непараметрических моделей.</a:t>
            </a:r>
            <a:endParaRPr/>
          </a:p>
          <a:p>
            <a:pPr indent="-334962" lvl="0" marL="334962" rtl="0" algn="l">
              <a:lnSpc>
                <a:spcPct val="85000"/>
              </a:lnSpc>
              <a:spcBef>
                <a:spcPts val="600"/>
              </a:spcBef>
              <a:spcAft>
                <a:spcPts val="0"/>
              </a:spcAft>
              <a:buSzPts val="1920"/>
              <a:buChar char="•"/>
            </a:pPr>
            <a:r>
              <a:rPr b="1" i="0" lang="en-US" sz="2400" u="none">
                <a:solidFill>
                  <a:schemeClr val="lt1"/>
                </a:solidFill>
                <a:latin typeface="Quattrocento Sans"/>
                <a:ea typeface="Quattrocento Sans"/>
                <a:cs typeface="Quattrocento Sans"/>
                <a:sym typeface="Quattrocento Sans"/>
              </a:rPr>
              <a:t>В силу этих и многих других причин, методология "деревьев решений" является важным инструментом в работе каждого специалиста, занимающегося анализом данных, вне зависимости от того, практик он или теоретик.</a:t>
            </a:r>
            <a:endParaRPr/>
          </a:p>
        </p:txBody>
      </p:sp>
      <p:sp>
        <p:nvSpPr>
          <p:cNvPr id="1102" name="Google Shape;1102;p100"/>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101"/>
          <p:cNvSpPr txBox="1"/>
          <p:nvPr>
            <p:ph type="title"/>
          </p:nvPr>
        </p:nvSpPr>
        <p:spPr>
          <a:xfrm>
            <a:off x="390525" y="228600"/>
            <a:ext cx="8372475" cy="1033462"/>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3600"/>
              <a:buFont typeface="Quattrocento Sans"/>
              <a:buNone/>
            </a:pPr>
            <a:r>
              <a:rPr b="1" i="0" lang="en-US" sz="3600" u="none">
                <a:solidFill>
                  <a:schemeClr val="lt2"/>
                </a:solidFill>
                <a:latin typeface="Quattrocento Sans"/>
                <a:ea typeface="Quattrocento Sans"/>
                <a:cs typeface="Quattrocento Sans"/>
                <a:sym typeface="Quattrocento Sans"/>
              </a:rPr>
              <a:t>Недостатки использования деревьев решений</a:t>
            </a:r>
            <a:endParaRPr/>
          </a:p>
        </p:txBody>
      </p:sp>
      <p:sp>
        <p:nvSpPr>
          <p:cNvPr id="1108" name="Google Shape;1108;p101"/>
          <p:cNvSpPr txBox="1"/>
          <p:nvPr>
            <p:ph idx="1" type="body"/>
          </p:nvPr>
        </p:nvSpPr>
        <p:spPr>
          <a:xfrm>
            <a:off x="581025" y="1604962"/>
            <a:ext cx="7731125" cy="3554412"/>
          </a:xfrm>
          <a:prstGeom prst="rect">
            <a:avLst/>
          </a:prstGeom>
          <a:noFill/>
          <a:ln>
            <a:noFill/>
          </a:ln>
        </p:spPr>
        <p:txBody>
          <a:bodyPr anchorCtr="0" anchor="t" bIns="45700" lIns="91425" spcFirstLastPara="1" rIns="91425" wrap="square" tIns="45700">
            <a:spAutoFit/>
          </a:bodyPr>
          <a:lstStyle/>
          <a:p>
            <a:pPr indent="-282575" lvl="1" marL="619125" rtl="0" algn="l">
              <a:lnSpc>
                <a:spcPct val="150000"/>
              </a:lnSpc>
              <a:spcBef>
                <a:spcPts val="0"/>
              </a:spcBef>
              <a:spcAft>
                <a:spcPts val="0"/>
              </a:spcAft>
              <a:buSzPts val="1500"/>
              <a:buChar char="•"/>
            </a:pPr>
            <a:r>
              <a:rPr b="1" i="0" lang="en-US" sz="2000" u="none">
                <a:solidFill>
                  <a:schemeClr val="lt1"/>
                </a:solidFill>
                <a:latin typeface="Quattrocento Sans"/>
                <a:ea typeface="Quattrocento Sans"/>
                <a:cs typeface="Quattrocento Sans"/>
                <a:sym typeface="Quattrocento Sans"/>
              </a:rPr>
              <a:t>Сложно получить оптимальное дерево;</a:t>
            </a:r>
            <a:endParaRPr/>
          </a:p>
          <a:p>
            <a:pPr indent="-282575" lvl="1" marL="619125" rtl="0" algn="l">
              <a:lnSpc>
                <a:spcPct val="150000"/>
              </a:lnSpc>
              <a:spcBef>
                <a:spcPts val="500"/>
              </a:spcBef>
              <a:spcAft>
                <a:spcPts val="0"/>
              </a:spcAft>
              <a:buSzPts val="1500"/>
              <a:buChar char="•"/>
            </a:pPr>
            <a:r>
              <a:rPr b="1" i="0" lang="en-US" sz="2000" u="none">
                <a:solidFill>
                  <a:schemeClr val="lt1"/>
                </a:solidFill>
                <a:latin typeface="Quattrocento Sans"/>
                <a:ea typeface="Quattrocento Sans"/>
                <a:cs typeface="Quattrocento Sans"/>
                <a:sym typeface="Quattrocento Sans"/>
              </a:rPr>
              <a:t>Проблема с переобучением;</a:t>
            </a:r>
            <a:endParaRPr/>
          </a:p>
          <a:p>
            <a:pPr indent="-282575" lvl="1" marL="619125" rtl="0" algn="l">
              <a:lnSpc>
                <a:spcPct val="150000"/>
              </a:lnSpc>
              <a:spcBef>
                <a:spcPts val="500"/>
              </a:spcBef>
              <a:spcAft>
                <a:spcPts val="0"/>
              </a:spcAft>
              <a:buSzPts val="1500"/>
              <a:buChar char="•"/>
            </a:pPr>
            <a:r>
              <a:rPr b="1" i="0" lang="en-US" sz="2000" u="none">
                <a:solidFill>
                  <a:schemeClr val="lt1"/>
                </a:solidFill>
                <a:latin typeface="Quattrocento Sans"/>
                <a:ea typeface="Quattrocento Sans"/>
                <a:cs typeface="Quattrocento Sans"/>
                <a:sym typeface="Quattrocento Sans"/>
              </a:rPr>
              <a:t>Иногда сложно объяснить решение (если дерево большое и запутанное)</a:t>
            </a:r>
            <a:endParaRPr/>
          </a:p>
          <a:p>
            <a:pPr indent="-282575" lvl="1" marL="619125" rtl="0" algn="l">
              <a:lnSpc>
                <a:spcPct val="150000"/>
              </a:lnSpc>
              <a:spcBef>
                <a:spcPts val="500"/>
              </a:spcBef>
              <a:spcAft>
                <a:spcPts val="0"/>
              </a:spcAft>
              <a:buSzPts val="1500"/>
              <a:buChar char="•"/>
            </a:pPr>
            <a:r>
              <a:rPr b="1" i="0" lang="en-US" sz="2000" u="none">
                <a:solidFill>
                  <a:schemeClr val="lt1"/>
                </a:solidFill>
                <a:latin typeface="Quattrocento Sans"/>
                <a:ea typeface="Quattrocento Sans"/>
                <a:cs typeface="Quattrocento Sans"/>
                <a:sym typeface="Quattrocento Sans"/>
              </a:rPr>
              <a:t>Сложности с количественными задачами (если прецедент находится на стыке классов – к какому из классов его правильнее отнести?)</a:t>
            </a:r>
            <a:endParaRPr/>
          </a:p>
        </p:txBody>
      </p:sp>
      <p:sp>
        <p:nvSpPr>
          <p:cNvPr id="1109" name="Google Shape;1109;p101"/>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102"/>
          <p:cNvSpPr txBox="1"/>
          <p:nvPr>
            <p:ph type="title"/>
          </p:nvPr>
        </p:nvSpPr>
        <p:spPr>
          <a:xfrm>
            <a:off x="390525" y="228600"/>
            <a:ext cx="8372475" cy="1033462"/>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3600"/>
              <a:buFont typeface="Quattrocento Sans"/>
              <a:buNone/>
            </a:pPr>
            <a:r>
              <a:rPr b="1" i="0" lang="en-US" sz="3600" u="none">
                <a:solidFill>
                  <a:schemeClr val="lt2"/>
                </a:solidFill>
                <a:latin typeface="Quattrocento Sans"/>
                <a:ea typeface="Quattrocento Sans"/>
                <a:cs typeface="Quattrocento Sans"/>
                <a:sym typeface="Quattrocento Sans"/>
              </a:rPr>
              <a:t>Области применения деревьев решений</a:t>
            </a:r>
            <a:endParaRPr/>
          </a:p>
        </p:txBody>
      </p:sp>
      <p:sp>
        <p:nvSpPr>
          <p:cNvPr id="1115" name="Google Shape;1115;p102"/>
          <p:cNvSpPr txBox="1"/>
          <p:nvPr>
            <p:ph idx="1" type="body"/>
          </p:nvPr>
        </p:nvSpPr>
        <p:spPr>
          <a:xfrm>
            <a:off x="201612" y="1230312"/>
            <a:ext cx="8758237" cy="4906962"/>
          </a:xfrm>
          <a:prstGeom prst="rect">
            <a:avLst/>
          </a:prstGeom>
          <a:noFill/>
          <a:ln>
            <a:noFill/>
          </a:ln>
        </p:spPr>
        <p:txBody>
          <a:bodyPr anchorCtr="0" anchor="t" bIns="45700" lIns="91425" spcFirstLastPara="1" rIns="91425" wrap="square" tIns="45700">
            <a:spAutoFit/>
          </a:bodyPr>
          <a:lstStyle/>
          <a:p>
            <a:pPr indent="-334962" lvl="0" marL="334962" rtl="0" algn="l">
              <a:lnSpc>
                <a:spcPct val="85000"/>
              </a:lnSpc>
              <a:spcBef>
                <a:spcPts val="0"/>
              </a:spcBef>
              <a:spcAft>
                <a:spcPts val="0"/>
              </a:spcAft>
              <a:buSzPts val="1600"/>
              <a:buChar char="•"/>
            </a:pPr>
            <a:r>
              <a:rPr b="0" i="0" lang="en-US" sz="2000" u="none">
                <a:solidFill>
                  <a:schemeClr val="lt1"/>
                </a:solidFill>
                <a:latin typeface="Quattrocento Sans"/>
                <a:ea typeface="Quattrocento Sans"/>
                <a:cs typeface="Quattrocento Sans"/>
                <a:sym typeface="Quattrocento Sans"/>
              </a:rPr>
              <a:t>"Деревья решений" являются прекрасным инструментом в системах поддержки принятия решений, интеллектуального анализа данных (Data Mining). В состав многих пакетов, предназначенных для интеллектуального анализа данных, уже включены методы построения "деревьев решений". В областях, где высока цена ошибки, они послужат отличным подспорьем аналитика или руководителя</a:t>
            </a:r>
            <a:endParaRPr/>
          </a:p>
          <a:p>
            <a:pPr indent="-334962" lvl="0" marL="334962" rtl="0" algn="l">
              <a:lnSpc>
                <a:spcPct val="85000"/>
              </a:lnSpc>
              <a:spcBef>
                <a:spcPts val="500"/>
              </a:spcBef>
              <a:spcAft>
                <a:spcPts val="0"/>
              </a:spcAft>
              <a:buSzPts val="1600"/>
              <a:buChar char="•"/>
            </a:pPr>
            <a:r>
              <a:rPr b="0" i="0" lang="en-US" sz="2000" u="none">
                <a:solidFill>
                  <a:schemeClr val="lt1"/>
                </a:solidFill>
                <a:latin typeface="Quattrocento Sans"/>
                <a:ea typeface="Quattrocento Sans"/>
                <a:cs typeface="Quattrocento Sans"/>
                <a:sym typeface="Quattrocento Sans"/>
              </a:rPr>
              <a:t>"Деревья решений" успешно применяются для решения практических задач в:</a:t>
            </a:r>
            <a:endParaRPr/>
          </a:p>
          <a:p>
            <a:pPr indent="-282575" lvl="1" marL="619125" rtl="0" algn="l">
              <a:lnSpc>
                <a:spcPct val="85000"/>
              </a:lnSpc>
              <a:spcBef>
                <a:spcPts val="450"/>
              </a:spcBef>
              <a:spcAft>
                <a:spcPts val="0"/>
              </a:spcAft>
              <a:buSzPts val="1350"/>
              <a:buChar char="•"/>
            </a:pPr>
            <a:r>
              <a:rPr b="0" i="0" lang="en-US" sz="1800" u="none">
                <a:solidFill>
                  <a:schemeClr val="lt1"/>
                </a:solidFill>
                <a:latin typeface="Quattrocento Sans"/>
                <a:ea typeface="Quattrocento Sans"/>
                <a:cs typeface="Quattrocento Sans"/>
                <a:sym typeface="Quattrocento Sans"/>
              </a:rPr>
              <a:t>банковском деле при оценке кредитоспособности клиентов банка при выдаче кредитов;</a:t>
            </a:r>
            <a:endParaRPr/>
          </a:p>
          <a:p>
            <a:pPr indent="-282575" lvl="1" marL="619125" rtl="0" algn="l">
              <a:lnSpc>
                <a:spcPct val="85000"/>
              </a:lnSpc>
              <a:spcBef>
                <a:spcPts val="450"/>
              </a:spcBef>
              <a:spcAft>
                <a:spcPts val="0"/>
              </a:spcAft>
              <a:buSzPts val="1350"/>
              <a:buChar char="•"/>
            </a:pPr>
            <a:r>
              <a:rPr b="0" i="0" lang="en-US" sz="1800" u="none">
                <a:solidFill>
                  <a:schemeClr val="lt1"/>
                </a:solidFill>
                <a:latin typeface="Quattrocento Sans"/>
                <a:ea typeface="Quattrocento Sans"/>
                <a:cs typeface="Quattrocento Sans"/>
                <a:sym typeface="Quattrocento Sans"/>
              </a:rPr>
              <a:t>промышленности для осуществления контроля за качеством продукции (выявление дефектов), испытаниях без разрушений (например, проверка качества сварки) и т.д;</a:t>
            </a:r>
            <a:endParaRPr/>
          </a:p>
          <a:p>
            <a:pPr indent="-282575" lvl="1" marL="619125" rtl="0" algn="l">
              <a:lnSpc>
                <a:spcPct val="85000"/>
              </a:lnSpc>
              <a:spcBef>
                <a:spcPts val="450"/>
              </a:spcBef>
              <a:spcAft>
                <a:spcPts val="0"/>
              </a:spcAft>
              <a:buSzPts val="1350"/>
              <a:buChar char="•"/>
            </a:pPr>
            <a:r>
              <a:rPr b="0" i="0" lang="en-US" sz="1800" u="none">
                <a:solidFill>
                  <a:schemeClr val="lt1"/>
                </a:solidFill>
                <a:latin typeface="Quattrocento Sans"/>
                <a:ea typeface="Quattrocento Sans"/>
                <a:cs typeface="Quattrocento Sans"/>
                <a:sym typeface="Quattrocento Sans"/>
              </a:rPr>
              <a:t>медицине при  диагностике различных заболеваний;</a:t>
            </a:r>
            <a:endParaRPr/>
          </a:p>
          <a:p>
            <a:pPr indent="-282575" lvl="1" marL="619125" rtl="0" algn="l">
              <a:lnSpc>
                <a:spcPct val="85000"/>
              </a:lnSpc>
              <a:spcBef>
                <a:spcPts val="450"/>
              </a:spcBef>
              <a:spcAft>
                <a:spcPts val="0"/>
              </a:spcAft>
              <a:buSzPts val="1350"/>
              <a:buChar char="•"/>
            </a:pPr>
            <a:r>
              <a:rPr b="0" i="0" lang="en-US" sz="1800" u="none">
                <a:solidFill>
                  <a:schemeClr val="lt1"/>
                </a:solidFill>
                <a:latin typeface="Quattrocento Sans"/>
                <a:ea typeface="Quattrocento Sans"/>
                <a:cs typeface="Quattrocento Sans"/>
                <a:sym typeface="Quattrocento Sans"/>
              </a:rPr>
              <a:t>молекулярной биологии, проводя анализ строения аминокислот.</a:t>
            </a:r>
            <a:endParaRPr/>
          </a:p>
          <a:p>
            <a:pPr indent="-334962" lvl="0" marL="334962" rtl="0" algn="l">
              <a:lnSpc>
                <a:spcPct val="85000"/>
              </a:lnSpc>
              <a:spcBef>
                <a:spcPts val="500"/>
              </a:spcBef>
              <a:spcAft>
                <a:spcPts val="0"/>
              </a:spcAft>
              <a:buSzPts val="1600"/>
              <a:buNone/>
            </a:pPr>
            <a:r>
              <a:rPr b="0" i="0" lang="en-US" sz="2000" u="none">
                <a:solidFill>
                  <a:schemeClr val="lt1"/>
                </a:solidFill>
                <a:latin typeface="Quattrocento Sans"/>
                <a:ea typeface="Quattrocento Sans"/>
                <a:cs typeface="Quattrocento Sans"/>
                <a:sym typeface="Quattrocento Sans"/>
              </a:rPr>
              <a:t>Это далеко не полный список областей, где можно использовать "деревья решений".</a:t>
            </a:r>
            <a:endParaRPr/>
          </a:p>
        </p:txBody>
      </p:sp>
      <p:sp>
        <p:nvSpPr>
          <p:cNvPr id="1116" name="Google Shape;1116;p102"/>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103"/>
          <p:cNvSpPr txBox="1"/>
          <p:nvPr>
            <p:ph type="title"/>
          </p:nvPr>
        </p:nvSpPr>
        <p:spPr>
          <a:xfrm>
            <a:off x="390525" y="228600"/>
            <a:ext cx="8372475" cy="1033462"/>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3600"/>
              <a:buFont typeface="Quattrocento Sans"/>
              <a:buNone/>
            </a:pPr>
            <a:r>
              <a:rPr b="0" i="0" lang="en-US" sz="3600" u="none">
                <a:solidFill>
                  <a:schemeClr val="lt2"/>
                </a:solidFill>
                <a:latin typeface="Quattrocento Sans"/>
                <a:ea typeface="Quattrocento Sans"/>
                <a:cs typeface="Quattrocento Sans"/>
                <a:sym typeface="Quattrocento Sans"/>
              </a:rPr>
              <a:t>Классификация с обучающей выборкой</a:t>
            </a:r>
            <a:endParaRPr/>
          </a:p>
        </p:txBody>
      </p:sp>
      <p:sp>
        <p:nvSpPr>
          <p:cNvPr id="1122" name="Google Shape;1122;p103"/>
          <p:cNvSpPr txBox="1"/>
          <p:nvPr/>
        </p:nvSpPr>
        <p:spPr>
          <a:xfrm>
            <a:off x="233362" y="1743075"/>
            <a:ext cx="8686800" cy="3776662"/>
          </a:xfrm>
          <a:prstGeom prst="rect">
            <a:avLst/>
          </a:prstGeom>
          <a:noFill/>
          <a:ln>
            <a:noFill/>
          </a:ln>
        </p:spPr>
        <p:txBody>
          <a:bodyPr anchorCtr="0" anchor="t" bIns="45700" lIns="91425" spcFirstLastPara="1" rIns="91425" wrap="square" tIns="45700">
            <a:spAutoFit/>
          </a:bodyPr>
          <a:lstStyle/>
          <a:p>
            <a:pPr indent="-282575" lvl="1" marL="619125" marR="0" rtl="0" algn="l">
              <a:lnSpc>
                <a:spcPct val="85000"/>
              </a:lnSpc>
              <a:spcBef>
                <a:spcPts val="0"/>
              </a:spcBef>
              <a:spcAft>
                <a:spcPts val="0"/>
              </a:spcAft>
              <a:buClr>
                <a:schemeClr val="lt1"/>
              </a:buClr>
              <a:buSzPts val="2800"/>
              <a:buFont typeface="Quattrocento Sans"/>
              <a:buChar char="•"/>
            </a:pPr>
            <a:r>
              <a:rPr b="0" i="0" lang="en-US" sz="2800" u="none" cap="none" strike="noStrike">
                <a:solidFill>
                  <a:schemeClr val="lt1"/>
                </a:solidFill>
                <a:latin typeface="Quattrocento Sans"/>
                <a:ea typeface="Quattrocento Sans"/>
                <a:cs typeface="Quattrocento Sans"/>
                <a:sym typeface="Quattrocento Sans"/>
              </a:rPr>
              <a:t>наивный байесовский классификатор</a:t>
            </a:r>
            <a:endParaRPr/>
          </a:p>
          <a:p>
            <a:pPr indent="-282575" lvl="1" marL="619125" marR="0" rtl="0" algn="l">
              <a:lnSpc>
                <a:spcPct val="85000"/>
              </a:lnSpc>
              <a:spcBef>
                <a:spcPts val="700"/>
              </a:spcBef>
              <a:spcAft>
                <a:spcPts val="0"/>
              </a:spcAft>
              <a:buClr>
                <a:schemeClr val="lt1"/>
              </a:buClr>
              <a:buSzPts val="2800"/>
              <a:buFont typeface="Quattrocento Sans"/>
              <a:buChar char="•"/>
            </a:pPr>
            <a:r>
              <a:rPr b="0" i="0" lang="en-US" sz="2800" u="none" cap="none" strike="noStrike">
                <a:solidFill>
                  <a:schemeClr val="lt1"/>
                </a:solidFill>
                <a:latin typeface="Quattrocento Sans"/>
                <a:ea typeface="Quattrocento Sans"/>
                <a:cs typeface="Quattrocento Sans"/>
                <a:sym typeface="Quattrocento Sans"/>
              </a:rPr>
              <a:t>дискриминантный анализ</a:t>
            </a:r>
            <a:endParaRPr/>
          </a:p>
          <a:p>
            <a:pPr indent="-282575" lvl="1" marL="619125" marR="0" rtl="0" algn="l">
              <a:lnSpc>
                <a:spcPct val="85000"/>
              </a:lnSpc>
              <a:spcBef>
                <a:spcPts val="700"/>
              </a:spcBef>
              <a:spcAft>
                <a:spcPts val="0"/>
              </a:spcAft>
              <a:buClr>
                <a:schemeClr val="lt1"/>
              </a:buClr>
              <a:buSzPts val="2800"/>
              <a:buFont typeface="Quattrocento Sans"/>
              <a:buChar char="•"/>
            </a:pPr>
            <a:r>
              <a:rPr b="0" i="0" lang="en-US" sz="2800" u="none" cap="none" strike="noStrike">
                <a:solidFill>
                  <a:schemeClr val="lt1"/>
                </a:solidFill>
                <a:latin typeface="Quattrocento Sans"/>
                <a:ea typeface="Quattrocento Sans"/>
                <a:cs typeface="Quattrocento Sans"/>
                <a:sym typeface="Quattrocento Sans"/>
              </a:rPr>
              <a:t>деревья классификации</a:t>
            </a:r>
            <a:endParaRPr/>
          </a:p>
          <a:p>
            <a:pPr indent="-282575" lvl="1" marL="619125" marR="0" rtl="0" algn="l">
              <a:lnSpc>
                <a:spcPct val="85000"/>
              </a:lnSpc>
              <a:spcBef>
                <a:spcPts val="700"/>
              </a:spcBef>
              <a:spcAft>
                <a:spcPts val="0"/>
              </a:spcAft>
              <a:buClr>
                <a:schemeClr val="lt1"/>
              </a:buClr>
              <a:buSzPts val="2800"/>
              <a:buFont typeface="Quattrocento Sans"/>
              <a:buChar char="•"/>
            </a:pPr>
            <a:r>
              <a:rPr b="0" i="0" lang="en-US" sz="2800" u="none" cap="none" strike="noStrike">
                <a:solidFill>
                  <a:schemeClr val="lt1"/>
                </a:solidFill>
                <a:latin typeface="Quattrocento Sans"/>
                <a:ea typeface="Quattrocento Sans"/>
                <a:cs typeface="Quattrocento Sans"/>
                <a:sym typeface="Quattrocento Sans"/>
              </a:rPr>
              <a:t>К-го ближайшего соседа</a:t>
            </a:r>
            <a:endParaRPr/>
          </a:p>
          <a:p>
            <a:pPr indent="-282575" lvl="1" marL="619125" marR="0" rtl="0" algn="l">
              <a:lnSpc>
                <a:spcPct val="85000"/>
              </a:lnSpc>
              <a:spcBef>
                <a:spcPts val="700"/>
              </a:spcBef>
              <a:spcAft>
                <a:spcPts val="0"/>
              </a:spcAft>
              <a:buClr>
                <a:schemeClr val="lt1"/>
              </a:buClr>
              <a:buSzPts val="2800"/>
              <a:buFont typeface="Quattrocento Sans"/>
              <a:buChar char="•"/>
            </a:pPr>
            <a:r>
              <a:rPr b="0" i="0" lang="en-US" sz="2800" u="none" cap="none" strike="noStrike">
                <a:solidFill>
                  <a:schemeClr val="lt1"/>
                </a:solidFill>
                <a:latin typeface="Quattrocento Sans"/>
                <a:ea typeface="Quattrocento Sans"/>
                <a:cs typeface="Quattrocento Sans"/>
                <a:sym typeface="Quattrocento Sans"/>
              </a:rPr>
              <a:t>Нейронная сеть прямого распространения</a:t>
            </a:r>
            <a:endParaRPr/>
          </a:p>
          <a:p>
            <a:pPr indent="-282575" lvl="1" marL="619125" marR="0" rtl="0" algn="l">
              <a:lnSpc>
                <a:spcPct val="85000"/>
              </a:lnSpc>
              <a:spcBef>
                <a:spcPts val="700"/>
              </a:spcBef>
              <a:spcAft>
                <a:spcPts val="0"/>
              </a:spcAft>
              <a:buClr>
                <a:schemeClr val="lt1"/>
              </a:buClr>
              <a:buSzPts val="2800"/>
              <a:buFont typeface="Quattrocento Sans"/>
              <a:buChar char="•"/>
            </a:pPr>
            <a:r>
              <a:rPr b="0" i="0" lang="en-US" sz="2800" u="none" cap="none" strike="noStrike">
                <a:solidFill>
                  <a:schemeClr val="lt1"/>
                </a:solidFill>
                <a:latin typeface="Quattrocento Sans"/>
                <a:ea typeface="Quattrocento Sans"/>
                <a:cs typeface="Quattrocento Sans"/>
                <a:sym typeface="Quattrocento Sans"/>
              </a:rPr>
              <a:t>SVM</a:t>
            </a:r>
            <a:endParaRPr/>
          </a:p>
          <a:p>
            <a:pPr indent="-282575" lvl="1" marL="619125" marR="0" rtl="0" algn="l">
              <a:lnSpc>
                <a:spcPct val="85000"/>
              </a:lnSpc>
              <a:spcBef>
                <a:spcPts val="700"/>
              </a:spcBef>
              <a:spcAft>
                <a:spcPts val="0"/>
              </a:spcAft>
              <a:buClr>
                <a:schemeClr val="lt1"/>
              </a:buClr>
              <a:buSzPts val="2800"/>
              <a:buFont typeface="Quattrocento Sans"/>
              <a:buChar char="•"/>
            </a:pPr>
            <a:r>
              <a:rPr b="0" i="0" lang="en-US" sz="2800" u="none" cap="none" strike="noStrike">
                <a:solidFill>
                  <a:schemeClr val="lt1"/>
                </a:solidFill>
                <a:latin typeface="Quattrocento Sans"/>
                <a:ea typeface="Quattrocento Sans"/>
                <a:cs typeface="Quattrocento Sans"/>
                <a:sym typeface="Quattrocento Sans"/>
              </a:rPr>
              <a:t>Случайный лес</a:t>
            </a:r>
            <a:endParaRPr/>
          </a:p>
          <a:p>
            <a:pPr indent="-282575" lvl="1" marL="619125" marR="0" rtl="0" algn="l">
              <a:lnSpc>
                <a:spcPct val="85000"/>
              </a:lnSpc>
              <a:spcBef>
                <a:spcPts val="700"/>
              </a:spcBef>
              <a:spcAft>
                <a:spcPts val="0"/>
              </a:spcAft>
              <a:buClr>
                <a:schemeClr val="lt1"/>
              </a:buClr>
              <a:buSzPts val="2800"/>
              <a:buFont typeface="Quattrocento Sans"/>
              <a:buChar char="•"/>
            </a:pPr>
            <a:r>
              <a:rPr b="0" i="0" lang="en-US" sz="2800" u="none" cap="none" strike="noStrike">
                <a:solidFill>
                  <a:schemeClr val="lt1"/>
                </a:solidFill>
                <a:latin typeface="Quattrocento Sans"/>
                <a:ea typeface="Quattrocento Sans"/>
                <a:cs typeface="Quattrocento Sans"/>
                <a:sym typeface="Quattrocento Sans"/>
              </a:rPr>
              <a:t>Gradient boosting machine</a:t>
            </a:r>
            <a:endParaRPr/>
          </a:p>
        </p:txBody>
      </p:sp>
      <p:sp>
        <p:nvSpPr>
          <p:cNvPr id="1123" name="Google Shape;1123;p103"/>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p104"/>
          <p:cNvSpPr txBox="1"/>
          <p:nvPr>
            <p:ph type="title"/>
          </p:nvPr>
        </p:nvSpPr>
        <p:spPr>
          <a:xfrm>
            <a:off x="296862" y="374650"/>
            <a:ext cx="5619750"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Спасибо за внимание</a:t>
            </a:r>
            <a:endParaRPr/>
          </a:p>
        </p:txBody>
      </p:sp>
      <p:sp>
        <p:nvSpPr>
          <p:cNvPr id="1129" name="Google Shape;1129;p104"/>
          <p:cNvSpPr txBox="1"/>
          <p:nvPr>
            <p:ph idx="1" type="body"/>
          </p:nvPr>
        </p:nvSpPr>
        <p:spPr>
          <a:xfrm>
            <a:off x="393700" y="1541462"/>
            <a:ext cx="8356600" cy="455612"/>
          </a:xfrm>
          <a:prstGeom prst="rect">
            <a:avLst/>
          </a:prstGeom>
          <a:noFill/>
          <a:ln>
            <a:noFill/>
          </a:ln>
        </p:spPr>
        <p:txBody>
          <a:bodyPr anchorCtr="0" anchor="t" bIns="45700" lIns="91425" spcFirstLastPara="1" rIns="91425" wrap="square" tIns="45700">
            <a:spAutoFit/>
          </a:bodyPr>
          <a:lstStyle/>
          <a:p>
            <a:pPr indent="-334962" lvl="0" marL="334962" rtl="0" algn="l">
              <a:lnSpc>
                <a:spcPct val="85000"/>
              </a:lnSpc>
              <a:spcBef>
                <a:spcPts val="0"/>
              </a:spcBef>
              <a:spcAft>
                <a:spcPts val="0"/>
              </a:spcAft>
              <a:buSzPts val="2240"/>
              <a:buChar char="•"/>
            </a:pPr>
            <a:r>
              <a:rPr b="0" i="0" lang="en-US" sz="2800" u="none">
                <a:solidFill>
                  <a:schemeClr val="lt1"/>
                </a:solidFill>
                <a:latin typeface="Quattrocento Sans"/>
                <a:ea typeface="Quattrocento Sans"/>
                <a:cs typeface="Quattrocento Sans"/>
                <a:sym typeface="Quattrocento Sans"/>
              </a:rPr>
              <a:t>Вопросы?</a:t>
            </a:r>
            <a:endParaRPr/>
          </a:p>
        </p:txBody>
      </p:sp>
      <p:sp>
        <p:nvSpPr>
          <p:cNvPr id="1130" name="Google Shape;1130;p104"/>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sp>
        <p:nvSpPr>
          <p:cNvPr id="1135" name="Google Shape;1135;p105"/>
          <p:cNvSpPr txBox="1"/>
          <p:nvPr>
            <p:ph type="title"/>
          </p:nvPr>
        </p:nvSpPr>
        <p:spPr>
          <a:xfrm>
            <a:off x="296862" y="374650"/>
            <a:ext cx="5619750"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Вопросы к экзамену</a:t>
            </a:r>
            <a:endParaRPr/>
          </a:p>
        </p:txBody>
      </p:sp>
      <p:sp>
        <p:nvSpPr>
          <p:cNvPr id="1136" name="Google Shape;1136;p105"/>
          <p:cNvSpPr txBox="1"/>
          <p:nvPr>
            <p:ph idx="1" type="body"/>
          </p:nvPr>
        </p:nvSpPr>
        <p:spPr>
          <a:xfrm>
            <a:off x="482600" y="1298575"/>
            <a:ext cx="8477250" cy="4894262"/>
          </a:xfrm>
          <a:prstGeom prst="rect">
            <a:avLst/>
          </a:prstGeom>
          <a:noFill/>
          <a:ln>
            <a:noFill/>
          </a:ln>
        </p:spPr>
        <p:txBody>
          <a:bodyPr anchorCtr="0" anchor="t" bIns="45700" lIns="91425" spcFirstLastPara="1" rIns="91425" wrap="square" tIns="45700">
            <a:spAutoFit/>
          </a:bodyPr>
          <a:lstStyle/>
          <a:p>
            <a:pPr indent="-514350" lvl="0" marL="514350" rtl="0" algn="l">
              <a:lnSpc>
                <a:spcPct val="85000"/>
              </a:lnSpc>
              <a:spcBef>
                <a:spcPts val="0"/>
              </a:spcBef>
              <a:spcAft>
                <a:spcPts val="0"/>
              </a:spcAft>
              <a:buClr>
                <a:srgbClr val="F4BE96"/>
              </a:buClr>
              <a:buSzPts val="1600"/>
              <a:buFont typeface="Quattrocento Sans"/>
              <a:buAutoNum type="arabicPeriod"/>
            </a:pPr>
            <a:r>
              <a:rPr b="1" i="0" lang="en-US" sz="2000" u="none">
                <a:solidFill>
                  <a:schemeClr val="lt1"/>
                </a:solidFill>
                <a:latin typeface="Quattrocento Sans"/>
                <a:ea typeface="Quattrocento Sans"/>
                <a:cs typeface="Quattrocento Sans"/>
                <a:sym typeface="Quattrocento Sans"/>
              </a:rPr>
              <a:t>Какие вы знаете алгоритмы классификации?</a:t>
            </a:r>
            <a:endParaRPr/>
          </a:p>
          <a:p>
            <a:pPr indent="-514350" lvl="0" marL="514350" rtl="0" algn="l">
              <a:lnSpc>
                <a:spcPct val="85000"/>
              </a:lnSpc>
              <a:spcBef>
                <a:spcPts val="500"/>
              </a:spcBef>
              <a:spcAft>
                <a:spcPts val="0"/>
              </a:spcAft>
              <a:buClr>
                <a:srgbClr val="F4BE96"/>
              </a:buClr>
              <a:buSzPts val="1600"/>
              <a:buFont typeface="Quattrocento Sans"/>
              <a:buAutoNum type="arabicPeriod"/>
            </a:pPr>
            <a:r>
              <a:rPr b="1" i="0" lang="en-US" sz="2000" u="none">
                <a:solidFill>
                  <a:schemeClr val="lt1"/>
                </a:solidFill>
                <a:latin typeface="Quattrocento Sans"/>
                <a:ea typeface="Quattrocento Sans"/>
                <a:cs typeface="Quattrocento Sans"/>
                <a:sym typeface="Quattrocento Sans"/>
              </a:rPr>
              <a:t>Какие могут виды регрессионного анализа? Поясните работу логистической регрессии и метод опорных векторов.</a:t>
            </a:r>
            <a:endParaRPr/>
          </a:p>
          <a:p>
            <a:pPr indent="-514350" lvl="0" marL="514350" rtl="0" algn="l">
              <a:lnSpc>
                <a:spcPct val="85000"/>
              </a:lnSpc>
              <a:spcBef>
                <a:spcPts val="500"/>
              </a:spcBef>
              <a:spcAft>
                <a:spcPts val="0"/>
              </a:spcAft>
              <a:buClr>
                <a:srgbClr val="F4BE96"/>
              </a:buClr>
              <a:buSzPts val="1600"/>
              <a:buFont typeface="Quattrocento Sans"/>
              <a:buAutoNum type="arabicPeriod"/>
            </a:pPr>
            <a:r>
              <a:rPr b="1" i="0" lang="en-US" sz="2000" u="none">
                <a:solidFill>
                  <a:schemeClr val="lt1"/>
                </a:solidFill>
                <a:latin typeface="Quattrocento Sans"/>
                <a:ea typeface="Quattrocento Sans"/>
                <a:cs typeface="Quattrocento Sans"/>
                <a:sym typeface="Quattrocento Sans"/>
              </a:rPr>
              <a:t>Что такое наивный байесовский алгоритм? Какую задачу обработки данных он выполняет? Записать и пояснить формулу Байеса.</a:t>
            </a:r>
            <a:endParaRPr/>
          </a:p>
          <a:p>
            <a:pPr indent="-514350" lvl="0" marL="514350" rtl="0" algn="l">
              <a:lnSpc>
                <a:spcPct val="85000"/>
              </a:lnSpc>
              <a:spcBef>
                <a:spcPts val="500"/>
              </a:spcBef>
              <a:spcAft>
                <a:spcPts val="0"/>
              </a:spcAft>
              <a:buClr>
                <a:srgbClr val="F4BE96"/>
              </a:buClr>
              <a:buSzPts val="1600"/>
              <a:buFont typeface="Quattrocento Sans"/>
              <a:buAutoNum type="arabicPeriod"/>
            </a:pPr>
            <a:r>
              <a:rPr b="1" i="0" lang="en-US" sz="2000" u="none">
                <a:solidFill>
                  <a:schemeClr val="lt1"/>
                </a:solidFill>
                <a:latin typeface="Quattrocento Sans"/>
                <a:ea typeface="Quattrocento Sans"/>
                <a:cs typeface="Quattrocento Sans"/>
                <a:sym typeface="Quattrocento Sans"/>
              </a:rPr>
              <a:t>Деревья решений, опишите процесс работы, особенности деревьев типа CART и С4.5.</a:t>
            </a:r>
            <a:endParaRPr/>
          </a:p>
          <a:p>
            <a:pPr indent="-514350" lvl="0" marL="514350" rtl="0" algn="l">
              <a:lnSpc>
                <a:spcPct val="85000"/>
              </a:lnSpc>
              <a:spcBef>
                <a:spcPts val="500"/>
              </a:spcBef>
              <a:spcAft>
                <a:spcPts val="0"/>
              </a:spcAft>
              <a:buClr>
                <a:srgbClr val="F4BE96"/>
              </a:buClr>
              <a:buSzPts val="1600"/>
              <a:buFont typeface="Quattrocento Sans"/>
              <a:buAutoNum type="arabicPeriod"/>
            </a:pPr>
            <a:r>
              <a:rPr b="1" i="0" lang="en-US" sz="2000" u="none">
                <a:solidFill>
                  <a:schemeClr val="lt1"/>
                </a:solidFill>
                <a:latin typeface="Quattrocento Sans"/>
                <a:ea typeface="Quattrocento Sans"/>
                <a:cs typeface="Quattrocento Sans"/>
                <a:sym typeface="Quattrocento Sans"/>
              </a:rPr>
              <a:t>Для чего нужны индексы Gain и Gini, в чем суть индекса Gini.</a:t>
            </a:r>
            <a:endParaRPr/>
          </a:p>
          <a:p>
            <a:pPr indent="-514350" lvl="0" marL="514350" rtl="0" algn="l">
              <a:lnSpc>
                <a:spcPct val="85000"/>
              </a:lnSpc>
              <a:spcBef>
                <a:spcPts val="500"/>
              </a:spcBef>
              <a:spcAft>
                <a:spcPts val="0"/>
              </a:spcAft>
              <a:buClr>
                <a:srgbClr val="F4BE96"/>
              </a:buClr>
              <a:buSzPts val="1600"/>
              <a:buFont typeface="Quattrocento Sans"/>
              <a:buAutoNum type="arabicPeriod"/>
            </a:pPr>
            <a:r>
              <a:rPr b="1" i="0" lang="en-US" sz="2000" u="none">
                <a:solidFill>
                  <a:schemeClr val="lt1"/>
                </a:solidFill>
                <a:latin typeface="Quattrocento Sans"/>
                <a:ea typeface="Quattrocento Sans"/>
                <a:cs typeface="Quattrocento Sans"/>
                <a:sym typeface="Quattrocento Sans"/>
              </a:rPr>
              <a:t>Каковы могут быть условия остановки ветвления дерева?</a:t>
            </a:r>
            <a:endParaRPr/>
          </a:p>
          <a:p>
            <a:pPr indent="-514350" lvl="0" marL="514350" rtl="0" algn="l">
              <a:lnSpc>
                <a:spcPct val="85000"/>
              </a:lnSpc>
              <a:spcBef>
                <a:spcPts val="500"/>
              </a:spcBef>
              <a:spcAft>
                <a:spcPts val="0"/>
              </a:spcAft>
              <a:buClr>
                <a:srgbClr val="F4BE96"/>
              </a:buClr>
              <a:buSzPts val="1600"/>
              <a:buFont typeface="Quattrocento Sans"/>
              <a:buAutoNum type="arabicPeriod"/>
            </a:pPr>
            <a:r>
              <a:rPr b="1" i="0" lang="en-US" sz="2000" u="none">
                <a:solidFill>
                  <a:schemeClr val="lt1"/>
                </a:solidFill>
                <a:latin typeface="Quattrocento Sans"/>
                <a:ea typeface="Quattrocento Sans"/>
                <a:cs typeface="Quattrocento Sans"/>
                <a:sym typeface="Quattrocento Sans"/>
              </a:rPr>
              <a:t>Какие типы деревьев решений вы знаете, какие индексы используются при работе дерева, для чего, что такое энтропия?</a:t>
            </a:r>
            <a:endParaRPr/>
          </a:p>
          <a:p>
            <a:pPr indent="-514350" lvl="0" marL="514350" rtl="0" algn="l">
              <a:lnSpc>
                <a:spcPct val="85000"/>
              </a:lnSpc>
              <a:spcBef>
                <a:spcPts val="500"/>
              </a:spcBef>
              <a:spcAft>
                <a:spcPts val="0"/>
              </a:spcAft>
              <a:buClr>
                <a:srgbClr val="F4BE96"/>
              </a:buClr>
              <a:buSzPts val="1600"/>
              <a:buFont typeface="Quattrocento Sans"/>
              <a:buAutoNum type="arabicPeriod"/>
            </a:pPr>
            <a:r>
              <a:rPr b="1" i="0" lang="en-US" sz="2000" u="none">
                <a:solidFill>
                  <a:schemeClr val="lt1"/>
                </a:solidFill>
                <a:latin typeface="Quattrocento Sans"/>
                <a:ea typeface="Quattrocento Sans"/>
                <a:cs typeface="Quattrocento Sans"/>
                <a:sym typeface="Quattrocento Sans"/>
              </a:rPr>
              <a:t>Назовите достоинства и недостатки деревьев решений. </a:t>
            </a:r>
            <a:endParaRPr/>
          </a:p>
          <a:p>
            <a:pPr indent="-514350" lvl="0" marL="514350" rtl="0" algn="l">
              <a:lnSpc>
                <a:spcPct val="85000"/>
              </a:lnSpc>
              <a:spcBef>
                <a:spcPts val="500"/>
              </a:spcBef>
              <a:spcAft>
                <a:spcPts val="0"/>
              </a:spcAft>
              <a:buClr>
                <a:srgbClr val="F4BE96"/>
              </a:buClr>
              <a:buSzPts val="1600"/>
              <a:buFont typeface="Quattrocento Sans"/>
              <a:buAutoNum type="arabicPeriod"/>
            </a:pPr>
            <a:r>
              <a:rPr b="1" i="0" lang="en-US" sz="2000" u="none">
                <a:solidFill>
                  <a:schemeClr val="lt1"/>
                </a:solidFill>
                <a:latin typeface="Quattrocento Sans"/>
                <a:ea typeface="Quattrocento Sans"/>
                <a:cs typeface="Quattrocento Sans"/>
                <a:sym typeface="Quattrocento Sans"/>
              </a:rPr>
              <a:t>Поясните принцип работы  RandomForest. Какую задачу DM он выполняет?</a:t>
            </a:r>
            <a:endParaRPr/>
          </a:p>
        </p:txBody>
      </p:sp>
      <p:sp>
        <p:nvSpPr>
          <p:cNvPr id="1137" name="Google Shape;1137;p105"/>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Tree>
  </p:cSld>
  <p:clrMapOvr>
    <a:masterClrMapping/>
  </p:clrMapOvr>
  <p:transition spd="slow">
    <p:fade/>
  </p:transition>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106"/>
          <p:cNvSpPr txBox="1"/>
          <p:nvPr>
            <p:ph type="title"/>
          </p:nvPr>
        </p:nvSpPr>
        <p:spPr>
          <a:xfrm>
            <a:off x="296862" y="374650"/>
            <a:ext cx="5619750" cy="609600"/>
          </a:xfrm>
          <a:prstGeom prst="rect">
            <a:avLst/>
          </a:prstGeom>
          <a:noFill/>
          <a:ln>
            <a:noFill/>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lt2"/>
              </a:buClr>
              <a:buSzPts val="4000"/>
              <a:buFont typeface="Quattrocento Sans"/>
              <a:buNone/>
            </a:pPr>
            <a:r>
              <a:rPr b="0" i="0" lang="en-US" sz="4000" u="none">
                <a:solidFill>
                  <a:schemeClr val="lt2"/>
                </a:solidFill>
                <a:latin typeface="Quattrocento Sans"/>
                <a:ea typeface="Quattrocento Sans"/>
                <a:cs typeface="Quattrocento Sans"/>
                <a:sym typeface="Quattrocento Sans"/>
              </a:rPr>
              <a:t>Литература</a:t>
            </a:r>
            <a:endParaRPr/>
          </a:p>
        </p:txBody>
      </p:sp>
      <p:sp>
        <p:nvSpPr>
          <p:cNvPr id="1143" name="Google Shape;1143;p106"/>
          <p:cNvSpPr txBox="1"/>
          <p:nvPr>
            <p:ph idx="1" type="body"/>
          </p:nvPr>
        </p:nvSpPr>
        <p:spPr>
          <a:xfrm>
            <a:off x="393700" y="1541462"/>
            <a:ext cx="8356600" cy="1192212"/>
          </a:xfrm>
          <a:prstGeom prst="rect">
            <a:avLst/>
          </a:prstGeom>
          <a:noFill/>
          <a:ln>
            <a:noFill/>
          </a:ln>
        </p:spPr>
        <p:txBody>
          <a:bodyPr anchorCtr="0" anchor="t" bIns="45700" lIns="91425" spcFirstLastPara="1" rIns="91425" wrap="square" tIns="45700">
            <a:spAutoFit/>
          </a:bodyPr>
          <a:lstStyle/>
          <a:p>
            <a:pPr indent="-334962" lvl="0" marL="334962" rtl="0" algn="l">
              <a:lnSpc>
                <a:spcPct val="85000"/>
              </a:lnSpc>
              <a:spcBef>
                <a:spcPts val="0"/>
              </a:spcBef>
              <a:spcAft>
                <a:spcPts val="0"/>
              </a:spcAft>
              <a:buSzPts val="2240"/>
              <a:buChar char="•"/>
            </a:pPr>
            <a:r>
              <a:rPr b="0" i="0" lang="en-US" sz="2800" u="none">
                <a:solidFill>
                  <a:schemeClr val="lt1"/>
                </a:solidFill>
                <a:latin typeface="Quattrocento Sans"/>
                <a:ea typeface="Quattrocento Sans"/>
                <a:cs typeface="Quattrocento Sans"/>
                <a:sym typeface="Quattrocento Sans"/>
              </a:rPr>
              <a:t>А.В. Кугаевских, Д.И. Муромцев, О.В. Кирсанова. Классические методы машинного обучения. – СПб: Университет ИТМО, 2022. – 53 с</a:t>
            </a:r>
            <a:endParaRPr/>
          </a:p>
        </p:txBody>
      </p:sp>
      <p:sp>
        <p:nvSpPr>
          <p:cNvPr id="1144" name="Google Shape;1144;p106"/>
          <p:cNvSpPr txBox="1"/>
          <p:nvPr/>
        </p:nvSpPr>
        <p:spPr>
          <a:xfrm>
            <a:off x="8070850" y="6307137"/>
            <a:ext cx="889000" cy="379412"/>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1" i="0" lang="en-US" sz="1200" u="none">
                <a:solidFill>
                  <a:srgbClr val="FFFFFF"/>
                </a:solidFill>
                <a:latin typeface="Arial"/>
                <a:ea typeface="Arial"/>
                <a:cs typeface="Arial"/>
                <a:sym typeface="Arial"/>
              </a:rPr>
              <a:t>‹#›</a:t>
            </a:fld>
            <a:endParaRPr/>
          </a:p>
        </p:txBody>
      </p:sp>
      <p:sp>
        <p:nvSpPr>
          <p:cNvPr id="1145" name="Google Shape;1145;p106"/>
          <p:cNvSpPr txBox="1"/>
          <p:nvPr/>
        </p:nvSpPr>
        <p:spPr>
          <a:xfrm>
            <a:off x="417512" y="3678237"/>
            <a:ext cx="4572000"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Quattrocento Sans"/>
              <a:buNone/>
            </a:pPr>
            <a:br>
              <a:rPr b="1" i="0" lang="en-US" sz="1800" u="none">
                <a:solidFill>
                  <a:schemeClr val="lt1"/>
                </a:solidFill>
                <a:latin typeface="Quattrocento Sans"/>
                <a:ea typeface="Quattrocento Sans"/>
                <a:cs typeface="Quattrocento Sans"/>
                <a:sym typeface="Quattrocento Sans"/>
              </a:rPr>
            </a:br>
            <a:endParaRPr/>
          </a:p>
        </p:txBody>
      </p:sp>
    </p:spTree>
  </p:cSld>
  <p:clrMapOvr>
    <a:masterClrMapping/>
  </p:clrMapOvr>
  <p:transition spd="slow">
    <p:fade/>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chReady 1 Breakout template">
  <a:themeElements>
    <a:clrScheme name="TechReady 1 Breakout template 1">
      <a:dk1>
        <a:srgbClr val="000000"/>
      </a:dk1>
      <a:lt1>
        <a:srgbClr val="FFFFFF"/>
      </a:lt1>
      <a:dk2>
        <a:srgbClr val="16435A"/>
      </a:dk2>
      <a:lt2>
        <a:srgbClr val="FBAA6D"/>
      </a:lt2>
      <a:accent1>
        <a:srgbClr val="FADF9C"/>
      </a:accent1>
      <a:accent2>
        <a:srgbClr val="46ADD2"/>
      </a:accent2>
      <a:accent3>
        <a:srgbClr val="ABB0B5"/>
      </a:accent3>
      <a:accent4>
        <a:srgbClr val="DADADA"/>
      </a:accent4>
      <a:accent5>
        <a:srgbClr val="FCECCB"/>
      </a:accent5>
      <a:accent6>
        <a:srgbClr val="3F9CBE"/>
      </a:accent6>
      <a:hlink>
        <a:srgbClr val="F5892F"/>
      </a:hlink>
      <a:folHlink>
        <a:srgbClr val="F9551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TechReady 1 Breakout template">
  <a:themeElements>
    <a:clrScheme name="TechReady 1 Breakout template 1">
      <a:dk1>
        <a:srgbClr val="000000"/>
      </a:dk1>
      <a:lt1>
        <a:srgbClr val="FFFFFF"/>
      </a:lt1>
      <a:dk2>
        <a:srgbClr val="16435A"/>
      </a:dk2>
      <a:lt2>
        <a:srgbClr val="FBAA6D"/>
      </a:lt2>
      <a:accent1>
        <a:srgbClr val="FADF9C"/>
      </a:accent1>
      <a:accent2>
        <a:srgbClr val="46ADD2"/>
      </a:accent2>
      <a:accent3>
        <a:srgbClr val="ABB0B5"/>
      </a:accent3>
      <a:accent4>
        <a:srgbClr val="DADADA"/>
      </a:accent4>
      <a:accent5>
        <a:srgbClr val="FCECCB"/>
      </a:accent5>
      <a:accent6>
        <a:srgbClr val="3F9CBE"/>
      </a:accent6>
      <a:hlink>
        <a:srgbClr val="F5892F"/>
      </a:hlink>
      <a:folHlink>
        <a:srgbClr val="F9551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1994-01-28T11:16:40Z</dcterms:created>
  <dc:creator>Leshik</dc:creator>
</cp:coreProperties>
</file>

<file path=docProps/custom.xml><?xml version="1.0" encoding="utf-8"?>
<Properties xmlns="http://schemas.openxmlformats.org/officeDocument/2006/custom-properties" xmlns:vt="http://schemas.openxmlformats.org/officeDocument/2006/docPropsVTypes"/>
</file>